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7" r:id="rId3"/>
    <p:sldId id="258" r:id="rId4"/>
    <p:sldId id="259" r:id="rId5"/>
    <p:sldId id="260" r:id="rId6"/>
    <p:sldId id="261" r:id="rId7"/>
    <p:sldId id="262" r:id="rId8"/>
    <p:sldId id="263" r:id="rId9"/>
    <p:sldId id="297" r:id="rId10"/>
    <p:sldId id="299" r:id="rId11"/>
    <p:sldId id="303" r:id="rId12"/>
    <p:sldId id="300" r:id="rId13"/>
    <p:sldId id="301" r:id="rId14"/>
    <p:sldId id="265" r:id="rId15"/>
    <p:sldId id="266" r:id="rId16"/>
    <p:sldId id="267" r:id="rId17"/>
    <p:sldId id="302" r:id="rId18"/>
    <p:sldId id="264" r:id="rId19"/>
    <p:sldId id="268" r:id="rId20"/>
    <p:sldId id="269" r:id="rId21"/>
    <p:sldId id="270" r:id="rId22"/>
    <p:sldId id="272" r:id="rId23"/>
    <p:sldId id="273" r:id="rId24"/>
    <p:sldId id="304" r:id="rId25"/>
    <p:sldId id="275" r:id="rId26"/>
    <p:sldId id="276" r:id="rId27"/>
    <p:sldId id="278" r:id="rId28"/>
    <p:sldId id="279" r:id="rId29"/>
    <p:sldId id="280" r:id="rId30"/>
    <p:sldId id="282" r:id="rId31"/>
    <p:sldId id="283" r:id="rId32"/>
    <p:sldId id="286" r:id="rId33"/>
    <p:sldId id="287" r:id="rId34"/>
    <p:sldId id="288" r:id="rId35"/>
    <p:sldId id="290" r:id="rId36"/>
    <p:sldId id="291" r:id="rId37"/>
    <p:sldId id="292" r:id="rId38"/>
    <p:sldId id="293" r:id="rId39"/>
    <p:sldId id="294" r:id="rId40"/>
    <p:sldId id="295" r:id="rId41"/>
    <p:sldId id="296" r:id="rId4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3EC1A0-B28A-41A2-82EA-90DD1BECC91D}" v="5" dt="2026-07-26T07:59:37.546"/>
    <p1510:client id="{C1FD04CD-B16B-4E35-9935-C49673D3CD40}" v="29" dt="2026-07-26T05:15:32.0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615" autoAdjust="0"/>
  </p:normalViewPr>
  <p:slideViewPr>
    <p:cSldViewPr snapToGrid="0">
      <p:cViewPr>
        <p:scale>
          <a:sx n="50" d="100"/>
          <a:sy n="50" d="100"/>
        </p:scale>
        <p:origin x="128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e Rose" userId="0668a6f763ece157" providerId="LiveId" clId="{12B6A9F2-C435-405D-8C74-3DA2919D37A5}"/>
    <pc:docChg chg="undo custSel addSld delSld modSld sldOrd">
      <pc:chgData name="Rose Rose" userId="0668a6f763ece157" providerId="LiveId" clId="{12B6A9F2-C435-405D-8C74-3DA2919D37A5}" dt="2026-07-26T05:15:39.373" v="700" actId="47"/>
      <pc:docMkLst>
        <pc:docMk/>
      </pc:docMkLst>
      <pc:sldChg chg="modSp mod">
        <pc:chgData name="Rose Rose" userId="0668a6f763ece157" providerId="LiveId" clId="{12B6A9F2-C435-405D-8C74-3DA2919D37A5}" dt="2026-07-26T01:53:49.511" v="301" actId="20577"/>
        <pc:sldMkLst>
          <pc:docMk/>
          <pc:sldMk cId="0" sldId="260"/>
        </pc:sldMkLst>
        <pc:spChg chg="mod">
          <ac:chgData name="Rose Rose" userId="0668a6f763ece157" providerId="LiveId" clId="{12B6A9F2-C435-405D-8C74-3DA2919D37A5}" dt="2026-07-25T16:59:54.524" v="267" actId="13926"/>
          <ac:spMkLst>
            <pc:docMk/>
            <pc:sldMk cId="0" sldId="260"/>
            <ac:spMk id="7" creationId="{00000000-0000-0000-0000-000000000000}"/>
          </ac:spMkLst>
        </pc:spChg>
        <pc:spChg chg="mod">
          <ac:chgData name="Rose Rose" userId="0668a6f763ece157" providerId="LiveId" clId="{12B6A9F2-C435-405D-8C74-3DA2919D37A5}" dt="2026-07-25T16:59:43.301" v="266" actId="255"/>
          <ac:spMkLst>
            <pc:docMk/>
            <pc:sldMk cId="0" sldId="260"/>
            <ac:spMk id="9" creationId="{00000000-0000-0000-0000-000000000000}"/>
          </ac:spMkLst>
        </pc:spChg>
        <pc:graphicFrameChg chg="mod modGraphic">
          <ac:chgData name="Rose Rose" userId="0668a6f763ece157" providerId="LiveId" clId="{12B6A9F2-C435-405D-8C74-3DA2919D37A5}" dt="2026-07-26T01:53:49.511" v="301" actId="20577"/>
          <ac:graphicFrameMkLst>
            <pc:docMk/>
            <pc:sldMk cId="0" sldId="260"/>
            <ac:graphicFrameMk id="8" creationId="{00000000-0000-0000-0000-000000000000}"/>
          </ac:graphicFrameMkLst>
        </pc:graphicFrameChg>
      </pc:sldChg>
      <pc:sldChg chg="del">
        <pc:chgData name="Rose Rose" userId="0668a6f763ece157" providerId="LiveId" clId="{12B6A9F2-C435-405D-8C74-3DA2919D37A5}" dt="2026-07-25T15:48:29.602" v="11" actId="2696"/>
        <pc:sldMkLst>
          <pc:docMk/>
          <pc:sldMk cId="0" sldId="264"/>
        </pc:sldMkLst>
      </pc:sldChg>
      <pc:sldChg chg="addSp delSp modSp add mod">
        <pc:chgData name="Rose Rose" userId="0668a6f763ece157" providerId="LiveId" clId="{12B6A9F2-C435-405D-8C74-3DA2919D37A5}" dt="2026-07-25T15:51:48.297" v="41" actId="478"/>
        <pc:sldMkLst>
          <pc:docMk/>
          <pc:sldMk cId="2062040639" sldId="264"/>
        </pc:sldMkLst>
        <pc:spChg chg="mod">
          <ac:chgData name="Rose Rose" userId="0668a6f763ece157" providerId="LiveId" clId="{12B6A9F2-C435-405D-8C74-3DA2919D37A5}" dt="2026-07-25T15:49:08.219" v="33" actId="20577"/>
          <ac:spMkLst>
            <pc:docMk/>
            <pc:sldMk cId="2062040639" sldId="264"/>
            <ac:spMk id="6" creationId="{00000000-0000-0000-0000-000000000000}"/>
          </ac:spMkLst>
        </pc:spChg>
        <pc:spChg chg="mod">
          <ac:chgData name="Rose Rose" userId="0668a6f763ece157" providerId="LiveId" clId="{12B6A9F2-C435-405D-8C74-3DA2919D37A5}" dt="2026-07-25T15:50:32.118" v="35" actId="6549"/>
          <ac:spMkLst>
            <pc:docMk/>
            <pc:sldMk cId="2062040639" sldId="264"/>
            <ac:spMk id="7" creationId="{00000000-0000-0000-0000-000000000000}"/>
          </ac:spMkLst>
        </pc:spChg>
        <pc:spChg chg="del">
          <ac:chgData name="Rose Rose" userId="0668a6f763ece157" providerId="LiveId" clId="{12B6A9F2-C435-405D-8C74-3DA2919D37A5}" dt="2026-07-25T15:50:36.033" v="36" actId="478"/>
          <ac:spMkLst>
            <pc:docMk/>
            <pc:sldMk cId="2062040639" sldId="264"/>
            <ac:spMk id="8" creationId="{00000000-0000-0000-0000-000000000000}"/>
          </ac:spMkLst>
        </pc:spChg>
        <pc:spChg chg="del">
          <ac:chgData name="Rose Rose" userId="0668a6f763ece157" providerId="LiveId" clId="{12B6A9F2-C435-405D-8C74-3DA2919D37A5}" dt="2026-07-25T15:51:44.380" v="40" actId="478"/>
          <ac:spMkLst>
            <pc:docMk/>
            <pc:sldMk cId="2062040639" sldId="264"/>
            <ac:spMk id="9" creationId="{00000000-0000-0000-0000-000000000000}"/>
          </ac:spMkLst>
        </pc:spChg>
        <pc:spChg chg="del">
          <ac:chgData name="Rose Rose" userId="0668a6f763ece157" providerId="LiveId" clId="{12B6A9F2-C435-405D-8C74-3DA2919D37A5}" dt="2026-07-25T15:51:48.297" v="41" actId="478"/>
          <ac:spMkLst>
            <pc:docMk/>
            <pc:sldMk cId="2062040639" sldId="264"/>
            <ac:spMk id="10" creationId="{00000000-0000-0000-0000-000000000000}"/>
          </ac:spMkLst>
        </pc:spChg>
        <pc:spChg chg="add">
          <ac:chgData name="Rose Rose" userId="0668a6f763ece157" providerId="LiveId" clId="{12B6A9F2-C435-405D-8C74-3DA2919D37A5}" dt="2026-07-25T15:50:55.220" v="37" actId="22"/>
          <ac:spMkLst>
            <pc:docMk/>
            <pc:sldMk cId="2062040639" sldId="264"/>
            <ac:spMk id="12" creationId="{6510E41D-D8C3-7440-A3A2-7AF882694D03}"/>
          </ac:spMkLst>
        </pc:spChg>
        <pc:spChg chg="add">
          <ac:chgData name="Rose Rose" userId="0668a6f763ece157" providerId="LiveId" clId="{12B6A9F2-C435-405D-8C74-3DA2919D37A5}" dt="2026-07-25T15:50:55.220" v="37" actId="22"/>
          <ac:spMkLst>
            <pc:docMk/>
            <pc:sldMk cId="2062040639" sldId="264"/>
            <ac:spMk id="16" creationId="{38464152-5EC8-B56C-E767-B1BBE3473129}"/>
          </ac:spMkLst>
        </pc:spChg>
        <pc:graphicFrameChg chg="add">
          <ac:chgData name="Rose Rose" userId="0668a6f763ece157" providerId="LiveId" clId="{12B6A9F2-C435-405D-8C74-3DA2919D37A5}" dt="2026-07-25T15:50:55.220" v="37" actId="22"/>
          <ac:graphicFrameMkLst>
            <pc:docMk/>
            <pc:sldMk cId="2062040639" sldId="264"/>
            <ac:graphicFrameMk id="14" creationId="{03FC655C-D205-B0A1-9FED-CB14F294A407}"/>
          </ac:graphicFrameMkLst>
        </pc:graphicFrameChg>
        <pc:graphicFrameChg chg="add">
          <ac:chgData name="Rose Rose" userId="0668a6f763ece157" providerId="LiveId" clId="{12B6A9F2-C435-405D-8C74-3DA2919D37A5}" dt="2026-07-25T15:50:55.220" v="37" actId="22"/>
          <ac:graphicFrameMkLst>
            <pc:docMk/>
            <pc:sldMk cId="2062040639" sldId="264"/>
            <ac:graphicFrameMk id="18" creationId="{68A4A24A-DE8B-316B-D44C-D522CE046674}"/>
          </ac:graphicFrameMkLst>
        </pc:graphicFrameChg>
      </pc:sldChg>
      <pc:sldChg chg="modSp mod">
        <pc:chgData name="Rose Rose" userId="0668a6f763ece157" providerId="LiveId" clId="{12B6A9F2-C435-405D-8C74-3DA2919D37A5}" dt="2026-07-25T13:14:31.604" v="9" actId="13926"/>
        <pc:sldMkLst>
          <pc:docMk/>
          <pc:sldMk cId="0" sldId="266"/>
        </pc:sldMkLst>
        <pc:spChg chg="mod">
          <ac:chgData name="Rose Rose" userId="0668a6f763ece157" providerId="LiveId" clId="{12B6A9F2-C435-405D-8C74-3DA2919D37A5}" dt="2026-07-25T13:14:31.604" v="9" actId="13926"/>
          <ac:spMkLst>
            <pc:docMk/>
            <pc:sldMk cId="0" sldId="266"/>
            <ac:spMk id="7" creationId="{00000000-0000-0000-0000-000000000000}"/>
          </ac:spMkLst>
        </pc:spChg>
      </pc:sldChg>
      <pc:sldChg chg="modSp mod">
        <pc:chgData name="Rose Rose" userId="0668a6f763ece157" providerId="LiveId" clId="{12B6A9F2-C435-405D-8C74-3DA2919D37A5}" dt="2026-07-25T13:15:19.939" v="10" actId="13926"/>
        <pc:sldMkLst>
          <pc:docMk/>
          <pc:sldMk cId="0" sldId="267"/>
        </pc:sldMkLst>
        <pc:spChg chg="mod">
          <ac:chgData name="Rose Rose" userId="0668a6f763ece157" providerId="LiveId" clId="{12B6A9F2-C435-405D-8C74-3DA2919D37A5}" dt="2026-07-25T13:15:19.939" v="10" actId="13926"/>
          <ac:spMkLst>
            <pc:docMk/>
            <pc:sldMk cId="0" sldId="267"/>
            <ac:spMk id="7" creationId="{00000000-0000-0000-0000-000000000000}"/>
          </ac:spMkLst>
        </pc:spChg>
      </pc:sldChg>
      <pc:sldChg chg="addSp delSp modSp add mod">
        <pc:chgData name="Rose Rose" userId="0668a6f763ece157" providerId="LiveId" clId="{12B6A9F2-C435-405D-8C74-3DA2919D37A5}" dt="2026-07-25T13:12:38.745" v="7" actId="1076"/>
        <pc:sldMkLst>
          <pc:docMk/>
          <pc:sldMk cId="291833172" sldId="297"/>
        </pc:sldMkLst>
        <pc:spChg chg="del">
          <ac:chgData name="Rose Rose" userId="0668a6f763ece157" providerId="LiveId" clId="{12B6A9F2-C435-405D-8C74-3DA2919D37A5}" dt="2026-07-25T13:12:03.626" v="3" actId="478"/>
          <ac:spMkLst>
            <pc:docMk/>
            <pc:sldMk cId="291833172" sldId="297"/>
            <ac:spMk id="8" creationId="{38F9F8AC-4449-C545-8F05-9504F4398C8C}"/>
          </ac:spMkLst>
        </pc:spChg>
        <pc:spChg chg="del">
          <ac:chgData name="Rose Rose" userId="0668a6f763ece157" providerId="LiveId" clId="{12B6A9F2-C435-405D-8C74-3DA2919D37A5}" dt="2026-07-25T13:12:03.626" v="3" actId="478"/>
          <ac:spMkLst>
            <pc:docMk/>
            <pc:sldMk cId="291833172" sldId="297"/>
            <ac:spMk id="9" creationId="{1248EEB9-EB76-466B-B193-7CA0F2B31BBA}"/>
          </ac:spMkLst>
        </pc:spChg>
        <pc:spChg chg="del">
          <ac:chgData name="Rose Rose" userId="0668a6f763ece157" providerId="LiveId" clId="{12B6A9F2-C435-405D-8C74-3DA2919D37A5}" dt="2026-07-25T13:12:03.626" v="3" actId="478"/>
          <ac:spMkLst>
            <pc:docMk/>
            <pc:sldMk cId="291833172" sldId="297"/>
            <ac:spMk id="11" creationId="{60F08B55-6BF5-283C-8DD8-D2F438B58380}"/>
          </ac:spMkLst>
        </pc:spChg>
        <pc:spChg chg="del">
          <ac:chgData name="Rose Rose" userId="0668a6f763ece157" providerId="LiveId" clId="{12B6A9F2-C435-405D-8C74-3DA2919D37A5}" dt="2026-07-25T13:12:03.626" v="3" actId="478"/>
          <ac:spMkLst>
            <pc:docMk/>
            <pc:sldMk cId="291833172" sldId="297"/>
            <ac:spMk id="13" creationId="{1D03DA62-4BF0-7449-DD05-6E7136D4ACF3}"/>
          </ac:spMkLst>
        </pc:spChg>
        <pc:spChg chg="del">
          <ac:chgData name="Rose Rose" userId="0668a6f763ece157" providerId="LiveId" clId="{12B6A9F2-C435-405D-8C74-3DA2919D37A5}" dt="2026-07-25T13:12:03.626" v="3" actId="478"/>
          <ac:spMkLst>
            <pc:docMk/>
            <pc:sldMk cId="291833172" sldId="297"/>
            <ac:spMk id="15" creationId="{79E5A465-5A3A-8F92-94FA-07322ED28F0D}"/>
          </ac:spMkLst>
        </pc:spChg>
        <pc:spChg chg="del">
          <ac:chgData name="Rose Rose" userId="0668a6f763ece157" providerId="LiveId" clId="{12B6A9F2-C435-405D-8C74-3DA2919D37A5}" dt="2026-07-25T13:12:03.626" v="3" actId="478"/>
          <ac:spMkLst>
            <pc:docMk/>
            <pc:sldMk cId="291833172" sldId="297"/>
            <ac:spMk id="16" creationId="{49DA8EAA-98F7-44C7-9B7A-812E8F5EC6B8}"/>
          </ac:spMkLst>
        </pc:spChg>
        <pc:spChg chg="del">
          <ac:chgData name="Rose Rose" userId="0668a6f763ece157" providerId="LiveId" clId="{12B6A9F2-C435-405D-8C74-3DA2919D37A5}" dt="2026-07-25T13:12:03.626" v="3" actId="478"/>
          <ac:spMkLst>
            <pc:docMk/>
            <pc:sldMk cId="291833172" sldId="297"/>
            <ac:spMk id="17" creationId="{AD484A0B-16D0-DA9E-5F30-68D074BE279F}"/>
          </ac:spMkLst>
        </pc:spChg>
        <pc:spChg chg="del">
          <ac:chgData name="Rose Rose" userId="0668a6f763ece157" providerId="LiveId" clId="{12B6A9F2-C435-405D-8C74-3DA2919D37A5}" dt="2026-07-25T13:12:03.626" v="3" actId="478"/>
          <ac:spMkLst>
            <pc:docMk/>
            <pc:sldMk cId="291833172" sldId="297"/>
            <ac:spMk id="19" creationId="{015270BC-B492-DA4E-8E04-4E1E1CC68BE2}"/>
          </ac:spMkLst>
        </pc:spChg>
        <pc:spChg chg="del">
          <ac:chgData name="Rose Rose" userId="0668a6f763ece157" providerId="LiveId" clId="{12B6A9F2-C435-405D-8C74-3DA2919D37A5}" dt="2026-07-25T13:12:03.626" v="3" actId="478"/>
          <ac:spMkLst>
            <pc:docMk/>
            <pc:sldMk cId="291833172" sldId="297"/>
            <ac:spMk id="21" creationId="{D76E11E5-CCD0-853E-804D-DFBF73D8BDEC}"/>
          </ac:spMkLst>
        </pc:spChg>
        <pc:spChg chg="del">
          <ac:chgData name="Rose Rose" userId="0668a6f763ece157" providerId="LiveId" clId="{12B6A9F2-C435-405D-8C74-3DA2919D37A5}" dt="2026-07-25T13:12:03.626" v="3" actId="478"/>
          <ac:spMkLst>
            <pc:docMk/>
            <pc:sldMk cId="291833172" sldId="297"/>
            <ac:spMk id="24" creationId="{919FB237-E041-D912-B6C2-F90C99E78322}"/>
          </ac:spMkLst>
        </pc:spChg>
        <pc:graphicFrameChg chg="add mod">
          <ac:chgData name="Rose Rose" userId="0668a6f763ece157" providerId="LiveId" clId="{12B6A9F2-C435-405D-8C74-3DA2919D37A5}" dt="2026-07-25T13:12:38.745" v="7" actId="1076"/>
          <ac:graphicFrameMkLst>
            <pc:docMk/>
            <pc:sldMk cId="291833172" sldId="297"/>
            <ac:graphicFrameMk id="27" creationId="{BB3EDEF7-434D-785F-1B0C-4B4D76A81D6B}"/>
          </ac:graphicFrameMkLst>
        </pc:graphicFrameChg>
      </pc:sldChg>
      <pc:sldChg chg="new del">
        <pc:chgData name="Rose Rose" userId="0668a6f763ece157" providerId="LiveId" clId="{12B6A9F2-C435-405D-8C74-3DA2919D37A5}" dt="2026-07-25T13:11:41.959" v="1" actId="680"/>
        <pc:sldMkLst>
          <pc:docMk/>
          <pc:sldMk cId="1642087602" sldId="297"/>
        </pc:sldMkLst>
      </pc:sldChg>
      <pc:sldChg chg="add del">
        <pc:chgData name="Rose Rose" userId="0668a6f763ece157" providerId="LiveId" clId="{12B6A9F2-C435-405D-8C74-3DA2919D37A5}" dt="2026-07-25T13:12:17.030" v="5"/>
        <pc:sldMkLst>
          <pc:docMk/>
          <pc:sldMk cId="2260752499" sldId="298"/>
        </pc:sldMkLst>
      </pc:sldChg>
      <pc:sldChg chg="add del ord">
        <pc:chgData name="Rose Rose" userId="0668a6f763ece157" providerId="LiveId" clId="{12B6A9F2-C435-405D-8C74-3DA2919D37A5}" dt="2026-07-26T05:15:39.373" v="700" actId="47"/>
        <pc:sldMkLst>
          <pc:docMk/>
          <pc:sldMk cId="3569379633" sldId="298"/>
        </pc:sldMkLst>
      </pc:sldChg>
      <pc:sldChg chg="addSp delSp modSp add mod modNotesTx">
        <pc:chgData name="Rose Rose" userId="0668a6f763ece157" providerId="LiveId" clId="{12B6A9F2-C435-405D-8C74-3DA2919D37A5}" dt="2026-07-25T17:06:56.889" v="288" actId="6549"/>
        <pc:sldMkLst>
          <pc:docMk/>
          <pc:sldMk cId="1787688055" sldId="299"/>
        </pc:sldMkLst>
        <pc:spChg chg="del">
          <ac:chgData name="Rose Rose" userId="0668a6f763ece157" providerId="LiveId" clId="{12B6A9F2-C435-405D-8C74-3DA2919D37A5}" dt="2026-07-25T15:53:59.756" v="44" actId="478"/>
          <ac:spMkLst>
            <pc:docMk/>
            <pc:sldMk cId="1787688055" sldId="299"/>
            <ac:spMk id="7" creationId="{79049891-30F3-7612-8647-B82AF068F216}"/>
          </ac:spMkLst>
        </pc:spChg>
        <pc:spChg chg="del">
          <ac:chgData name="Rose Rose" userId="0668a6f763ece157" providerId="LiveId" clId="{12B6A9F2-C435-405D-8C74-3DA2919D37A5}" dt="2026-07-25T15:53:59.756" v="44" actId="478"/>
          <ac:spMkLst>
            <pc:docMk/>
            <pc:sldMk cId="1787688055" sldId="299"/>
            <ac:spMk id="10" creationId="{6F60BA65-1C71-FBDD-592F-FCBCDDCB933D}"/>
          </ac:spMkLst>
        </pc:spChg>
        <pc:spChg chg="del">
          <ac:chgData name="Rose Rose" userId="0668a6f763ece157" providerId="LiveId" clId="{12B6A9F2-C435-405D-8C74-3DA2919D37A5}" dt="2026-07-25T15:53:59.756" v="44" actId="478"/>
          <ac:spMkLst>
            <pc:docMk/>
            <pc:sldMk cId="1787688055" sldId="299"/>
            <ac:spMk id="14" creationId="{7B1952C4-FC37-D155-9943-51BA1F9498FE}"/>
          </ac:spMkLst>
        </pc:spChg>
        <pc:spChg chg="del">
          <ac:chgData name="Rose Rose" userId="0668a6f763ece157" providerId="LiveId" clId="{12B6A9F2-C435-405D-8C74-3DA2919D37A5}" dt="2026-07-25T15:53:59.756" v="44" actId="478"/>
          <ac:spMkLst>
            <pc:docMk/>
            <pc:sldMk cId="1787688055" sldId="299"/>
            <ac:spMk id="15" creationId="{9993A814-BCD3-E43A-D8AA-A95131A10F53}"/>
          </ac:spMkLst>
        </pc:spChg>
        <pc:spChg chg="del">
          <ac:chgData name="Rose Rose" userId="0668a6f763ece157" providerId="LiveId" clId="{12B6A9F2-C435-405D-8C74-3DA2919D37A5}" dt="2026-07-25T15:53:59.756" v="44" actId="478"/>
          <ac:spMkLst>
            <pc:docMk/>
            <pc:sldMk cId="1787688055" sldId="299"/>
            <ac:spMk id="17" creationId="{B35F95CD-EACA-2ECD-008E-9F4DA3831ABF}"/>
          </ac:spMkLst>
        </pc:spChg>
        <pc:spChg chg="del">
          <ac:chgData name="Rose Rose" userId="0668a6f763ece157" providerId="LiveId" clId="{12B6A9F2-C435-405D-8C74-3DA2919D37A5}" dt="2026-07-25T15:53:59.756" v="44" actId="478"/>
          <ac:spMkLst>
            <pc:docMk/>
            <pc:sldMk cId="1787688055" sldId="299"/>
            <ac:spMk id="18" creationId="{71373847-2C6A-E5D0-8817-3D3476855CAE}"/>
          </ac:spMkLst>
        </pc:spChg>
        <pc:spChg chg="del">
          <ac:chgData name="Rose Rose" userId="0668a6f763ece157" providerId="LiveId" clId="{12B6A9F2-C435-405D-8C74-3DA2919D37A5}" dt="2026-07-25T15:53:59.756" v="44" actId="478"/>
          <ac:spMkLst>
            <pc:docMk/>
            <pc:sldMk cId="1787688055" sldId="299"/>
            <ac:spMk id="19" creationId="{EA3A4571-BDCA-F4D6-9F77-26881DC7171D}"/>
          </ac:spMkLst>
        </pc:spChg>
        <pc:spChg chg="del">
          <ac:chgData name="Rose Rose" userId="0668a6f763ece157" providerId="LiveId" clId="{12B6A9F2-C435-405D-8C74-3DA2919D37A5}" dt="2026-07-25T15:53:59.756" v="44" actId="478"/>
          <ac:spMkLst>
            <pc:docMk/>
            <pc:sldMk cId="1787688055" sldId="299"/>
            <ac:spMk id="20" creationId="{DD919C51-E511-8473-16AF-8408D2D93D59}"/>
          </ac:spMkLst>
        </pc:spChg>
        <pc:spChg chg="del">
          <ac:chgData name="Rose Rose" userId="0668a6f763ece157" providerId="LiveId" clId="{12B6A9F2-C435-405D-8C74-3DA2919D37A5}" dt="2026-07-25T15:53:59.756" v="44" actId="478"/>
          <ac:spMkLst>
            <pc:docMk/>
            <pc:sldMk cId="1787688055" sldId="299"/>
            <ac:spMk id="24" creationId="{03A3631B-6826-15D9-E011-7696E9364FF4}"/>
          </ac:spMkLst>
        </pc:spChg>
        <pc:spChg chg="add del mod">
          <ac:chgData name="Rose Rose" userId="0668a6f763ece157" providerId="LiveId" clId="{12B6A9F2-C435-405D-8C74-3DA2919D37A5}" dt="2026-07-25T15:54:04.187" v="45" actId="478"/>
          <ac:spMkLst>
            <pc:docMk/>
            <pc:sldMk cId="1787688055" sldId="299"/>
            <ac:spMk id="27" creationId="{E3BBBEAF-A91F-E0C6-DC4B-7983D0BA5C28}"/>
          </ac:spMkLst>
        </pc:spChg>
        <pc:spChg chg="add mod">
          <ac:chgData name="Rose Rose" userId="0668a6f763ece157" providerId="LiveId" clId="{12B6A9F2-C435-405D-8C74-3DA2919D37A5}" dt="2026-07-25T15:54:43.446" v="49" actId="14100"/>
          <ac:spMkLst>
            <pc:docMk/>
            <pc:sldMk cId="1787688055" sldId="299"/>
            <ac:spMk id="28" creationId="{45BBF836-51FF-9B16-99DD-34CEF0B2DFF4}"/>
          </ac:spMkLst>
        </pc:spChg>
        <pc:spChg chg="add mod">
          <ac:chgData name="Rose Rose" userId="0668a6f763ece157" providerId="LiveId" clId="{12B6A9F2-C435-405D-8C74-3DA2919D37A5}" dt="2026-07-25T15:54:22.392" v="47" actId="1076"/>
          <ac:spMkLst>
            <pc:docMk/>
            <pc:sldMk cId="1787688055" sldId="299"/>
            <ac:spMk id="29" creationId="{D0B0CDA8-E56D-3354-D39B-92913C950E61}"/>
          </ac:spMkLst>
        </pc:spChg>
      </pc:sldChg>
      <pc:sldChg chg="addSp delSp modSp add mod modNotesTx">
        <pc:chgData name="Rose Rose" userId="0668a6f763ece157" providerId="LiveId" clId="{12B6A9F2-C435-405D-8C74-3DA2919D37A5}" dt="2026-07-26T05:13:40.219" v="699" actId="6549"/>
        <pc:sldMkLst>
          <pc:docMk/>
          <pc:sldMk cId="1283004842" sldId="300"/>
        </pc:sldMkLst>
        <pc:spChg chg="mod">
          <ac:chgData name="Rose Rose" userId="0668a6f763ece157" providerId="LiveId" clId="{12B6A9F2-C435-405D-8C74-3DA2919D37A5}" dt="2026-07-26T05:01:47.764" v="637" actId="14100"/>
          <ac:spMkLst>
            <pc:docMk/>
            <pc:sldMk cId="1283004842" sldId="300"/>
            <ac:spMk id="7" creationId="{E751032A-36F3-EF28-F9AE-2292B2DE9CF2}"/>
          </ac:spMkLst>
        </pc:spChg>
        <pc:spChg chg="del">
          <ac:chgData name="Rose Rose" userId="0668a6f763ece157" providerId="LiveId" clId="{12B6A9F2-C435-405D-8C74-3DA2919D37A5}" dt="2026-07-25T15:55:04.060" v="50" actId="478"/>
          <ac:spMkLst>
            <pc:docMk/>
            <pc:sldMk cId="1283004842" sldId="300"/>
            <ac:spMk id="8" creationId="{0D9E7ABA-50C3-420F-228A-F27713A2A632}"/>
          </ac:spMkLst>
        </pc:spChg>
        <pc:spChg chg="del">
          <ac:chgData name="Rose Rose" userId="0668a6f763ece157" providerId="LiveId" clId="{12B6A9F2-C435-405D-8C74-3DA2919D37A5}" dt="2026-07-25T15:55:04.060" v="50" actId="478"/>
          <ac:spMkLst>
            <pc:docMk/>
            <pc:sldMk cId="1283004842" sldId="300"/>
            <ac:spMk id="9" creationId="{BF3E12CF-1D71-DC73-39AF-D13DBCEFCD30}"/>
          </ac:spMkLst>
        </pc:spChg>
        <pc:spChg chg="del">
          <ac:chgData name="Rose Rose" userId="0668a6f763ece157" providerId="LiveId" clId="{12B6A9F2-C435-405D-8C74-3DA2919D37A5}" dt="2026-07-25T15:55:04.060" v="50" actId="478"/>
          <ac:spMkLst>
            <pc:docMk/>
            <pc:sldMk cId="1283004842" sldId="300"/>
            <ac:spMk id="12" creationId="{B269A3B7-1366-F197-6AC3-B494E4B908B7}"/>
          </ac:spMkLst>
        </pc:spChg>
        <pc:spChg chg="del">
          <ac:chgData name="Rose Rose" userId="0668a6f763ece157" providerId="LiveId" clId="{12B6A9F2-C435-405D-8C74-3DA2919D37A5}" dt="2026-07-25T15:55:04.060" v="50" actId="478"/>
          <ac:spMkLst>
            <pc:docMk/>
            <pc:sldMk cId="1283004842" sldId="300"/>
            <ac:spMk id="14" creationId="{DAFCA222-706B-3733-9B33-4EE426B03090}"/>
          </ac:spMkLst>
        </pc:spChg>
        <pc:spChg chg="del">
          <ac:chgData name="Rose Rose" userId="0668a6f763ece157" providerId="LiveId" clId="{12B6A9F2-C435-405D-8C74-3DA2919D37A5}" dt="2026-07-25T15:55:04.060" v="50" actId="478"/>
          <ac:spMkLst>
            <pc:docMk/>
            <pc:sldMk cId="1283004842" sldId="300"/>
            <ac:spMk id="15" creationId="{F85B9A01-8F3F-1319-A94C-43C7C2E5D356}"/>
          </ac:spMkLst>
        </pc:spChg>
        <pc:spChg chg="del">
          <ac:chgData name="Rose Rose" userId="0668a6f763ece157" providerId="LiveId" clId="{12B6A9F2-C435-405D-8C74-3DA2919D37A5}" dt="2026-07-25T15:55:04.060" v="50" actId="478"/>
          <ac:spMkLst>
            <pc:docMk/>
            <pc:sldMk cId="1283004842" sldId="300"/>
            <ac:spMk id="17" creationId="{8CD7657A-94DC-F706-21A7-EAE4F44B3CDA}"/>
          </ac:spMkLst>
        </pc:spChg>
        <pc:spChg chg="del">
          <ac:chgData name="Rose Rose" userId="0668a6f763ece157" providerId="LiveId" clId="{12B6A9F2-C435-405D-8C74-3DA2919D37A5}" dt="2026-07-25T15:55:04.060" v="50" actId="478"/>
          <ac:spMkLst>
            <pc:docMk/>
            <pc:sldMk cId="1283004842" sldId="300"/>
            <ac:spMk id="19" creationId="{0EA503B4-56DB-24C3-5002-234956EED541}"/>
          </ac:spMkLst>
        </pc:spChg>
        <pc:spChg chg="del">
          <ac:chgData name="Rose Rose" userId="0668a6f763ece157" providerId="LiveId" clId="{12B6A9F2-C435-405D-8C74-3DA2919D37A5}" dt="2026-07-25T15:55:04.060" v="50" actId="478"/>
          <ac:spMkLst>
            <pc:docMk/>
            <pc:sldMk cId="1283004842" sldId="300"/>
            <ac:spMk id="22" creationId="{E03CDF7A-4F50-F008-E6EB-B673527BCC32}"/>
          </ac:spMkLst>
        </pc:spChg>
        <pc:spChg chg="del">
          <ac:chgData name="Rose Rose" userId="0668a6f763ece157" providerId="LiveId" clId="{12B6A9F2-C435-405D-8C74-3DA2919D37A5}" dt="2026-07-25T15:55:04.060" v="50" actId="478"/>
          <ac:spMkLst>
            <pc:docMk/>
            <pc:sldMk cId="1283004842" sldId="300"/>
            <ac:spMk id="23" creationId="{E8CA073D-312B-A694-8BD2-194E37C90DCE}"/>
          </ac:spMkLst>
        </pc:spChg>
        <pc:spChg chg="del">
          <ac:chgData name="Rose Rose" userId="0668a6f763ece157" providerId="LiveId" clId="{12B6A9F2-C435-405D-8C74-3DA2919D37A5}" dt="2026-07-25T15:55:04.060" v="50" actId="478"/>
          <ac:spMkLst>
            <pc:docMk/>
            <pc:sldMk cId="1283004842" sldId="300"/>
            <ac:spMk id="24" creationId="{A760A3D4-B50A-03B0-876C-287FD174EFAD}"/>
          </ac:spMkLst>
        </pc:spChg>
        <pc:picChg chg="add mod">
          <ac:chgData name="Rose Rose" userId="0668a6f763ece157" providerId="LiveId" clId="{12B6A9F2-C435-405D-8C74-3DA2919D37A5}" dt="2026-07-26T05:01:58.159" v="639" actId="1076"/>
          <ac:picMkLst>
            <pc:docMk/>
            <pc:sldMk cId="1283004842" sldId="300"/>
            <ac:picMk id="27" creationId="{8EA51B93-F545-4722-6ACE-3B2D91E36895}"/>
          </ac:picMkLst>
        </pc:picChg>
      </pc:sldChg>
      <pc:sldChg chg="addSp delSp modSp add mod modNotesTx">
        <pc:chgData name="Rose Rose" userId="0668a6f763ece157" providerId="LiveId" clId="{12B6A9F2-C435-405D-8C74-3DA2919D37A5}" dt="2026-07-26T05:02:20.108" v="644" actId="1076"/>
        <pc:sldMkLst>
          <pc:docMk/>
          <pc:sldMk cId="1083960112" sldId="301"/>
        </pc:sldMkLst>
        <pc:spChg chg="mod">
          <ac:chgData name="Rose Rose" userId="0668a6f763ece157" providerId="LiveId" clId="{12B6A9F2-C435-405D-8C74-3DA2919D37A5}" dt="2026-07-26T05:02:11.405" v="641" actId="14100"/>
          <ac:spMkLst>
            <pc:docMk/>
            <pc:sldMk cId="1083960112" sldId="301"/>
            <ac:spMk id="7" creationId="{011271B9-BED4-40EC-BF9F-0F8357403040}"/>
          </ac:spMkLst>
        </pc:spChg>
        <pc:picChg chg="add mod">
          <ac:chgData name="Rose Rose" userId="0668a6f763ece157" providerId="LiveId" clId="{12B6A9F2-C435-405D-8C74-3DA2919D37A5}" dt="2026-07-26T05:02:20.108" v="644" actId="1076"/>
          <ac:picMkLst>
            <pc:docMk/>
            <pc:sldMk cId="1083960112" sldId="301"/>
            <ac:picMk id="9" creationId="{DF1DA0D3-E31B-5831-F8E6-A85FAB9E822A}"/>
          </ac:picMkLst>
        </pc:picChg>
        <pc:picChg chg="del">
          <ac:chgData name="Rose Rose" userId="0668a6f763ece157" providerId="LiveId" clId="{12B6A9F2-C435-405D-8C74-3DA2919D37A5}" dt="2026-07-25T15:56:56.122" v="87" actId="478"/>
          <ac:picMkLst>
            <pc:docMk/>
            <pc:sldMk cId="1083960112" sldId="301"/>
            <ac:picMk id="27" creationId="{B48C5C28-B9CA-F5BE-F8C3-38020934E14A}"/>
          </ac:picMkLst>
        </pc:picChg>
      </pc:sldChg>
      <pc:sldChg chg="addSp delSp modSp add mod">
        <pc:chgData name="Rose Rose" userId="0668a6f763ece157" providerId="LiveId" clId="{12B6A9F2-C435-405D-8C74-3DA2919D37A5}" dt="2026-07-25T15:59:29.183" v="103" actId="1076"/>
        <pc:sldMkLst>
          <pc:docMk/>
          <pc:sldMk cId="4004221233" sldId="302"/>
        </pc:sldMkLst>
        <pc:spChg chg="del">
          <ac:chgData name="Rose Rose" userId="0668a6f763ece157" providerId="LiveId" clId="{12B6A9F2-C435-405D-8C74-3DA2919D37A5}" dt="2026-07-25T15:58:25.156" v="94" actId="478"/>
          <ac:spMkLst>
            <pc:docMk/>
            <pc:sldMk cId="4004221233" sldId="302"/>
            <ac:spMk id="8" creationId="{0264F658-6E6B-34AA-E83E-DF0AE0607949}"/>
          </ac:spMkLst>
        </pc:spChg>
        <pc:spChg chg="mod">
          <ac:chgData name="Rose Rose" userId="0668a6f763ece157" providerId="LiveId" clId="{12B6A9F2-C435-405D-8C74-3DA2919D37A5}" dt="2026-07-25T15:59:20.080" v="100" actId="1076"/>
          <ac:spMkLst>
            <pc:docMk/>
            <pc:sldMk cId="4004221233" sldId="302"/>
            <ac:spMk id="9" creationId="{BED60254-00DA-EA1B-11DA-3CBD2E97A14B}"/>
          </ac:spMkLst>
        </pc:spChg>
        <pc:spChg chg="mod">
          <ac:chgData name="Rose Rose" userId="0668a6f763ece157" providerId="LiveId" clId="{12B6A9F2-C435-405D-8C74-3DA2919D37A5}" dt="2026-07-25T15:59:20.080" v="100" actId="1076"/>
          <ac:spMkLst>
            <pc:docMk/>
            <pc:sldMk cId="4004221233" sldId="302"/>
            <ac:spMk id="10" creationId="{66ADA42D-A23C-CCE1-5796-6355383F60E8}"/>
          </ac:spMkLst>
        </pc:spChg>
        <pc:picChg chg="add mod">
          <ac:chgData name="Rose Rose" userId="0668a6f763ece157" providerId="LiveId" clId="{12B6A9F2-C435-405D-8C74-3DA2919D37A5}" dt="2026-07-25T15:59:29.183" v="103" actId="1076"/>
          <ac:picMkLst>
            <pc:docMk/>
            <pc:sldMk cId="4004221233" sldId="302"/>
            <ac:picMk id="12" creationId="{18C03765-D79F-20EE-41E8-F3F6BA614876}"/>
          </ac:picMkLst>
        </pc:picChg>
      </pc:sldChg>
      <pc:sldChg chg="addSp delSp modSp add mod modNotesTx">
        <pc:chgData name="Rose Rose" userId="0668a6f763ece157" providerId="LiveId" clId="{12B6A9F2-C435-405D-8C74-3DA2919D37A5}" dt="2026-07-26T05:11:50.103" v="684" actId="20577"/>
        <pc:sldMkLst>
          <pc:docMk/>
          <pc:sldMk cId="2054892299" sldId="303"/>
        </pc:sldMkLst>
        <pc:spChg chg="mod">
          <ac:chgData name="Rose Rose" userId="0668a6f763ece157" providerId="LiveId" clId="{12B6A9F2-C435-405D-8C74-3DA2919D37A5}" dt="2026-07-26T04:52:18.863" v="329" actId="1076"/>
          <ac:spMkLst>
            <pc:docMk/>
            <pc:sldMk cId="2054892299" sldId="303"/>
            <ac:spMk id="7" creationId="{1703B961-5830-42A2-4536-47ECEBBF30DF}"/>
          </ac:spMkLst>
        </pc:spChg>
        <pc:spChg chg="add mod">
          <ac:chgData name="Rose Rose" userId="0668a6f763ece157" providerId="LiveId" clId="{12B6A9F2-C435-405D-8C74-3DA2919D37A5}" dt="2026-07-26T05:11:50.103" v="684" actId="20577"/>
          <ac:spMkLst>
            <pc:docMk/>
            <pc:sldMk cId="2054892299" sldId="303"/>
            <ac:spMk id="11" creationId="{B126D025-1C24-D5AF-92FA-BEB5373898CF}"/>
          </ac:spMkLst>
        </pc:spChg>
        <pc:picChg chg="add del mod">
          <ac:chgData name="Rose Rose" userId="0668a6f763ece157" providerId="LiveId" clId="{12B6A9F2-C435-405D-8C74-3DA2919D37A5}" dt="2026-07-26T04:51:08.308" v="302" actId="478"/>
          <ac:picMkLst>
            <pc:docMk/>
            <pc:sldMk cId="2054892299" sldId="303"/>
            <ac:picMk id="9" creationId="{47F146B5-6A0D-4CCD-19F9-73C8A0167CF9}"/>
          </ac:picMkLst>
        </pc:picChg>
        <pc:picChg chg="add mod">
          <ac:chgData name="Rose Rose" userId="0668a6f763ece157" providerId="LiveId" clId="{12B6A9F2-C435-405D-8C74-3DA2919D37A5}" dt="2026-07-26T04:52:42.533" v="334" actId="14100"/>
          <ac:picMkLst>
            <pc:docMk/>
            <pc:sldMk cId="2054892299" sldId="303"/>
            <ac:picMk id="10" creationId="{87011E6F-3B73-12D4-15DE-86DDC9154B66}"/>
          </ac:picMkLst>
        </pc:picChg>
        <pc:picChg chg="del">
          <ac:chgData name="Rose Rose" userId="0668a6f763ece157" providerId="LiveId" clId="{12B6A9F2-C435-405D-8C74-3DA2919D37A5}" dt="2026-07-25T17:00:51.396" v="272" actId="478"/>
          <ac:picMkLst>
            <pc:docMk/>
            <pc:sldMk cId="2054892299" sldId="303"/>
            <ac:picMk id="27" creationId="{79A37317-5913-CFC0-7524-4618F93378BD}"/>
          </ac:picMkLst>
        </pc:picChg>
      </pc:sldChg>
      <pc:sldChg chg="modSp add del mod">
        <pc:chgData name="Rose Rose" userId="0668a6f763ece157" providerId="LiveId" clId="{12B6A9F2-C435-405D-8C74-3DA2919D37A5}" dt="2026-07-25T16:09:55.881" v="153" actId="47"/>
        <pc:sldMkLst>
          <pc:docMk/>
          <pc:sldMk cId="3254980209" sldId="303"/>
        </pc:sldMkLst>
        <pc:spChg chg="mod">
          <ac:chgData name="Rose Rose" userId="0668a6f763ece157" providerId="LiveId" clId="{12B6A9F2-C435-405D-8C74-3DA2919D37A5}" dt="2026-07-25T16:07:39.870" v="131" actId="13926"/>
          <ac:spMkLst>
            <pc:docMk/>
            <pc:sldMk cId="3254980209" sldId="303"/>
            <ac:spMk id="7" creationId="{7ADDE9D0-60F4-97F6-062D-25B7EBE75AC8}"/>
          </ac:spMkLst>
        </pc:spChg>
      </pc:sldChg>
    </pc:docChg>
  </pc:docChgLst>
  <pc:docChgLst>
    <pc:chgData name="Rose Rose" userId="0668a6f763ece157" providerId="LiveId" clId="{CF3D0D55-65C7-47F1-8EAF-DF078CB69A36}"/>
    <pc:docChg chg="undo custSel addSld delSld modSld">
      <pc:chgData name="Rose Rose" userId="0668a6f763ece157" providerId="LiveId" clId="{CF3D0D55-65C7-47F1-8EAF-DF078CB69A36}" dt="2026-07-26T08:02:06.206" v="323" actId="47"/>
      <pc:docMkLst>
        <pc:docMk/>
      </pc:docMkLst>
      <pc:sldChg chg="addSp delSp modSp mod">
        <pc:chgData name="Rose Rose" userId="0668a6f763ece157" providerId="LiveId" clId="{CF3D0D55-65C7-47F1-8EAF-DF078CB69A36}" dt="2026-07-26T07:15:17.082" v="7" actId="255"/>
        <pc:sldMkLst>
          <pc:docMk/>
          <pc:sldMk cId="0" sldId="266"/>
        </pc:sldMkLst>
        <pc:spChg chg="del">
          <ac:chgData name="Rose Rose" userId="0668a6f763ece157" providerId="LiveId" clId="{CF3D0D55-65C7-47F1-8EAF-DF078CB69A36}" dt="2026-07-26T07:14:41.111" v="1" actId="478"/>
          <ac:spMkLst>
            <pc:docMk/>
            <pc:sldMk cId="0" sldId="266"/>
            <ac:spMk id="8" creationId="{00000000-0000-0000-0000-000000000000}"/>
          </ac:spMkLst>
        </pc:spChg>
        <pc:spChg chg="add mod">
          <ac:chgData name="Rose Rose" userId="0668a6f763ece157" providerId="LiveId" clId="{CF3D0D55-65C7-47F1-8EAF-DF078CB69A36}" dt="2026-07-26T07:15:17.082" v="7" actId="255"/>
          <ac:spMkLst>
            <pc:docMk/>
            <pc:sldMk cId="0" sldId="266"/>
            <ac:spMk id="12" creationId="{6CD7B164-DA1E-F2AB-5F06-7990792BE965}"/>
          </ac:spMkLst>
        </pc:spChg>
      </pc:sldChg>
      <pc:sldChg chg="addSp delSp modSp mod">
        <pc:chgData name="Rose Rose" userId="0668a6f763ece157" providerId="LiveId" clId="{CF3D0D55-65C7-47F1-8EAF-DF078CB69A36}" dt="2026-07-26T07:17:45.450" v="14" actId="1076"/>
        <pc:sldMkLst>
          <pc:docMk/>
          <pc:sldMk cId="0" sldId="267"/>
        </pc:sldMkLst>
        <pc:spChg chg="del">
          <ac:chgData name="Rose Rose" userId="0668a6f763ece157" providerId="LiveId" clId="{CF3D0D55-65C7-47F1-8EAF-DF078CB69A36}" dt="2026-07-26T07:17:21.048" v="8" actId="478"/>
          <ac:spMkLst>
            <pc:docMk/>
            <pc:sldMk cId="0" sldId="267"/>
            <ac:spMk id="8" creationId="{00000000-0000-0000-0000-000000000000}"/>
          </ac:spMkLst>
        </pc:spChg>
        <pc:spChg chg="del">
          <ac:chgData name="Rose Rose" userId="0668a6f763ece157" providerId="LiveId" clId="{CF3D0D55-65C7-47F1-8EAF-DF078CB69A36}" dt="2026-07-26T07:17:24.414" v="9" actId="478"/>
          <ac:spMkLst>
            <pc:docMk/>
            <pc:sldMk cId="0" sldId="267"/>
            <ac:spMk id="9" creationId="{00000000-0000-0000-0000-000000000000}"/>
          </ac:spMkLst>
        </pc:spChg>
        <pc:spChg chg="del">
          <ac:chgData name="Rose Rose" userId="0668a6f763ece157" providerId="LiveId" clId="{CF3D0D55-65C7-47F1-8EAF-DF078CB69A36}" dt="2026-07-26T07:17:31.271" v="10" actId="478"/>
          <ac:spMkLst>
            <pc:docMk/>
            <pc:sldMk cId="0" sldId="267"/>
            <ac:spMk id="10" creationId="{00000000-0000-0000-0000-000000000000}"/>
          </ac:spMkLst>
        </pc:spChg>
        <pc:spChg chg="del">
          <ac:chgData name="Rose Rose" userId="0668a6f763ece157" providerId="LiveId" clId="{CF3D0D55-65C7-47F1-8EAF-DF078CB69A36}" dt="2026-07-26T07:17:31.271" v="10" actId="478"/>
          <ac:spMkLst>
            <pc:docMk/>
            <pc:sldMk cId="0" sldId="267"/>
            <ac:spMk id="11" creationId="{00000000-0000-0000-0000-000000000000}"/>
          </ac:spMkLst>
        </pc:spChg>
        <pc:spChg chg="add mod">
          <ac:chgData name="Rose Rose" userId="0668a6f763ece157" providerId="LiveId" clId="{CF3D0D55-65C7-47F1-8EAF-DF078CB69A36}" dt="2026-07-26T07:17:45.450" v="14" actId="1076"/>
          <ac:spMkLst>
            <pc:docMk/>
            <pc:sldMk cId="0" sldId="267"/>
            <ac:spMk id="13" creationId="{C048678B-0EDE-92DB-A000-012200E62E9F}"/>
          </ac:spMkLst>
        </pc:spChg>
      </pc:sldChg>
      <pc:sldChg chg="modSp mod modNotesTx">
        <pc:chgData name="Rose Rose" userId="0668a6f763ece157" providerId="LiveId" clId="{CF3D0D55-65C7-47F1-8EAF-DF078CB69A36}" dt="2026-07-26T07:30:16.824" v="50" actId="6549"/>
        <pc:sldMkLst>
          <pc:docMk/>
          <pc:sldMk cId="0" sldId="268"/>
        </pc:sldMkLst>
        <pc:spChg chg="mod">
          <ac:chgData name="Rose Rose" userId="0668a6f763ece157" providerId="LiveId" clId="{CF3D0D55-65C7-47F1-8EAF-DF078CB69A36}" dt="2026-07-26T07:30:16.824" v="50" actId="6549"/>
          <ac:spMkLst>
            <pc:docMk/>
            <pc:sldMk cId="0" sldId="268"/>
            <ac:spMk id="8" creationId="{00000000-0000-0000-0000-000000000000}"/>
          </ac:spMkLst>
        </pc:spChg>
      </pc:sldChg>
      <pc:sldChg chg="modSp mod">
        <pc:chgData name="Rose Rose" userId="0668a6f763ece157" providerId="LiveId" clId="{CF3D0D55-65C7-47F1-8EAF-DF078CB69A36}" dt="2026-07-26T07:40:04.780" v="51" actId="2165"/>
        <pc:sldMkLst>
          <pc:docMk/>
          <pc:sldMk cId="0" sldId="269"/>
        </pc:sldMkLst>
        <pc:graphicFrameChg chg="modGraphic">
          <ac:chgData name="Rose Rose" userId="0668a6f763ece157" providerId="LiveId" clId="{CF3D0D55-65C7-47F1-8EAF-DF078CB69A36}" dt="2026-07-26T07:40:04.780" v="51" actId="2165"/>
          <ac:graphicFrameMkLst>
            <pc:docMk/>
            <pc:sldMk cId="0" sldId="269"/>
            <ac:graphicFrameMk id="15" creationId="{00000000-0000-0000-0000-000000000000}"/>
          </ac:graphicFrameMkLst>
        </pc:graphicFrameChg>
      </pc:sldChg>
      <pc:sldChg chg="modSp del mod">
        <pc:chgData name="Rose Rose" userId="0668a6f763ece157" providerId="LiveId" clId="{CF3D0D55-65C7-47F1-8EAF-DF078CB69A36}" dt="2026-07-26T07:44:38.132" v="98" actId="47"/>
        <pc:sldMkLst>
          <pc:docMk/>
          <pc:sldMk cId="0" sldId="271"/>
        </pc:sldMkLst>
        <pc:spChg chg="mod">
          <ac:chgData name="Rose Rose" userId="0668a6f763ece157" providerId="LiveId" clId="{CF3D0D55-65C7-47F1-8EAF-DF078CB69A36}" dt="2026-07-26T07:41:40.291" v="53" actId="13926"/>
          <ac:spMkLst>
            <pc:docMk/>
            <pc:sldMk cId="0" sldId="271"/>
            <ac:spMk id="7" creationId="{00000000-0000-0000-0000-000000000000}"/>
          </ac:spMkLst>
        </pc:spChg>
      </pc:sldChg>
      <pc:sldChg chg="addSp delSp modSp mod">
        <pc:chgData name="Rose Rose" userId="0668a6f763ece157" providerId="LiveId" clId="{CF3D0D55-65C7-47F1-8EAF-DF078CB69A36}" dt="2026-07-26T07:45:08.758" v="101" actId="14100"/>
        <pc:sldMkLst>
          <pc:docMk/>
          <pc:sldMk cId="0" sldId="273"/>
        </pc:sldMkLst>
        <pc:spChg chg="mod">
          <ac:chgData name="Rose Rose" userId="0668a6f763ece157" providerId="LiveId" clId="{CF3D0D55-65C7-47F1-8EAF-DF078CB69A36}" dt="2026-07-26T07:44:19.667" v="95" actId="14100"/>
          <ac:spMkLst>
            <pc:docMk/>
            <pc:sldMk cId="0" sldId="273"/>
            <ac:spMk id="7" creationId="{00000000-0000-0000-0000-000000000000}"/>
          </ac:spMkLst>
        </pc:spChg>
        <pc:spChg chg="del">
          <ac:chgData name="Rose Rose" userId="0668a6f763ece157" providerId="LiveId" clId="{CF3D0D55-65C7-47F1-8EAF-DF078CB69A36}" dt="2026-07-26T07:42:37.335" v="54" actId="478"/>
          <ac:spMkLst>
            <pc:docMk/>
            <pc:sldMk cId="0" sldId="273"/>
            <ac:spMk id="12" creationId="{00000000-0000-0000-0000-000000000000}"/>
          </ac:spMkLst>
        </pc:spChg>
        <pc:spChg chg="del">
          <ac:chgData name="Rose Rose" userId="0668a6f763ece157" providerId="LiveId" clId="{CF3D0D55-65C7-47F1-8EAF-DF078CB69A36}" dt="2026-07-26T07:42:37.335" v="54" actId="478"/>
          <ac:spMkLst>
            <pc:docMk/>
            <pc:sldMk cId="0" sldId="273"/>
            <ac:spMk id="15" creationId="{00000000-0000-0000-0000-000000000000}"/>
          </ac:spMkLst>
        </pc:spChg>
        <pc:spChg chg="del">
          <ac:chgData name="Rose Rose" userId="0668a6f763ece157" providerId="LiveId" clId="{CF3D0D55-65C7-47F1-8EAF-DF078CB69A36}" dt="2026-07-26T07:42:37.335" v="54" actId="478"/>
          <ac:spMkLst>
            <pc:docMk/>
            <pc:sldMk cId="0" sldId="273"/>
            <ac:spMk id="17" creationId="{00000000-0000-0000-0000-000000000000}"/>
          </ac:spMkLst>
        </pc:spChg>
        <pc:spChg chg="del">
          <ac:chgData name="Rose Rose" userId="0668a6f763ece157" providerId="LiveId" clId="{CF3D0D55-65C7-47F1-8EAF-DF078CB69A36}" dt="2026-07-26T07:42:37.335" v="54" actId="478"/>
          <ac:spMkLst>
            <pc:docMk/>
            <pc:sldMk cId="0" sldId="273"/>
            <ac:spMk id="19" creationId="{00000000-0000-0000-0000-000000000000}"/>
          </ac:spMkLst>
        </pc:spChg>
        <pc:spChg chg="del">
          <ac:chgData name="Rose Rose" userId="0668a6f763ece157" providerId="LiveId" clId="{CF3D0D55-65C7-47F1-8EAF-DF078CB69A36}" dt="2026-07-26T07:42:37.335" v="54" actId="478"/>
          <ac:spMkLst>
            <pc:docMk/>
            <pc:sldMk cId="0" sldId="273"/>
            <ac:spMk id="20" creationId="{00000000-0000-0000-0000-000000000000}"/>
          </ac:spMkLst>
        </pc:spChg>
        <pc:spChg chg="del">
          <ac:chgData name="Rose Rose" userId="0668a6f763ece157" providerId="LiveId" clId="{CF3D0D55-65C7-47F1-8EAF-DF078CB69A36}" dt="2026-07-26T07:42:37.335" v="54" actId="478"/>
          <ac:spMkLst>
            <pc:docMk/>
            <pc:sldMk cId="0" sldId="273"/>
            <ac:spMk id="25" creationId="{00000000-0000-0000-0000-000000000000}"/>
          </ac:spMkLst>
        </pc:spChg>
        <pc:spChg chg="del">
          <ac:chgData name="Rose Rose" userId="0668a6f763ece157" providerId="LiveId" clId="{CF3D0D55-65C7-47F1-8EAF-DF078CB69A36}" dt="2026-07-26T07:42:37.335" v="54" actId="478"/>
          <ac:spMkLst>
            <pc:docMk/>
            <pc:sldMk cId="0" sldId="273"/>
            <ac:spMk id="26" creationId="{00000000-0000-0000-0000-000000000000}"/>
          </ac:spMkLst>
        </pc:spChg>
        <pc:spChg chg="del">
          <ac:chgData name="Rose Rose" userId="0668a6f763ece157" providerId="LiveId" clId="{CF3D0D55-65C7-47F1-8EAF-DF078CB69A36}" dt="2026-07-26T07:42:37.335" v="54" actId="478"/>
          <ac:spMkLst>
            <pc:docMk/>
            <pc:sldMk cId="0" sldId="273"/>
            <ac:spMk id="29" creationId="{00000000-0000-0000-0000-000000000000}"/>
          </ac:spMkLst>
        </pc:spChg>
        <pc:spChg chg="del">
          <ac:chgData name="Rose Rose" userId="0668a6f763ece157" providerId="LiveId" clId="{CF3D0D55-65C7-47F1-8EAF-DF078CB69A36}" dt="2026-07-26T07:42:37.335" v="54" actId="478"/>
          <ac:spMkLst>
            <pc:docMk/>
            <pc:sldMk cId="0" sldId="273"/>
            <ac:spMk id="32" creationId="{00000000-0000-0000-0000-000000000000}"/>
          </ac:spMkLst>
        </pc:spChg>
        <pc:spChg chg="del">
          <ac:chgData name="Rose Rose" userId="0668a6f763ece157" providerId="LiveId" clId="{CF3D0D55-65C7-47F1-8EAF-DF078CB69A36}" dt="2026-07-26T07:42:37.335" v="54" actId="478"/>
          <ac:spMkLst>
            <pc:docMk/>
            <pc:sldMk cId="0" sldId="273"/>
            <ac:spMk id="37" creationId="{00000000-0000-0000-0000-000000000000}"/>
          </ac:spMkLst>
        </pc:spChg>
        <pc:spChg chg="del">
          <ac:chgData name="Rose Rose" userId="0668a6f763ece157" providerId="LiveId" clId="{CF3D0D55-65C7-47F1-8EAF-DF078CB69A36}" dt="2026-07-26T07:43:44.260" v="88" actId="478"/>
          <ac:spMkLst>
            <pc:docMk/>
            <pc:sldMk cId="0" sldId="273"/>
            <ac:spMk id="40" creationId="{00000000-0000-0000-0000-000000000000}"/>
          </ac:spMkLst>
        </pc:spChg>
        <pc:spChg chg="del">
          <ac:chgData name="Rose Rose" userId="0668a6f763ece157" providerId="LiveId" clId="{CF3D0D55-65C7-47F1-8EAF-DF078CB69A36}" dt="2026-07-26T07:43:48.994" v="89" actId="478"/>
          <ac:spMkLst>
            <pc:docMk/>
            <pc:sldMk cId="0" sldId="273"/>
            <ac:spMk id="41" creationId="{00000000-0000-0000-0000-000000000000}"/>
          </ac:spMkLst>
        </pc:spChg>
        <pc:spChg chg="add mod">
          <ac:chgData name="Rose Rose" userId="0668a6f763ece157" providerId="LiveId" clId="{CF3D0D55-65C7-47F1-8EAF-DF078CB69A36}" dt="2026-07-26T07:45:08.758" v="101" actId="14100"/>
          <ac:spMkLst>
            <pc:docMk/>
            <pc:sldMk cId="0" sldId="273"/>
            <ac:spMk id="45" creationId="{C7EC6EB4-ACF8-DE17-875A-7E4A94A12EA2}"/>
          </ac:spMkLst>
        </pc:spChg>
        <pc:spChg chg="add mod">
          <ac:chgData name="Rose Rose" userId="0668a6f763ece157" providerId="LiveId" clId="{CF3D0D55-65C7-47F1-8EAF-DF078CB69A36}" dt="2026-07-26T07:45:08.758" v="101" actId="14100"/>
          <ac:spMkLst>
            <pc:docMk/>
            <pc:sldMk cId="0" sldId="273"/>
            <ac:spMk id="47" creationId="{D4F02845-F376-61B0-86FB-8F7D8EF6CB61}"/>
          </ac:spMkLst>
        </pc:spChg>
        <pc:picChg chg="add mod">
          <ac:chgData name="Rose Rose" userId="0668a6f763ece157" providerId="LiveId" clId="{CF3D0D55-65C7-47F1-8EAF-DF078CB69A36}" dt="2026-07-26T07:44:24.459" v="97" actId="1076"/>
          <ac:picMkLst>
            <pc:docMk/>
            <pc:sldMk cId="0" sldId="273"/>
            <ac:picMk id="43" creationId="{1FE63D18-F7E2-7933-0719-D16703888F2C}"/>
          </ac:picMkLst>
        </pc:picChg>
      </pc:sldChg>
      <pc:sldChg chg="del">
        <pc:chgData name="Rose Rose" userId="0668a6f763ece157" providerId="LiveId" clId="{CF3D0D55-65C7-47F1-8EAF-DF078CB69A36}" dt="2026-07-26T07:46:28.119" v="118" actId="47"/>
        <pc:sldMkLst>
          <pc:docMk/>
          <pc:sldMk cId="0" sldId="274"/>
        </pc:sldMkLst>
      </pc:sldChg>
      <pc:sldChg chg="del">
        <pc:chgData name="Rose Rose" userId="0668a6f763ece157" providerId="LiveId" clId="{CF3D0D55-65C7-47F1-8EAF-DF078CB69A36}" dt="2026-07-26T07:47:16.800" v="119" actId="47"/>
        <pc:sldMkLst>
          <pc:docMk/>
          <pc:sldMk cId="0" sldId="277"/>
        </pc:sldMkLst>
      </pc:sldChg>
      <pc:sldChg chg="modSp mod">
        <pc:chgData name="Rose Rose" userId="0668a6f763ece157" providerId="LiveId" clId="{CF3D0D55-65C7-47F1-8EAF-DF078CB69A36}" dt="2026-07-26T07:49:01.768" v="139" actId="20577"/>
        <pc:sldMkLst>
          <pc:docMk/>
          <pc:sldMk cId="0" sldId="278"/>
        </pc:sldMkLst>
        <pc:spChg chg="mod">
          <ac:chgData name="Rose Rose" userId="0668a6f763ece157" providerId="LiveId" clId="{CF3D0D55-65C7-47F1-8EAF-DF078CB69A36}" dt="2026-07-26T07:49:01.768" v="139" actId="20577"/>
          <ac:spMkLst>
            <pc:docMk/>
            <pc:sldMk cId="0" sldId="278"/>
            <ac:spMk id="6" creationId="{00000000-0000-0000-0000-000000000000}"/>
          </ac:spMkLst>
        </pc:spChg>
      </pc:sldChg>
      <pc:sldChg chg="modSp">
        <pc:chgData name="Rose Rose" userId="0668a6f763ece157" providerId="LiveId" clId="{CF3D0D55-65C7-47F1-8EAF-DF078CB69A36}" dt="2026-07-26T07:51:48.141" v="140"/>
        <pc:sldMkLst>
          <pc:docMk/>
          <pc:sldMk cId="0" sldId="279"/>
        </pc:sldMkLst>
        <pc:spChg chg="mod">
          <ac:chgData name="Rose Rose" userId="0668a6f763ece157" providerId="LiveId" clId="{CF3D0D55-65C7-47F1-8EAF-DF078CB69A36}" dt="2026-07-26T07:51:48.141" v="140"/>
          <ac:spMkLst>
            <pc:docMk/>
            <pc:sldMk cId="0" sldId="279"/>
            <ac:spMk id="6" creationId="{00000000-0000-0000-0000-000000000000}"/>
          </ac:spMkLst>
        </pc:spChg>
      </pc:sldChg>
      <pc:sldChg chg="modSp mod">
        <pc:chgData name="Rose Rose" userId="0668a6f763ece157" providerId="LiveId" clId="{CF3D0D55-65C7-47F1-8EAF-DF078CB69A36}" dt="2026-07-26T08:01:59.035" v="322" actId="14100"/>
        <pc:sldMkLst>
          <pc:docMk/>
          <pc:sldMk cId="0" sldId="280"/>
        </pc:sldMkLst>
        <pc:spChg chg="mod">
          <ac:chgData name="Rose Rose" userId="0668a6f763ece157" providerId="LiveId" clId="{CF3D0D55-65C7-47F1-8EAF-DF078CB69A36}" dt="2026-07-26T08:01:59.035" v="322" actId="14100"/>
          <ac:spMkLst>
            <pc:docMk/>
            <pc:sldMk cId="0" sldId="280"/>
            <ac:spMk id="7" creationId="{00000000-0000-0000-0000-000000000000}"/>
          </ac:spMkLst>
        </pc:spChg>
      </pc:sldChg>
      <pc:sldChg chg="del">
        <pc:chgData name="Rose Rose" userId="0668a6f763ece157" providerId="LiveId" clId="{CF3D0D55-65C7-47F1-8EAF-DF078CB69A36}" dt="2026-07-26T08:02:06.206" v="323" actId="47"/>
        <pc:sldMkLst>
          <pc:docMk/>
          <pc:sldMk cId="0" sldId="281"/>
        </pc:sldMkLst>
      </pc:sldChg>
      <pc:sldChg chg="modSp mod">
        <pc:chgData name="Rose Rose" userId="0668a6f763ece157" providerId="LiveId" clId="{CF3D0D55-65C7-47F1-8EAF-DF078CB69A36}" dt="2026-07-26T07:55:22.409" v="186" actId="13926"/>
        <pc:sldMkLst>
          <pc:docMk/>
          <pc:sldMk cId="0" sldId="283"/>
        </pc:sldMkLst>
        <pc:spChg chg="mod">
          <ac:chgData name="Rose Rose" userId="0668a6f763ece157" providerId="LiveId" clId="{CF3D0D55-65C7-47F1-8EAF-DF078CB69A36}" dt="2026-07-26T07:55:22.409" v="186" actId="13926"/>
          <ac:spMkLst>
            <pc:docMk/>
            <pc:sldMk cId="0" sldId="283"/>
            <ac:spMk id="7" creationId="{00000000-0000-0000-0000-000000000000}"/>
          </ac:spMkLst>
        </pc:spChg>
      </pc:sldChg>
      <pc:sldChg chg="del">
        <pc:chgData name="Rose Rose" userId="0668a6f763ece157" providerId="LiveId" clId="{CF3D0D55-65C7-47F1-8EAF-DF078CB69A36}" dt="2026-07-26T07:55:53.676" v="187" actId="47"/>
        <pc:sldMkLst>
          <pc:docMk/>
          <pc:sldMk cId="0" sldId="284"/>
        </pc:sldMkLst>
      </pc:sldChg>
      <pc:sldChg chg="del">
        <pc:chgData name="Rose Rose" userId="0668a6f763ece157" providerId="LiveId" clId="{CF3D0D55-65C7-47F1-8EAF-DF078CB69A36}" dt="2026-07-26T07:55:57.343" v="188" actId="47"/>
        <pc:sldMkLst>
          <pc:docMk/>
          <pc:sldMk cId="0" sldId="285"/>
        </pc:sldMkLst>
      </pc:sldChg>
      <pc:sldChg chg="modSp mod">
        <pc:chgData name="Rose Rose" userId="0668a6f763ece157" providerId="LiveId" clId="{CF3D0D55-65C7-47F1-8EAF-DF078CB69A36}" dt="2026-07-26T07:57:48.815" v="191" actId="6549"/>
        <pc:sldMkLst>
          <pc:docMk/>
          <pc:sldMk cId="0" sldId="286"/>
        </pc:sldMkLst>
        <pc:spChg chg="mod">
          <ac:chgData name="Rose Rose" userId="0668a6f763ece157" providerId="LiveId" clId="{CF3D0D55-65C7-47F1-8EAF-DF078CB69A36}" dt="2026-07-26T07:57:48.815" v="191" actId="6549"/>
          <ac:spMkLst>
            <pc:docMk/>
            <pc:sldMk cId="0" sldId="286"/>
            <ac:spMk id="6" creationId="{00000000-0000-0000-0000-000000000000}"/>
          </ac:spMkLst>
        </pc:spChg>
        <pc:spChg chg="mod">
          <ac:chgData name="Rose Rose" userId="0668a6f763ece157" providerId="LiveId" clId="{CF3D0D55-65C7-47F1-8EAF-DF078CB69A36}" dt="2026-07-26T07:56:27.851" v="189" actId="6549"/>
          <ac:spMkLst>
            <pc:docMk/>
            <pc:sldMk cId="0" sldId="286"/>
            <ac:spMk id="7" creationId="{00000000-0000-0000-0000-000000000000}"/>
          </ac:spMkLst>
        </pc:spChg>
      </pc:sldChg>
      <pc:sldChg chg="modSp mod">
        <pc:chgData name="Rose Rose" userId="0668a6f763ece157" providerId="LiveId" clId="{CF3D0D55-65C7-47F1-8EAF-DF078CB69A36}" dt="2026-07-26T07:58:00.469" v="206" actId="20577"/>
        <pc:sldMkLst>
          <pc:docMk/>
          <pc:sldMk cId="0" sldId="287"/>
        </pc:sldMkLst>
        <pc:spChg chg="mod">
          <ac:chgData name="Rose Rose" userId="0668a6f763ece157" providerId="LiveId" clId="{CF3D0D55-65C7-47F1-8EAF-DF078CB69A36}" dt="2026-07-26T07:58:00.469" v="206" actId="20577"/>
          <ac:spMkLst>
            <pc:docMk/>
            <pc:sldMk cId="0" sldId="287"/>
            <ac:spMk id="6" creationId="{00000000-0000-0000-0000-000000000000}"/>
          </ac:spMkLst>
        </pc:spChg>
        <pc:spChg chg="mod">
          <ac:chgData name="Rose Rose" userId="0668a6f763ece157" providerId="LiveId" clId="{CF3D0D55-65C7-47F1-8EAF-DF078CB69A36}" dt="2026-07-26T07:56:52.237" v="190" actId="6549"/>
          <ac:spMkLst>
            <pc:docMk/>
            <pc:sldMk cId="0" sldId="287"/>
            <ac:spMk id="7" creationId="{00000000-0000-0000-0000-000000000000}"/>
          </ac:spMkLst>
        </pc:spChg>
      </pc:sldChg>
      <pc:sldChg chg="modSp mod">
        <pc:chgData name="Rose Rose" userId="0668a6f763ece157" providerId="LiveId" clId="{CF3D0D55-65C7-47F1-8EAF-DF078CB69A36}" dt="2026-07-26T07:58:26.755" v="228" actId="20577"/>
        <pc:sldMkLst>
          <pc:docMk/>
          <pc:sldMk cId="0" sldId="288"/>
        </pc:sldMkLst>
        <pc:spChg chg="mod">
          <ac:chgData name="Rose Rose" userId="0668a6f763ece157" providerId="LiveId" clId="{CF3D0D55-65C7-47F1-8EAF-DF078CB69A36}" dt="2026-07-26T07:58:10.791" v="208" actId="20577"/>
          <ac:spMkLst>
            <pc:docMk/>
            <pc:sldMk cId="0" sldId="288"/>
            <ac:spMk id="6" creationId="{00000000-0000-0000-0000-000000000000}"/>
          </ac:spMkLst>
        </pc:spChg>
        <pc:spChg chg="mod">
          <ac:chgData name="Rose Rose" userId="0668a6f763ece157" providerId="LiveId" clId="{CF3D0D55-65C7-47F1-8EAF-DF078CB69A36}" dt="2026-07-26T07:58:26.755" v="228" actId="20577"/>
          <ac:spMkLst>
            <pc:docMk/>
            <pc:sldMk cId="0" sldId="288"/>
            <ac:spMk id="7" creationId="{00000000-0000-0000-0000-000000000000}"/>
          </ac:spMkLst>
        </pc:spChg>
      </pc:sldChg>
      <pc:sldChg chg="modSp del mod">
        <pc:chgData name="Rose Rose" userId="0668a6f763ece157" providerId="LiveId" clId="{CF3D0D55-65C7-47F1-8EAF-DF078CB69A36}" dt="2026-07-26T07:59:24.033" v="247" actId="47"/>
        <pc:sldMkLst>
          <pc:docMk/>
          <pc:sldMk cId="0" sldId="289"/>
        </pc:sldMkLst>
        <pc:spChg chg="mod">
          <ac:chgData name="Rose Rose" userId="0668a6f763ece157" providerId="LiveId" clId="{CF3D0D55-65C7-47F1-8EAF-DF078CB69A36}" dt="2026-07-26T07:58:51.921" v="245" actId="20577"/>
          <ac:spMkLst>
            <pc:docMk/>
            <pc:sldMk cId="0" sldId="289"/>
            <ac:spMk id="6" creationId="{00000000-0000-0000-0000-000000000000}"/>
          </ac:spMkLst>
        </pc:spChg>
        <pc:spChg chg="mod">
          <ac:chgData name="Rose Rose" userId="0668a6f763ece157" providerId="LiveId" clId="{CF3D0D55-65C7-47F1-8EAF-DF078CB69A36}" dt="2026-07-26T07:58:56.539" v="246" actId="6549"/>
          <ac:spMkLst>
            <pc:docMk/>
            <pc:sldMk cId="0" sldId="289"/>
            <ac:spMk id="7" creationId="{00000000-0000-0000-0000-000000000000}"/>
          </ac:spMkLst>
        </pc:spChg>
      </pc:sldChg>
      <pc:sldChg chg="modSp mod">
        <pc:chgData name="Rose Rose" userId="0668a6f763ece157" providerId="LiveId" clId="{CF3D0D55-65C7-47F1-8EAF-DF078CB69A36}" dt="2026-07-26T07:59:43.234" v="249" actId="6549"/>
        <pc:sldMkLst>
          <pc:docMk/>
          <pc:sldMk cId="0" sldId="290"/>
        </pc:sldMkLst>
        <pc:spChg chg="mod">
          <ac:chgData name="Rose Rose" userId="0668a6f763ece157" providerId="LiveId" clId="{CF3D0D55-65C7-47F1-8EAF-DF078CB69A36}" dt="2026-07-26T07:59:43.234" v="249" actId="6549"/>
          <ac:spMkLst>
            <pc:docMk/>
            <pc:sldMk cId="0" sldId="290"/>
            <ac:spMk id="7" creationId="{00000000-0000-0000-0000-000000000000}"/>
          </ac:spMkLst>
        </pc:spChg>
      </pc:sldChg>
      <pc:sldChg chg="modSp mod">
        <pc:chgData name="Rose Rose" userId="0668a6f763ece157" providerId="LiveId" clId="{CF3D0D55-65C7-47F1-8EAF-DF078CB69A36}" dt="2026-07-26T08:00:58.954" v="266" actId="13926"/>
        <pc:sldMkLst>
          <pc:docMk/>
          <pc:sldMk cId="0" sldId="295"/>
        </pc:sldMkLst>
        <pc:spChg chg="mod">
          <ac:chgData name="Rose Rose" userId="0668a6f763ece157" providerId="LiveId" clId="{CF3D0D55-65C7-47F1-8EAF-DF078CB69A36}" dt="2026-07-26T08:00:58.954" v="266" actId="13926"/>
          <ac:spMkLst>
            <pc:docMk/>
            <pc:sldMk cId="0" sldId="295"/>
            <ac:spMk id="10" creationId="{00000000-0000-0000-0000-000000000000}"/>
          </ac:spMkLst>
        </pc:spChg>
        <pc:spChg chg="mod">
          <ac:chgData name="Rose Rose" userId="0668a6f763ece157" providerId="LiveId" clId="{CF3D0D55-65C7-47F1-8EAF-DF078CB69A36}" dt="2026-07-26T08:00:39.957" v="265" actId="20577"/>
          <ac:spMkLst>
            <pc:docMk/>
            <pc:sldMk cId="0" sldId="295"/>
            <ac:spMk id="15" creationId="{00000000-0000-0000-0000-000000000000}"/>
          </ac:spMkLst>
        </pc:spChg>
      </pc:sldChg>
      <pc:sldChg chg="modSp mod">
        <pc:chgData name="Rose Rose" userId="0668a6f763ece157" providerId="LiveId" clId="{CF3D0D55-65C7-47F1-8EAF-DF078CB69A36}" dt="2026-07-26T07:13:06.524" v="0" actId="13926"/>
        <pc:sldMkLst>
          <pc:docMk/>
          <pc:sldMk cId="291833172" sldId="297"/>
        </pc:sldMkLst>
        <pc:spChg chg="mod">
          <ac:chgData name="Rose Rose" userId="0668a6f763ece157" providerId="LiveId" clId="{CF3D0D55-65C7-47F1-8EAF-DF078CB69A36}" dt="2026-07-26T07:13:06.524" v="0" actId="13926"/>
          <ac:spMkLst>
            <pc:docMk/>
            <pc:sldMk cId="291833172" sldId="297"/>
            <ac:spMk id="7" creationId="{47ADF352-5CAC-4415-D2AC-1A115C30670C}"/>
          </ac:spMkLst>
        </pc:spChg>
      </pc:sldChg>
      <pc:sldChg chg="addSp delSp modSp add mod">
        <pc:chgData name="Rose Rose" userId="0668a6f763ece157" providerId="LiveId" clId="{CF3D0D55-65C7-47F1-8EAF-DF078CB69A36}" dt="2026-07-26T07:46:07.544" v="117" actId="1076"/>
        <pc:sldMkLst>
          <pc:docMk/>
          <pc:sldMk cId="1006981324" sldId="304"/>
        </pc:sldMkLst>
        <pc:spChg chg="mod">
          <ac:chgData name="Rose Rose" userId="0668a6f763ece157" providerId="LiveId" clId="{CF3D0D55-65C7-47F1-8EAF-DF078CB69A36}" dt="2026-07-26T07:45:30.672" v="108" actId="20577"/>
          <ac:spMkLst>
            <pc:docMk/>
            <pc:sldMk cId="1006981324" sldId="304"/>
            <ac:spMk id="7" creationId="{4DE48288-1FD9-416D-0FAE-5BABB55A5F3F}"/>
          </ac:spMkLst>
        </pc:spChg>
        <pc:spChg chg="del">
          <ac:chgData name="Rose Rose" userId="0668a6f763ece157" providerId="LiveId" clId="{CF3D0D55-65C7-47F1-8EAF-DF078CB69A36}" dt="2026-07-26T07:45:34.662" v="109" actId="478"/>
          <ac:spMkLst>
            <pc:docMk/>
            <pc:sldMk cId="1006981324" sldId="304"/>
            <ac:spMk id="45" creationId="{3A7DB67C-A739-E5F6-82BA-BC5DA9A533A1}"/>
          </ac:spMkLst>
        </pc:spChg>
        <pc:spChg chg="del">
          <ac:chgData name="Rose Rose" userId="0668a6f763ece157" providerId="LiveId" clId="{CF3D0D55-65C7-47F1-8EAF-DF078CB69A36}" dt="2026-07-26T07:45:34.662" v="109" actId="478"/>
          <ac:spMkLst>
            <pc:docMk/>
            <pc:sldMk cId="1006981324" sldId="304"/>
            <ac:spMk id="47" creationId="{FA3C631B-368B-0A8E-7E17-3A5908205B1C}"/>
          </ac:spMkLst>
        </pc:spChg>
        <pc:picChg chg="add mod">
          <ac:chgData name="Rose Rose" userId="0668a6f763ece157" providerId="LiveId" clId="{CF3D0D55-65C7-47F1-8EAF-DF078CB69A36}" dt="2026-07-26T07:46:07.544" v="117" actId="1076"/>
          <ac:picMkLst>
            <pc:docMk/>
            <pc:sldMk cId="1006981324" sldId="304"/>
            <ac:picMk id="9" creationId="{0C2A9676-7C5A-7277-C646-3F45A4229A4B}"/>
          </ac:picMkLst>
        </pc:picChg>
        <pc:picChg chg="del">
          <ac:chgData name="Rose Rose" userId="0668a6f763ece157" providerId="LiveId" clId="{CF3D0D55-65C7-47F1-8EAF-DF078CB69A36}" dt="2026-07-26T07:45:36.874" v="110" actId="478"/>
          <ac:picMkLst>
            <pc:docMk/>
            <pc:sldMk cId="1006981324" sldId="304"/>
            <ac:picMk id="43" creationId="{B90A6129-C1CF-43B1-EB31-8C367DCC4333}"/>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1630158-0405-430A-9C2C-F71C8020A62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D"/>
        </a:p>
      </dgm:t>
    </dgm:pt>
    <dgm:pt modelId="{618D8145-099C-4C17-BFD9-AB5790822883}">
      <dgm:prSet phldrT="[Teks]" custT="1"/>
      <dgm:spPr/>
      <dgm:t>
        <a:bodyPr/>
        <a:lstStyle/>
        <a:p>
          <a:pPr>
            <a:buFont typeface="+mj-lt"/>
            <a:buAutoNum type="arabicPeriod"/>
          </a:pPr>
          <a:r>
            <a:rPr lang="en-ID" sz="1400" b="1" dirty="0"/>
            <a:t>Kinerja Superior </a:t>
          </a:r>
          <a:r>
            <a:rPr lang="en-ID" sz="1400" b="1" dirty="0" err="1"/>
            <a:t>dibanding</a:t>
          </a:r>
          <a:r>
            <a:rPr lang="en-ID" sz="1400" b="1" dirty="0"/>
            <a:t> Baseline</a:t>
          </a:r>
          <a:endParaRPr lang="en-ID" sz="1400" dirty="0"/>
        </a:p>
      </dgm:t>
    </dgm:pt>
    <dgm:pt modelId="{1DB4D844-73CC-426A-997A-483603EC987A}" type="parTrans" cxnId="{BFDA46AD-3053-451E-93F4-2DD3CD247BB1}">
      <dgm:prSet/>
      <dgm:spPr/>
      <dgm:t>
        <a:bodyPr/>
        <a:lstStyle/>
        <a:p>
          <a:endParaRPr lang="en-ID" sz="1400"/>
        </a:p>
      </dgm:t>
    </dgm:pt>
    <dgm:pt modelId="{F4ED47E6-F332-4F74-9939-15C17EBF6597}" type="sibTrans" cxnId="{BFDA46AD-3053-451E-93F4-2DD3CD247BB1}">
      <dgm:prSet/>
      <dgm:spPr/>
      <dgm:t>
        <a:bodyPr/>
        <a:lstStyle/>
        <a:p>
          <a:endParaRPr lang="en-ID" sz="1400"/>
        </a:p>
      </dgm:t>
    </dgm:pt>
    <dgm:pt modelId="{029B7590-DAF7-4202-B222-F4633815C7B6}">
      <dgm:prSet custT="1"/>
      <dgm:spPr/>
      <dgm:t>
        <a:bodyPr/>
        <a:lstStyle/>
        <a:p>
          <a:r>
            <a:rPr lang="en-ID" sz="1400" b="1"/>
            <a:t>Keefektifan dalam Menangani Berbagai Tipe CDE</a:t>
          </a:r>
          <a:endParaRPr lang="en-ID" sz="1400" b="1" dirty="0"/>
        </a:p>
      </dgm:t>
    </dgm:pt>
    <dgm:pt modelId="{22469BF7-71EA-49C7-A375-C8B258098746}" type="parTrans" cxnId="{22543047-67F1-49D6-8E47-4478917E332A}">
      <dgm:prSet/>
      <dgm:spPr/>
      <dgm:t>
        <a:bodyPr/>
        <a:lstStyle/>
        <a:p>
          <a:endParaRPr lang="en-ID" sz="1400"/>
        </a:p>
      </dgm:t>
    </dgm:pt>
    <dgm:pt modelId="{AB717BD3-0CDA-470A-BCD9-2DD9C24C70D3}" type="sibTrans" cxnId="{22543047-67F1-49D6-8E47-4478917E332A}">
      <dgm:prSet/>
      <dgm:spPr/>
      <dgm:t>
        <a:bodyPr/>
        <a:lstStyle/>
        <a:p>
          <a:endParaRPr lang="en-ID" sz="1400"/>
        </a:p>
      </dgm:t>
    </dgm:pt>
    <dgm:pt modelId="{0C2EF4E4-9228-435E-9578-01932A1438DF}">
      <dgm:prSet custT="1"/>
      <dgm:spPr/>
      <dgm:t>
        <a:bodyPr/>
        <a:lstStyle/>
        <a:p>
          <a:r>
            <a:rPr lang="en-ID" sz="1400" b="1"/>
            <a:t>Kontribusi Komponen Individual</a:t>
          </a:r>
          <a:endParaRPr lang="en-ID" sz="1400" b="1" dirty="0"/>
        </a:p>
      </dgm:t>
    </dgm:pt>
    <dgm:pt modelId="{C3D53E7C-0799-4BB0-8EF6-0F02AD1550F3}" type="parTrans" cxnId="{EC638540-5112-4467-B7EB-C6CE3385DF90}">
      <dgm:prSet/>
      <dgm:spPr/>
      <dgm:t>
        <a:bodyPr/>
        <a:lstStyle/>
        <a:p>
          <a:endParaRPr lang="en-ID" sz="1400"/>
        </a:p>
      </dgm:t>
    </dgm:pt>
    <dgm:pt modelId="{04FA59C3-A0CD-41A1-A0BA-1FE7D2A644D8}" type="sibTrans" cxnId="{EC638540-5112-4467-B7EB-C6CE3385DF90}">
      <dgm:prSet/>
      <dgm:spPr/>
      <dgm:t>
        <a:bodyPr/>
        <a:lstStyle/>
        <a:p>
          <a:endParaRPr lang="en-ID" sz="1400"/>
        </a:p>
      </dgm:t>
    </dgm:pt>
    <dgm:pt modelId="{B30DAE27-0BD9-4134-857C-CB0071E95295}">
      <dgm:prSet custT="1"/>
      <dgm:spPr/>
      <dgm:t>
        <a:bodyPr/>
        <a:lstStyle/>
        <a:p>
          <a:r>
            <a:rPr lang="en-ID" sz="1400" b="1"/>
            <a:t>Kemampuan dalam Kasus Klinis yang Kompleks</a:t>
          </a:r>
          <a:endParaRPr lang="en-ID" sz="1400" b="1" dirty="0"/>
        </a:p>
      </dgm:t>
    </dgm:pt>
    <dgm:pt modelId="{7B06200F-1900-4A96-9A85-F8EC299173FD}" type="parTrans" cxnId="{BC0698A5-03B2-4CD9-8129-9F9CFDB9B217}">
      <dgm:prSet/>
      <dgm:spPr/>
      <dgm:t>
        <a:bodyPr/>
        <a:lstStyle/>
        <a:p>
          <a:endParaRPr lang="en-ID" sz="1400"/>
        </a:p>
      </dgm:t>
    </dgm:pt>
    <dgm:pt modelId="{1509F1ED-7594-40C6-911C-F126FDE2C2A2}" type="sibTrans" cxnId="{BC0698A5-03B2-4CD9-8129-9F9CFDB9B217}">
      <dgm:prSet/>
      <dgm:spPr/>
      <dgm:t>
        <a:bodyPr/>
        <a:lstStyle/>
        <a:p>
          <a:endParaRPr lang="en-ID" sz="1400"/>
        </a:p>
      </dgm:t>
    </dgm:pt>
    <dgm:pt modelId="{6A9DDB8E-15B5-47B5-9492-979C713C2BA5}">
      <dgm:prSet custT="1"/>
      <dgm:spPr/>
      <dgm:t>
        <a:bodyPr/>
        <a:lstStyle/>
        <a:p>
          <a:r>
            <a:rPr lang="en-ID" sz="1400" b="1"/>
            <a:t>Efisiensi dan Skalabilitas</a:t>
          </a:r>
          <a:endParaRPr lang="en-ID" sz="1400" b="1" dirty="0"/>
        </a:p>
      </dgm:t>
    </dgm:pt>
    <dgm:pt modelId="{7415FA8C-5D13-483F-AFB1-B5B0ECB65EFE}" type="parTrans" cxnId="{51FB5C9B-78A4-40D0-9AE2-F23385FC0806}">
      <dgm:prSet/>
      <dgm:spPr/>
      <dgm:t>
        <a:bodyPr/>
        <a:lstStyle/>
        <a:p>
          <a:endParaRPr lang="en-ID" sz="1400"/>
        </a:p>
      </dgm:t>
    </dgm:pt>
    <dgm:pt modelId="{F33A9DC2-060E-43AA-9066-4043E513F87F}" type="sibTrans" cxnId="{51FB5C9B-78A4-40D0-9AE2-F23385FC0806}">
      <dgm:prSet/>
      <dgm:spPr/>
      <dgm:t>
        <a:bodyPr/>
        <a:lstStyle/>
        <a:p>
          <a:endParaRPr lang="en-ID" sz="1400"/>
        </a:p>
      </dgm:t>
    </dgm:pt>
    <dgm:pt modelId="{1AD8708A-066A-4EAA-B784-148BE62268BE}" type="pres">
      <dgm:prSet presAssocID="{01630158-0405-430A-9C2C-F71C8020A621}" presName="linear" presStyleCnt="0">
        <dgm:presLayoutVars>
          <dgm:dir/>
          <dgm:animLvl val="lvl"/>
          <dgm:resizeHandles val="exact"/>
        </dgm:presLayoutVars>
      </dgm:prSet>
      <dgm:spPr/>
    </dgm:pt>
    <dgm:pt modelId="{1E93489F-8AAA-44F5-8ADE-A3E73741F1FC}" type="pres">
      <dgm:prSet presAssocID="{618D8145-099C-4C17-BFD9-AB5790822883}" presName="parentLin" presStyleCnt="0"/>
      <dgm:spPr/>
    </dgm:pt>
    <dgm:pt modelId="{B1E65A05-757B-45C6-BA5A-200C17B6BE76}" type="pres">
      <dgm:prSet presAssocID="{618D8145-099C-4C17-BFD9-AB5790822883}" presName="parentLeftMargin" presStyleLbl="node1" presStyleIdx="0" presStyleCnt="5"/>
      <dgm:spPr/>
    </dgm:pt>
    <dgm:pt modelId="{06299AB0-B657-417F-B267-5026F50CE6B1}" type="pres">
      <dgm:prSet presAssocID="{618D8145-099C-4C17-BFD9-AB5790822883}" presName="parentText" presStyleLbl="node1" presStyleIdx="0" presStyleCnt="5">
        <dgm:presLayoutVars>
          <dgm:chMax val="0"/>
          <dgm:bulletEnabled val="1"/>
        </dgm:presLayoutVars>
      </dgm:prSet>
      <dgm:spPr/>
    </dgm:pt>
    <dgm:pt modelId="{A63C8F85-4E5D-45A0-94AE-77620931E8C4}" type="pres">
      <dgm:prSet presAssocID="{618D8145-099C-4C17-BFD9-AB5790822883}" presName="negativeSpace" presStyleCnt="0"/>
      <dgm:spPr/>
    </dgm:pt>
    <dgm:pt modelId="{92572C16-3664-4FFB-9918-BD3A9BAF1917}" type="pres">
      <dgm:prSet presAssocID="{618D8145-099C-4C17-BFD9-AB5790822883}" presName="childText" presStyleLbl="conFgAcc1" presStyleIdx="0" presStyleCnt="5">
        <dgm:presLayoutVars>
          <dgm:bulletEnabled val="1"/>
        </dgm:presLayoutVars>
      </dgm:prSet>
      <dgm:spPr/>
    </dgm:pt>
    <dgm:pt modelId="{2F944FCF-3FE4-4D78-9232-BDECD89E7C5E}" type="pres">
      <dgm:prSet presAssocID="{F4ED47E6-F332-4F74-9939-15C17EBF6597}" presName="spaceBetweenRectangles" presStyleCnt="0"/>
      <dgm:spPr/>
    </dgm:pt>
    <dgm:pt modelId="{7F0A126C-4D57-4EBD-826B-7DCADB38D553}" type="pres">
      <dgm:prSet presAssocID="{029B7590-DAF7-4202-B222-F4633815C7B6}" presName="parentLin" presStyleCnt="0"/>
      <dgm:spPr/>
    </dgm:pt>
    <dgm:pt modelId="{E0E4831B-5E78-4B64-A2E6-30BC5B596F23}" type="pres">
      <dgm:prSet presAssocID="{029B7590-DAF7-4202-B222-F4633815C7B6}" presName="parentLeftMargin" presStyleLbl="node1" presStyleIdx="0" presStyleCnt="5"/>
      <dgm:spPr/>
    </dgm:pt>
    <dgm:pt modelId="{6B2BD93F-FBCD-4947-BAFA-9DAE225C466F}" type="pres">
      <dgm:prSet presAssocID="{029B7590-DAF7-4202-B222-F4633815C7B6}" presName="parentText" presStyleLbl="node1" presStyleIdx="1" presStyleCnt="5">
        <dgm:presLayoutVars>
          <dgm:chMax val="0"/>
          <dgm:bulletEnabled val="1"/>
        </dgm:presLayoutVars>
      </dgm:prSet>
      <dgm:spPr/>
    </dgm:pt>
    <dgm:pt modelId="{2586D75C-FEB1-4CC8-B435-51DA610A1523}" type="pres">
      <dgm:prSet presAssocID="{029B7590-DAF7-4202-B222-F4633815C7B6}" presName="negativeSpace" presStyleCnt="0"/>
      <dgm:spPr/>
    </dgm:pt>
    <dgm:pt modelId="{03D87596-978C-4548-84F1-FA096127E326}" type="pres">
      <dgm:prSet presAssocID="{029B7590-DAF7-4202-B222-F4633815C7B6}" presName="childText" presStyleLbl="conFgAcc1" presStyleIdx="1" presStyleCnt="5">
        <dgm:presLayoutVars>
          <dgm:bulletEnabled val="1"/>
        </dgm:presLayoutVars>
      </dgm:prSet>
      <dgm:spPr/>
    </dgm:pt>
    <dgm:pt modelId="{6308B03D-7DFF-4D4E-A3A1-9B80088A1C58}" type="pres">
      <dgm:prSet presAssocID="{AB717BD3-0CDA-470A-BCD9-2DD9C24C70D3}" presName="spaceBetweenRectangles" presStyleCnt="0"/>
      <dgm:spPr/>
    </dgm:pt>
    <dgm:pt modelId="{9ED9CEFD-8C2C-4E3C-A046-0E5A204F5D89}" type="pres">
      <dgm:prSet presAssocID="{0C2EF4E4-9228-435E-9578-01932A1438DF}" presName="parentLin" presStyleCnt="0"/>
      <dgm:spPr/>
    </dgm:pt>
    <dgm:pt modelId="{A49FE2A9-8692-47E5-ABF5-F7876DFE12CB}" type="pres">
      <dgm:prSet presAssocID="{0C2EF4E4-9228-435E-9578-01932A1438DF}" presName="parentLeftMargin" presStyleLbl="node1" presStyleIdx="1" presStyleCnt="5"/>
      <dgm:spPr/>
    </dgm:pt>
    <dgm:pt modelId="{46DCEDCE-31CF-4F6F-934D-9AABB16536C4}" type="pres">
      <dgm:prSet presAssocID="{0C2EF4E4-9228-435E-9578-01932A1438DF}" presName="parentText" presStyleLbl="node1" presStyleIdx="2" presStyleCnt="5">
        <dgm:presLayoutVars>
          <dgm:chMax val="0"/>
          <dgm:bulletEnabled val="1"/>
        </dgm:presLayoutVars>
      </dgm:prSet>
      <dgm:spPr/>
    </dgm:pt>
    <dgm:pt modelId="{084AE231-381F-4E53-AFBE-3287079C7A67}" type="pres">
      <dgm:prSet presAssocID="{0C2EF4E4-9228-435E-9578-01932A1438DF}" presName="negativeSpace" presStyleCnt="0"/>
      <dgm:spPr/>
    </dgm:pt>
    <dgm:pt modelId="{3FEE898B-422F-4604-8A7D-E28A416A8596}" type="pres">
      <dgm:prSet presAssocID="{0C2EF4E4-9228-435E-9578-01932A1438DF}" presName="childText" presStyleLbl="conFgAcc1" presStyleIdx="2" presStyleCnt="5">
        <dgm:presLayoutVars>
          <dgm:bulletEnabled val="1"/>
        </dgm:presLayoutVars>
      </dgm:prSet>
      <dgm:spPr/>
    </dgm:pt>
    <dgm:pt modelId="{C1769891-46B3-4E46-B5A1-9C5795BCF8A1}" type="pres">
      <dgm:prSet presAssocID="{04FA59C3-A0CD-41A1-A0BA-1FE7D2A644D8}" presName="spaceBetweenRectangles" presStyleCnt="0"/>
      <dgm:spPr/>
    </dgm:pt>
    <dgm:pt modelId="{6A4110F8-48CB-4DE1-ADD3-1094511713C3}" type="pres">
      <dgm:prSet presAssocID="{B30DAE27-0BD9-4134-857C-CB0071E95295}" presName="parentLin" presStyleCnt="0"/>
      <dgm:spPr/>
    </dgm:pt>
    <dgm:pt modelId="{08DEA3D7-D763-4578-B5B4-163974105596}" type="pres">
      <dgm:prSet presAssocID="{B30DAE27-0BD9-4134-857C-CB0071E95295}" presName="parentLeftMargin" presStyleLbl="node1" presStyleIdx="2" presStyleCnt="5"/>
      <dgm:spPr/>
    </dgm:pt>
    <dgm:pt modelId="{6BB16555-B09A-4823-A1B6-F92526EBAC60}" type="pres">
      <dgm:prSet presAssocID="{B30DAE27-0BD9-4134-857C-CB0071E95295}" presName="parentText" presStyleLbl="node1" presStyleIdx="3" presStyleCnt="5">
        <dgm:presLayoutVars>
          <dgm:chMax val="0"/>
          <dgm:bulletEnabled val="1"/>
        </dgm:presLayoutVars>
      </dgm:prSet>
      <dgm:spPr/>
    </dgm:pt>
    <dgm:pt modelId="{168925F6-FB8B-4E3F-9CC3-832BB4018069}" type="pres">
      <dgm:prSet presAssocID="{B30DAE27-0BD9-4134-857C-CB0071E95295}" presName="negativeSpace" presStyleCnt="0"/>
      <dgm:spPr/>
    </dgm:pt>
    <dgm:pt modelId="{DCE30E76-E4CA-4E85-B6A7-0433D01273F2}" type="pres">
      <dgm:prSet presAssocID="{B30DAE27-0BD9-4134-857C-CB0071E95295}" presName="childText" presStyleLbl="conFgAcc1" presStyleIdx="3" presStyleCnt="5">
        <dgm:presLayoutVars>
          <dgm:bulletEnabled val="1"/>
        </dgm:presLayoutVars>
      </dgm:prSet>
      <dgm:spPr/>
    </dgm:pt>
    <dgm:pt modelId="{F7F5D0B9-0E9D-4E21-B477-1073C2D2D06B}" type="pres">
      <dgm:prSet presAssocID="{1509F1ED-7594-40C6-911C-F126FDE2C2A2}" presName="spaceBetweenRectangles" presStyleCnt="0"/>
      <dgm:spPr/>
    </dgm:pt>
    <dgm:pt modelId="{E8FDB2FD-14CA-41F9-8123-AFBC66734E4B}" type="pres">
      <dgm:prSet presAssocID="{6A9DDB8E-15B5-47B5-9492-979C713C2BA5}" presName="parentLin" presStyleCnt="0"/>
      <dgm:spPr/>
    </dgm:pt>
    <dgm:pt modelId="{1CF86C25-87AA-4873-8567-D3A099A16439}" type="pres">
      <dgm:prSet presAssocID="{6A9DDB8E-15B5-47B5-9492-979C713C2BA5}" presName="parentLeftMargin" presStyleLbl="node1" presStyleIdx="3" presStyleCnt="5"/>
      <dgm:spPr/>
    </dgm:pt>
    <dgm:pt modelId="{628A5EBE-A352-4066-AEDC-BE292F637D34}" type="pres">
      <dgm:prSet presAssocID="{6A9DDB8E-15B5-47B5-9492-979C713C2BA5}" presName="parentText" presStyleLbl="node1" presStyleIdx="4" presStyleCnt="5">
        <dgm:presLayoutVars>
          <dgm:chMax val="0"/>
          <dgm:bulletEnabled val="1"/>
        </dgm:presLayoutVars>
      </dgm:prSet>
      <dgm:spPr/>
    </dgm:pt>
    <dgm:pt modelId="{A780568E-E949-43D3-8C44-5A325912FDA5}" type="pres">
      <dgm:prSet presAssocID="{6A9DDB8E-15B5-47B5-9492-979C713C2BA5}" presName="negativeSpace" presStyleCnt="0"/>
      <dgm:spPr/>
    </dgm:pt>
    <dgm:pt modelId="{D04AEA26-AF1D-4BE7-B308-9F417741A8A9}" type="pres">
      <dgm:prSet presAssocID="{6A9DDB8E-15B5-47B5-9492-979C713C2BA5}" presName="childText" presStyleLbl="conFgAcc1" presStyleIdx="4" presStyleCnt="5">
        <dgm:presLayoutVars>
          <dgm:bulletEnabled val="1"/>
        </dgm:presLayoutVars>
      </dgm:prSet>
      <dgm:spPr/>
    </dgm:pt>
  </dgm:ptLst>
  <dgm:cxnLst>
    <dgm:cxn modelId="{BCFEA018-9EBB-417F-A2E8-7593DF472CF8}" type="presOf" srcId="{618D8145-099C-4C17-BFD9-AB5790822883}" destId="{B1E65A05-757B-45C6-BA5A-200C17B6BE76}" srcOrd="0" destOrd="0" presId="urn:microsoft.com/office/officeart/2005/8/layout/list1"/>
    <dgm:cxn modelId="{92CEB920-B6FE-445A-A7AB-8AAC9B3A3978}" type="presOf" srcId="{029B7590-DAF7-4202-B222-F4633815C7B6}" destId="{6B2BD93F-FBCD-4947-BAFA-9DAE225C466F}" srcOrd="1" destOrd="0" presId="urn:microsoft.com/office/officeart/2005/8/layout/list1"/>
    <dgm:cxn modelId="{BF2B5930-B9DE-4315-BCB8-2500649FAB69}" type="presOf" srcId="{01630158-0405-430A-9C2C-F71C8020A621}" destId="{1AD8708A-066A-4EAA-B784-148BE62268BE}" srcOrd="0" destOrd="0" presId="urn:microsoft.com/office/officeart/2005/8/layout/list1"/>
    <dgm:cxn modelId="{EC638540-5112-4467-B7EB-C6CE3385DF90}" srcId="{01630158-0405-430A-9C2C-F71C8020A621}" destId="{0C2EF4E4-9228-435E-9578-01932A1438DF}" srcOrd="2" destOrd="0" parTransId="{C3D53E7C-0799-4BB0-8EF6-0F02AD1550F3}" sibTransId="{04FA59C3-A0CD-41A1-A0BA-1FE7D2A644D8}"/>
    <dgm:cxn modelId="{27A8905C-4328-4688-891B-AA8AFB9ED297}" type="presOf" srcId="{B30DAE27-0BD9-4134-857C-CB0071E95295}" destId="{6BB16555-B09A-4823-A1B6-F92526EBAC60}" srcOrd="1" destOrd="0" presId="urn:microsoft.com/office/officeart/2005/8/layout/list1"/>
    <dgm:cxn modelId="{22543047-67F1-49D6-8E47-4478917E332A}" srcId="{01630158-0405-430A-9C2C-F71C8020A621}" destId="{029B7590-DAF7-4202-B222-F4633815C7B6}" srcOrd="1" destOrd="0" parTransId="{22469BF7-71EA-49C7-A375-C8B258098746}" sibTransId="{AB717BD3-0CDA-470A-BCD9-2DD9C24C70D3}"/>
    <dgm:cxn modelId="{26138C6E-742A-438C-8837-CC2B71943E93}" type="presOf" srcId="{029B7590-DAF7-4202-B222-F4633815C7B6}" destId="{E0E4831B-5E78-4B64-A2E6-30BC5B596F23}" srcOrd="0" destOrd="0" presId="urn:microsoft.com/office/officeart/2005/8/layout/list1"/>
    <dgm:cxn modelId="{F3FF1E53-D17E-4982-8520-32961F798EB5}" type="presOf" srcId="{0C2EF4E4-9228-435E-9578-01932A1438DF}" destId="{46DCEDCE-31CF-4F6F-934D-9AABB16536C4}" srcOrd="1" destOrd="0" presId="urn:microsoft.com/office/officeart/2005/8/layout/list1"/>
    <dgm:cxn modelId="{B32DF791-7F70-44F7-931D-A478E332C99F}" type="presOf" srcId="{6A9DDB8E-15B5-47B5-9492-979C713C2BA5}" destId="{1CF86C25-87AA-4873-8567-D3A099A16439}" srcOrd="0" destOrd="0" presId="urn:microsoft.com/office/officeart/2005/8/layout/list1"/>
    <dgm:cxn modelId="{4BA85B95-F9D0-4CCB-ACA8-3DEE6965945E}" type="presOf" srcId="{0C2EF4E4-9228-435E-9578-01932A1438DF}" destId="{A49FE2A9-8692-47E5-ABF5-F7876DFE12CB}" srcOrd="0" destOrd="0" presId="urn:microsoft.com/office/officeart/2005/8/layout/list1"/>
    <dgm:cxn modelId="{51FB5C9B-78A4-40D0-9AE2-F23385FC0806}" srcId="{01630158-0405-430A-9C2C-F71C8020A621}" destId="{6A9DDB8E-15B5-47B5-9492-979C713C2BA5}" srcOrd="4" destOrd="0" parTransId="{7415FA8C-5D13-483F-AFB1-B5B0ECB65EFE}" sibTransId="{F33A9DC2-060E-43AA-9066-4043E513F87F}"/>
    <dgm:cxn modelId="{5CF7089F-46D7-4808-8E4A-664C3F54E405}" type="presOf" srcId="{6A9DDB8E-15B5-47B5-9492-979C713C2BA5}" destId="{628A5EBE-A352-4066-AEDC-BE292F637D34}" srcOrd="1" destOrd="0" presId="urn:microsoft.com/office/officeart/2005/8/layout/list1"/>
    <dgm:cxn modelId="{BC0698A5-03B2-4CD9-8129-9F9CFDB9B217}" srcId="{01630158-0405-430A-9C2C-F71C8020A621}" destId="{B30DAE27-0BD9-4134-857C-CB0071E95295}" srcOrd="3" destOrd="0" parTransId="{7B06200F-1900-4A96-9A85-F8EC299173FD}" sibTransId="{1509F1ED-7594-40C6-911C-F126FDE2C2A2}"/>
    <dgm:cxn modelId="{1264FEA9-C091-4C7E-8C3B-FA818841D71A}" type="presOf" srcId="{618D8145-099C-4C17-BFD9-AB5790822883}" destId="{06299AB0-B657-417F-B267-5026F50CE6B1}" srcOrd="1" destOrd="0" presId="urn:microsoft.com/office/officeart/2005/8/layout/list1"/>
    <dgm:cxn modelId="{BFDA46AD-3053-451E-93F4-2DD3CD247BB1}" srcId="{01630158-0405-430A-9C2C-F71C8020A621}" destId="{618D8145-099C-4C17-BFD9-AB5790822883}" srcOrd="0" destOrd="0" parTransId="{1DB4D844-73CC-426A-997A-483603EC987A}" sibTransId="{F4ED47E6-F332-4F74-9939-15C17EBF6597}"/>
    <dgm:cxn modelId="{E08673E0-69F5-4F2E-BB77-03A5E8031E12}" type="presOf" srcId="{B30DAE27-0BD9-4134-857C-CB0071E95295}" destId="{08DEA3D7-D763-4578-B5B4-163974105596}" srcOrd="0" destOrd="0" presId="urn:microsoft.com/office/officeart/2005/8/layout/list1"/>
    <dgm:cxn modelId="{D567CF22-5840-4088-8767-ED423B871C07}" type="presParOf" srcId="{1AD8708A-066A-4EAA-B784-148BE62268BE}" destId="{1E93489F-8AAA-44F5-8ADE-A3E73741F1FC}" srcOrd="0" destOrd="0" presId="urn:microsoft.com/office/officeart/2005/8/layout/list1"/>
    <dgm:cxn modelId="{0E1E1552-306C-41A4-B4BE-CC088A0802DF}" type="presParOf" srcId="{1E93489F-8AAA-44F5-8ADE-A3E73741F1FC}" destId="{B1E65A05-757B-45C6-BA5A-200C17B6BE76}" srcOrd="0" destOrd="0" presId="urn:microsoft.com/office/officeart/2005/8/layout/list1"/>
    <dgm:cxn modelId="{1FFD8FCF-8AA5-4695-86DB-85F5AC70D7AA}" type="presParOf" srcId="{1E93489F-8AAA-44F5-8ADE-A3E73741F1FC}" destId="{06299AB0-B657-417F-B267-5026F50CE6B1}" srcOrd="1" destOrd="0" presId="urn:microsoft.com/office/officeart/2005/8/layout/list1"/>
    <dgm:cxn modelId="{02FB0FAA-ACA2-4F5C-B618-0A008A7A3C64}" type="presParOf" srcId="{1AD8708A-066A-4EAA-B784-148BE62268BE}" destId="{A63C8F85-4E5D-45A0-94AE-77620931E8C4}" srcOrd="1" destOrd="0" presId="urn:microsoft.com/office/officeart/2005/8/layout/list1"/>
    <dgm:cxn modelId="{7A88F6AB-EE9D-48A6-8BBA-70195B095ECA}" type="presParOf" srcId="{1AD8708A-066A-4EAA-B784-148BE62268BE}" destId="{92572C16-3664-4FFB-9918-BD3A9BAF1917}" srcOrd="2" destOrd="0" presId="urn:microsoft.com/office/officeart/2005/8/layout/list1"/>
    <dgm:cxn modelId="{C64AE3A4-E1CB-43AD-B315-096E951E3EF8}" type="presParOf" srcId="{1AD8708A-066A-4EAA-B784-148BE62268BE}" destId="{2F944FCF-3FE4-4D78-9232-BDECD89E7C5E}" srcOrd="3" destOrd="0" presId="urn:microsoft.com/office/officeart/2005/8/layout/list1"/>
    <dgm:cxn modelId="{16E30A89-5A59-4760-B81C-D5AC127D5985}" type="presParOf" srcId="{1AD8708A-066A-4EAA-B784-148BE62268BE}" destId="{7F0A126C-4D57-4EBD-826B-7DCADB38D553}" srcOrd="4" destOrd="0" presId="urn:microsoft.com/office/officeart/2005/8/layout/list1"/>
    <dgm:cxn modelId="{DACB7813-85F4-45D1-91C2-85CEE37EDFCA}" type="presParOf" srcId="{7F0A126C-4D57-4EBD-826B-7DCADB38D553}" destId="{E0E4831B-5E78-4B64-A2E6-30BC5B596F23}" srcOrd="0" destOrd="0" presId="urn:microsoft.com/office/officeart/2005/8/layout/list1"/>
    <dgm:cxn modelId="{6A564DCA-E3E7-43F8-A30B-4104FCB8D97F}" type="presParOf" srcId="{7F0A126C-4D57-4EBD-826B-7DCADB38D553}" destId="{6B2BD93F-FBCD-4947-BAFA-9DAE225C466F}" srcOrd="1" destOrd="0" presId="urn:microsoft.com/office/officeart/2005/8/layout/list1"/>
    <dgm:cxn modelId="{C166D7B3-FF59-4E28-901D-63FA7BAD9550}" type="presParOf" srcId="{1AD8708A-066A-4EAA-B784-148BE62268BE}" destId="{2586D75C-FEB1-4CC8-B435-51DA610A1523}" srcOrd="5" destOrd="0" presId="urn:microsoft.com/office/officeart/2005/8/layout/list1"/>
    <dgm:cxn modelId="{9DD5C5C1-4A79-4927-9E0E-3EE439B7D002}" type="presParOf" srcId="{1AD8708A-066A-4EAA-B784-148BE62268BE}" destId="{03D87596-978C-4548-84F1-FA096127E326}" srcOrd="6" destOrd="0" presId="urn:microsoft.com/office/officeart/2005/8/layout/list1"/>
    <dgm:cxn modelId="{E5D33130-296E-429C-8861-8AECCC3CE54E}" type="presParOf" srcId="{1AD8708A-066A-4EAA-B784-148BE62268BE}" destId="{6308B03D-7DFF-4D4E-A3A1-9B80088A1C58}" srcOrd="7" destOrd="0" presId="urn:microsoft.com/office/officeart/2005/8/layout/list1"/>
    <dgm:cxn modelId="{CEBE3C2C-3644-428B-BFFB-2AD2175A54CA}" type="presParOf" srcId="{1AD8708A-066A-4EAA-B784-148BE62268BE}" destId="{9ED9CEFD-8C2C-4E3C-A046-0E5A204F5D89}" srcOrd="8" destOrd="0" presId="urn:microsoft.com/office/officeart/2005/8/layout/list1"/>
    <dgm:cxn modelId="{C2CB2772-F38F-4F29-9226-80C57B371F58}" type="presParOf" srcId="{9ED9CEFD-8C2C-4E3C-A046-0E5A204F5D89}" destId="{A49FE2A9-8692-47E5-ABF5-F7876DFE12CB}" srcOrd="0" destOrd="0" presId="urn:microsoft.com/office/officeart/2005/8/layout/list1"/>
    <dgm:cxn modelId="{C0BFF5EA-3693-48E8-A44B-83556F57B418}" type="presParOf" srcId="{9ED9CEFD-8C2C-4E3C-A046-0E5A204F5D89}" destId="{46DCEDCE-31CF-4F6F-934D-9AABB16536C4}" srcOrd="1" destOrd="0" presId="urn:microsoft.com/office/officeart/2005/8/layout/list1"/>
    <dgm:cxn modelId="{7F93124B-E468-40E2-AED5-5B518FCA9314}" type="presParOf" srcId="{1AD8708A-066A-4EAA-B784-148BE62268BE}" destId="{084AE231-381F-4E53-AFBE-3287079C7A67}" srcOrd="9" destOrd="0" presId="urn:microsoft.com/office/officeart/2005/8/layout/list1"/>
    <dgm:cxn modelId="{6A7BC173-D615-4E2D-A4E9-FB1096B712C9}" type="presParOf" srcId="{1AD8708A-066A-4EAA-B784-148BE62268BE}" destId="{3FEE898B-422F-4604-8A7D-E28A416A8596}" srcOrd="10" destOrd="0" presId="urn:microsoft.com/office/officeart/2005/8/layout/list1"/>
    <dgm:cxn modelId="{D3C6378B-43C0-491F-A129-648B970A35DE}" type="presParOf" srcId="{1AD8708A-066A-4EAA-B784-148BE62268BE}" destId="{C1769891-46B3-4E46-B5A1-9C5795BCF8A1}" srcOrd="11" destOrd="0" presId="urn:microsoft.com/office/officeart/2005/8/layout/list1"/>
    <dgm:cxn modelId="{CDE96CF0-F5CB-4ECA-BE55-00587FFF8582}" type="presParOf" srcId="{1AD8708A-066A-4EAA-B784-148BE62268BE}" destId="{6A4110F8-48CB-4DE1-ADD3-1094511713C3}" srcOrd="12" destOrd="0" presId="urn:microsoft.com/office/officeart/2005/8/layout/list1"/>
    <dgm:cxn modelId="{8751B8BA-5B47-4BE4-8475-5E5B10F8C71F}" type="presParOf" srcId="{6A4110F8-48CB-4DE1-ADD3-1094511713C3}" destId="{08DEA3D7-D763-4578-B5B4-163974105596}" srcOrd="0" destOrd="0" presId="urn:microsoft.com/office/officeart/2005/8/layout/list1"/>
    <dgm:cxn modelId="{96B3F59F-D97E-48F8-854B-890778E1E348}" type="presParOf" srcId="{6A4110F8-48CB-4DE1-ADD3-1094511713C3}" destId="{6BB16555-B09A-4823-A1B6-F92526EBAC60}" srcOrd="1" destOrd="0" presId="urn:microsoft.com/office/officeart/2005/8/layout/list1"/>
    <dgm:cxn modelId="{22D14809-D627-4776-85DE-CA61469E4988}" type="presParOf" srcId="{1AD8708A-066A-4EAA-B784-148BE62268BE}" destId="{168925F6-FB8B-4E3F-9CC3-832BB4018069}" srcOrd="13" destOrd="0" presId="urn:microsoft.com/office/officeart/2005/8/layout/list1"/>
    <dgm:cxn modelId="{1E7C8ECF-C8EB-4B39-8D8B-694C08823881}" type="presParOf" srcId="{1AD8708A-066A-4EAA-B784-148BE62268BE}" destId="{DCE30E76-E4CA-4E85-B6A7-0433D01273F2}" srcOrd="14" destOrd="0" presId="urn:microsoft.com/office/officeart/2005/8/layout/list1"/>
    <dgm:cxn modelId="{49DFBA29-ADD9-41B8-A258-AD3C62C16A8E}" type="presParOf" srcId="{1AD8708A-066A-4EAA-B784-148BE62268BE}" destId="{F7F5D0B9-0E9D-4E21-B477-1073C2D2D06B}" srcOrd="15" destOrd="0" presId="urn:microsoft.com/office/officeart/2005/8/layout/list1"/>
    <dgm:cxn modelId="{F43B9496-D86C-4958-8806-B143A1A067D4}" type="presParOf" srcId="{1AD8708A-066A-4EAA-B784-148BE62268BE}" destId="{E8FDB2FD-14CA-41F9-8123-AFBC66734E4B}" srcOrd="16" destOrd="0" presId="urn:microsoft.com/office/officeart/2005/8/layout/list1"/>
    <dgm:cxn modelId="{DE5EE359-7A8E-4070-92CA-596853B1C031}" type="presParOf" srcId="{E8FDB2FD-14CA-41F9-8123-AFBC66734E4B}" destId="{1CF86C25-87AA-4873-8567-D3A099A16439}" srcOrd="0" destOrd="0" presId="urn:microsoft.com/office/officeart/2005/8/layout/list1"/>
    <dgm:cxn modelId="{54DA3879-99ED-4DDD-893A-5162EDEE1441}" type="presParOf" srcId="{E8FDB2FD-14CA-41F9-8123-AFBC66734E4B}" destId="{628A5EBE-A352-4066-AEDC-BE292F637D34}" srcOrd="1" destOrd="0" presId="urn:microsoft.com/office/officeart/2005/8/layout/list1"/>
    <dgm:cxn modelId="{BCB9EADE-251C-4B53-A99A-BBC51C59BC03}" type="presParOf" srcId="{1AD8708A-066A-4EAA-B784-148BE62268BE}" destId="{A780568E-E949-43D3-8C44-5A325912FDA5}" srcOrd="17" destOrd="0" presId="urn:microsoft.com/office/officeart/2005/8/layout/list1"/>
    <dgm:cxn modelId="{BC495A1C-705C-478F-A213-7E14B74FA2EF}" type="presParOf" srcId="{1AD8708A-066A-4EAA-B784-148BE62268BE}" destId="{D04AEA26-AF1D-4BE7-B308-9F417741A8A9}" srcOrd="18"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0DC1A73-5E2E-4BAF-BD13-CD46CA5FA9BA}"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D"/>
        </a:p>
      </dgm:t>
    </dgm:pt>
    <dgm:pt modelId="{602A7FAE-F88B-41A2-88AD-265BE34B2306}">
      <dgm:prSet phldrT="[Teks]" custT="1"/>
      <dgm:spPr>
        <a:solidFill>
          <a:schemeClr val="accent6">
            <a:lumMod val="75000"/>
          </a:schemeClr>
        </a:solidFill>
      </dgm:spPr>
      <dgm:t>
        <a:bodyPr/>
        <a:lstStyle/>
        <a:p>
          <a:pPr>
            <a:buFont typeface="+mj-lt"/>
            <a:buAutoNum type="arabicPeriod"/>
          </a:pPr>
          <a:r>
            <a:rPr lang="en-ID" sz="1200" b="0" i="1" u="none" dirty="0"/>
            <a:t>Input </a:t>
          </a:r>
          <a:r>
            <a:rPr lang="en-ID" sz="1200" b="0" i="1" u="none" dirty="0" err="1"/>
            <a:t>terbatas</a:t>
          </a:r>
          <a:r>
            <a:rPr lang="en-ID" sz="1200" b="0" i="1" u="none" dirty="0"/>
            <a:t> pada </a:t>
          </a:r>
          <a:r>
            <a:rPr lang="en-ID" sz="1200" b="0" i="1" u="none" dirty="0" err="1"/>
            <a:t>satu</a:t>
          </a:r>
          <a:r>
            <a:rPr lang="en-ID" sz="1200" b="0" i="1" u="none" dirty="0"/>
            <a:t> CDE (single item)</a:t>
          </a:r>
          <a:r>
            <a:rPr lang="en-ID" sz="1200" b="0" i="0" u="none" dirty="0"/>
            <a:t> – </a:t>
          </a:r>
          <a:r>
            <a:rPr lang="en-ID" sz="1200" b="0" i="0" u="none" dirty="0" err="1"/>
            <a:t>tidak</a:t>
          </a:r>
          <a:r>
            <a:rPr lang="en-ID" sz="1200" b="0" i="0" u="none" dirty="0"/>
            <a:t> </a:t>
          </a:r>
          <a:r>
            <a:rPr lang="en-ID" sz="1200" b="0" i="0" u="none" dirty="0" err="1"/>
            <a:t>dirancang</a:t>
          </a:r>
          <a:r>
            <a:rPr lang="en-ID" sz="1200" b="0" i="0" u="none" dirty="0"/>
            <a:t> </a:t>
          </a:r>
          <a:r>
            <a:rPr lang="en-ID" sz="1200" b="0" i="0" u="none" dirty="0" err="1"/>
            <a:t>untuk</a:t>
          </a:r>
          <a:r>
            <a:rPr lang="en-ID" sz="1200" b="0" i="0" u="none" dirty="0"/>
            <a:t> </a:t>
          </a:r>
          <a:r>
            <a:rPr lang="en-ID" sz="1200" b="0" i="0" u="none" dirty="0" err="1"/>
            <a:t>mengekstrak</a:t>
          </a:r>
          <a:r>
            <a:rPr lang="en-ID" sz="1200" b="0" i="0" u="none" dirty="0"/>
            <a:t> dan </a:t>
          </a:r>
          <a:r>
            <a:rPr lang="en-ID" sz="1200" b="0" i="0" u="none" dirty="0" err="1"/>
            <a:t>memetakan</a:t>
          </a:r>
          <a:r>
            <a:rPr lang="en-ID" sz="1200" b="0" i="0" u="none" dirty="0"/>
            <a:t> </a:t>
          </a:r>
          <a:r>
            <a:rPr lang="en-ID" sz="1200" b="0" i="0" u="none" dirty="0" err="1"/>
            <a:t>banyak</a:t>
          </a:r>
          <a:r>
            <a:rPr lang="en-ID" sz="1200" b="0" i="0" u="none" dirty="0"/>
            <a:t> </a:t>
          </a:r>
          <a:r>
            <a:rPr lang="en-ID" sz="1200" b="0" i="0" u="none" dirty="0" err="1"/>
            <a:t>entitas</a:t>
          </a:r>
          <a:r>
            <a:rPr lang="en-ID" sz="1200" b="0" i="0" u="none" dirty="0"/>
            <a:t> </a:t>
          </a:r>
          <a:r>
            <a:rPr lang="en-ID" sz="1200" b="0" i="0" u="none" dirty="0" err="1"/>
            <a:t>dari</a:t>
          </a:r>
          <a:r>
            <a:rPr lang="en-ID" sz="1200" b="0" i="0" u="none" dirty="0"/>
            <a:t> </a:t>
          </a:r>
          <a:r>
            <a:rPr lang="en-ID" sz="1200" b="0" i="0" u="none" dirty="0" err="1"/>
            <a:t>teks</a:t>
          </a:r>
          <a:r>
            <a:rPr lang="en-ID" sz="1200" b="0" i="0" u="none" dirty="0"/>
            <a:t> </a:t>
          </a:r>
          <a:r>
            <a:rPr lang="en-ID" sz="1200" b="0" i="0" u="none" dirty="0" err="1"/>
            <a:t>panjang</a:t>
          </a:r>
          <a:r>
            <a:rPr lang="en-ID" sz="1200" b="0" i="0" u="none" dirty="0"/>
            <a:t>.</a:t>
          </a:r>
          <a:endParaRPr lang="en-ID" sz="1200" dirty="0"/>
        </a:p>
      </dgm:t>
    </dgm:pt>
    <dgm:pt modelId="{D5EAF84E-119B-40AA-B419-DFFC80F00BD4}" type="parTrans" cxnId="{02088828-E517-4D7D-BCCD-873EB742B792}">
      <dgm:prSet/>
      <dgm:spPr/>
      <dgm:t>
        <a:bodyPr/>
        <a:lstStyle/>
        <a:p>
          <a:endParaRPr lang="en-ID" sz="1200"/>
        </a:p>
      </dgm:t>
    </dgm:pt>
    <dgm:pt modelId="{D67251A9-907A-4D05-9D0C-1A4A786C91C8}" type="sibTrans" cxnId="{02088828-E517-4D7D-BCCD-873EB742B792}">
      <dgm:prSet/>
      <dgm:spPr/>
      <dgm:t>
        <a:bodyPr/>
        <a:lstStyle/>
        <a:p>
          <a:endParaRPr lang="en-ID" sz="1200"/>
        </a:p>
      </dgm:t>
    </dgm:pt>
    <dgm:pt modelId="{23EBCC1C-CA6C-4BD9-8364-4D007E23AE2F}">
      <dgm:prSet custT="1"/>
      <dgm:spPr>
        <a:solidFill>
          <a:srgbClr val="70AD47">
            <a:lumMod val="75000"/>
          </a:srgbClr>
        </a:solidFill>
        <a:ln w="12700" cap="flat" cmpd="sng" algn="ctr">
          <a:solidFill>
            <a:prstClr val="white">
              <a:hueOff val="0"/>
              <a:satOff val="0"/>
              <a:lumOff val="0"/>
              <a:alphaOff val="0"/>
            </a:prstClr>
          </a:solidFill>
          <a:prstDash val="solid"/>
          <a:miter lim="800000"/>
        </a:ln>
        <a:effectLst/>
      </dgm:spPr>
      <dgm:t>
        <a:bodyPr spcFirstLastPara="0" vert="horz" wrap="square" lIns="132221" tIns="0" rIns="132221" bIns="0" numCol="1" spcCol="1270" anchor="ctr" anchorCtr="0"/>
        <a:lstStyle/>
        <a:p>
          <a:pPr>
            <a:buFont typeface="+mj-lt"/>
            <a:buAutoNum type="arabicPeriod"/>
          </a:pPr>
          <a:r>
            <a:rPr lang="sv-SE" sz="1200" b="0" i="1" u="none" kern="1200" dirty="0"/>
            <a:t>Ketergantungan pada kualitas prompt dan contoh kontekstual</a:t>
          </a:r>
          <a:r>
            <a:rPr lang="sv-SE" sz="1200" b="0" i="0" u="none" kern="1200" dirty="0"/>
            <a:t> – kinerja menurun drastis ketika variasi bahasa tidak tercakup </a:t>
          </a:r>
          <a:r>
            <a:rPr lang="sv-SE" sz="1200" b="0" i="0" u="none" kern="1200" dirty="0">
              <a:solidFill>
                <a:prstClr val="white"/>
              </a:solidFill>
              <a:latin typeface="Calibri" panose="020F0502020204030204"/>
              <a:ea typeface="+mn-ea"/>
              <a:cs typeface="+mn-cs"/>
            </a:rPr>
            <a:t>dalam</a:t>
          </a:r>
          <a:r>
            <a:rPr lang="sv-SE" sz="1200" b="0" i="0" u="none" kern="1200" dirty="0"/>
            <a:t> </a:t>
          </a:r>
          <a:r>
            <a:rPr lang="sv-SE" sz="1200" b="0" i="1" u="none" kern="1200" dirty="0"/>
            <a:t>prompt</a:t>
          </a:r>
          <a:r>
            <a:rPr lang="sv-SE" sz="1200" b="0" i="0" u="none" kern="1200" dirty="0"/>
            <a:t>.</a:t>
          </a:r>
        </a:p>
      </dgm:t>
    </dgm:pt>
    <dgm:pt modelId="{BA2BAE89-C06E-47CD-9138-6450F4F96C8B}" type="parTrans" cxnId="{A3E8FE90-52EF-4077-864E-987D2C3AAFCC}">
      <dgm:prSet/>
      <dgm:spPr/>
      <dgm:t>
        <a:bodyPr/>
        <a:lstStyle/>
        <a:p>
          <a:endParaRPr lang="en-ID" sz="1200"/>
        </a:p>
      </dgm:t>
    </dgm:pt>
    <dgm:pt modelId="{85DC819C-12A8-493F-A66E-0E46027532C6}" type="sibTrans" cxnId="{A3E8FE90-52EF-4077-864E-987D2C3AAFCC}">
      <dgm:prSet/>
      <dgm:spPr/>
      <dgm:t>
        <a:bodyPr/>
        <a:lstStyle/>
        <a:p>
          <a:endParaRPr lang="en-ID" sz="1200"/>
        </a:p>
      </dgm:t>
    </dgm:pt>
    <dgm:pt modelId="{AF745C57-4CBF-490A-AE89-806F8B539F45}">
      <dgm:prSet custT="1"/>
      <dgm:spPr>
        <a:solidFill>
          <a:srgbClr val="70AD47">
            <a:lumMod val="75000"/>
          </a:srgbClr>
        </a:solidFill>
        <a:ln w="12700" cap="flat" cmpd="sng" algn="ctr">
          <a:solidFill>
            <a:prstClr val="white">
              <a:hueOff val="0"/>
              <a:satOff val="0"/>
              <a:lumOff val="0"/>
              <a:alphaOff val="0"/>
            </a:prstClr>
          </a:solidFill>
          <a:prstDash val="solid"/>
          <a:miter lim="800000"/>
        </a:ln>
        <a:effectLst/>
      </dgm:spPr>
      <dgm:t>
        <a:bodyPr spcFirstLastPara="0" vert="horz" wrap="square" lIns="132221" tIns="0" rIns="132221" bIns="0" numCol="1" spcCol="1270" anchor="ctr" anchorCtr="0"/>
        <a:lstStyle/>
        <a:p>
          <a:pPr>
            <a:buNone/>
          </a:pPr>
          <a:r>
            <a:rPr lang="en-ID" sz="1200" b="0" i="1" u="none" kern="1200" dirty="0"/>
            <a:t>Belum </a:t>
          </a:r>
          <a:r>
            <a:rPr lang="en-ID" sz="1200" b="0" i="1" u="none" kern="1200" dirty="0" err="1"/>
            <a:t>teruji</a:t>
          </a:r>
          <a:r>
            <a:rPr lang="en-ID" sz="1200" b="0" i="1" u="none" kern="1200" dirty="0"/>
            <a:t> pada </a:t>
          </a:r>
          <a:r>
            <a:rPr lang="en-ID" sz="1200" b="0" i="1" u="none" kern="1200" dirty="0" err="1"/>
            <a:t>bahasa</a:t>
          </a:r>
          <a:r>
            <a:rPr lang="en-ID" sz="1200" b="0" i="1" u="none" kern="1200" dirty="0"/>
            <a:t> non‑</a:t>
          </a:r>
          <a:r>
            <a:rPr lang="en-ID" sz="1200" b="0" i="1" u="none" kern="1200" dirty="0" err="1"/>
            <a:t>Inggris</a:t>
          </a:r>
          <a:r>
            <a:rPr lang="en-ID" sz="1200" b="0" i="0" u="none" kern="1200" dirty="0"/>
            <a:t> – </a:t>
          </a:r>
          <a:r>
            <a:rPr lang="en-ID" sz="1200" b="0" i="0" u="none" kern="1200" dirty="0" err="1"/>
            <a:t>seluruh</a:t>
          </a:r>
          <a:r>
            <a:rPr lang="en-ID" sz="1200" b="0" i="0" u="none" kern="1200" dirty="0"/>
            <a:t> </a:t>
          </a:r>
          <a:r>
            <a:rPr lang="en-ID" sz="1200" b="0" i="0" u="none" kern="1200" dirty="0" err="1"/>
            <a:t>evaluasi</a:t>
          </a:r>
          <a:r>
            <a:rPr lang="en-ID" sz="1200" b="0" i="0" u="none" kern="1200" dirty="0"/>
            <a:t> </a:t>
          </a:r>
          <a:r>
            <a:rPr lang="en-ID" sz="1200" b="0" i="0" u="none" kern="1200" dirty="0" err="1"/>
            <a:t>dilakukan</a:t>
          </a:r>
          <a:r>
            <a:rPr lang="en-ID" sz="1200" b="0" i="0" u="none" kern="1200" dirty="0"/>
            <a:t> pada data </a:t>
          </a:r>
          <a:r>
            <a:rPr lang="en-ID" sz="1200" b="0" i="0" u="none" kern="1200" dirty="0" err="1"/>
            <a:t>berbahasa</a:t>
          </a:r>
          <a:r>
            <a:rPr lang="en-ID" sz="1200" b="0" i="0" u="none" kern="1200" dirty="0"/>
            <a:t> </a:t>
          </a:r>
          <a:r>
            <a:rPr lang="en-ID" sz="1200" b="0" i="0" u="none" kern="1200" dirty="0" err="1"/>
            <a:t>Inggris</a:t>
          </a:r>
          <a:r>
            <a:rPr lang="en-ID" sz="1200" b="0" i="0" u="none" kern="1200" dirty="0"/>
            <a:t> (NCBI‑DC, </a:t>
          </a:r>
          <a:r>
            <a:rPr lang="en-ID" sz="1200" b="0" i="0" u="none" kern="1200" dirty="0">
              <a:solidFill>
                <a:prstClr val="white"/>
              </a:solidFill>
              <a:latin typeface="Calibri" panose="020F0502020204030204"/>
              <a:ea typeface="+mn-ea"/>
              <a:cs typeface="+mn-cs"/>
            </a:rPr>
            <a:t>BC5CDR</a:t>
          </a:r>
          <a:r>
            <a:rPr lang="en-ID" sz="1200" b="0" i="0" u="none" kern="1200" dirty="0"/>
            <a:t>, MIMIC‑III).</a:t>
          </a:r>
          <a:endParaRPr lang="en-ID" sz="1200" kern="1200" dirty="0"/>
        </a:p>
      </dgm:t>
    </dgm:pt>
    <dgm:pt modelId="{9C8B68A4-4689-4EE7-9DDB-E63A709CF851}" type="parTrans" cxnId="{0A4C4CA5-385C-4F7B-89C9-12DAF7892C45}">
      <dgm:prSet/>
      <dgm:spPr/>
      <dgm:t>
        <a:bodyPr/>
        <a:lstStyle/>
        <a:p>
          <a:endParaRPr lang="en-ID" sz="1200"/>
        </a:p>
      </dgm:t>
    </dgm:pt>
    <dgm:pt modelId="{412B03E6-9A69-43CD-BB96-5D604BD5F654}" type="sibTrans" cxnId="{0A4C4CA5-385C-4F7B-89C9-12DAF7892C45}">
      <dgm:prSet/>
      <dgm:spPr/>
      <dgm:t>
        <a:bodyPr/>
        <a:lstStyle/>
        <a:p>
          <a:endParaRPr lang="en-ID" sz="1200"/>
        </a:p>
      </dgm:t>
    </dgm:pt>
    <dgm:pt modelId="{2C42E923-3B7C-4983-83E4-A27FE19FD5C5}" type="pres">
      <dgm:prSet presAssocID="{80DC1A73-5E2E-4BAF-BD13-CD46CA5FA9BA}" presName="linear" presStyleCnt="0">
        <dgm:presLayoutVars>
          <dgm:dir/>
          <dgm:animLvl val="lvl"/>
          <dgm:resizeHandles val="exact"/>
        </dgm:presLayoutVars>
      </dgm:prSet>
      <dgm:spPr/>
    </dgm:pt>
    <dgm:pt modelId="{CF907107-F70A-4CFC-90EE-394D175E3009}" type="pres">
      <dgm:prSet presAssocID="{602A7FAE-F88B-41A2-88AD-265BE34B2306}" presName="parentLin" presStyleCnt="0"/>
      <dgm:spPr/>
    </dgm:pt>
    <dgm:pt modelId="{9D5C6169-1B0C-4034-8B9D-6CEDE8BA9ECB}" type="pres">
      <dgm:prSet presAssocID="{602A7FAE-F88B-41A2-88AD-265BE34B2306}" presName="parentLeftMargin" presStyleLbl="node1" presStyleIdx="0" presStyleCnt="3"/>
      <dgm:spPr/>
    </dgm:pt>
    <dgm:pt modelId="{73867FCF-FC86-4BEB-A31A-514BDDD257AB}" type="pres">
      <dgm:prSet presAssocID="{602A7FAE-F88B-41A2-88AD-265BE34B2306}" presName="parentText" presStyleLbl="node1" presStyleIdx="0" presStyleCnt="3">
        <dgm:presLayoutVars>
          <dgm:chMax val="0"/>
          <dgm:bulletEnabled val="1"/>
        </dgm:presLayoutVars>
      </dgm:prSet>
      <dgm:spPr/>
    </dgm:pt>
    <dgm:pt modelId="{6B4980A6-0246-4AC6-A190-D05AD2A5D69D}" type="pres">
      <dgm:prSet presAssocID="{602A7FAE-F88B-41A2-88AD-265BE34B2306}" presName="negativeSpace" presStyleCnt="0"/>
      <dgm:spPr/>
    </dgm:pt>
    <dgm:pt modelId="{4DF31C1B-FC3D-4E69-B512-D9E9484F35FA}" type="pres">
      <dgm:prSet presAssocID="{602A7FAE-F88B-41A2-88AD-265BE34B2306}" presName="childText" presStyleLbl="conFgAcc1" presStyleIdx="0" presStyleCnt="3">
        <dgm:presLayoutVars>
          <dgm:bulletEnabled val="1"/>
        </dgm:presLayoutVars>
      </dgm:prSet>
      <dgm:spPr/>
    </dgm:pt>
    <dgm:pt modelId="{6767A5BE-DF07-40BD-A676-838B5E035F2B}" type="pres">
      <dgm:prSet presAssocID="{D67251A9-907A-4D05-9D0C-1A4A786C91C8}" presName="spaceBetweenRectangles" presStyleCnt="0"/>
      <dgm:spPr/>
    </dgm:pt>
    <dgm:pt modelId="{9607E55D-7917-45A4-81F6-CD7631AEFB9E}" type="pres">
      <dgm:prSet presAssocID="{23EBCC1C-CA6C-4BD9-8364-4D007E23AE2F}" presName="parentLin" presStyleCnt="0"/>
      <dgm:spPr/>
    </dgm:pt>
    <dgm:pt modelId="{FE60A402-3A33-4844-AEA8-EE9A5256757A}" type="pres">
      <dgm:prSet presAssocID="{23EBCC1C-CA6C-4BD9-8364-4D007E23AE2F}" presName="parentLeftMargin" presStyleLbl="node1" presStyleIdx="0" presStyleCnt="3"/>
      <dgm:spPr/>
    </dgm:pt>
    <dgm:pt modelId="{BABDC2ED-8A3F-4FD3-B9AE-AE4E838D65F5}" type="pres">
      <dgm:prSet presAssocID="{23EBCC1C-CA6C-4BD9-8364-4D007E23AE2F}" presName="parentText" presStyleLbl="node1" presStyleIdx="1" presStyleCnt="3">
        <dgm:presLayoutVars>
          <dgm:chMax val="0"/>
          <dgm:bulletEnabled val="1"/>
        </dgm:presLayoutVars>
      </dgm:prSet>
      <dgm:spPr>
        <a:xfrm>
          <a:off x="249866" y="970752"/>
          <a:ext cx="3498124" cy="619920"/>
        </a:xfrm>
        <a:prstGeom prst="roundRect">
          <a:avLst/>
        </a:prstGeom>
      </dgm:spPr>
    </dgm:pt>
    <dgm:pt modelId="{5F43A2E8-3709-4D14-A215-56DA683208AF}" type="pres">
      <dgm:prSet presAssocID="{23EBCC1C-CA6C-4BD9-8364-4D007E23AE2F}" presName="negativeSpace" presStyleCnt="0"/>
      <dgm:spPr/>
    </dgm:pt>
    <dgm:pt modelId="{EDBA79E3-74CB-45B1-A830-46E7A9560F5E}" type="pres">
      <dgm:prSet presAssocID="{23EBCC1C-CA6C-4BD9-8364-4D007E23AE2F}" presName="childText" presStyleLbl="conFgAcc1" presStyleIdx="1" presStyleCnt="3">
        <dgm:presLayoutVars>
          <dgm:bulletEnabled val="1"/>
        </dgm:presLayoutVars>
      </dgm:prSet>
      <dgm:spPr/>
    </dgm:pt>
    <dgm:pt modelId="{50FB1169-223E-46FF-AAAE-F39E9DDC5F81}" type="pres">
      <dgm:prSet presAssocID="{85DC819C-12A8-493F-A66E-0E46027532C6}" presName="spaceBetweenRectangles" presStyleCnt="0"/>
      <dgm:spPr/>
    </dgm:pt>
    <dgm:pt modelId="{102A1AF0-D33F-4F23-9DFA-57F382E9915B}" type="pres">
      <dgm:prSet presAssocID="{AF745C57-4CBF-490A-AE89-806F8B539F45}" presName="parentLin" presStyleCnt="0"/>
      <dgm:spPr/>
    </dgm:pt>
    <dgm:pt modelId="{6788E08A-13DB-4F8A-8DC3-C61EB79C411A}" type="pres">
      <dgm:prSet presAssocID="{AF745C57-4CBF-490A-AE89-806F8B539F45}" presName="parentLeftMargin" presStyleLbl="node1" presStyleIdx="1" presStyleCnt="3"/>
      <dgm:spPr/>
    </dgm:pt>
    <dgm:pt modelId="{6BD8013A-6CCA-4CF3-95DE-BF6E57B0B693}" type="pres">
      <dgm:prSet presAssocID="{AF745C57-4CBF-490A-AE89-806F8B539F45}" presName="parentText" presStyleLbl="node1" presStyleIdx="2" presStyleCnt="3">
        <dgm:presLayoutVars>
          <dgm:chMax val="0"/>
          <dgm:bulletEnabled val="1"/>
        </dgm:presLayoutVars>
      </dgm:prSet>
      <dgm:spPr>
        <a:xfrm>
          <a:off x="249866" y="1923313"/>
          <a:ext cx="3498124" cy="619920"/>
        </a:xfrm>
        <a:prstGeom prst="roundRect">
          <a:avLst/>
        </a:prstGeom>
      </dgm:spPr>
    </dgm:pt>
    <dgm:pt modelId="{21E1DA92-7716-437A-9F6C-D7479AB16205}" type="pres">
      <dgm:prSet presAssocID="{AF745C57-4CBF-490A-AE89-806F8B539F45}" presName="negativeSpace" presStyleCnt="0"/>
      <dgm:spPr/>
    </dgm:pt>
    <dgm:pt modelId="{96BB31EB-D8CB-46C4-B006-EC26C4AB77C1}" type="pres">
      <dgm:prSet presAssocID="{AF745C57-4CBF-490A-AE89-806F8B539F45}" presName="childText" presStyleLbl="conFgAcc1" presStyleIdx="2" presStyleCnt="3">
        <dgm:presLayoutVars>
          <dgm:bulletEnabled val="1"/>
        </dgm:presLayoutVars>
      </dgm:prSet>
      <dgm:spPr/>
    </dgm:pt>
  </dgm:ptLst>
  <dgm:cxnLst>
    <dgm:cxn modelId="{239E9314-15D3-49D1-91AC-E9C9832106B6}" type="presOf" srcId="{602A7FAE-F88B-41A2-88AD-265BE34B2306}" destId="{73867FCF-FC86-4BEB-A31A-514BDDD257AB}" srcOrd="1" destOrd="0" presId="urn:microsoft.com/office/officeart/2005/8/layout/list1"/>
    <dgm:cxn modelId="{02088828-E517-4D7D-BCCD-873EB742B792}" srcId="{80DC1A73-5E2E-4BAF-BD13-CD46CA5FA9BA}" destId="{602A7FAE-F88B-41A2-88AD-265BE34B2306}" srcOrd="0" destOrd="0" parTransId="{D5EAF84E-119B-40AA-B419-DFFC80F00BD4}" sibTransId="{D67251A9-907A-4D05-9D0C-1A4A786C91C8}"/>
    <dgm:cxn modelId="{78C38D37-86C1-4860-9922-063F43D4811F}" type="presOf" srcId="{80DC1A73-5E2E-4BAF-BD13-CD46CA5FA9BA}" destId="{2C42E923-3B7C-4983-83E4-A27FE19FD5C5}" srcOrd="0" destOrd="0" presId="urn:microsoft.com/office/officeart/2005/8/layout/list1"/>
    <dgm:cxn modelId="{B395F74D-C240-40E8-91FD-CFBC106FCAAF}" type="presOf" srcId="{AF745C57-4CBF-490A-AE89-806F8B539F45}" destId="{6BD8013A-6CCA-4CF3-95DE-BF6E57B0B693}" srcOrd="1" destOrd="0" presId="urn:microsoft.com/office/officeart/2005/8/layout/list1"/>
    <dgm:cxn modelId="{A3E8FE90-52EF-4077-864E-987D2C3AAFCC}" srcId="{80DC1A73-5E2E-4BAF-BD13-CD46CA5FA9BA}" destId="{23EBCC1C-CA6C-4BD9-8364-4D007E23AE2F}" srcOrd="1" destOrd="0" parTransId="{BA2BAE89-C06E-47CD-9138-6450F4F96C8B}" sibTransId="{85DC819C-12A8-493F-A66E-0E46027532C6}"/>
    <dgm:cxn modelId="{5DB56292-B55A-4F4B-B967-25045839D61D}" type="presOf" srcId="{AF745C57-4CBF-490A-AE89-806F8B539F45}" destId="{6788E08A-13DB-4F8A-8DC3-C61EB79C411A}" srcOrd="0" destOrd="0" presId="urn:microsoft.com/office/officeart/2005/8/layout/list1"/>
    <dgm:cxn modelId="{213FED97-D1E8-4BB6-B785-3247CE213A98}" type="presOf" srcId="{23EBCC1C-CA6C-4BD9-8364-4D007E23AE2F}" destId="{FE60A402-3A33-4844-AEA8-EE9A5256757A}" srcOrd="0" destOrd="0" presId="urn:microsoft.com/office/officeart/2005/8/layout/list1"/>
    <dgm:cxn modelId="{0A4C4CA5-385C-4F7B-89C9-12DAF7892C45}" srcId="{80DC1A73-5E2E-4BAF-BD13-CD46CA5FA9BA}" destId="{AF745C57-4CBF-490A-AE89-806F8B539F45}" srcOrd="2" destOrd="0" parTransId="{9C8B68A4-4689-4EE7-9DDB-E63A709CF851}" sibTransId="{412B03E6-9A69-43CD-BB96-5D604BD5F654}"/>
    <dgm:cxn modelId="{0D376AD4-4C32-4D26-B375-BF0296C235F9}" type="presOf" srcId="{602A7FAE-F88B-41A2-88AD-265BE34B2306}" destId="{9D5C6169-1B0C-4034-8B9D-6CEDE8BA9ECB}" srcOrd="0" destOrd="0" presId="urn:microsoft.com/office/officeart/2005/8/layout/list1"/>
    <dgm:cxn modelId="{B458CFE2-9F58-4744-BA00-2D6385C8484F}" type="presOf" srcId="{23EBCC1C-CA6C-4BD9-8364-4D007E23AE2F}" destId="{BABDC2ED-8A3F-4FD3-B9AE-AE4E838D65F5}" srcOrd="1" destOrd="0" presId="urn:microsoft.com/office/officeart/2005/8/layout/list1"/>
    <dgm:cxn modelId="{9B38BFA8-61AF-42EA-AD0B-36041ACB15DF}" type="presParOf" srcId="{2C42E923-3B7C-4983-83E4-A27FE19FD5C5}" destId="{CF907107-F70A-4CFC-90EE-394D175E3009}" srcOrd="0" destOrd="0" presId="urn:microsoft.com/office/officeart/2005/8/layout/list1"/>
    <dgm:cxn modelId="{D065D794-2A9B-4873-80F0-8BE54690D458}" type="presParOf" srcId="{CF907107-F70A-4CFC-90EE-394D175E3009}" destId="{9D5C6169-1B0C-4034-8B9D-6CEDE8BA9ECB}" srcOrd="0" destOrd="0" presId="urn:microsoft.com/office/officeart/2005/8/layout/list1"/>
    <dgm:cxn modelId="{20FCC8EA-734B-48C1-B89B-8C88FFEBC006}" type="presParOf" srcId="{CF907107-F70A-4CFC-90EE-394D175E3009}" destId="{73867FCF-FC86-4BEB-A31A-514BDDD257AB}" srcOrd="1" destOrd="0" presId="urn:microsoft.com/office/officeart/2005/8/layout/list1"/>
    <dgm:cxn modelId="{6A681434-C9B3-498A-B600-E5FC1EAA7600}" type="presParOf" srcId="{2C42E923-3B7C-4983-83E4-A27FE19FD5C5}" destId="{6B4980A6-0246-4AC6-A190-D05AD2A5D69D}" srcOrd="1" destOrd="0" presId="urn:microsoft.com/office/officeart/2005/8/layout/list1"/>
    <dgm:cxn modelId="{79904382-9334-44C8-8B44-CC43202931CA}" type="presParOf" srcId="{2C42E923-3B7C-4983-83E4-A27FE19FD5C5}" destId="{4DF31C1B-FC3D-4E69-B512-D9E9484F35FA}" srcOrd="2" destOrd="0" presId="urn:microsoft.com/office/officeart/2005/8/layout/list1"/>
    <dgm:cxn modelId="{F9F4502B-D8B7-4603-ADC6-FF81995D449D}" type="presParOf" srcId="{2C42E923-3B7C-4983-83E4-A27FE19FD5C5}" destId="{6767A5BE-DF07-40BD-A676-838B5E035F2B}" srcOrd="3" destOrd="0" presId="urn:microsoft.com/office/officeart/2005/8/layout/list1"/>
    <dgm:cxn modelId="{F52FCDE4-22CE-4C5C-8860-6242BB3B998A}" type="presParOf" srcId="{2C42E923-3B7C-4983-83E4-A27FE19FD5C5}" destId="{9607E55D-7917-45A4-81F6-CD7631AEFB9E}" srcOrd="4" destOrd="0" presId="urn:microsoft.com/office/officeart/2005/8/layout/list1"/>
    <dgm:cxn modelId="{6F0F5CDC-A152-42DD-B3E8-114425E2F1ED}" type="presParOf" srcId="{9607E55D-7917-45A4-81F6-CD7631AEFB9E}" destId="{FE60A402-3A33-4844-AEA8-EE9A5256757A}" srcOrd="0" destOrd="0" presId="urn:microsoft.com/office/officeart/2005/8/layout/list1"/>
    <dgm:cxn modelId="{54DC525C-2042-4FD3-B249-F8E8EF47A06B}" type="presParOf" srcId="{9607E55D-7917-45A4-81F6-CD7631AEFB9E}" destId="{BABDC2ED-8A3F-4FD3-B9AE-AE4E838D65F5}" srcOrd="1" destOrd="0" presId="urn:microsoft.com/office/officeart/2005/8/layout/list1"/>
    <dgm:cxn modelId="{5D19CB88-E2A6-4CB7-BFBA-F2B2226A92C7}" type="presParOf" srcId="{2C42E923-3B7C-4983-83E4-A27FE19FD5C5}" destId="{5F43A2E8-3709-4D14-A215-56DA683208AF}" srcOrd="5" destOrd="0" presId="urn:microsoft.com/office/officeart/2005/8/layout/list1"/>
    <dgm:cxn modelId="{A333FAFE-EE5D-458D-943A-471578E578B5}" type="presParOf" srcId="{2C42E923-3B7C-4983-83E4-A27FE19FD5C5}" destId="{EDBA79E3-74CB-45B1-A830-46E7A9560F5E}" srcOrd="6" destOrd="0" presId="urn:microsoft.com/office/officeart/2005/8/layout/list1"/>
    <dgm:cxn modelId="{01FCF2C1-9C0B-4840-BE0E-EC7E65902051}" type="presParOf" srcId="{2C42E923-3B7C-4983-83E4-A27FE19FD5C5}" destId="{50FB1169-223E-46FF-AAAE-F39E9DDC5F81}" srcOrd="7" destOrd="0" presId="urn:microsoft.com/office/officeart/2005/8/layout/list1"/>
    <dgm:cxn modelId="{E933C5B9-C277-4ABB-9CF5-19A4249D4E28}" type="presParOf" srcId="{2C42E923-3B7C-4983-83E4-A27FE19FD5C5}" destId="{102A1AF0-D33F-4F23-9DFA-57F382E9915B}" srcOrd="8" destOrd="0" presId="urn:microsoft.com/office/officeart/2005/8/layout/list1"/>
    <dgm:cxn modelId="{C40144CE-58C8-4410-AAD6-9939EF0A9AAB}" type="presParOf" srcId="{102A1AF0-D33F-4F23-9DFA-57F382E9915B}" destId="{6788E08A-13DB-4F8A-8DC3-C61EB79C411A}" srcOrd="0" destOrd="0" presId="urn:microsoft.com/office/officeart/2005/8/layout/list1"/>
    <dgm:cxn modelId="{258BDFFD-42E1-4820-A746-A24B79A3EC0A}" type="presParOf" srcId="{102A1AF0-D33F-4F23-9DFA-57F382E9915B}" destId="{6BD8013A-6CCA-4CF3-95DE-BF6E57B0B693}" srcOrd="1" destOrd="0" presId="urn:microsoft.com/office/officeart/2005/8/layout/list1"/>
    <dgm:cxn modelId="{FF7D24F1-D453-4F1B-9BA0-F67AE9A8ECED}" type="presParOf" srcId="{2C42E923-3B7C-4983-83E4-A27FE19FD5C5}" destId="{21E1DA92-7716-437A-9F6C-D7479AB16205}" srcOrd="9" destOrd="0" presId="urn:microsoft.com/office/officeart/2005/8/layout/list1"/>
    <dgm:cxn modelId="{43630989-143D-4ECC-A27F-B9C242C22C67}" type="presParOf" srcId="{2C42E923-3B7C-4983-83E4-A27FE19FD5C5}" destId="{96BB31EB-D8CB-46C4-B006-EC26C4AB77C1}" srcOrd="10" destOrd="0" presId="urn:microsoft.com/office/officeart/2005/8/layout/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572C16-3664-4FFB-9918-BD3A9BAF1917}">
      <dsp:nvSpPr>
        <dsp:cNvPr id="0" name=""/>
        <dsp:cNvSpPr/>
      </dsp:nvSpPr>
      <dsp:spPr>
        <a:xfrm>
          <a:off x="0" y="271001"/>
          <a:ext cx="5124061" cy="403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6299AB0-B657-417F-B267-5026F50CE6B1}">
      <dsp:nvSpPr>
        <dsp:cNvPr id="0" name=""/>
        <dsp:cNvSpPr/>
      </dsp:nvSpPr>
      <dsp:spPr>
        <a:xfrm>
          <a:off x="256203" y="34841"/>
          <a:ext cx="3586842" cy="472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574" tIns="0" rIns="135574" bIns="0" numCol="1" spcCol="1270" anchor="ctr" anchorCtr="0">
          <a:noAutofit/>
        </a:bodyPr>
        <a:lstStyle/>
        <a:p>
          <a:pPr marL="0" lvl="0" indent="0" algn="l" defTabSz="622300">
            <a:lnSpc>
              <a:spcPct val="90000"/>
            </a:lnSpc>
            <a:spcBef>
              <a:spcPct val="0"/>
            </a:spcBef>
            <a:spcAft>
              <a:spcPct val="35000"/>
            </a:spcAft>
            <a:buFont typeface="+mj-lt"/>
            <a:buNone/>
          </a:pPr>
          <a:r>
            <a:rPr lang="en-ID" sz="1400" b="1" kern="1200" dirty="0"/>
            <a:t>Kinerja Superior </a:t>
          </a:r>
          <a:r>
            <a:rPr lang="en-ID" sz="1400" b="1" kern="1200" dirty="0" err="1"/>
            <a:t>dibanding</a:t>
          </a:r>
          <a:r>
            <a:rPr lang="en-ID" sz="1400" b="1" kern="1200" dirty="0"/>
            <a:t> Baseline</a:t>
          </a:r>
          <a:endParaRPr lang="en-ID" sz="1400" kern="1200" dirty="0"/>
        </a:p>
      </dsp:txBody>
      <dsp:txXfrm>
        <a:off x="279260" y="57898"/>
        <a:ext cx="3540728" cy="426206"/>
      </dsp:txXfrm>
    </dsp:sp>
    <dsp:sp modelId="{03D87596-978C-4548-84F1-FA096127E326}">
      <dsp:nvSpPr>
        <dsp:cNvPr id="0" name=""/>
        <dsp:cNvSpPr/>
      </dsp:nvSpPr>
      <dsp:spPr>
        <a:xfrm>
          <a:off x="0" y="996761"/>
          <a:ext cx="5124061" cy="403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2BD93F-FBCD-4947-BAFA-9DAE225C466F}">
      <dsp:nvSpPr>
        <dsp:cNvPr id="0" name=""/>
        <dsp:cNvSpPr/>
      </dsp:nvSpPr>
      <dsp:spPr>
        <a:xfrm>
          <a:off x="256203" y="760602"/>
          <a:ext cx="3586842" cy="472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574" tIns="0" rIns="135574" bIns="0" numCol="1" spcCol="1270" anchor="ctr" anchorCtr="0">
          <a:noAutofit/>
        </a:bodyPr>
        <a:lstStyle/>
        <a:p>
          <a:pPr marL="0" lvl="0" indent="0" algn="l" defTabSz="622300">
            <a:lnSpc>
              <a:spcPct val="90000"/>
            </a:lnSpc>
            <a:spcBef>
              <a:spcPct val="0"/>
            </a:spcBef>
            <a:spcAft>
              <a:spcPct val="35000"/>
            </a:spcAft>
            <a:buNone/>
          </a:pPr>
          <a:r>
            <a:rPr lang="en-ID" sz="1400" b="1" kern="1200"/>
            <a:t>Keefektifan dalam Menangani Berbagai Tipe CDE</a:t>
          </a:r>
          <a:endParaRPr lang="en-ID" sz="1400" b="1" kern="1200" dirty="0"/>
        </a:p>
      </dsp:txBody>
      <dsp:txXfrm>
        <a:off x="279260" y="783659"/>
        <a:ext cx="3540728" cy="426206"/>
      </dsp:txXfrm>
    </dsp:sp>
    <dsp:sp modelId="{3FEE898B-422F-4604-8A7D-E28A416A8596}">
      <dsp:nvSpPr>
        <dsp:cNvPr id="0" name=""/>
        <dsp:cNvSpPr/>
      </dsp:nvSpPr>
      <dsp:spPr>
        <a:xfrm>
          <a:off x="0" y="1722521"/>
          <a:ext cx="5124061" cy="403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6DCEDCE-31CF-4F6F-934D-9AABB16536C4}">
      <dsp:nvSpPr>
        <dsp:cNvPr id="0" name=""/>
        <dsp:cNvSpPr/>
      </dsp:nvSpPr>
      <dsp:spPr>
        <a:xfrm>
          <a:off x="256203" y="1486362"/>
          <a:ext cx="3586842" cy="472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574" tIns="0" rIns="135574" bIns="0" numCol="1" spcCol="1270" anchor="ctr" anchorCtr="0">
          <a:noAutofit/>
        </a:bodyPr>
        <a:lstStyle/>
        <a:p>
          <a:pPr marL="0" lvl="0" indent="0" algn="l" defTabSz="622300">
            <a:lnSpc>
              <a:spcPct val="90000"/>
            </a:lnSpc>
            <a:spcBef>
              <a:spcPct val="0"/>
            </a:spcBef>
            <a:spcAft>
              <a:spcPct val="35000"/>
            </a:spcAft>
            <a:buNone/>
          </a:pPr>
          <a:r>
            <a:rPr lang="en-ID" sz="1400" b="1" kern="1200"/>
            <a:t>Kontribusi Komponen Individual</a:t>
          </a:r>
          <a:endParaRPr lang="en-ID" sz="1400" b="1" kern="1200" dirty="0"/>
        </a:p>
      </dsp:txBody>
      <dsp:txXfrm>
        <a:off x="279260" y="1509419"/>
        <a:ext cx="3540728" cy="426206"/>
      </dsp:txXfrm>
    </dsp:sp>
    <dsp:sp modelId="{DCE30E76-E4CA-4E85-B6A7-0433D01273F2}">
      <dsp:nvSpPr>
        <dsp:cNvPr id="0" name=""/>
        <dsp:cNvSpPr/>
      </dsp:nvSpPr>
      <dsp:spPr>
        <a:xfrm>
          <a:off x="0" y="2448281"/>
          <a:ext cx="5124061" cy="403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B16555-B09A-4823-A1B6-F92526EBAC60}">
      <dsp:nvSpPr>
        <dsp:cNvPr id="0" name=""/>
        <dsp:cNvSpPr/>
      </dsp:nvSpPr>
      <dsp:spPr>
        <a:xfrm>
          <a:off x="256203" y="2212121"/>
          <a:ext cx="3586842" cy="472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574" tIns="0" rIns="135574" bIns="0" numCol="1" spcCol="1270" anchor="ctr" anchorCtr="0">
          <a:noAutofit/>
        </a:bodyPr>
        <a:lstStyle/>
        <a:p>
          <a:pPr marL="0" lvl="0" indent="0" algn="l" defTabSz="622300">
            <a:lnSpc>
              <a:spcPct val="90000"/>
            </a:lnSpc>
            <a:spcBef>
              <a:spcPct val="0"/>
            </a:spcBef>
            <a:spcAft>
              <a:spcPct val="35000"/>
            </a:spcAft>
            <a:buNone/>
          </a:pPr>
          <a:r>
            <a:rPr lang="en-ID" sz="1400" b="1" kern="1200"/>
            <a:t>Kemampuan dalam Kasus Klinis yang Kompleks</a:t>
          </a:r>
          <a:endParaRPr lang="en-ID" sz="1400" b="1" kern="1200" dirty="0"/>
        </a:p>
      </dsp:txBody>
      <dsp:txXfrm>
        <a:off x="279260" y="2235178"/>
        <a:ext cx="3540728" cy="426206"/>
      </dsp:txXfrm>
    </dsp:sp>
    <dsp:sp modelId="{D04AEA26-AF1D-4BE7-B308-9F417741A8A9}">
      <dsp:nvSpPr>
        <dsp:cNvPr id="0" name=""/>
        <dsp:cNvSpPr/>
      </dsp:nvSpPr>
      <dsp:spPr>
        <a:xfrm>
          <a:off x="0" y="3174042"/>
          <a:ext cx="5124061" cy="403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28A5EBE-A352-4066-AEDC-BE292F637D34}">
      <dsp:nvSpPr>
        <dsp:cNvPr id="0" name=""/>
        <dsp:cNvSpPr/>
      </dsp:nvSpPr>
      <dsp:spPr>
        <a:xfrm>
          <a:off x="256203" y="2937882"/>
          <a:ext cx="3586842" cy="4723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574" tIns="0" rIns="135574" bIns="0" numCol="1" spcCol="1270" anchor="ctr" anchorCtr="0">
          <a:noAutofit/>
        </a:bodyPr>
        <a:lstStyle/>
        <a:p>
          <a:pPr marL="0" lvl="0" indent="0" algn="l" defTabSz="622300">
            <a:lnSpc>
              <a:spcPct val="90000"/>
            </a:lnSpc>
            <a:spcBef>
              <a:spcPct val="0"/>
            </a:spcBef>
            <a:spcAft>
              <a:spcPct val="35000"/>
            </a:spcAft>
            <a:buNone/>
          </a:pPr>
          <a:r>
            <a:rPr lang="en-ID" sz="1400" b="1" kern="1200"/>
            <a:t>Efisiensi dan Skalabilitas</a:t>
          </a:r>
          <a:endParaRPr lang="en-ID" sz="1400" b="1" kern="1200" dirty="0"/>
        </a:p>
      </dsp:txBody>
      <dsp:txXfrm>
        <a:off x="279260" y="2960939"/>
        <a:ext cx="3540728" cy="4262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F31C1B-FC3D-4E69-B512-D9E9484F35FA}">
      <dsp:nvSpPr>
        <dsp:cNvPr id="0" name=""/>
        <dsp:cNvSpPr/>
      </dsp:nvSpPr>
      <dsp:spPr>
        <a:xfrm>
          <a:off x="0" y="328152"/>
          <a:ext cx="4997319" cy="529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3867FCF-FC86-4BEB-A31A-514BDDD257AB}">
      <dsp:nvSpPr>
        <dsp:cNvPr id="0" name=""/>
        <dsp:cNvSpPr/>
      </dsp:nvSpPr>
      <dsp:spPr>
        <a:xfrm>
          <a:off x="249866" y="18192"/>
          <a:ext cx="3498124" cy="619920"/>
        </a:xfrm>
        <a:prstGeom prst="roundRect">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2221" tIns="0" rIns="132221" bIns="0" numCol="1" spcCol="1270" anchor="ctr" anchorCtr="0">
          <a:noAutofit/>
        </a:bodyPr>
        <a:lstStyle/>
        <a:p>
          <a:pPr marL="0" lvl="0" indent="0" algn="l" defTabSz="533400">
            <a:lnSpc>
              <a:spcPct val="90000"/>
            </a:lnSpc>
            <a:spcBef>
              <a:spcPct val="0"/>
            </a:spcBef>
            <a:spcAft>
              <a:spcPct val="35000"/>
            </a:spcAft>
            <a:buFont typeface="+mj-lt"/>
            <a:buNone/>
          </a:pPr>
          <a:r>
            <a:rPr lang="en-ID" sz="1200" b="0" i="1" u="none" kern="1200" dirty="0"/>
            <a:t>Input </a:t>
          </a:r>
          <a:r>
            <a:rPr lang="en-ID" sz="1200" b="0" i="1" u="none" kern="1200" dirty="0" err="1"/>
            <a:t>terbatas</a:t>
          </a:r>
          <a:r>
            <a:rPr lang="en-ID" sz="1200" b="0" i="1" u="none" kern="1200" dirty="0"/>
            <a:t> pada </a:t>
          </a:r>
          <a:r>
            <a:rPr lang="en-ID" sz="1200" b="0" i="1" u="none" kern="1200" dirty="0" err="1"/>
            <a:t>satu</a:t>
          </a:r>
          <a:r>
            <a:rPr lang="en-ID" sz="1200" b="0" i="1" u="none" kern="1200" dirty="0"/>
            <a:t> CDE (single item)</a:t>
          </a:r>
          <a:r>
            <a:rPr lang="en-ID" sz="1200" b="0" i="0" u="none" kern="1200" dirty="0"/>
            <a:t> – </a:t>
          </a:r>
          <a:r>
            <a:rPr lang="en-ID" sz="1200" b="0" i="0" u="none" kern="1200" dirty="0" err="1"/>
            <a:t>tidak</a:t>
          </a:r>
          <a:r>
            <a:rPr lang="en-ID" sz="1200" b="0" i="0" u="none" kern="1200" dirty="0"/>
            <a:t> </a:t>
          </a:r>
          <a:r>
            <a:rPr lang="en-ID" sz="1200" b="0" i="0" u="none" kern="1200" dirty="0" err="1"/>
            <a:t>dirancang</a:t>
          </a:r>
          <a:r>
            <a:rPr lang="en-ID" sz="1200" b="0" i="0" u="none" kern="1200" dirty="0"/>
            <a:t> </a:t>
          </a:r>
          <a:r>
            <a:rPr lang="en-ID" sz="1200" b="0" i="0" u="none" kern="1200" dirty="0" err="1"/>
            <a:t>untuk</a:t>
          </a:r>
          <a:r>
            <a:rPr lang="en-ID" sz="1200" b="0" i="0" u="none" kern="1200" dirty="0"/>
            <a:t> </a:t>
          </a:r>
          <a:r>
            <a:rPr lang="en-ID" sz="1200" b="0" i="0" u="none" kern="1200" dirty="0" err="1"/>
            <a:t>mengekstrak</a:t>
          </a:r>
          <a:r>
            <a:rPr lang="en-ID" sz="1200" b="0" i="0" u="none" kern="1200" dirty="0"/>
            <a:t> dan </a:t>
          </a:r>
          <a:r>
            <a:rPr lang="en-ID" sz="1200" b="0" i="0" u="none" kern="1200" dirty="0" err="1"/>
            <a:t>memetakan</a:t>
          </a:r>
          <a:r>
            <a:rPr lang="en-ID" sz="1200" b="0" i="0" u="none" kern="1200" dirty="0"/>
            <a:t> </a:t>
          </a:r>
          <a:r>
            <a:rPr lang="en-ID" sz="1200" b="0" i="0" u="none" kern="1200" dirty="0" err="1"/>
            <a:t>banyak</a:t>
          </a:r>
          <a:r>
            <a:rPr lang="en-ID" sz="1200" b="0" i="0" u="none" kern="1200" dirty="0"/>
            <a:t> </a:t>
          </a:r>
          <a:r>
            <a:rPr lang="en-ID" sz="1200" b="0" i="0" u="none" kern="1200" dirty="0" err="1"/>
            <a:t>entitas</a:t>
          </a:r>
          <a:r>
            <a:rPr lang="en-ID" sz="1200" b="0" i="0" u="none" kern="1200" dirty="0"/>
            <a:t> </a:t>
          </a:r>
          <a:r>
            <a:rPr lang="en-ID" sz="1200" b="0" i="0" u="none" kern="1200" dirty="0" err="1"/>
            <a:t>dari</a:t>
          </a:r>
          <a:r>
            <a:rPr lang="en-ID" sz="1200" b="0" i="0" u="none" kern="1200" dirty="0"/>
            <a:t> </a:t>
          </a:r>
          <a:r>
            <a:rPr lang="en-ID" sz="1200" b="0" i="0" u="none" kern="1200" dirty="0" err="1"/>
            <a:t>teks</a:t>
          </a:r>
          <a:r>
            <a:rPr lang="en-ID" sz="1200" b="0" i="0" u="none" kern="1200" dirty="0"/>
            <a:t> </a:t>
          </a:r>
          <a:r>
            <a:rPr lang="en-ID" sz="1200" b="0" i="0" u="none" kern="1200" dirty="0" err="1"/>
            <a:t>panjang</a:t>
          </a:r>
          <a:r>
            <a:rPr lang="en-ID" sz="1200" b="0" i="0" u="none" kern="1200" dirty="0"/>
            <a:t>.</a:t>
          </a:r>
          <a:endParaRPr lang="en-ID" sz="1200" kern="1200" dirty="0"/>
        </a:p>
      </dsp:txBody>
      <dsp:txXfrm>
        <a:off x="280128" y="48454"/>
        <a:ext cx="3437600" cy="559396"/>
      </dsp:txXfrm>
    </dsp:sp>
    <dsp:sp modelId="{EDBA79E3-74CB-45B1-A830-46E7A9560F5E}">
      <dsp:nvSpPr>
        <dsp:cNvPr id="0" name=""/>
        <dsp:cNvSpPr/>
      </dsp:nvSpPr>
      <dsp:spPr>
        <a:xfrm>
          <a:off x="0" y="1280712"/>
          <a:ext cx="4997319" cy="529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ABDC2ED-8A3F-4FD3-B9AE-AE4E838D65F5}">
      <dsp:nvSpPr>
        <dsp:cNvPr id="0" name=""/>
        <dsp:cNvSpPr/>
      </dsp:nvSpPr>
      <dsp:spPr>
        <a:xfrm>
          <a:off x="249866" y="970752"/>
          <a:ext cx="3498124" cy="619920"/>
        </a:xfrm>
        <a:prstGeom prst="roundRect">
          <a:avLst/>
        </a:prstGeom>
        <a:solidFill>
          <a:srgbClr val="70AD47">
            <a:lumMod val="7500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2221" tIns="0" rIns="132221" bIns="0" numCol="1" spcCol="1270" anchor="ctr" anchorCtr="0">
          <a:noAutofit/>
        </a:bodyPr>
        <a:lstStyle/>
        <a:p>
          <a:pPr marL="0" lvl="0" indent="0" algn="l" defTabSz="533400">
            <a:lnSpc>
              <a:spcPct val="90000"/>
            </a:lnSpc>
            <a:spcBef>
              <a:spcPct val="0"/>
            </a:spcBef>
            <a:spcAft>
              <a:spcPct val="35000"/>
            </a:spcAft>
            <a:buFont typeface="+mj-lt"/>
            <a:buNone/>
          </a:pPr>
          <a:r>
            <a:rPr lang="sv-SE" sz="1200" b="0" i="1" u="none" kern="1200" dirty="0"/>
            <a:t>Ketergantungan pada kualitas prompt dan contoh kontekstual</a:t>
          </a:r>
          <a:r>
            <a:rPr lang="sv-SE" sz="1200" b="0" i="0" u="none" kern="1200" dirty="0"/>
            <a:t> – kinerja menurun drastis ketika variasi bahasa tidak tercakup </a:t>
          </a:r>
          <a:r>
            <a:rPr lang="sv-SE" sz="1200" b="0" i="0" u="none" kern="1200" dirty="0">
              <a:solidFill>
                <a:prstClr val="white"/>
              </a:solidFill>
              <a:latin typeface="Calibri" panose="020F0502020204030204"/>
              <a:ea typeface="+mn-ea"/>
              <a:cs typeface="+mn-cs"/>
            </a:rPr>
            <a:t>dalam</a:t>
          </a:r>
          <a:r>
            <a:rPr lang="sv-SE" sz="1200" b="0" i="0" u="none" kern="1200" dirty="0"/>
            <a:t> </a:t>
          </a:r>
          <a:r>
            <a:rPr lang="sv-SE" sz="1200" b="0" i="1" u="none" kern="1200" dirty="0"/>
            <a:t>prompt</a:t>
          </a:r>
          <a:r>
            <a:rPr lang="sv-SE" sz="1200" b="0" i="0" u="none" kern="1200" dirty="0"/>
            <a:t>.</a:t>
          </a:r>
        </a:p>
      </dsp:txBody>
      <dsp:txXfrm>
        <a:off x="280128" y="1001014"/>
        <a:ext cx="3437600" cy="559396"/>
      </dsp:txXfrm>
    </dsp:sp>
    <dsp:sp modelId="{96BB31EB-D8CB-46C4-B006-EC26C4AB77C1}">
      <dsp:nvSpPr>
        <dsp:cNvPr id="0" name=""/>
        <dsp:cNvSpPr/>
      </dsp:nvSpPr>
      <dsp:spPr>
        <a:xfrm>
          <a:off x="0" y="2233273"/>
          <a:ext cx="4997319" cy="529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BD8013A-6CCA-4CF3-95DE-BF6E57B0B693}">
      <dsp:nvSpPr>
        <dsp:cNvPr id="0" name=""/>
        <dsp:cNvSpPr/>
      </dsp:nvSpPr>
      <dsp:spPr>
        <a:xfrm>
          <a:off x="249866" y="1923313"/>
          <a:ext cx="3498124" cy="619920"/>
        </a:xfrm>
        <a:prstGeom prst="roundRect">
          <a:avLst/>
        </a:prstGeom>
        <a:solidFill>
          <a:srgbClr val="70AD47">
            <a:lumMod val="75000"/>
          </a:srgb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2221" tIns="0" rIns="132221" bIns="0" numCol="1" spcCol="1270" anchor="ctr" anchorCtr="0">
          <a:noAutofit/>
        </a:bodyPr>
        <a:lstStyle/>
        <a:p>
          <a:pPr marL="0" lvl="0" indent="0" algn="l" defTabSz="533400">
            <a:lnSpc>
              <a:spcPct val="90000"/>
            </a:lnSpc>
            <a:spcBef>
              <a:spcPct val="0"/>
            </a:spcBef>
            <a:spcAft>
              <a:spcPct val="35000"/>
            </a:spcAft>
            <a:buNone/>
          </a:pPr>
          <a:r>
            <a:rPr lang="en-ID" sz="1200" b="0" i="1" u="none" kern="1200" dirty="0"/>
            <a:t>Belum </a:t>
          </a:r>
          <a:r>
            <a:rPr lang="en-ID" sz="1200" b="0" i="1" u="none" kern="1200" dirty="0" err="1"/>
            <a:t>teruji</a:t>
          </a:r>
          <a:r>
            <a:rPr lang="en-ID" sz="1200" b="0" i="1" u="none" kern="1200" dirty="0"/>
            <a:t> pada </a:t>
          </a:r>
          <a:r>
            <a:rPr lang="en-ID" sz="1200" b="0" i="1" u="none" kern="1200" dirty="0" err="1"/>
            <a:t>bahasa</a:t>
          </a:r>
          <a:r>
            <a:rPr lang="en-ID" sz="1200" b="0" i="1" u="none" kern="1200" dirty="0"/>
            <a:t> non‑</a:t>
          </a:r>
          <a:r>
            <a:rPr lang="en-ID" sz="1200" b="0" i="1" u="none" kern="1200" dirty="0" err="1"/>
            <a:t>Inggris</a:t>
          </a:r>
          <a:r>
            <a:rPr lang="en-ID" sz="1200" b="0" i="0" u="none" kern="1200" dirty="0"/>
            <a:t> – </a:t>
          </a:r>
          <a:r>
            <a:rPr lang="en-ID" sz="1200" b="0" i="0" u="none" kern="1200" dirty="0" err="1"/>
            <a:t>seluruh</a:t>
          </a:r>
          <a:r>
            <a:rPr lang="en-ID" sz="1200" b="0" i="0" u="none" kern="1200" dirty="0"/>
            <a:t> </a:t>
          </a:r>
          <a:r>
            <a:rPr lang="en-ID" sz="1200" b="0" i="0" u="none" kern="1200" dirty="0" err="1"/>
            <a:t>evaluasi</a:t>
          </a:r>
          <a:r>
            <a:rPr lang="en-ID" sz="1200" b="0" i="0" u="none" kern="1200" dirty="0"/>
            <a:t> </a:t>
          </a:r>
          <a:r>
            <a:rPr lang="en-ID" sz="1200" b="0" i="0" u="none" kern="1200" dirty="0" err="1"/>
            <a:t>dilakukan</a:t>
          </a:r>
          <a:r>
            <a:rPr lang="en-ID" sz="1200" b="0" i="0" u="none" kern="1200" dirty="0"/>
            <a:t> pada data </a:t>
          </a:r>
          <a:r>
            <a:rPr lang="en-ID" sz="1200" b="0" i="0" u="none" kern="1200" dirty="0" err="1"/>
            <a:t>berbahasa</a:t>
          </a:r>
          <a:r>
            <a:rPr lang="en-ID" sz="1200" b="0" i="0" u="none" kern="1200" dirty="0"/>
            <a:t> </a:t>
          </a:r>
          <a:r>
            <a:rPr lang="en-ID" sz="1200" b="0" i="0" u="none" kern="1200" dirty="0" err="1"/>
            <a:t>Inggris</a:t>
          </a:r>
          <a:r>
            <a:rPr lang="en-ID" sz="1200" b="0" i="0" u="none" kern="1200" dirty="0"/>
            <a:t> (NCBI‑DC, </a:t>
          </a:r>
          <a:r>
            <a:rPr lang="en-ID" sz="1200" b="0" i="0" u="none" kern="1200" dirty="0">
              <a:solidFill>
                <a:prstClr val="white"/>
              </a:solidFill>
              <a:latin typeface="Calibri" panose="020F0502020204030204"/>
              <a:ea typeface="+mn-ea"/>
              <a:cs typeface="+mn-cs"/>
            </a:rPr>
            <a:t>BC5CDR</a:t>
          </a:r>
          <a:r>
            <a:rPr lang="en-ID" sz="1200" b="0" i="0" u="none" kern="1200" dirty="0"/>
            <a:t>, MIMIC‑III).</a:t>
          </a:r>
          <a:endParaRPr lang="en-ID" sz="1200" kern="1200" dirty="0"/>
        </a:p>
      </dsp:txBody>
      <dsp:txXfrm>
        <a:off x="280128" y="1953575"/>
        <a:ext cx="3437600" cy="55939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2760CD-B293-4CAC-9F6B-B0A2FB98012F}" type="datetimeFigureOut">
              <a:rPr lang="en-ID" smtClean="0"/>
              <a:t>26/07/2026</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044812-4245-4BCE-A50F-88DAEE629767}" type="slidenum">
              <a:rPr lang="en-ID" smtClean="0"/>
              <a:t>‹#›</a:t>
            </a:fld>
            <a:endParaRPr lang="en-ID"/>
          </a:p>
        </p:txBody>
      </p:sp>
    </p:spTree>
    <p:extLst>
      <p:ext uri="{BB962C8B-B14F-4D97-AF65-F5344CB8AC3E}">
        <p14:creationId xmlns:p14="http://schemas.microsoft.com/office/powerpoint/2010/main" val="42829306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Buka dengan satu kalimat inti: penelitian ini mengembangkan pipeline end-to-end yang mengubah teks klinis panjang Bahasa Indonesia menjadi entitas terstruktur dan kandidat kode SNOMED CT, LOINC, serta ICD-10. Tekankan bahwa presentasi mencakup usulan ilmiah sekaligus progres implementasi sampai Tahap 2 Checkpoint 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Sampaikan bahwa alur bergerak dari “mengapa penelitian diperlukan” menuju “bagaimana solusi dibangun dan dibuktikan”. Batasi pengantar agar bagian progres implementasi memperoleh waktu cukup.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perbedaan sederhana: FHIR membantu struktur pertukaran, sedangkan terminologi klinis membantu kesamaan arti. Gunakan analogi “wadah dan isi”: format pertukaran adalah wadah, terminologi standar memastikan isi dipahami sama.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Hindari menyatakan bahwa satu terminologi menggantikan terminologi lain. Tekankan pembagian fungsi: SNOMED CT untuk representasi konsep klinis yang kaya, LOINC untuk observasi/laboratorium, dan ICD untuk klasifikasi pelaporan/statistik.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Gunakan contoh diabetes: konsep penyakit dapat direpresentasikan di SNOMED CT, pemeriksaan glukosanya di LOINC, dan klasifikasi diagnosisnya di ICD-10. Ini menjelaskan mengapa routing multi-terminologi menjadi bagian ilmiah penelitian.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masalah bukan sekadar menerjemahkan kata. Sistem harus menjaga angka dan satuan, membedakan singkatan ambigu, serta memahami apakah kondisi terjadi pada pasien, keluarga, atau hanya merupakan informasi umum dari dokter.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Sampaikan bahwa tugas ini lebih kompleks daripada fuzzy matching biasa. Kandidat yang secara leksikal mirip belum tentu sesuai domain, spesimen, waktu, metode, atau tujuan penggunaan.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Jangan menggambarkan evolusi sebagai penggantian total. Aturan tetap diperlukan untuk constraint, sparse retrieval tetap penting untuk kecocokan istilah, dan ahli tetap dibutuhkan untuk kasus berisiko.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500E4-F909-53E2-9E82-5C2B7CA9CE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21795-137E-237A-27EA-5812C6DA6B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62E8F0-7E4D-A3E1-15B5-0F9C1A42074E}"/>
              </a:ext>
            </a:extLst>
          </p:cNvPr>
          <p:cNvSpPr>
            <a:spLocks noGrp="1"/>
          </p:cNvSpPr>
          <p:nvPr>
            <p:ph type="body" idx="1"/>
          </p:nvPr>
        </p:nvSpPr>
        <p:spPr/>
        <p:txBody>
          <a:bodyPr/>
          <a:lstStyle/>
          <a:p>
            <a:r>
              <a:rPr lang="en-US" dirty="0"/>
              <a:t>Jangan menggambarkan evolusi sebagai penggantian total. Aturan tetap diperlukan untuk constraint, sparse retrieval tetap penting untuk kecocokan istilah, dan ahli tetap dibutuhkan untuk kasus berisiko.</a:t>
            </a:r>
          </a:p>
        </p:txBody>
      </p:sp>
      <p:sp>
        <p:nvSpPr>
          <p:cNvPr id="4" name="Slide Number Placeholder 3">
            <a:extLst>
              <a:ext uri="{FF2B5EF4-FFF2-40B4-BE49-F238E27FC236}">
                <a16:creationId xmlns:a16="http://schemas.microsoft.com/office/drawing/2014/main" id="{41379D0E-4C59-DE80-B69D-C68FCAD4231A}"/>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0773892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D709F-34C5-125A-F2F2-4F9A199C8A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79C0BC-8B4A-E992-0571-569B2D0E79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46B33A-3ABA-5220-E78C-F89D750A57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034A80-8C1D-2F90-32B2-8F91C6012403}"/>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4783250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C8AA0-2D36-73AC-3D9B-2C18AC2AD3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74ADBB-0DF8-BCE4-28E0-3368A4D2AA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B3E114-9D3F-C9ED-5052-81DAF2E0CDC7}"/>
              </a:ext>
            </a:extLst>
          </p:cNvPr>
          <p:cNvSpPr>
            <a:spLocks noGrp="1"/>
          </p:cNvSpPr>
          <p:nvPr>
            <p:ph type="body" idx="1"/>
          </p:nvPr>
        </p:nvSpPr>
        <p:spPr/>
        <p:txBody>
          <a:bodyPr/>
          <a:lstStyle/>
          <a:p>
            <a:pPr lvl="0"/>
            <a:r>
              <a:rPr lang="en-US" dirty="0"/>
              <a:t>NLP </a:t>
            </a:r>
            <a:r>
              <a:rPr lang="en-US" dirty="0">
                <a:sym typeface="Wingdings" panose="05000000000000000000" pitchFamily="2" charset="2"/>
              </a:rPr>
              <a:t> </a:t>
            </a:r>
            <a:r>
              <a:rPr lang="en-US" dirty="0" err="1">
                <a:sym typeface="Wingdings" panose="05000000000000000000" pitchFamily="2" charset="2"/>
              </a:rPr>
              <a:t>membahas</a:t>
            </a:r>
            <a:r>
              <a:rPr lang="en-US" dirty="0">
                <a:sym typeface="Wingdings" panose="05000000000000000000" pitchFamily="2" charset="2"/>
              </a:rPr>
              <a:t> </a:t>
            </a:r>
            <a:r>
              <a:rPr lang="en-US" dirty="0" err="1">
                <a:sym typeface="Wingdings" panose="05000000000000000000" pitchFamily="2" charset="2"/>
              </a:rPr>
              <a:t>mengenai</a:t>
            </a:r>
            <a:r>
              <a:rPr lang="en-US" dirty="0">
                <a:sym typeface="Wingdings" panose="05000000000000000000" pitchFamily="2" charset="2"/>
              </a:rPr>
              <a:t> </a:t>
            </a:r>
            <a:r>
              <a:rPr lang="en-US" dirty="0" err="1">
                <a:sym typeface="Wingdings" panose="05000000000000000000" pitchFamily="2" charset="2"/>
              </a:rPr>
              <a:t>bagaimana</a:t>
            </a:r>
            <a:r>
              <a:rPr lang="en-US" dirty="0">
                <a:sym typeface="Wingdings" panose="05000000000000000000" pitchFamily="2" charset="2"/>
              </a:rPr>
              <a:t> </a:t>
            </a:r>
            <a:r>
              <a:rPr lang="en-US" dirty="0" err="1">
                <a:sym typeface="Wingdings" panose="05000000000000000000" pitchFamily="2" charset="2"/>
              </a:rPr>
              <a:t>mesin</a:t>
            </a:r>
            <a:r>
              <a:rPr lang="en-US" dirty="0">
                <a:sym typeface="Wingdings" panose="05000000000000000000" pitchFamily="2" charset="2"/>
              </a:rPr>
              <a:t> </a:t>
            </a:r>
            <a:r>
              <a:rPr lang="en-US" dirty="0" err="1">
                <a:sym typeface="Wingdings" panose="05000000000000000000" pitchFamily="2" charset="2"/>
              </a:rPr>
              <a:t>bisa</a:t>
            </a:r>
            <a:r>
              <a:rPr lang="en-US" dirty="0">
                <a:sym typeface="Wingdings" panose="05000000000000000000" pitchFamily="2" charset="2"/>
              </a:rPr>
              <a:t> </a:t>
            </a:r>
            <a:r>
              <a:rPr lang="en-US" dirty="0" err="1">
                <a:sym typeface="Wingdings" panose="05000000000000000000" pitchFamily="2" charset="2"/>
              </a:rPr>
              <a:t>mengerti</a:t>
            </a:r>
            <a:r>
              <a:rPr lang="en-US" dirty="0">
                <a:sym typeface="Wingdings" panose="05000000000000000000" pitchFamily="2" charset="2"/>
              </a:rPr>
              <a:t> Bahasa </a:t>
            </a:r>
            <a:r>
              <a:rPr lang="en-US" dirty="0" err="1">
                <a:sym typeface="Wingdings" panose="05000000000000000000" pitchFamily="2" charset="2"/>
              </a:rPr>
              <a:t>manusia</a:t>
            </a:r>
            <a:r>
              <a:rPr lang="en-US" dirty="0">
                <a:sym typeface="Wingdings" panose="05000000000000000000" pitchFamily="2" charset="2"/>
              </a:rPr>
              <a:t>, dan LLM </a:t>
            </a:r>
            <a:r>
              <a:rPr lang="en-US" dirty="0" err="1">
                <a:sym typeface="Wingdings" panose="05000000000000000000" pitchFamily="2" charset="2"/>
              </a:rPr>
              <a:t>adalah</a:t>
            </a:r>
            <a:r>
              <a:rPr lang="en-US" dirty="0">
                <a:sym typeface="Wingdings" panose="05000000000000000000" pitchFamily="2" charset="2"/>
              </a:rPr>
              <a:t> salah </a:t>
            </a:r>
            <a:r>
              <a:rPr lang="en-US" dirty="0" err="1">
                <a:sym typeface="Wingdings" panose="05000000000000000000" pitchFamily="2" charset="2"/>
              </a:rPr>
              <a:t>satu</a:t>
            </a:r>
            <a:r>
              <a:rPr lang="en-US" dirty="0">
                <a:sym typeface="Wingdings" panose="05000000000000000000" pitchFamily="2" charset="2"/>
              </a:rPr>
              <a:t> outcome </a:t>
            </a:r>
            <a:r>
              <a:rPr lang="en-US" dirty="0" err="1">
                <a:sym typeface="Wingdings" panose="05000000000000000000" pitchFamily="2" charset="2"/>
              </a:rPr>
              <a:t>terkuatnya</a:t>
            </a:r>
            <a:r>
              <a:rPr lang="en-US" dirty="0">
                <a:sym typeface="Wingdings" panose="05000000000000000000" pitchFamily="2" charset="2"/>
              </a:rPr>
              <a:t>.</a:t>
            </a:r>
          </a:p>
          <a:p>
            <a:pPr lvl="0"/>
            <a:r>
              <a:rPr lang="en-US" dirty="0">
                <a:sym typeface="Wingdings" panose="05000000000000000000" pitchFamily="2" charset="2"/>
              </a:rPr>
              <a:t>L</a:t>
            </a:r>
            <a:r>
              <a:rPr lang="en-US" dirty="0"/>
              <a:t>anguage modeling (LM) </a:t>
            </a:r>
            <a:r>
              <a:rPr lang="en-US" dirty="0" err="1"/>
              <a:t>adalah</a:t>
            </a:r>
            <a:r>
              <a:rPr lang="en-US" dirty="0"/>
              <a:t> </a:t>
            </a:r>
            <a:r>
              <a:rPr lang="en-US" dirty="0" err="1"/>
              <a:t>itelegensia</a:t>
            </a:r>
            <a:r>
              <a:rPr lang="en-US" dirty="0"/>
              <a:t> </a:t>
            </a:r>
            <a:r>
              <a:rPr lang="en-US" dirty="0" err="1"/>
              <a:t>bahasa</a:t>
            </a:r>
            <a:r>
              <a:rPr lang="en-US" dirty="0"/>
              <a:t> pada </a:t>
            </a:r>
            <a:r>
              <a:rPr lang="en-US" dirty="0" err="1"/>
              <a:t>sebuah</a:t>
            </a:r>
            <a:r>
              <a:rPr lang="en-US" dirty="0"/>
              <a:t> </a:t>
            </a:r>
            <a:r>
              <a:rPr lang="en-US" dirty="0" err="1"/>
              <a:t>mesin</a:t>
            </a:r>
            <a:r>
              <a:rPr lang="en-US" dirty="0"/>
              <a:t> (computer), di train pada </a:t>
            </a:r>
            <a:r>
              <a:rPr lang="en-US" dirty="0" err="1"/>
              <a:t>teks</a:t>
            </a:r>
            <a:r>
              <a:rPr lang="en-US" dirty="0"/>
              <a:t> </a:t>
            </a:r>
            <a:r>
              <a:rPr lang="en-US" dirty="0" err="1"/>
              <a:t>besar</a:t>
            </a:r>
            <a:r>
              <a:rPr lang="en-US" dirty="0"/>
              <a:t>. </a:t>
            </a:r>
            <a:r>
              <a:rPr lang="en-US" dirty="0" err="1"/>
              <a:t>Memungkinkan</a:t>
            </a:r>
            <a:r>
              <a:rPr lang="en-US" dirty="0"/>
              <a:t> </a:t>
            </a:r>
            <a:r>
              <a:rPr lang="en-US" dirty="0" err="1"/>
              <a:t>mesin</a:t>
            </a:r>
            <a:r>
              <a:rPr lang="en-US" dirty="0"/>
              <a:t> </a:t>
            </a:r>
            <a:r>
              <a:rPr lang="en-US" dirty="0" err="1"/>
              <a:t>memahami</a:t>
            </a:r>
            <a:r>
              <a:rPr lang="en-US" dirty="0"/>
              <a:t> “</a:t>
            </a:r>
            <a:r>
              <a:rPr lang="en-US" dirty="0" err="1"/>
              <a:t>permintaan</a:t>
            </a:r>
            <a:r>
              <a:rPr lang="en-US" dirty="0"/>
              <a:t>” </a:t>
            </a:r>
            <a:r>
              <a:rPr lang="en-US" dirty="0" err="1"/>
              <a:t>manusia</a:t>
            </a:r>
            <a:r>
              <a:rPr lang="en-US" dirty="0"/>
              <a:t> </a:t>
            </a:r>
            <a:r>
              <a:rPr lang="en-US" dirty="0" err="1"/>
              <a:t>atau</a:t>
            </a:r>
            <a:r>
              <a:rPr lang="en-US" dirty="0"/>
              <a:t> </a:t>
            </a:r>
            <a:r>
              <a:rPr lang="en-US" dirty="0" err="1"/>
              <a:t>mesin</a:t>
            </a:r>
            <a:r>
              <a:rPr lang="en-US" dirty="0"/>
              <a:t> lain, </a:t>
            </a:r>
            <a:r>
              <a:rPr lang="en-US" dirty="0" err="1"/>
              <a:t>dengan</a:t>
            </a:r>
            <a:r>
              <a:rPr lang="en-US" dirty="0"/>
              <a:t> </a:t>
            </a:r>
            <a:r>
              <a:rPr lang="en-US" dirty="0" err="1"/>
              <a:t>cara</a:t>
            </a:r>
            <a:r>
              <a:rPr lang="en-US" dirty="0"/>
              <a:t>: </a:t>
            </a:r>
            <a:r>
              <a:rPr lang="en-ID" sz="1200" b="0" u="none" strike="noStrike" kern="1200" dirty="0" err="1">
                <a:solidFill>
                  <a:schemeClr val="tx1"/>
                </a:solidFill>
                <a:effectLst/>
                <a:latin typeface="+mn-lt"/>
                <a:ea typeface="+mn-ea"/>
                <a:cs typeface="+mn-cs"/>
              </a:rPr>
              <a:t>mempelajari</a:t>
            </a:r>
            <a:r>
              <a:rPr lang="en-ID" sz="1200" b="0" u="none" strike="noStrike" kern="1200" dirty="0">
                <a:solidFill>
                  <a:schemeClr val="tx1"/>
                </a:solidFill>
                <a:effectLst/>
                <a:latin typeface="+mn-lt"/>
                <a:ea typeface="+mn-ea"/>
                <a:cs typeface="+mn-cs"/>
              </a:rPr>
              <a:t> </a:t>
            </a:r>
            <a:r>
              <a:rPr lang="en-ID" sz="1200" b="0" u="none" strike="noStrike" kern="1200" dirty="0" err="1">
                <a:solidFill>
                  <a:schemeClr val="tx1"/>
                </a:solidFill>
                <a:effectLst/>
                <a:latin typeface="+mn-lt"/>
                <a:ea typeface="+mn-ea"/>
                <a:cs typeface="+mn-cs"/>
              </a:rPr>
              <a:t>pola</a:t>
            </a:r>
            <a:r>
              <a:rPr lang="en-ID" sz="1200" b="0" u="none" strike="noStrike" kern="1200" dirty="0">
                <a:solidFill>
                  <a:schemeClr val="tx1"/>
                </a:solidFill>
                <a:effectLst/>
                <a:latin typeface="+mn-lt"/>
                <a:ea typeface="+mn-ea"/>
                <a:cs typeface="+mn-cs"/>
              </a:rPr>
              <a:t> </a:t>
            </a:r>
            <a:r>
              <a:rPr lang="en-ID" sz="1200" b="0" u="none" strike="noStrike" kern="1200" dirty="0" err="1">
                <a:solidFill>
                  <a:schemeClr val="tx1"/>
                </a:solidFill>
                <a:effectLst/>
                <a:latin typeface="+mn-lt"/>
                <a:ea typeface="+mn-ea"/>
                <a:cs typeface="+mn-cs"/>
              </a:rPr>
              <a:t>bahasa</a:t>
            </a:r>
            <a:r>
              <a:rPr lang="en-ID" sz="1200" b="0" u="none" strike="noStrike" kern="1200" dirty="0">
                <a:solidFill>
                  <a:schemeClr val="tx1"/>
                </a:solidFill>
                <a:effectLst/>
                <a:latin typeface="+mn-lt"/>
                <a:ea typeface="+mn-ea"/>
                <a:cs typeface="+mn-cs"/>
              </a:rPr>
              <a:t>, tata </a:t>
            </a:r>
            <a:r>
              <a:rPr lang="en-ID" sz="1200" b="0" u="none" strike="noStrike" kern="1200" dirty="0" err="1">
                <a:solidFill>
                  <a:schemeClr val="tx1"/>
                </a:solidFill>
                <a:effectLst/>
                <a:latin typeface="+mn-lt"/>
                <a:ea typeface="+mn-ea"/>
                <a:cs typeface="+mn-cs"/>
              </a:rPr>
              <a:t>bahasa</a:t>
            </a:r>
            <a:r>
              <a:rPr lang="en-ID" sz="1200" b="0" u="none" strike="noStrike" kern="1200" dirty="0">
                <a:solidFill>
                  <a:schemeClr val="tx1"/>
                </a:solidFill>
                <a:effectLst/>
                <a:latin typeface="+mn-lt"/>
                <a:ea typeface="+mn-ea"/>
                <a:cs typeface="+mn-cs"/>
              </a:rPr>
              <a:t>, dan </a:t>
            </a:r>
            <a:r>
              <a:rPr lang="en-ID" sz="1200" b="0" u="none" strike="noStrike" kern="1200" dirty="0" err="1">
                <a:solidFill>
                  <a:schemeClr val="tx1"/>
                </a:solidFill>
                <a:effectLst/>
                <a:latin typeface="+mn-lt"/>
                <a:ea typeface="+mn-ea"/>
                <a:cs typeface="+mn-cs"/>
              </a:rPr>
              <a:t>konteks</a:t>
            </a:r>
            <a:r>
              <a:rPr lang="en-ID" sz="1200" b="0" u="none" strike="noStrike" kern="1200" dirty="0">
                <a:solidFill>
                  <a:schemeClr val="tx1"/>
                </a:solidFill>
                <a:effectLst/>
                <a:latin typeface="+mn-lt"/>
                <a:ea typeface="+mn-ea"/>
                <a:cs typeface="+mn-cs"/>
              </a:rPr>
              <a:t> </a:t>
            </a:r>
            <a:r>
              <a:rPr lang="en-ID" sz="1200" b="0" u="none" strike="noStrike" kern="1200" dirty="0" err="1">
                <a:solidFill>
                  <a:schemeClr val="tx1"/>
                </a:solidFill>
                <a:effectLst/>
                <a:latin typeface="+mn-lt"/>
                <a:ea typeface="+mn-ea"/>
                <a:cs typeface="+mn-cs"/>
              </a:rPr>
              <a:t>dari</a:t>
            </a:r>
            <a:r>
              <a:rPr lang="en-ID" sz="1200" b="0" u="none" strike="noStrike" kern="1200" dirty="0">
                <a:solidFill>
                  <a:schemeClr val="tx1"/>
                </a:solidFill>
                <a:effectLst/>
                <a:latin typeface="+mn-lt"/>
                <a:ea typeface="+mn-ea"/>
                <a:cs typeface="+mn-cs"/>
              </a:rPr>
              <a:t> data yang </a:t>
            </a:r>
            <a:r>
              <a:rPr lang="en-ID" sz="1200" b="0" u="none" strike="noStrike" kern="1200" dirty="0" err="1">
                <a:solidFill>
                  <a:schemeClr val="tx1"/>
                </a:solidFill>
                <a:effectLst/>
                <a:latin typeface="+mn-lt"/>
                <a:ea typeface="+mn-ea"/>
                <a:cs typeface="+mn-cs"/>
              </a:rPr>
              <a:t>sudah</a:t>
            </a:r>
            <a:r>
              <a:rPr lang="en-ID" sz="1200" b="0" u="none" strike="noStrike" kern="1200" dirty="0">
                <a:solidFill>
                  <a:schemeClr val="tx1"/>
                </a:solidFill>
                <a:effectLst/>
                <a:latin typeface="+mn-lt"/>
                <a:ea typeface="+mn-ea"/>
                <a:cs typeface="+mn-cs"/>
              </a:rPr>
              <a:t> </a:t>
            </a:r>
            <a:r>
              <a:rPr lang="en-ID" sz="1200" b="0" u="none" strike="noStrike" kern="1200" dirty="0" err="1">
                <a:solidFill>
                  <a:schemeClr val="tx1"/>
                </a:solidFill>
                <a:effectLst/>
                <a:latin typeface="+mn-lt"/>
                <a:ea typeface="+mn-ea"/>
                <a:cs typeface="+mn-cs"/>
              </a:rPr>
              <a:t>dibaca</a:t>
            </a:r>
            <a:r>
              <a:rPr lang="en-ID" sz="1200" b="0" u="none" strike="noStrike" kern="1200" dirty="0">
                <a:solidFill>
                  <a:schemeClr val="tx1"/>
                </a:solidFill>
                <a:effectLst/>
                <a:latin typeface="+mn-lt"/>
                <a:ea typeface="+mn-ea"/>
                <a:cs typeface="+mn-cs"/>
              </a:rPr>
              <a:t>.</a:t>
            </a:r>
          </a:p>
          <a:p>
            <a:pPr lvl="0"/>
            <a:r>
              <a:rPr lang="en-US" dirty="0"/>
              <a:t> </a:t>
            </a:r>
            <a:r>
              <a:rPr lang="en-US" dirty="0" err="1"/>
              <a:t>hampir</a:t>
            </a:r>
            <a:r>
              <a:rPr lang="en-US" dirty="0"/>
              <a:t> </a:t>
            </a:r>
            <a:r>
              <a:rPr lang="en-US" dirty="0" err="1"/>
              <a:t>semua</a:t>
            </a:r>
            <a:r>
              <a:rPr lang="en-US" dirty="0"/>
              <a:t> LLM modern </a:t>
            </a:r>
            <a:r>
              <a:rPr lang="en-US" dirty="0" err="1"/>
              <a:t>dibangun</a:t>
            </a:r>
            <a:r>
              <a:rPr lang="en-US" dirty="0"/>
              <a:t> di </a:t>
            </a:r>
            <a:r>
              <a:rPr lang="en-US" dirty="0" err="1"/>
              <a:t>atas</a:t>
            </a:r>
            <a:r>
              <a:rPr lang="en-US" dirty="0"/>
              <a:t> </a:t>
            </a:r>
            <a:r>
              <a:rPr lang="en-US" dirty="0" err="1"/>
              <a:t>arsitektur</a:t>
            </a:r>
            <a:r>
              <a:rPr lang="en-US" dirty="0"/>
              <a:t> Transformer yang </a:t>
            </a:r>
            <a:r>
              <a:rPr lang="en-US" dirty="0" err="1"/>
              <a:t>diperkenalkan</a:t>
            </a:r>
            <a:r>
              <a:rPr lang="en-US" dirty="0"/>
              <a:t> </a:t>
            </a:r>
            <a:r>
              <a:rPr lang="en-US" dirty="0" err="1"/>
              <a:t>dalam</a:t>
            </a:r>
            <a:r>
              <a:rPr lang="en-US" dirty="0"/>
              <a:t> </a:t>
            </a:r>
            <a:r>
              <a:rPr lang="en-US" dirty="0" err="1"/>
              <a:t>makalah</a:t>
            </a:r>
            <a:r>
              <a:rPr lang="en-US" dirty="0"/>
              <a:t> Attention Is All You Need oleh Vaswani </a:t>
            </a:r>
            <a:r>
              <a:rPr lang="en-US" dirty="0" err="1"/>
              <a:t>dkk</a:t>
            </a:r>
            <a:r>
              <a:rPr lang="en-US" dirty="0"/>
              <a:t>. (2017)</a:t>
            </a:r>
          </a:p>
        </p:txBody>
      </p:sp>
      <p:sp>
        <p:nvSpPr>
          <p:cNvPr id="4" name="Slide Number Placeholder 3">
            <a:extLst>
              <a:ext uri="{FF2B5EF4-FFF2-40B4-BE49-F238E27FC236}">
                <a16:creationId xmlns:a16="http://schemas.microsoft.com/office/drawing/2014/main" id="{F5A8B8D3-AC6C-1DC4-7F0C-DEDF533A1122}"/>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4118557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C13CF-3360-B18C-C6FF-AF22998C65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B849EB-3620-7B28-2D8F-0988A3C0E7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493D8F-002C-9CA1-2B37-FE4CC40794C2}"/>
              </a:ext>
            </a:extLst>
          </p:cNvPr>
          <p:cNvSpPr>
            <a:spLocks noGrp="1"/>
          </p:cNvSpPr>
          <p:nvPr>
            <p:ph type="body" idx="1"/>
          </p:nvPr>
        </p:nvSpPr>
        <p:spPr/>
        <p:txBody>
          <a:bodyPr/>
          <a:lstStyle/>
          <a:p>
            <a:r>
              <a:rPr lang="en-US" dirty="0" err="1"/>
              <a:t>kerangka</a:t>
            </a:r>
            <a:r>
              <a:rPr lang="en-US" dirty="0"/>
              <a:t> </a:t>
            </a:r>
            <a:r>
              <a:rPr lang="en-US" dirty="0" err="1"/>
              <a:t>kerja</a:t>
            </a:r>
            <a:r>
              <a:rPr lang="en-US" dirty="0"/>
              <a:t> </a:t>
            </a:r>
            <a:r>
              <a:rPr lang="en-US" dirty="0" err="1"/>
              <a:t>arsitektural</a:t>
            </a:r>
            <a:r>
              <a:rPr lang="en-US" dirty="0"/>
              <a:t> yang </a:t>
            </a:r>
            <a:r>
              <a:rPr lang="en-US" dirty="0" err="1"/>
              <a:t>menggabungkan</a:t>
            </a:r>
            <a:r>
              <a:rPr lang="en-US" dirty="0"/>
              <a:t> dua </a:t>
            </a:r>
            <a:r>
              <a:rPr lang="en-US" dirty="0" err="1"/>
              <a:t>kemampuan</a:t>
            </a:r>
            <a:r>
              <a:rPr lang="en-US" dirty="0"/>
              <a:t> </a:t>
            </a:r>
            <a:r>
              <a:rPr lang="en-US" dirty="0" err="1"/>
              <a:t>utama</a:t>
            </a:r>
            <a:r>
              <a:rPr lang="en-US" dirty="0"/>
              <a:t>, </a:t>
            </a:r>
            <a:r>
              <a:rPr lang="en-US" dirty="0" err="1"/>
              <a:t>yaitu</a:t>
            </a:r>
            <a:r>
              <a:rPr lang="en-US" dirty="0"/>
              <a:t> retrieval </a:t>
            </a:r>
            <a:r>
              <a:rPr lang="en-US" dirty="0" err="1"/>
              <a:t>atau</a:t>
            </a:r>
            <a:r>
              <a:rPr lang="en-US" dirty="0"/>
              <a:t> </a:t>
            </a:r>
            <a:r>
              <a:rPr lang="en-US" dirty="0" err="1"/>
              <a:t>pengambil</a:t>
            </a:r>
            <a:r>
              <a:rPr lang="en-US" dirty="0"/>
              <a:t> an </a:t>
            </a:r>
            <a:r>
              <a:rPr lang="en-US" dirty="0" err="1"/>
              <a:t>informasi</a:t>
            </a:r>
            <a:r>
              <a:rPr lang="en-US" dirty="0"/>
              <a:t> </a:t>
            </a:r>
            <a:r>
              <a:rPr lang="en-US" dirty="0" err="1"/>
              <a:t>dari</a:t>
            </a:r>
            <a:r>
              <a:rPr lang="en-US" dirty="0"/>
              <a:t> </a:t>
            </a:r>
            <a:r>
              <a:rPr lang="en-US" dirty="0" err="1"/>
              <a:t>sumber</a:t>
            </a:r>
            <a:r>
              <a:rPr lang="en-US" dirty="0"/>
              <a:t> </a:t>
            </a:r>
            <a:r>
              <a:rPr lang="en-US" dirty="0" err="1"/>
              <a:t>eksternal</a:t>
            </a:r>
            <a:r>
              <a:rPr lang="en-US" dirty="0"/>
              <a:t> dan generation </a:t>
            </a:r>
            <a:r>
              <a:rPr lang="en-US" dirty="0" err="1"/>
              <a:t>atau</a:t>
            </a:r>
            <a:r>
              <a:rPr lang="en-US" dirty="0"/>
              <a:t> </a:t>
            </a:r>
            <a:r>
              <a:rPr lang="en-US" dirty="0" err="1"/>
              <a:t>pembangkitan</a:t>
            </a:r>
            <a:r>
              <a:rPr lang="en-US" dirty="0"/>
              <a:t> </a:t>
            </a:r>
            <a:r>
              <a:rPr lang="en-US" dirty="0" err="1"/>
              <a:t>teks</a:t>
            </a:r>
            <a:r>
              <a:rPr lang="en-US" dirty="0"/>
              <a:t>, </a:t>
            </a:r>
            <a:r>
              <a:rPr lang="en-US" dirty="0" err="1"/>
              <a:t>dalam</a:t>
            </a:r>
            <a:r>
              <a:rPr lang="en-US" dirty="0"/>
              <a:t> </a:t>
            </a:r>
            <a:r>
              <a:rPr lang="en-US" dirty="0" err="1"/>
              <a:t>satu</a:t>
            </a:r>
            <a:r>
              <a:rPr lang="en-US" dirty="0"/>
              <a:t> </a:t>
            </a:r>
            <a:r>
              <a:rPr lang="en-US" dirty="0" err="1"/>
              <a:t>sistem</a:t>
            </a:r>
            <a:r>
              <a:rPr lang="en-US" dirty="0"/>
              <a:t> </a:t>
            </a:r>
            <a:r>
              <a:rPr lang="en-US" dirty="0" err="1"/>
              <a:t>terpadu</a:t>
            </a:r>
            <a:r>
              <a:rPr lang="en-US" dirty="0"/>
              <a:t> (Lewis </a:t>
            </a:r>
            <a:r>
              <a:rPr lang="en-US" dirty="0" err="1"/>
              <a:t>dkk</a:t>
            </a:r>
            <a:r>
              <a:rPr lang="en-US" dirty="0"/>
              <a:t>., 2021). </a:t>
            </a:r>
            <a:r>
              <a:rPr lang="en-US" dirty="0" err="1"/>
              <a:t>Secara</a:t>
            </a:r>
            <a:r>
              <a:rPr lang="en-US" dirty="0"/>
              <a:t> </a:t>
            </a:r>
            <a:r>
              <a:rPr lang="en-US" dirty="0" err="1"/>
              <a:t>sederhana</a:t>
            </a:r>
            <a:r>
              <a:rPr lang="en-US" dirty="0"/>
              <a:t>, RAG </a:t>
            </a:r>
            <a:r>
              <a:rPr lang="en-US" dirty="0" err="1"/>
              <a:t>memungkinkan</a:t>
            </a:r>
            <a:r>
              <a:rPr lang="en-US" dirty="0"/>
              <a:t> model </a:t>
            </a:r>
            <a:r>
              <a:rPr lang="en-US" dirty="0" err="1"/>
              <a:t>bahasa</a:t>
            </a:r>
            <a:r>
              <a:rPr lang="en-US" dirty="0"/>
              <a:t> </a:t>
            </a:r>
            <a:r>
              <a:rPr lang="en-US" dirty="0" err="1"/>
              <a:t>untuk</a:t>
            </a:r>
            <a:r>
              <a:rPr lang="en-US" dirty="0"/>
              <a:t> </a:t>
            </a:r>
            <a:r>
              <a:rPr lang="en-US" dirty="0" err="1"/>
              <a:t>tidak</a:t>
            </a:r>
            <a:r>
              <a:rPr lang="en-US" dirty="0"/>
              <a:t> </a:t>
            </a:r>
            <a:r>
              <a:rPr lang="en-US" dirty="0" err="1"/>
              <a:t>hanya</a:t>
            </a:r>
            <a:r>
              <a:rPr lang="en-US" dirty="0"/>
              <a:t> </a:t>
            </a:r>
            <a:r>
              <a:rPr lang="en-US" dirty="0" err="1"/>
              <a:t>mengandalkan</a:t>
            </a:r>
            <a:r>
              <a:rPr lang="en-US" dirty="0"/>
              <a:t> </a:t>
            </a:r>
            <a:r>
              <a:rPr lang="en-US" dirty="0" err="1"/>
              <a:t>pengetahuan</a:t>
            </a:r>
            <a:r>
              <a:rPr lang="en-US" dirty="0"/>
              <a:t> yang </a:t>
            </a:r>
            <a:r>
              <a:rPr lang="en-US" dirty="0" err="1"/>
              <a:t>telah</a:t>
            </a:r>
            <a:r>
              <a:rPr lang="en-US" dirty="0"/>
              <a:t> </a:t>
            </a:r>
            <a:r>
              <a:rPr lang="en-US" dirty="0" err="1"/>
              <a:t>dipelajari</a:t>
            </a:r>
            <a:r>
              <a:rPr lang="en-US" dirty="0"/>
              <a:t> dan </a:t>
            </a:r>
            <a:r>
              <a:rPr lang="en-US" dirty="0" err="1"/>
              <a:t>tersimpan</a:t>
            </a:r>
            <a:r>
              <a:rPr lang="en-US" dirty="0"/>
              <a:t> di </a:t>
            </a:r>
            <a:r>
              <a:rPr lang="en-US" dirty="0" err="1"/>
              <a:t>dalam</a:t>
            </a:r>
            <a:r>
              <a:rPr lang="en-US" dirty="0"/>
              <a:t> parameter model, </a:t>
            </a:r>
            <a:r>
              <a:rPr lang="en-US" dirty="0" err="1"/>
              <a:t>tetapi</a:t>
            </a:r>
            <a:r>
              <a:rPr lang="en-US" dirty="0"/>
              <a:t> juga </a:t>
            </a:r>
            <a:r>
              <a:rPr lang="en-US" dirty="0" err="1"/>
              <a:t>secara</a:t>
            </a:r>
            <a:r>
              <a:rPr lang="en-US" dirty="0"/>
              <a:t> </a:t>
            </a:r>
            <a:r>
              <a:rPr lang="en-US" dirty="0" err="1"/>
              <a:t>dinamis</a:t>
            </a:r>
            <a:r>
              <a:rPr lang="en-US" dirty="0"/>
              <a:t> </a:t>
            </a:r>
            <a:r>
              <a:rPr lang="en-US" dirty="0" err="1"/>
              <a:t>mengakses</a:t>
            </a:r>
            <a:r>
              <a:rPr lang="en-US" dirty="0"/>
              <a:t> data yang </a:t>
            </a:r>
            <a:r>
              <a:rPr lang="en-US" dirty="0" err="1"/>
              <a:t>lebih</a:t>
            </a:r>
            <a:r>
              <a:rPr lang="en-US" dirty="0"/>
              <a:t> </a:t>
            </a:r>
            <a:r>
              <a:rPr lang="en-US" dirty="0" err="1"/>
              <a:t>mutakhir</a:t>
            </a:r>
            <a:r>
              <a:rPr lang="en-US" dirty="0"/>
              <a:t>, </a:t>
            </a:r>
            <a:r>
              <a:rPr lang="en-US" dirty="0" err="1"/>
              <a:t>relevan</a:t>
            </a:r>
            <a:r>
              <a:rPr lang="en-US" dirty="0"/>
              <a:t>, dan </a:t>
            </a:r>
            <a:r>
              <a:rPr lang="en-US" dirty="0" err="1"/>
              <a:t>dapat</a:t>
            </a:r>
            <a:r>
              <a:rPr lang="en-US" dirty="0"/>
              <a:t> </a:t>
            </a:r>
            <a:r>
              <a:rPr lang="en-US" dirty="0" err="1"/>
              <a:t>ditelusuri</a:t>
            </a:r>
            <a:r>
              <a:rPr lang="en-US" dirty="0"/>
              <a:t> </a:t>
            </a:r>
            <a:r>
              <a:rPr lang="en-US" dirty="0" err="1"/>
              <a:t>dari</a:t>
            </a:r>
            <a:r>
              <a:rPr lang="en-US" dirty="0"/>
              <a:t> basis </a:t>
            </a:r>
            <a:r>
              <a:rPr lang="en-US" dirty="0" err="1"/>
              <a:t>pengetahuan</a:t>
            </a:r>
            <a:r>
              <a:rPr lang="en-US" dirty="0"/>
              <a:t> </a:t>
            </a:r>
            <a:r>
              <a:rPr lang="en-US" dirty="0" err="1"/>
              <a:t>eksternal</a:t>
            </a:r>
            <a:r>
              <a:rPr lang="en-US" dirty="0"/>
              <a:t> </a:t>
            </a:r>
            <a:r>
              <a:rPr lang="en-US" dirty="0" err="1"/>
              <a:t>sebelum</a:t>
            </a:r>
            <a:r>
              <a:rPr lang="en-US" dirty="0"/>
              <a:t> </a:t>
            </a:r>
            <a:r>
              <a:rPr lang="en-US" dirty="0" err="1"/>
              <a:t>menghasilkan</a:t>
            </a:r>
            <a:r>
              <a:rPr lang="en-US" dirty="0"/>
              <a:t> </a:t>
            </a:r>
            <a:r>
              <a:rPr lang="en-US" dirty="0" err="1"/>
              <a:t>jawaban</a:t>
            </a:r>
            <a:r>
              <a:rPr lang="en-US" dirty="0"/>
              <a:t> (Wu </a:t>
            </a:r>
            <a:r>
              <a:rPr lang="en-US" dirty="0" err="1"/>
              <a:t>dkk</a:t>
            </a:r>
            <a:r>
              <a:rPr lang="en-US" dirty="0"/>
              <a:t>., 2025).</a:t>
            </a:r>
          </a:p>
        </p:txBody>
      </p:sp>
      <p:sp>
        <p:nvSpPr>
          <p:cNvPr id="4" name="Slide Number Placeholder 3">
            <a:extLst>
              <a:ext uri="{FF2B5EF4-FFF2-40B4-BE49-F238E27FC236}">
                <a16:creationId xmlns:a16="http://schemas.microsoft.com/office/drawing/2014/main" id="{E017346C-60E0-01E7-8F16-C724407F3351}"/>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1923398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0875A-1C1B-5BFD-F4FC-C7DC0C370A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F72F6F-E945-3932-E074-66E9AB8F2A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642FEA-92FF-F9B9-67C7-FE2BA505E2D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C5A2E1-0C8F-0C3F-DB2F-904BE3ED8775}"/>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6884733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Hubungkan setiap gap dengan modul solusi: routing multi-terminologi untuk gap pertama, long-text entity extraction untuk gap kedua, serta normalisasi dan retrieval adaptif Bahasa Indonesia untuk gap ketiga.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Tiga pertanyaan pertama mengikuti rumusan proposal. Pertanyaan evaluatif menjembatani rumusan masalah dengan desain eksperimen dan metrik yang akan digunakan.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Bedakan tujuan ilmiah dari artefak teknis. Framework dan evaluasinya adalah tujuan penelitian; kode, skema JSON, notebook, kamus, dan audit trail adalah sarana untuk membuktikannya.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BD9A0-C64E-FB41-59F5-B20E672F3C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DAA6CE-DBA0-7CA7-8B61-0290FA6FB6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3D6B72-1400-10F9-806C-982F11333CEF}"/>
              </a:ext>
            </a:extLst>
          </p:cNvPr>
          <p:cNvSpPr>
            <a:spLocks noGrp="1"/>
          </p:cNvSpPr>
          <p:nvPr>
            <p:ph type="body" idx="1"/>
          </p:nvPr>
        </p:nvSpPr>
        <p:spPr/>
        <p:txBody>
          <a:bodyPr/>
          <a:lstStyle/>
          <a:p>
            <a:pPr marL="0" indent="0">
              <a:lnSpc>
                <a:spcPct val="102000"/>
              </a:lnSpc>
              <a:spcAft>
                <a:spcPts val="700"/>
              </a:spcAft>
              <a:buNone/>
            </a:pPr>
            <a:r>
              <a:rPr lang="en-US" sz="1500" b="1" dirty="0">
                <a:solidFill>
                  <a:srgbClr val="0B3C6E"/>
                </a:solidFill>
                <a:latin typeface="Calibri" pitchFamily="34" charset="0"/>
                <a:ea typeface="Calibri" pitchFamily="34" charset="-122"/>
                <a:cs typeface="Calibri" pitchFamily="34" charset="-120"/>
              </a:rPr>
              <a:t>CDE-Mapper </a:t>
            </a:r>
            <a:r>
              <a:rPr lang="en-US" sz="1500" b="1" dirty="0" err="1">
                <a:solidFill>
                  <a:srgbClr val="0B3C6E"/>
                </a:solidFill>
                <a:latin typeface="Calibri" pitchFamily="34" charset="0"/>
                <a:ea typeface="Calibri" pitchFamily="34" charset="-122"/>
                <a:cs typeface="Calibri" pitchFamily="34" charset="-120"/>
              </a:rPr>
              <a:t>menyediakan</a:t>
            </a:r>
            <a:r>
              <a:rPr lang="en-US" sz="1500" b="1" dirty="0">
                <a:solidFill>
                  <a:srgbClr val="0B3C6E"/>
                </a:solidFill>
                <a:latin typeface="Calibri" pitchFamily="34" charset="0"/>
                <a:ea typeface="Calibri" pitchFamily="34" charset="-122"/>
                <a:cs typeface="Calibri" pitchFamily="34" charset="-120"/>
              </a:rPr>
              <a:t> </a:t>
            </a:r>
            <a:r>
              <a:rPr lang="en-US" sz="1500" b="1" dirty="0" err="1">
                <a:solidFill>
                  <a:srgbClr val="0B3C6E"/>
                </a:solidFill>
                <a:latin typeface="Calibri" pitchFamily="34" charset="0"/>
                <a:ea typeface="Calibri" pitchFamily="34" charset="-122"/>
                <a:cs typeface="Calibri" pitchFamily="34" charset="-120"/>
              </a:rPr>
              <a:t>fondasi</a:t>
            </a:r>
            <a:r>
              <a:rPr lang="en-US" sz="1500" b="1" dirty="0">
                <a:solidFill>
                  <a:srgbClr val="0B3C6E"/>
                </a:solidFill>
                <a:latin typeface="Calibri" pitchFamily="34" charset="0"/>
                <a:ea typeface="Calibri" pitchFamily="34" charset="-122"/>
                <a:cs typeface="Calibri" pitchFamily="34" charset="-120"/>
              </a:rPr>
              <a:t>:</a:t>
            </a:r>
            <a:endParaRPr lang="en-US" sz="1500" dirty="0"/>
          </a:p>
          <a:p>
            <a:pPr marL="355600" lvl="1" indent="-177800">
              <a:lnSpc>
                <a:spcPct val="102000"/>
              </a:lnSpc>
              <a:spcAft>
                <a:spcPts val="300"/>
              </a:spcAft>
              <a:buSzPct val="100000"/>
              <a:buChar char="–"/>
            </a:pPr>
            <a:r>
              <a:rPr lang="en-US" sz="1500" dirty="0" err="1">
                <a:solidFill>
                  <a:srgbClr val="26313D"/>
                </a:solidFill>
                <a:latin typeface="Calibri" pitchFamily="34" charset="0"/>
                <a:ea typeface="Calibri" pitchFamily="34" charset="-122"/>
                <a:cs typeface="Calibri" pitchFamily="34" charset="-120"/>
              </a:rPr>
              <a:t>dekomposisi</a:t>
            </a:r>
            <a:r>
              <a:rPr lang="en-US" sz="1500" dirty="0">
                <a:solidFill>
                  <a:srgbClr val="26313D"/>
                </a:solidFill>
                <a:latin typeface="Calibri" pitchFamily="34" charset="0"/>
                <a:ea typeface="Calibri" pitchFamily="34" charset="-122"/>
                <a:cs typeface="Calibri" pitchFamily="34" charset="-120"/>
              </a:rPr>
              <a:t> Clinical Data Element;</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hybrid retrieval;</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metadata filtering;</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multi-stage ranking;</a:t>
            </a:r>
            <a:endParaRPr lang="en-US" sz="1500" dirty="0"/>
          </a:p>
          <a:p>
            <a:pPr marL="355600" lvl="1" indent="-177800">
              <a:lnSpc>
                <a:spcPct val="102000"/>
              </a:lnSpc>
              <a:spcAft>
                <a:spcPts val="300"/>
              </a:spcAft>
              <a:buSzPct val="100000"/>
              <a:buChar char="–"/>
            </a:pPr>
            <a:r>
              <a:rPr lang="en-US" sz="1500" dirty="0" err="1">
                <a:solidFill>
                  <a:srgbClr val="26313D"/>
                </a:solidFill>
                <a:latin typeface="Calibri" pitchFamily="34" charset="0"/>
                <a:ea typeface="Calibri" pitchFamily="34" charset="-122"/>
                <a:cs typeface="Calibri" pitchFamily="34" charset="-120"/>
              </a:rPr>
              <a:t>pemetaan</a:t>
            </a:r>
            <a:r>
              <a:rPr lang="en-US" sz="1500" dirty="0">
                <a:solidFill>
                  <a:srgbClr val="26313D"/>
                </a:solidFill>
                <a:latin typeface="Calibri" pitchFamily="34" charset="0"/>
                <a:ea typeface="Calibri" pitchFamily="34" charset="-122"/>
                <a:cs typeface="Calibri" pitchFamily="34" charset="-120"/>
              </a:rPr>
              <a:t> </a:t>
            </a:r>
            <a:r>
              <a:rPr lang="en-US" sz="1500" dirty="0" err="1">
                <a:solidFill>
                  <a:srgbClr val="26313D"/>
                </a:solidFill>
                <a:latin typeface="Calibri" pitchFamily="34" charset="0"/>
                <a:ea typeface="Calibri" pitchFamily="34" charset="-122"/>
                <a:cs typeface="Calibri" pitchFamily="34" charset="-120"/>
              </a:rPr>
              <a:t>ke</a:t>
            </a:r>
            <a:r>
              <a:rPr lang="en-US" sz="1500" dirty="0">
                <a:solidFill>
                  <a:srgbClr val="26313D"/>
                </a:solidFill>
                <a:latin typeface="Calibri" pitchFamily="34" charset="0"/>
                <a:ea typeface="Calibri" pitchFamily="34" charset="-122"/>
                <a:cs typeface="Calibri" pitchFamily="34" charset="-120"/>
              </a:rPr>
              <a:t> controlled vocabularies;</a:t>
            </a:r>
            <a:endParaRPr lang="en-US" sz="1500" dirty="0"/>
          </a:p>
          <a:p>
            <a:pPr marL="355600" lvl="1"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knowledge reservoir </a:t>
            </a:r>
            <a:r>
              <a:rPr lang="en-US" sz="1500" dirty="0" err="1">
                <a:solidFill>
                  <a:srgbClr val="26313D"/>
                </a:solidFill>
                <a:latin typeface="Calibri" pitchFamily="34" charset="0"/>
                <a:ea typeface="Calibri" pitchFamily="34" charset="-122"/>
                <a:cs typeface="Calibri" pitchFamily="34" charset="-120"/>
              </a:rPr>
              <a:t>untuk</a:t>
            </a:r>
            <a:r>
              <a:rPr lang="en-US" sz="1500" dirty="0">
                <a:solidFill>
                  <a:srgbClr val="26313D"/>
                </a:solidFill>
                <a:latin typeface="Calibri" pitchFamily="34" charset="0"/>
                <a:ea typeface="Calibri" pitchFamily="34" charset="-122"/>
                <a:cs typeface="Calibri" pitchFamily="34" charset="-120"/>
              </a:rPr>
              <a:t> </a:t>
            </a:r>
            <a:r>
              <a:rPr lang="en-US" sz="1500" dirty="0" err="1">
                <a:solidFill>
                  <a:srgbClr val="26313D"/>
                </a:solidFill>
                <a:latin typeface="Calibri" pitchFamily="34" charset="0"/>
                <a:ea typeface="Calibri" pitchFamily="34" charset="-122"/>
                <a:cs typeface="Calibri" pitchFamily="34" charset="-120"/>
              </a:rPr>
              <a:t>hasil</a:t>
            </a:r>
            <a:r>
              <a:rPr lang="en-US" sz="1500" dirty="0">
                <a:solidFill>
                  <a:srgbClr val="26313D"/>
                </a:solidFill>
                <a:latin typeface="Calibri" pitchFamily="34" charset="0"/>
                <a:ea typeface="Calibri" pitchFamily="34" charset="-122"/>
                <a:cs typeface="Calibri" pitchFamily="34" charset="-120"/>
              </a:rPr>
              <a:t> </a:t>
            </a:r>
            <a:r>
              <a:rPr lang="en-US" sz="1500" dirty="0" err="1">
                <a:solidFill>
                  <a:srgbClr val="26313D"/>
                </a:solidFill>
                <a:latin typeface="Calibri" pitchFamily="34" charset="0"/>
                <a:ea typeface="Calibri" pitchFamily="34" charset="-122"/>
                <a:cs typeface="Calibri" pitchFamily="34" charset="-120"/>
              </a:rPr>
              <a:t>berulang</a:t>
            </a:r>
            <a:r>
              <a:rPr lang="en-US" sz="1500" dirty="0">
                <a:solidFill>
                  <a:srgbClr val="26313D"/>
                </a:solidFill>
                <a:latin typeface="Calibri" pitchFamily="34" charset="0"/>
                <a:ea typeface="Calibri" pitchFamily="34" charset="-122"/>
                <a:cs typeface="Calibri" pitchFamily="34" charset="-120"/>
              </a:rPr>
              <a:t>.</a:t>
            </a:r>
            <a:endParaRPr lang="en-US" sz="1500" dirty="0"/>
          </a:p>
        </p:txBody>
      </p:sp>
      <p:sp>
        <p:nvSpPr>
          <p:cNvPr id="4" name="Slide Number Placeholder 3">
            <a:extLst>
              <a:ext uri="{FF2B5EF4-FFF2-40B4-BE49-F238E27FC236}">
                <a16:creationId xmlns:a16="http://schemas.microsoft.com/office/drawing/2014/main" id="{A351E7AF-64F8-A5CA-4A14-D1F640A00148}"/>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893245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bahwa kontribusi penelitian adalah adaptasi substantif terhadap batas arsitektur dan konteks penggunaan, bukan hanya mengganti bahasa input. Fondasi baseline dipertahankan agar peningkatan dapat dibandingkan secara terukur.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0480904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Tegaskan bahwa kebaruan merupakan kombinasi terintegrasi. Hindari mengklaim setiap algoritma komponennya baru; kontribusinya terletak pada adaptasi arsitektur, kontrak antar-modul, konteks Bahasa Indonesia, dan pembuktian end-to-end.</a:t>
            </a:r>
            <a:br>
              <a:rPr lang="en-US" dirty="0"/>
            </a:br>
            <a:r>
              <a:rPr lang="en-US" dirty="0" err="1"/>
              <a:t>Jelaskan</a:t>
            </a:r>
            <a:r>
              <a:rPr lang="en-US" dirty="0"/>
              <a:t> </a:t>
            </a:r>
            <a:r>
              <a:rPr lang="en-US" sz="1200" dirty="0">
                <a:solidFill>
                  <a:srgbClr val="26313D"/>
                </a:solidFill>
                <a:latin typeface="Calibri" pitchFamily="34" charset="0"/>
                <a:ea typeface="Calibri" pitchFamily="34" charset="-122"/>
                <a:cs typeface="Calibri" pitchFamily="34" charset="-120"/>
              </a:rPr>
              <a:t>dense dan  sparse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kontribusi data, sampaikan bahwa gold set masih dalam proses. Yang sudah tersedia saat ini adalah rancangan, sampel terstratifikasi, template dua anotator, validator, dan mekanisme disagreement.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sistem tidak melakukan diagnosis dan tidak mengambil keputusan klinis final. Ia mengekstraksi dan merekomendasikan kandidat terminologi dengan jejak audit.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adalah struktur metodologi makro pada proposal. Setelah slide ini, jelaskan bahwa implementasi teknis memecahnya menjadi checkpoint yang lebih kecil agar setiap keluaran dapat diverifikasi sebelum menjadi input tahap berikutnya.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pemisahan komponen memungkinkan error localization. Bila kode akhir salah, penelitian dapat menentukan apakah penyebabnya ekstraksi, routing, retrieval, filtering, atau reranking.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5090B-B874-7C1C-C433-896E117706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B74E2D-05A6-9B5F-D13A-A101D4187F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F5E9DC-EA80-B43F-5DC7-1A5355D419DC}"/>
              </a:ext>
            </a:extLst>
          </p:cNvPr>
          <p:cNvSpPr>
            <a:spLocks noGrp="1"/>
          </p:cNvSpPr>
          <p:nvPr>
            <p:ph type="body" idx="1"/>
          </p:nvPr>
        </p:nvSpPr>
        <p:spPr/>
        <p:txBody>
          <a:bodyPr/>
          <a:lstStyle/>
          <a:p>
            <a:r>
              <a:rPr lang="en-US" dirty="0"/>
              <a:t>Tekankan bahwa pemisahan komponen memungkinkan error localization. Bila kode akhir salah, penelitian dapat menentukan apakah penyebabnya ekstraksi, routing, retrieval, filtering, atau reranking.</a:t>
            </a:r>
          </a:p>
        </p:txBody>
      </p:sp>
      <p:sp>
        <p:nvSpPr>
          <p:cNvPr id="4" name="Slide Number Placeholder 3">
            <a:extLst>
              <a:ext uri="{FF2B5EF4-FFF2-40B4-BE49-F238E27FC236}">
                <a16:creationId xmlns:a16="http://schemas.microsoft.com/office/drawing/2014/main" id="{1681FEE0-5DC5-13AB-5282-762F1FFD78B6}"/>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2456534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ini menunjukkan mengapa satu input menghasilkan beberapa entitas dan beberapa target. Hindari menjanjikan kode LOINC tertentu sebelum seluruh konteks, seperti spesimen dan metode, tersedia.</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Sampaikan bahwa penggunaan data daring harus memperhatikan ketentuan sumber, anonimisasi, dan persetujuan etik bila diperlukan. Angka 150 pasangan merujuk pada artefak implementasi saat ini, bukan ukuran akhir seluruh disertasi.</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Tegaskan bahwa kegagalan Athena tidak disembunyikan. Sistem tetap menghasilkan keluaran melalui fallback, tetapi eksperimen ini belum merepresentasikan kondisi semua sumber tersedia.</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Beri penekanan kuat bahwa ini smoke/pilot berukuran 10 query, bukan hasil utama disertasi. partial_source_error_rate=1.0 karena gangguan salah satu sumber juga membatasi interpretasi. Temuan ini berguna untuk merancang eksperimen, bukan untuk generalisasi.</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kata “konservatif”. Angka, dosis, unit, negasi, temporalitas, nama obat, dan istilah campuran harus dipertahankan. Stemming tidak digunakan sebagai transformasi default karena dapat merusak istilah klinis.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keterbatasan: hasil 100% berasal dari lima kasus gold terkontrol dan hanya memverifikasi implementasi awal. Evaluasi yang lebih besar tetap diperlukan untuk abbreviation accuracy, typo recovery, sentence-boundary F1, dan preservation rate.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kesalahan experiencer atau negasi dapat mengubah makna secara fundamental. Karena itu, evaluasi span saja tidak cukup untuk jawaban dokter dan konsultasi pasien.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Berikan contoh singkat: diabetes sebagai condition, demam sebagai symptom, tekanan darah sebagai measurement, parasetamol sebagai drug, ultrasonografi sebagai procedure, dan mmHg sebagai unit.</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manfaat tiap kelompok: identitas untuk konsep, nilai klinis untuk dekomposisi, konteks untuk mencegah salah tafsir, dan audit untuk reproducibility.</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negatif digunakan untuk membuktikan validator menolak offset salah, speaker tidak sesuai, sentence ID invalid, confidence di luar rentang, ID duplikat, dan evidence yang tidak memuat mention.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integritas ilmiah: sistem tidak menghasilkan gold otomatis. Tools yang direkomendasikan adalah INCEpTION untuk fitur per-span dan curation, atau doccano untuk span/type yang dilanjutkan lembar atribut terstruktur.</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Sampaikan bahwa implementasi Checkpoint 4 dapat dimulai sambil anotasi berjalan, tetapi tidak boleh dinyatakan selesai secara ilmiah tanpa gold set final.</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bahwa model paling kompleks belum tentu paling baik. Ablation dibutuhkan untuk membuktikan apakah setiap modul meningkatkan kualitas atau hanya menambah latensi dan biaya.</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bahwa metrik dipisahkan per komponen untuk menghindari kesimpulan keliru. End-to-end error dapat berasal dari entitas yang tidak ditemukan, kandidat yang tidak diretrieval, atau kandidat benar yang gagal dipilih.</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Tekankan bahwa auditability adalah bagian desain, bukan tambahan administratif. Setiap transformasi penting menyimpan versi, hash, warning, dan evidence.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Tutup dengan posisi yang jujur: fondasi teknis dan audit sudah tersedia, tetapi evaluasi ilmiah utama menunggu gold set dan eksperimen skala memadai. Undang masukan penguji terutama terkait desain gold standard, target terminologi, dan strategi evaluasi.</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097280" y="2468880"/>
            <a:ext cx="9994392" cy="155448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66928" y="786384"/>
            <a:ext cx="8595360" cy="86868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25079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hyperlink" Target="https://www.zotero.org/google-docs/?OqDhQU"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hyperlink" Target="https://www.zotero.org/google-docs/?pXkdT9"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ottom band">
            <a:extLst>
              <a:ext uri="{C183D7F6-B498-43B3-948B-1728B52AA6E4}">
                <adec:decorative xmlns:adec="http://schemas.microsoft.com/office/drawing/2017/decorative" val="1"/>
              </a:ext>
            </a:extLst>
          </p:cNvPr>
          <p:cNvSpPr/>
          <p:nvPr/>
        </p:nvSpPr>
        <p:spPr>
          <a:xfrm>
            <a:off x="0" y="5989320"/>
            <a:ext cx="12191695" cy="868680"/>
          </a:xfrm>
          <a:prstGeom prst="rect">
            <a:avLst/>
          </a:prstGeom>
          <a:solidFill>
            <a:srgbClr val="0B3C6E"/>
          </a:solidFill>
          <a:ln/>
        </p:spPr>
        <p:txBody>
          <a:bodyPr/>
          <a:lstStyle/>
          <a:p>
            <a:endParaRPr lang="en-ID"/>
          </a:p>
        </p:txBody>
      </p:sp>
      <p:sp>
        <p:nvSpPr>
          <p:cNvPr id="3" name="left accent">
            <a:extLst>
              <a:ext uri="{C183D7F6-B498-43B3-948B-1728B52AA6E4}">
                <adec:decorative xmlns:adec="http://schemas.microsoft.com/office/drawing/2017/decorative" val="1"/>
              </a:ext>
            </a:extLst>
          </p:cNvPr>
          <p:cNvSpPr/>
          <p:nvPr/>
        </p:nvSpPr>
        <p:spPr>
          <a:xfrm>
            <a:off x="0" y="0"/>
            <a:ext cx="201168" cy="5989320"/>
          </a:xfrm>
          <a:prstGeom prst="rect">
            <a:avLst/>
          </a:prstGeom>
          <a:solidFill>
            <a:srgbClr val="B98A1E"/>
          </a:solidFill>
          <a:ln/>
        </p:spPr>
        <p:txBody>
          <a:bodyPr/>
          <a:lstStyle/>
          <a:p>
            <a:endParaRPr lang="en-ID"/>
          </a:p>
        </p:txBody>
      </p:sp>
      <p:pic>
        <p:nvPicPr>
          <p:cNvPr id="4" name="Image 0" descr="Logo Universitas Gadjah Mada"/>
          <p:cNvPicPr>
            <a:picLocks noChangeAspect="1"/>
          </p:cNvPicPr>
          <p:nvPr/>
        </p:nvPicPr>
        <p:blipFill>
          <a:blip r:embed="rId3"/>
          <a:stretch>
            <a:fillRect/>
          </a:stretch>
        </p:blipFill>
        <p:spPr>
          <a:xfrm>
            <a:off x="4175608" y="640080"/>
            <a:ext cx="3840480" cy="1159223"/>
          </a:xfrm>
          <a:prstGeom prst="rect">
            <a:avLst/>
          </a:prstGeom>
        </p:spPr>
      </p:pic>
      <p:sp>
        <p:nvSpPr>
          <p:cNvPr id="5" name="Text 2"/>
          <p:cNvSpPr/>
          <p:nvPr/>
        </p:nvSpPr>
        <p:spPr>
          <a:xfrm>
            <a:off x="914400" y="1965960"/>
            <a:ext cx="10362895" cy="365760"/>
          </a:xfrm>
          <a:prstGeom prst="rect">
            <a:avLst/>
          </a:prstGeom>
          <a:noFill/>
          <a:ln/>
        </p:spPr>
        <p:txBody>
          <a:bodyPr wrap="square" rtlCol="0" anchor="ctr"/>
          <a:lstStyle/>
          <a:p>
            <a:pPr marL="0" indent="0" algn="ctr">
              <a:buNone/>
            </a:pPr>
            <a:r>
              <a:rPr lang="en-US" sz="1500" b="1" kern="0" spc="300" dirty="0">
                <a:solidFill>
                  <a:srgbClr val="B98A1E"/>
                </a:solidFill>
                <a:latin typeface="Calibri" pitchFamily="34" charset="0"/>
                <a:ea typeface="Calibri" pitchFamily="34" charset="-122"/>
                <a:cs typeface="Calibri" pitchFamily="34" charset="-120"/>
              </a:rPr>
              <a:t>UJIAN PRE-KOMPREHENSIF</a:t>
            </a:r>
            <a:endParaRPr lang="en-US" sz="1500" dirty="0"/>
          </a:p>
        </p:txBody>
      </p:sp>
      <p:sp>
        <p:nvSpPr>
          <p:cNvPr id="6" name="Text 0"/>
          <p:cNvSpPr>
            <a:spLocks noGrp="1"/>
          </p:cNvSpPr>
          <p:nvPr>
            <p:ph type="title" idx="100" hasCustomPrompt="1"/>
          </p:nvPr>
        </p:nvSpPr>
        <p:spPr>
          <a:xfrm>
            <a:off x="1097280" y="2468880"/>
            <a:ext cx="9994392" cy="1554480"/>
          </a:xfrm>
          <a:prstGeom prst="rect">
            <a:avLst/>
          </a:prstGeom>
          <a:noFill/>
          <a:ln/>
        </p:spPr>
        <p:txBody>
          <a:bodyPr wrap="square" lIns="0" tIns="0" rIns="0" bIns="0" rtlCol="0" anchor="ctr"/>
          <a:lstStyle/>
          <a:p>
            <a:pPr marL="0" indent="0" algn="ctr">
              <a:buNone/>
            </a:pPr>
            <a:r>
              <a:rPr lang="en-US" sz="3000" b="1" dirty="0">
                <a:solidFill>
                  <a:srgbClr val="0B3C6E"/>
                </a:solidFill>
                <a:latin typeface="Georgia" pitchFamily="34" charset="0"/>
                <a:ea typeface="Georgia" pitchFamily="34" charset="-122"/>
                <a:cs typeface="Georgia" pitchFamily="34" charset="-120"/>
              </a:rPr>
              <a:t>Adaptasi CDE-Mapper untuk Pemetaan Terminologi Klinis Bahasa Indonesia</a:t>
            </a:r>
            <a:endParaRPr lang="en-US" sz="3000" dirty="0"/>
          </a:p>
        </p:txBody>
      </p:sp>
      <p:sp>
        <p:nvSpPr>
          <p:cNvPr id="7" name="Text 4"/>
          <p:cNvSpPr/>
          <p:nvPr/>
        </p:nvSpPr>
        <p:spPr>
          <a:xfrm>
            <a:off x="1097280" y="4114800"/>
            <a:ext cx="9997135" cy="457200"/>
          </a:xfrm>
          <a:prstGeom prst="rect">
            <a:avLst/>
          </a:prstGeom>
          <a:noFill/>
          <a:ln/>
        </p:spPr>
        <p:txBody>
          <a:bodyPr wrap="square" rtlCol="0" anchor="ctr"/>
          <a:lstStyle/>
          <a:p>
            <a:pPr marL="0" indent="0" algn="ctr">
              <a:buNone/>
            </a:pPr>
            <a:r>
              <a:rPr lang="en-US" sz="1700" i="1" dirty="0">
                <a:solidFill>
                  <a:srgbClr val="14568F"/>
                </a:solidFill>
                <a:latin typeface="Georgia" pitchFamily="34" charset="0"/>
                <a:ea typeface="Georgia" pitchFamily="34" charset="-122"/>
                <a:cs typeface="Georgia" pitchFamily="34" charset="-120"/>
              </a:rPr>
              <a:t>Pendekatan Hybrid Berbasis LLM dan Semantic Retrieval</a:t>
            </a:r>
            <a:endParaRPr lang="en-US" sz="1700" dirty="0"/>
          </a:p>
        </p:txBody>
      </p:sp>
      <p:sp>
        <p:nvSpPr>
          <p:cNvPr id="8" name="Text 5"/>
          <p:cNvSpPr/>
          <p:nvPr/>
        </p:nvSpPr>
        <p:spPr>
          <a:xfrm>
            <a:off x="1097280" y="4754880"/>
            <a:ext cx="9997135" cy="731520"/>
          </a:xfrm>
          <a:prstGeom prst="rect">
            <a:avLst/>
          </a:prstGeom>
          <a:noFill/>
          <a:ln/>
        </p:spPr>
        <p:txBody>
          <a:bodyPr wrap="square" rtlCol="0" anchor="ctr"/>
          <a:lstStyle/>
          <a:p>
            <a:pPr marL="0" indent="0" algn="ctr">
              <a:lnSpc>
                <a:spcPct val="110000"/>
              </a:lnSpc>
              <a:buNone/>
            </a:pPr>
            <a:r>
              <a:rPr lang="en-US" sz="1500" b="1" dirty="0">
                <a:solidFill>
                  <a:srgbClr val="26313D"/>
                </a:solidFill>
                <a:latin typeface="Calibri" pitchFamily="34" charset="0"/>
                <a:ea typeface="Calibri" pitchFamily="34" charset="-122"/>
                <a:cs typeface="Calibri" pitchFamily="34" charset="-120"/>
              </a:rPr>
              <a:t>Anie Rose Irawati</a:t>
            </a:r>
            <a:endParaRPr lang="en-US" sz="1500" dirty="0"/>
          </a:p>
          <a:p>
            <a:pPr marL="0" indent="0" algn="ctr">
              <a:lnSpc>
                <a:spcPct val="110000"/>
              </a:lnSpc>
              <a:buNone/>
            </a:pPr>
            <a:r>
              <a:rPr lang="en-US" sz="1250" dirty="0">
                <a:solidFill>
                  <a:srgbClr val="6A7A8A"/>
                </a:solidFill>
                <a:latin typeface="Calibri" pitchFamily="34" charset="0"/>
                <a:ea typeface="Calibri" pitchFamily="34" charset="-122"/>
                <a:cs typeface="Calibri" pitchFamily="34" charset="-120"/>
              </a:rPr>
              <a:t>Program Doktor Ilmu Komputer · Universitas Gadjah Mada</a:t>
            </a:r>
            <a:endParaRPr lang="en-US" sz="1500" dirty="0"/>
          </a:p>
        </p:txBody>
      </p:sp>
      <p:sp>
        <p:nvSpPr>
          <p:cNvPr id="9" name="Text 6"/>
          <p:cNvSpPr/>
          <p:nvPr/>
        </p:nvSpPr>
        <p:spPr>
          <a:xfrm>
            <a:off x="914400" y="5989320"/>
            <a:ext cx="10362895" cy="86868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Promotor: </a:t>
            </a:r>
            <a:r>
              <a:rPr lang="en-US" sz="1250" dirty="0">
                <a:solidFill>
                  <a:srgbClr val="D7E2F0"/>
                </a:solidFill>
                <a:latin typeface="Calibri" pitchFamily="34" charset="0"/>
                <a:ea typeface="Calibri" pitchFamily="34" charset="-122"/>
                <a:cs typeface="Calibri" pitchFamily="34" charset="-120"/>
              </a:rPr>
              <a:t>Afiahayati, S.Kom., M.Cs., Ph.D.      </a:t>
            </a:r>
            <a:r>
              <a:rPr lang="en-US" sz="1250" b="1" dirty="0">
                <a:solidFill>
                  <a:srgbClr val="FFFFFF"/>
                </a:solidFill>
                <a:latin typeface="Calibri" pitchFamily="34" charset="0"/>
                <a:ea typeface="Calibri" pitchFamily="34" charset="-122"/>
                <a:cs typeface="Calibri" pitchFamily="34" charset="-120"/>
              </a:rPr>
              <a:t>Ko-Promotor: </a:t>
            </a:r>
            <a:r>
              <a:rPr lang="en-US" sz="1250" dirty="0">
                <a:solidFill>
                  <a:srgbClr val="D7E2F0"/>
                </a:solidFill>
                <a:latin typeface="Calibri" pitchFamily="34" charset="0"/>
                <a:ea typeface="Calibri" pitchFamily="34" charset="-122"/>
                <a:cs typeface="Calibri" pitchFamily="34" charset="-120"/>
              </a:rPr>
              <a:t>Dr. Lukman Heryawan, S.T., M.T.</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2</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PENGANTAR</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Alur Presentasi</a:t>
            </a:r>
            <a:endParaRPr lang="en-US" sz="2700" dirty="0"/>
          </a:p>
        </p:txBody>
      </p:sp>
      <p:sp>
        <p:nvSpPr>
          <p:cNvPr id="8" name="Text 5"/>
          <p:cNvSpPr/>
          <p:nvPr/>
        </p:nvSpPr>
        <p:spPr>
          <a:xfrm>
            <a:off x="640080" y="1920240"/>
            <a:ext cx="10972800" cy="3108960"/>
          </a:xfrm>
          <a:prstGeom prst="rect">
            <a:avLst/>
          </a:prstGeom>
          <a:noFill/>
          <a:ln/>
        </p:spPr>
        <p:txBody>
          <a:bodyPr wrap="square" rtlCol="0" anchor="t"/>
          <a:lstStyle/>
          <a:p>
            <a:pPr marL="177800" indent="-177800">
              <a:lnSpc>
                <a:spcPct val="102000"/>
              </a:lnSpc>
              <a:spcAft>
                <a:spcPts val="1200"/>
              </a:spcAft>
              <a:buSzPct val="100000"/>
              <a:buChar char="•"/>
            </a:pPr>
            <a:r>
              <a:rPr lang="en-US" sz="1700" dirty="0">
                <a:solidFill>
                  <a:srgbClr val="26313D"/>
                </a:solidFill>
                <a:latin typeface="Calibri" pitchFamily="34" charset="0"/>
                <a:ea typeface="Calibri" pitchFamily="34" charset="-122"/>
                <a:cs typeface="Calibri" pitchFamily="34" charset="-120"/>
              </a:rPr>
              <a:t>Konteks dan urgensi</a:t>
            </a:r>
            <a:endParaRPr lang="en-US" sz="1700" dirty="0"/>
          </a:p>
          <a:p>
            <a:pPr marL="177800" indent="-177800">
              <a:lnSpc>
                <a:spcPct val="102000"/>
              </a:lnSpc>
              <a:spcAft>
                <a:spcPts val="1200"/>
              </a:spcAft>
              <a:buSzPct val="100000"/>
              <a:buChar char="•"/>
            </a:pPr>
            <a:r>
              <a:rPr lang="en-US" sz="1700" dirty="0">
                <a:solidFill>
                  <a:srgbClr val="26313D"/>
                </a:solidFill>
                <a:latin typeface="Calibri" pitchFamily="34" charset="0"/>
                <a:ea typeface="Calibri" pitchFamily="34" charset="-122"/>
                <a:cs typeface="Calibri" pitchFamily="34" charset="-120"/>
              </a:rPr>
              <a:t>Research gap dan posisi penelitian</a:t>
            </a:r>
            <a:endParaRPr lang="en-US" sz="1700" dirty="0"/>
          </a:p>
          <a:p>
            <a:pPr marL="177800" indent="-177800">
              <a:lnSpc>
                <a:spcPct val="102000"/>
              </a:lnSpc>
              <a:spcAft>
                <a:spcPts val="1200"/>
              </a:spcAft>
              <a:buSzPct val="100000"/>
              <a:buChar char="•"/>
            </a:pPr>
            <a:r>
              <a:rPr lang="en-US" sz="1700" dirty="0">
                <a:solidFill>
                  <a:srgbClr val="26313D"/>
                </a:solidFill>
                <a:latin typeface="Calibri" pitchFamily="34" charset="0"/>
                <a:ea typeface="Calibri" pitchFamily="34" charset="-122"/>
                <a:cs typeface="Calibri" pitchFamily="34" charset="-120"/>
              </a:rPr>
              <a:t>Tujuan, kebaruan, dan kontribusi</a:t>
            </a:r>
            <a:endParaRPr lang="en-US" sz="1700" dirty="0"/>
          </a:p>
          <a:p>
            <a:pPr marL="177800" indent="-177800">
              <a:lnSpc>
                <a:spcPct val="102000"/>
              </a:lnSpc>
              <a:spcAft>
                <a:spcPts val="1200"/>
              </a:spcAft>
              <a:buSzPct val="100000"/>
              <a:buChar char="•"/>
            </a:pPr>
            <a:r>
              <a:rPr lang="en-US" sz="1700" dirty="0">
                <a:solidFill>
                  <a:srgbClr val="26313D"/>
                </a:solidFill>
                <a:latin typeface="Calibri" pitchFamily="34" charset="0"/>
                <a:ea typeface="Calibri" pitchFamily="34" charset="-122"/>
                <a:cs typeface="Calibri" pitchFamily="34" charset="-120"/>
              </a:rPr>
              <a:t>Metode dan arsitektur usulan</a:t>
            </a:r>
            <a:endParaRPr lang="en-US" sz="1700" dirty="0"/>
          </a:p>
          <a:p>
            <a:pPr marL="177800" indent="-177800">
              <a:lnSpc>
                <a:spcPct val="102000"/>
              </a:lnSpc>
              <a:spcAft>
                <a:spcPts val="1200"/>
              </a:spcAft>
              <a:buSzPct val="100000"/>
              <a:buChar char="•"/>
            </a:pPr>
            <a:r>
              <a:rPr lang="en-US" sz="1700" dirty="0">
                <a:solidFill>
                  <a:srgbClr val="26313D"/>
                </a:solidFill>
                <a:latin typeface="Calibri" pitchFamily="34" charset="0"/>
                <a:ea typeface="Calibri" pitchFamily="34" charset="-122"/>
                <a:cs typeface="Calibri" pitchFamily="34" charset="-120"/>
              </a:rPr>
              <a:t>Progres implementasi Tahap 0–2</a:t>
            </a:r>
            <a:endParaRPr lang="en-US" sz="1700" dirty="0"/>
          </a:p>
          <a:p>
            <a:pPr marL="177800" indent="-177800">
              <a:lnSpc>
                <a:spcPct val="102000"/>
              </a:lnSpc>
              <a:spcAft>
                <a:spcPts val="1200"/>
              </a:spcAft>
              <a:buSzPct val="100000"/>
              <a:buChar char="•"/>
            </a:pPr>
            <a:r>
              <a:rPr lang="en-US" sz="1700" dirty="0">
                <a:solidFill>
                  <a:srgbClr val="26313D"/>
                </a:solidFill>
                <a:latin typeface="Calibri" pitchFamily="34" charset="0"/>
                <a:ea typeface="Calibri" pitchFamily="34" charset="-122"/>
                <a:cs typeface="Calibri" pitchFamily="34" charset="-120"/>
              </a:rPr>
              <a:t>Rancangan evaluasi, risiko, dan rencana lanjutan</a:t>
            </a:r>
            <a:endParaRPr lang="en-US" sz="1700" dirty="0"/>
          </a:p>
        </p:txBody>
      </p:sp>
      <p:sp>
        <p:nvSpPr>
          <p:cNvPr id="9" name="callout background">
            <a:extLst>
              <a:ext uri="{C183D7F6-B498-43B3-948B-1728B52AA6E4}">
                <adec:decorative xmlns:adec="http://schemas.microsoft.com/office/drawing/2017/decorative" val="1"/>
              </a:ext>
            </a:extLst>
          </p:cNvPr>
          <p:cNvSpPr/>
          <p:nvPr/>
        </p:nvSpPr>
        <p:spPr>
          <a:xfrm>
            <a:off x="640080" y="5257800"/>
            <a:ext cx="10972800" cy="868680"/>
          </a:xfrm>
          <a:prstGeom prst="roundRect">
            <a:avLst>
              <a:gd name="adj" fmla="val 6316"/>
            </a:avLst>
          </a:prstGeom>
          <a:solidFill>
            <a:srgbClr val="F7EFD8"/>
          </a:solidFill>
          <a:ln/>
        </p:spPr>
        <p:txBody>
          <a:bodyPr/>
          <a:lstStyle/>
          <a:p>
            <a:endParaRPr lang="en-ID"/>
          </a:p>
        </p:txBody>
      </p:sp>
      <p:sp>
        <p:nvSpPr>
          <p:cNvPr id="10" name="Text 7"/>
          <p:cNvSpPr/>
          <p:nvPr/>
        </p:nvSpPr>
        <p:spPr>
          <a:xfrm>
            <a:off x="896112" y="5257800"/>
            <a:ext cx="10460736" cy="86868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Alur:  </a:t>
            </a:r>
            <a:r>
              <a:rPr lang="en-US" sz="1350" dirty="0">
                <a:solidFill>
                  <a:srgbClr val="26313D"/>
                </a:solidFill>
                <a:latin typeface="Calibri" pitchFamily="34" charset="0"/>
                <a:ea typeface="Calibri" pitchFamily="34" charset="-122"/>
                <a:cs typeface="Calibri" pitchFamily="34" charset="-120"/>
              </a:rPr>
              <a:t>bergerak dari “mengapa penelitian diperlukan” menuju “bagaimana solusi dibangun dan dibuktikan”.</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3</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KONTEKS &amp; URGENSI</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Transformasi Digital Membutuhkan Kesetaraan Makna</a:t>
            </a:r>
            <a:endParaRPr lang="en-US" sz="2700" dirty="0"/>
          </a:p>
        </p:txBody>
      </p:sp>
      <p:sp>
        <p:nvSpPr>
          <p:cNvPr id="8" name="Text 5"/>
          <p:cNvSpPr/>
          <p:nvPr/>
        </p:nvSpPr>
        <p:spPr>
          <a:xfrm>
            <a:off x="640080" y="1828800"/>
            <a:ext cx="10972800" cy="3200400"/>
          </a:xfrm>
          <a:prstGeom prst="rect">
            <a:avLst/>
          </a:prstGeom>
          <a:noFill/>
          <a:ln/>
        </p:spPr>
        <p:txBody>
          <a:bodyPr wrap="square" rtlCol="0" anchor="t"/>
          <a:lstStyle/>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Pertukaran data belum menjamin interoperabilitas.</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Sistem berbeda harus memahami konsep klinis dengan makna yang sama.</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Data yang secara tekstual mirip dapat ditafsirkan berbeda tanpa terminologi standar.</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Konsistensi semantik menentukan kualitas:</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integrasi data;</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analisis klinis;</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pengambilan keputusan;</a:t>
            </a:r>
            <a:endParaRPr lang="en-US" sz="1500" dirty="0"/>
          </a:p>
          <a:p>
            <a:pPr marL="355600" lvl="1"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penelitian kesehatan.</a:t>
            </a:r>
            <a:endParaRPr lang="en-US" sz="1500" dirty="0"/>
          </a:p>
        </p:txBody>
      </p:sp>
      <p:sp>
        <p:nvSpPr>
          <p:cNvPr id="9" name="callout background">
            <a:extLst>
              <a:ext uri="{C183D7F6-B498-43B3-948B-1728B52AA6E4}">
                <adec:decorative xmlns:adec="http://schemas.microsoft.com/office/drawing/2017/decorative" val="1"/>
              </a:ext>
            </a:extLst>
          </p:cNvPr>
          <p:cNvSpPr/>
          <p:nvPr/>
        </p:nvSpPr>
        <p:spPr>
          <a:xfrm>
            <a:off x="640080" y="5257800"/>
            <a:ext cx="10972800" cy="868680"/>
          </a:xfrm>
          <a:prstGeom prst="roundRect">
            <a:avLst>
              <a:gd name="adj" fmla="val 6316"/>
            </a:avLst>
          </a:prstGeom>
          <a:solidFill>
            <a:srgbClr val="F7EFD8"/>
          </a:solidFill>
          <a:ln/>
        </p:spPr>
        <p:txBody>
          <a:bodyPr/>
          <a:lstStyle/>
          <a:p>
            <a:endParaRPr lang="en-ID"/>
          </a:p>
        </p:txBody>
      </p:sp>
      <p:sp>
        <p:nvSpPr>
          <p:cNvPr id="10" name="Text 7"/>
          <p:cNvSpPr/>
          <p:nvPr/>
        </p:nvSpPr>
        <p:spPr>
          <a:xfrm>
            <a:off x="896112" y="5257800"/>
            <a:ext cx="10460736" cy="86868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Pesan utama:  </a:t>
            </a:r>
            <a:r>
              <a:rPr lang="en-US" sz="1350" dirty="0">
                <a:solidFill>
                  <a:srgbClr val="26313D"/>
                </a:solidFill>
                <a:latin typeface="Calibri" pitchFamily="34" charset="0"/>
                <a:ea typeface="Calibri" pitchFamily="34" charset="-122"/>
                <a:cs typeface="Calibri" pitchFamily="34" charset="-120"/>
              </a:rPr>
              <a:t>interoperabilitas sintaksis tanpa interoperabilitas semantik masih menyisakan risiko salah makna.</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4</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KONTEKS INDONESIA</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Konteks Indonesia: SATUSEHAT</a:t>
            </a:r>
            <a:endParaRPr lang="en-US" sz="2700" dirty="0"/>
          </a:p>
        </p:txBody>
      </p:sp>
      <p:sp>
        <p:nvSpPr>
          <p:cNvPr id="8" name="Text 5"/>
          <p:cNvSpPr/>
          <p:nvPr/>
        </p:nvSpPr>
        <p:spPr>
          <a:xfrm>
            <a:off x="640080" y="1828800"/>
            <a:ext cx="10972800" cy="3200400"/>
          </a:xfrm>
          <a:prstGeom prst="rect">
            <a:avLst/>
          </a:prstGeom>
          <a:noFill/>
          <a:ln/>
        </p:spPr>
        <p:txBody>
          <a:bodyPr wrap="square" rtlCol="0" anchor="t"/>
          <a:lstStyle/>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SATUSEHAT dibangun dalam kerangka interoperabilitas berbasis FHIR.</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Ekosistem nasional memerlukan terminologi standar untuk mengisi resource FHIR.</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Terminologi yang relevan meliputi:</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SNOMED CT;</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LOINC;</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keluarga ICD;</a:t>
            </a:r>
            <a:endParaRPr lang="en-US" sz="1500" dirty="0"/>
          </a:p>
          <a:p>
            <a:pPr marL="355600" lvl="1"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terminologi nasional seperti KPTL.</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Pemetaan terminologi menjadi salah satu titik kritis implementasi.</a:t>
            </a:r>
            <a:endParaRPr lang="en-US" sz="1500" dirty="0"/>
          </a:p>
        </p:txBody>
      </p:sp>
      <p:sp>
        <p:nvSpPr>
          <p:cNvPr id="9" name="callout background">
            <a:extLst>
              <a:ext uri="{C183D7F6-B498-43B3-948B-1728B52AA6E4}">
                <adec:decorative xmlns:adec="http://schemas.microsoft.com/office/drawing/2017/decorative" val="1"/>
              </a:ext>
            </a:extLst>
          </p:cNvPr>
          <p:cNvSpPr/>
          <p:nvPr/>
        </p:nvSpPr>
        <p:spPr>
          <a:xfrm>
            <a:off x="640080" y="5257800"/>
            <a:ext cx="10972800" cy="868680"/>
          </a:xfrm>
          <a:prstGeom prst="roundRect">
            <a:avLst>
              <a:gd name="adj" fmla="val 6316"/>
            </a:avLst>
          </a:prstGeom>
          <a:solidFill>
            <a:srgbClr val="F7EFD8"/>
          </a:solidFill>
          <a:ln/>
        </p:spPr>
        <p:txBody>
          <a:bodyPr/>
          <a:lstStyle/>
          <a:p>
            <a:endParaRPr lang="en-ID"/>
          </a:p>
        </p:txBody>
      </p:sp>
      <p:sp>
        <p:nvSpPr>
          <p:cNvPr id="10" name="Text 7"/>
          <p:cNvSpPr/>
          <p:nvPr/>
        </p:nvSpPr>
        <p:spPr>
          <a:xfrm>
            <a:off x="896112" y="5257800"/>
            <a:ext cx="10460736" cy="86868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Tantangan:  </a:t>
            </a:r>
            <a:r>
              <a:rPr lang="en-US" sz="1350" dirty="0">
                <a:solidFill>
                  <a:srgbClr val="26313D"/>
                </a:solidFill>
                <a:latin typeface="Calibri" pitchFamily="34" charset="0"/>
                <a:ea typeface="Calibri" pitchFamily="34" charset="-122"/>
                <a:cs typeface="Calibri" pitchFamily="34" charset="-120"/>
              </a:rPr>
              <a:t>data sumber masih heterogen, lokal, dan sering tidak terstruktur.</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5</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KONTEKS &amp; URGENSI</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Mengapa Memerlukan Multi-Terminologi?</a:t>
            </a:r>
            <a:endParaRPr lang="en-US" sz="2700" dirty="0"/>
          </a:p>
        </p:txBody>
      </p:sp>
      <p:graphicFrame>
        <p:nvGraphicFramePr>
          <p:cNvPr id="8" name="Table 0"/>
          <p:cNvGraphicFramePr>
            <a:graphicFrameLocks noGrp="1"/>
          </p:cNvGraphicFramePr>
          <p:nvPr>
            <p:extLst>
              <p:ext uri="{D42A27DB-BD31-4B8C-83A1-F6EECF244321}">
                <p14:modId xmlns:p14="http://schemas.microsoft.com/office/powerpoint/2010/main" val="4198417370"/>
              </p:ext>
            </p:extLst>
          </p:nvPr>
        </p:nvGraphicFramePr>
        <p:xfrm>
          <a:off x="585216" y="1570612"/>
          <a:ext cx="10545776" cy="2682240"/>
        </p:xfrm>
        <a:graphic>
          <a:graphicData uri="http://schemas.openxmlformats.org/drawingml/2006/table">
            <a:tbl>
              <a:tblPr/>
              <a:tblGrid>
                <a:gridCol w="2962025">
                  <a:extLst>
                    <a:ext uri="{9D8B030D-6E8A-4147-A177-3AD203B41FA5}">
                      <a16:colId xmlns:a16="http://schemas.microsoft.com/office/drawing/2014/main" val="2647041557"/>
                    </a:ext>
                  </a:extLst>
                </a:gridCol>
                <a:gridCol w="3539675">
                  <a:extLst>
                    <a:ext uri="{9D8B030D-6E8A-4147-A177-3AD203B41FA5}">
                      <a16:colId xmlns:a16="http://schemas.microsoft.com/office/drawing/2014/main" val="20000"/>
                    </a:ext>
                  </a:extLst>
                </a:gridCol>
                <a:gridCol w="2170460">
                  <a:extLst>
                    <a:ext uri="{9D8B030D-6E8A-4147-A177-3AD203B41FA5}">
                      <a16:colId xmlns:a16="http://schemas.microsoft.com/office/drawing/2014/main" val="2421738565"/>
                    </a:ext>
                  </a:extLst>
                </a:gridCol>
                <a:gridCol w="1873616">
                  <a:extLst>
                    <a:ext uri="{9D8B030D-6E8A-4147-A177-3AD203B41FA5}">
                      <a16:colId xmlns:a16="http://schemas.microsoft.com/office/drawing/2014/main" val="20002"/>
                    </a:ext>
                  </a:extLst>
                </a:gridCol>
              </a:tblGrid>
              <a:tr h="50292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Vocabulary</a:t>
                      </a:r>
                      <a:endParaRPr lang="en-US" sz="16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tc>
                  <a:txBody>
                    <a:bodyPr/>
                    <a:lstStyle/>
                    <a:p>
                      <a:pPr marL="0" indent="0" algn="l">
                        <a:buNone/>
                      </a:pPr>
                      <a:r>
                        <a:rPr lang="en-US" sz="1600" b="1" dirty="0" err="1">
                          <a:solidFill>
                            <a:srgbClr val="FFFFFF"/>
                          </a:solidFill>
                          <a:latin typeface="Calibri" pitchFamily="34" charset="0"/>
                          <a:ea typeface="Calibri" pitchFamily="34" charset="-122"/>
                          <a:cs typeface="Calibri" pitchFamily="34" charset="-120"/>
                        </a:rPr>
                        <a:t>Konsep</a:t>
                      </a:r>
                      <a:endParaRPr lang="en-US" sz="16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Kebutuhan</a:t>
                      </a:r>
                      <a:endParaRPr lang="en-US" sz="16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tc>
                  <a:txBody>
                    <a:bodyPr/>
                    <a:lstStyle/>
                    <a:p>
                      <a:pPr marL="0" indent="0" algn="l">
                        <a:buNone/>
                      </a:pPr>
                      <a:r>
                        <a:rPr lang="en-US" sz="1600" b="1" dirty="0" err="1">
                          <a:solidFill>
                            <a:srgbClr val="FFFFFF"/>
                          </a:solidFill>
                          <a:latin typeface="Calibri" pitchFamily="34" charset="0"/>
                          <a:ea typeface="Calibri" pitchFamily="34" charset="-122"/>
                          <a:cs typeface="Calibri" pitchFamily="34" charset="-120"/>
                        </a:rPr>
                        <a:t>Contoh</a:t>
                      </a:r>
                      <a:r>
                        <a:rPr lang="en-US" sz="1600" b="1" dirty="0">
                          <a:solidFill>
                            <a:srgbClr val="FFFFFF"/>
                          </a:solidFill>
                          <a:latin typeface="Calibri" pitchFamily="34" charset="0"/>
                          <a:ea typeface="Calibri" pitchFamily="34" charset="-122"/>
                          <a:cs typeface="Calibri" pitchFamily="34" charset="-120"/>
                        </a:rPr>
                        <a:t>: diabetes</a:t>
                      </a:r>
                      <a:endParaRPr lang="en-US" sz="16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extLst>
                  <a:ext uri="{0D108BD9-81ED-4DB2-BD59-A6C34878D82A}">
                    <a16:rowId xmlns:a16="http://schemas.microsoft.com/office/drawing/2014/main" val="10000"/>
                  </a:ext>
                </a:extLst>
              </a:tr>
              <a:tr h="502920">
                <a:tc>
                  <a:txBody>
                    <a:bodyPr/>
                    <a:lstStyle/>
                    <a:p>
                      <a:pPr marL="0" indent="0" algn="l">
                        <a:buNone/>
                      </a:pPr>
                      <a:r>
                        <a:rPr lang="en-US" sz="1600" dirty="0">
                          <a:solidFill>
                            <a:srgbClr val="26313D"/>
                          </a:solidFill>
                          <a:latin typeface="Calibri" pitchFamily="34" charset="0"/>
                          <a:ea typeface="Calibri" pitchFamily="34" charset="-122"/>
                          <a:cs typeface="Calibri" pitchFamily="34" charset="-120"/>
                        </a:rPr>
                        <a:t>SNOMED CT (Systematized Nomenclature of</a:t>
                      </a:r>
                    </a:p>
                    <a:p>
                      <a:pPr marL="0" indent="0" algn="l">
                        <a:buNone/>
                      </a:pPr>
                      <a:r>
                        <a:rPr lang="en-US" sz="1600" dirty="0">
                          <a:solidFill>
                            <a:srgbClr val="26313D"/>
                          </a:solidFill>
                          <a:latin typeface="Calibri" pitchFamily="34" charset="0"/>
                          <a:ea typeface="Calibri" pitchFamily="34" charset="-122"/>
                          <a:cs typeface="Calibri" pitchFamily="34" charset="-120"/>
                        </a:rPr>
                        <a:t>Medicine-Clinical Terms) </a:t>
                      </a:r>
                      <a:endParaRPr lang="en-US" sz="16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600" dirty="0" err="1">
                          <a:latin typeface="Calibri" charset="0"/>
                          <a:ea typeface="Calibri" charset="0"/>
                          <a:cs typeface="Calibri" charset="0"/>
                        </a:rPr>
                        <a:t>Nomenklatur</a:t>
                      </a:r>
                      <a:r>
                        <a:rPr lang="en-US" sz="1600" dirty="0">
                          <a:latin typeface="Calibri" charset="0"/>
                          <a:ea typeface="Calibri" charset="0"/>
                          <a:cs typeface="Calibri" charset="0"/>
                        </a:rPr>
                        <a:t> </a:t>
                      </a:r>
                      <a:r>
                        <a:rPr lang="en-US" sz="1600" dirty="0" err="1">
                          <a:latin typeface="Calibri" charset="0"/>
                          <a:ea typeface="Calibri" charset="0"/>
                          <a:cs typeface="Calibri" charset="0"/>
                        </a:rPr>
                        <a:t>sekaligus</a:t>
                      </a:r>
                      <a:r>
                        <a:rPr lang="en-US" sz="1600" dirty="0">
                          <a:latin typeface="Calibri" charset="0"/>
                          <a:ea typeface="Calibri" charset="0"/>
                          <a:cs typeface="Calibri" charset="0"/>
                        </a:rPr>
                        <a:t> </a:t>
                      </a:r>
                      <a:r>
                        <a:rPr lang="en-US" sz="1600" dirty="0" err="1">
                          <a:latin typeface="Calibri" charset="0"/>
                          <a:ea typeface="Calibri" charset="0"/>
                          <a:cs typeface="Calibri" charset="0"/>
                        </a:rPr>
                        <a:t>terminologi</a:t>
                      </a:r>
                      <a:r>
                        <a:rPr lang="en-US" sz="1600" dirty="0">
                          <a:latin typeface="Calibri" charset="0"/>
                          <a:ea typeface="Calibri" charset="0"/>
                          <a:cs typeface="Calibri" charset="0"/>
                        </a:rPr>
                        <a:t> </a:t>
                      </a:r>
                      <a:r>
                        <a:rPr lang="en-US" sz="1600" dirty="0" err="1">
                          <a:latin typeface="Calibri" charset="0"/>
                          <a:ea typeface="Calibri" charset="0"/>
                          <a:cs typeface="Calibri" charset="0"/>
                        </a:rPr>
                        <a:t>rujukan</a:t>
                      </a:r>
                      <a:r>
                        <a:rPr lang="en-US" sz="1600" dirty="0">
                          <a:latin typeface="Calibri" charset="0"/>
                          <a:ea typeface="Calibri" charset="0"/>
                          <a:cs typeface="Calibri" charset="0"/>
                        </a:rPr>
                        <a:t> </a:t>
                      </a:r>
                      <a:r>
                        <a:rPr lang="en-US" sz="1600" dirty="0" err="1">
                          <a:latin typeface="Calibri" charset="0"/>
                          <a:ea typeface="Calibri" charset="0"/>
                          <a:cs typeface="Calibri" charset="0"/>
                        </a:rPr>
                        <a:t>klinis</a:t>
                      </a:r>
                      <a:r>
                        <a:rPr lang="en-US" sz="1600" dirty="0">
                          <a:latin typeface="Calibri" charset="0"/>
                          <a:ea typeface="Calibri" charset="0"/>
                          <a:cs typeface="Calibri" charset="0"/>
                        </a:rPr>
                        <a:t> (clinical reference terminology) </a:t>
                      </a:r>
                      <a:r>
                        <a:rPr lang="en-US" sz="1600" dirty="0" err="1">
                          <a:latin typeface="Calibri" charset="0"/>
                          <a:ea typeface="Calibri" charset="0"/>
                          <a:cs typeface="Calibri" charset="0"/>
                        </a:rPr>
                        <a:t>untuk</a:t>
                      </a:r>
                      <a:r>
                        <a:rPr lang="en-US" sz="1600" dirty="0">
                          <a:latin typeface="Calibri" charset="0"/>
                          <a:ea typeface="Calibri" charset="0"/>
                          <a:cs typeface="Calibri" charset="0"/>
                        </a:rPr>
                        <a:t> </a:t>
                      </a:r>
                      <a:r>
                        <a:rPr lang="en-US" sz="1600" dirty="0" err="1">
                          <a:latin typeface="Calibri" charset="0"/>
                          <a:ea typeface="Calibri" charset="0"/>
                          <a:cs typeface="Calibri" charset="0"/>
                        </a:rPr>
                        <a:t>pencatatan</a:t>
                      </a:r>
                      <a:r>
                        <a:rPr lang="en-US" sz="1600" dirty="0">
                          <a:latin typeface="Calibri" charset="0"/>
                          <a:ea typeface="Calibri" charset="0"/>
                          <a:cs typeface="Calibri" charset="0"/>
                        </a:rPr>
                        <a:t> </a:t>
                      </a:r>
                      <a:r>
                        <a:rPr lang="en-US" sz="1600" dirty="0" err="1">
                          <a:latin typeface="Calibri" charset="0"/>
                          <a:ea typeface="Calibri" charset="0"/>
                          <a:cs typeface="Calibri" charset="0"/>
                        </a:rPr>
                        <a:t>klinis</a:t>
                      </a:r>
                      <a:r>
                        <a:rPr lang="en-US" sz="1600" dirty="0">
                          <a:latin typeface="Calibri" charset="0"/>
                          <a:ea typeface="Calibri" charset="0"/>
                          <a:cs typeface="Calibri" charset="0"/>
                        </a:rPr>
                        <a:t> </a:t>
                      </a: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6313D"/>
                          </a:solidFill>
                          <a:latin typeface="Calibri" pitchFamily="34" charset="0"/>
                          <a:ea typeface="Calibri" pitchFamily="34" charset="-122"/>
                          <a:cs typeface="Calibri" pitchFamily="34" charset="-120"/>
                        </a:rPr>
                        <a:t>Diagnosis, gejala, temuan, prosedur</a:t>
                      </a:r>
                      <a:endParaRPr lang="en-US" sz="16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6313D"/>
                          </a:solidFill>
                          <a:latin typeface="Calibri" pitchFamily="34" charset="0"/>
                          <a:ea typeface="Calibri" pitchFamily="34" charset="-122"/>
                          <a:cs typeface="Calibri" pitchFamily="34" charset="-120"/>
                        </a:rPr>
                        <a:t>Diabetes melitus tipe 2</a:t>
                      </a:r>
                      <a:endParaRPr lang="en-US" sz="16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600" dirty="0">
                          <a:solidFill>
                            <a:srgbClr val="26313D"/>
                          </a:solidFill>
                          <a:latin typeface="Calibri" pitchFamily="34" charset="0"/>
                          <a:ea typeface="Calibri" pitchFamily="34" charset="-122"/>
                          <a:cs typeface="Calibri" pitchFamily="34" charset="-120"/>
                        </a:rPr>
                        <a:t>LOINC (Logical Observation Identifiers Names and Codes) </a:t>
                      </a:r>
                      <a:endParaRPr lang="en-US" sz="16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600" dirty="0" err="1">
                          <a:latin typeface="Calibri" charset="0"/>
                          <a:ea typeface="Calibri" charset="0"/>
                          <a:cs typeface="Calibri" charset="0"/>
                        </a:rPr>
                        <a:t>Terminologi</a:t>
                      </a:r>
                      <a:r>
                        <a:rPr lang="en-US" sz="1600" dirty="0">
                          <a:latin typeface="Calibri" charset="0"/>
                          <a:ea typeface="Calibri" charset="0"/>
                          <a:cs typeface="Calibri" charset="0"/>
                        </a:rPr>
                        <a:t> </a:t>
                      </a:r>
                      <a:r>
                        <a:rPr lang="en-US" sz="1600" dirty="0" err="1">
                          <a:latin typeface="Calibri" charset="0"/>
                          <a:ea typeface="Calibri" charset="0"/>
                          <a:cs typeface="Calibri" charset="0"/>
                        </a:rPr>
                        <a:t>untuk</a:t>
                      </a:r>
                      <a:r>
                        <a:rPr lang="en-US" sz="1600" dirty="0">
                          <a:latin typeface="Calibri" charset="0"/>
                          <a:ea typeface="Calibri" charset="0"/>
                          <a:cs typeface="Calibri" charset="0"/>
                        </a:rPr>
                        <a:t> </a:t>
                      </a:r>
                      <a:r>
                        <a:rPr lang="en-US" sz="1600" dirty="0" err="1">
                          <a:latin typeface="Calibri" charset="0"/>
                          <a:ea typeface="Calibri" charset="0"/>
                          <a:cs typeface="Calibri" charset="0"/>
                        </a:rPr>
                        <a:t>Observasi</a:t>
                      </a:r>
                      <a:r>
                        <a:rPr lang="en-US" sz="1600" dirty="0">
                          <a:latin typeface="Calibri" charset="0"/>
                          <a:ea typeface="Calibri" charset="0"/>
                          <a:cs typeface="Calibri" charset="0"/>
                        </a:rPr>
                        <a:t> dan </a:t>
                      </a:r>
                      <a:r>
                        <a:rPr lang="en-US" sz="1600" dirty="0" err="1">
                          <a:latin typeface="Calibri" charset="0"/>
                          <a:ea typeface="Calibri" charset="0"/>
                          <a:cs typeface="Calibri" charset="0"/>
                        </a:rPr>
                        <a:t>Laboratorium</a:t>
                      </a:r>
                      <a:endParaRPr lang="en-US" sz="16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600" dirty="0">
                          <a:solidFill>
                            <a:srgbClr val="26313D"/>
                          </a:solidFill>
                          <a:latin typeface="Calibri" pitchFamily="34" charset="0"/>
                          <a:ea typeface="Calibri" pitchFamily="34" charset="-122"/>
                          <a:cs typeface="Calibri" pitchFamily="34" charset="-120"/>
                        </a:rPr>
                        <a:t>Pertanyaan observasi </a:t>
                      </a:r>
                      <a:r>
                        <a:rPr lang="en-US" sz="1600" dirty="0" err="1">
                          <a:solidFill>
                            <a:srgbClr val="26313D"/>
                          </a:solidFill>
                          <a:latin typeface="Calibri" pitchFamily="34" charset="0"/>
                          <a:ea typeface="Calibri" pitchFamily="34" charset="-122"/>
                          <a:cs typeface="Calibri" pitchFamily="34" charset="-120"/>
                        </a:rPr>
                        <a:t>atau</a:t>
                      </a:r>
                      <a:r>
                        <a:rPr lang="en-US" sz="1600" dirty="0">
                          <a:solidFill>
                            <a:srgbClr val="26313D"/>
                          </a:solidFill>
                          <a:latin typeface="Calibri" pitchFamily="34" charset="0"/>
                          <a:ea typeface="Calibri" pitchFamily="34" charset="-122"/>
                          <a:cs typeface="Calibri" pitchFamily="34" charset="-120"/>
                        </a:rPr>
                        <a:t> </a:t>
                      </a:r>
                      <a:r>
                        <a:rPr lang="en-US" sz="1600" dirty="0" err="1">
                          <a:solidFill>
                            <a:srgbClr val="26313D"/>
                          </a:solidFill>
                          <a:latin typeface="Calibri" pitchFamily="34" charset="0"/>
                          <a:ea typeface="Calibri" pitchFamily="34" charset="-122"/>
                          <a:cs typeface="Calibri" pitchFamily="34" charset="-120"/>
                        </a:rPr>
                        <a:t>tes</a:t>
                      </a:r>
                      <a:r>
                        <a:rPr lang="en-US" sz="1600" dirty="0">
                          <a:solidFill>
                            <a:srgbClr val="26313D"/>
                          </a:solidFill>
                          <a:latin typeface="Calibri" pitchFamily="34" charset="0"/>
                          <a:ea typeface="Calibri" pitchFamily="34" charset="-122"/>
                          <a:cs typeface="Calibri" pitchFamily="34" charset="-120"/>
                        </a:rPr>
                        <a:t>, </a:t>
                      </a:r>
                      <a:r>
                        <a:rPr lang="en-US" sz="1600" dirty="0" err="1">
                          <a:solidFill>
                            <a:srgbClr val="26313D"/>
                          </a:solidFill>
                          <a:latin typeface="Calibri" pitchFamily="34" charset="0"/>
                          <a:ea typeface="Calibri" pitchFamily="34" charset="-122"/>
                          <a:cs typeface="Calibri" pitchFamily="34" charset="-120"/>
                        </a:rPr>
                        <a:t>standarisasi</a:t>
                      </a:r>
                      <a:r>
                        <a:rPr lang="en-US" sz="1600" dirty="0">
                          <a:solidFill>
                            <a:srgbClr val="26313D"/>
                          </a:solidFill>
                          <a:latin typeface="Calibri" pitchFamily="34" charset="0"/>
                          <a:ea typeface="Calibri" pitchFamily="34" charset="-122"/>
                          <a:cs typeface="Calibri" pitchFamily="34" charset="-120"/>
                        </a:rPr>
                        <a:t> </a:t>
                      </a:r>
                      <a:r>
                        <a:rPr lang="en-US" sz="1600" dirty="0" err="1">
                          <a:solidFill>
                            <a:srgbClr val="26313D"/>
                          </a:solidFill>
                          <a:latin typeface="Calibri" pitchFamily="34" charset="0"/>
                          <a:ea typeface="Calibri" pitchFamily="34" charset="-122"/>
                          <a:cs typeface="Calibri" pitchFamily="34" charset="-120"/>
                        </a:rPr>
                        <a:t>pemeriksaan</a:t>
                      </a:r>
                      <a:endParaRPr lang="en-US" sz="16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600" dirty="0">
                          <a:solidFill>
                            <a:srgbClr val="26313D"/>
                          </a:solidFill>
                          <a:latin typeface="Calibri" pitchFamily="34" charset="0"/>
                          <a:ea typeface="Calibri" pitchFamily="34" charset="-122"/>
                          <a:cs typeface="Calibri" pitchFamily="34" charset="-120"/>
                        </a:rPr>
                        <a:t>Glukosa darah puasa</a:t>
                      </a:r>
                      <a:endParaRPr lang="en-US" sz="16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2"/>
                  </a:ext>
                </a:extLst>
              </a:tr>
              <a:tr h="502920">
                <a:tc>
                  <a:txBody>
                    <a:bodyPr/>
                    <a:lstStyle/>
                    <a:p>
                      <a:pPr marL="0" indent="0" algn="l">
                        <a:buNone/>
                      </a:pPr>
                      <a:r>
                        <a:rPr lang="en-US" sz="1600" dirty="0">
                          <a:solidFill>
                            <a:srgbClr val="26313D"/>
                          </a:solidFill>
                          <a:latin typeface="Calibri" pitchFamily="34" charset="0"/>
                          <a:ea typeface="Calibri" pitchFamily="34" charset="-122"/>
                          <a:cs typeface="Calibri" pitchFamily="34" charset="-120"/>
                        </a:rPr>
                        <a:t>ICD-10 (ICD family)-(International Classification of Diseases)</a:t>
                      </a:r>
                      <a:endParaRPr lang="en-US" sz="16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600" dirty="0" err="1">
                          <a:latin typeface="Calibri" charset="0"/>
                          <a:ea typeface="Calibri" charset="0"/>
                          <a:cs typeface="Calibri" charset="0"/>
                        </a:rPr>
                        <a:t>Sistem</a:t>
                      </a:r>
                      <a:r>
                        <a:rPr lang="en-US" sz="1600" dirty="0">
                          <a:latin typeface="Calibri" charset="0"/>
                          <a:ea typeface="Calibri" charset="0"/>
                          <a:cs typeface="Calibri" charset="0"/>
                        </a:rPr>
                        <a:t> </a:t>
                      </a:r>
                      <a:r>
                        <a:rPr lang="en-US" sz="1600" dirty="0" err="1">
                          <a:latin typeface="Calibri" charset="0"/>
                          <a:ea typeface="Calibri" charset="0"/>
                          <a:cs typeface="Calibri" charset="0"/>
                        </a:rPr>
                        <a:t>klasifikasi</a:t>
                      </a:r>
                      <a:r>
                        <a:rPr lang="en-US" sz="1600" dirty="0">
                          <a:latin typeface="Calibri" charset="0"/>
                          <a:ea typeface="Calibri" charset="0"/>
                          <a:cs typeface="Calibri" charset="0"/>
                        </a:rPr>
                        <a:t> </a:t>
                      </a:r>
                      <a:r>
                        <a:rPr lang="en-US" sz="1600" dirty="0" err="1">
                          <a:latin typeface="Calibri" charset="0"/>
                          <a:ea typeface="Calibri" charset="0"/>
                          <a:cs typeface="Calibri" charset="0"/>
                        </a:rPr>
                        <a:t>statistik</a:t>
                      </a:r>
                      <a:r>
                        <a:rPr lang="en-US" sz="1600" dirty="0">
                          <a:latin typeface="Calibri" charset="0"/>
                          <a:ea typeface="Calibri" charset="0"/>
                          <a:cs typeface="Calibri" charset="0"/>
                        </a:rPr>
                        <a:t> </a:t>
                      </a:r>
                      <a:r>
                        <a:rPr lang="en-US" sz="1600" dirty="0" err="1">
                          <a:latin typeface="Calibri" charset="0"/>
                          <a:ea typeface="Calibri" charset="0"/>
                          <a:cs typeface="Calibri" charset="0"/>
                        </a:rPr>
                        <a:t>dengan</a:t>
                      </a:r>
                      <a:r>
                        <a:rPr lang="en-US" sz="1600" dirty="0">
                          <a:latin typeface="Calibri" charset="0"/>
                          <a:ea typeface="Calibri" charset="0"/>
                          <a:cs typeface="Calibri" charset="0"/>
                        </a:rPr>
                        <a:t> </a:t>
                      </a:r>
                      <a:r>
                        <a:rPr lang="en-US" sz="1600" dirty="0" err="1">
                          <a:latin typeface="Calibri" charset="0"/>
                          <a:ea typeface="Calibri" charset="0"/>
                          <a:cs typeface="Calibri" charset="0"/>
                        </a:rPr>
                        <a:t>hierarki</a:t>
                      </a:r>
                      <a:r>
                        <a:rPr lang="en-US" sz="1600" dirty="0">
                          <a:latin typeface="Calibri" charset="0"/>
                          <a:ea typeface="Calibri" charset="0"/>
                          <a:cs typeface="Calibri" charset="0"/>
                        </a:rPr>
                        <a:t> </a:t>
                      </a:r>
                      <a:r>
                        <a:rPr lang="en-US" sz="1600" dirty="0" err="1">
                          <a:latin typeface="Calibri" charset="0"/>
                          <a:ea typeface="Calibri" charset="0"/>
                          <a:cs typeface="Calibri" charset="0"/>
                        </a:rPr>
                        <a:t>kaku</a:t>
                      </a:r>
                      <a:r>
                        <a:rPr lang="en-US" sz="1600" dirty="0">
                          <a:latin typeface="Calibri" charset="0"/>
                          <a:ea typeface="Calibri" charset="0"/>
                          <a:cs typeface="Calibri" charset="0"/>
                        </a:rPr>
                        <a:t> (</a:t>
                      </a:r>
                      <a:r>
                        <a:rPr lang="en-US" sz="1600" dirty="0" err="1">
                          <a:latin typeface="Calibri" charset="0"/>
                          <a:ea typeface="Calibri" charset="0"/>
                          <a:cs typeface="Calibri" charset="0"/>
                        </a:rPr>
                        <a:t>monohierarchy</a:t>
                      </a:r>
                      <a:r>
                        <a:rPr lang="en-US" sz="1600" dirty="0">
                          <a:latin typeface="Calibri" charset="0"/>
                          <a:ea typeface="Calibri" charset="0"/>
                          <a:cs typeface="Calibri" charset="0"/>
                        </a:rPr>
                        <a:t>)</a:t>
                      </a: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6313D"/>
                          </a:solidFill>
                          <a:latin typeface="Calibri" pitchFamily="34" charset="0"/>
                          <a:ea typeface="Calibri" pitchFamily="34" charset="-122"/>
                          <a:cs typeface="Calibri" pitchFamily="34" charset="-120"/>
                        </a:rPr>
                        <a:t>Klasifikasi diagnosis, billing</a:t>
                      </a:r>
                      <a:endParaRPr lang="en-US" sz="16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600" dirty="0">
                          <a:solidFill>
                            <a:srgbClr val="26313D"/>
                          </a:solidFill>
                          <a:latin typeface="Calibri" pitchFamily="34" charset="0"/>
                          <a:ea typeface="Calibri" pitchFamily="34" charset="-122"/>
                          <a:cs typeface="Calibri" pitchFamily="34" charset="-120"/>
                        </a:rPr>
                        <a:t>E11.9</a:t>
                      </a:r>
                      <a:endParaRPr lang="en-US" sz="16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5"/>
          <p:cNvSpPr/>
          <p:nvPr/>
        </p:nvSpPr>
        <p:spPr>
          <a:xfrm>
            <a:off x="670255" y="4813368"/>
            <a:ext cx="10972800" cy="1125344"/>
          </a:xfrm>
          <a:prstGeom prst="rect">
            <a:avLst/>
          </a:prstGeom>
          <a:noFill/>
          <a:ln/>
        </p:spPr>
        <p:txBody>
          <a:bodyPr wrap="square" rtlCol="0" anchor="t"/>
          <a:lstStyle/>
          <a:p>
            <a:pPr marL="177800" indent="-177800">
              <a:lnSpc>
                <a:spcPct val="102000"/>
              </a:lnSpc>
              <a:spcAft>
                <a:spcPts val="600"/>
              </a:spcAft>
              <a:buSzPct val="100000"/>
              <a:buChar char="•"/>
            </a:pPr>
            <a:r>
              <a:rPr lang="en-US" sz="1600" dirty="0">
                <a:solidFill>
                  <a:srgbClr val="26313D"/>
                </a:solidFill>
                <a:latin typeface="Calibri" pitchFamily="34" charset="0"/>
                <a:ea typeface="Calibri" pitchFamily="34" charset="-122"/>
                <a:cs typeface="Calibri" pitchFamily="34" charset="-120"/>
              </a:rPr>
              <a:t>Satu episode klinis dapat membutuhkan lebih dari satu representasi.</a:t>
            </a:r>
            <a:endParaRPr lang="en-US" sz="1600" dirty="0"/>
          </a:p>
          <a:p>
            <a:pPr marL="177800" indent="-177800">
              <a:lnSpc>
                <a:spcPct val="102000"/>
              </a:lnSpc>
              <a:spcAft>
                <a:spcPts val="600"/>
              </a:spcAft>
              <a:buSzPct val="100000"/>
              <a:buChar char="•"/>
            </a:pPr>
            <a:r>
              <a:rPr lang="en-US" sz="1600" dirty="0">
                <a:solidFill>
                  <a:srgbClr val="26313D"/>
                </a:solidFill>
                <a:latin typeface="Calibri" pitchFamily="34" charset="0"/>
                <a:ea typeface="Calibri" pitchFamily="34" charset="-122"/>
                <a:cs typeface="Calibri" pitchFamily="34" charset="-120"/>
              </a:rPr>
              <a:t>Pemilihan target harus mengikuti tipe entitas dan tujuan penggunaan.</a:t>
            </a:r>
            <a:endParaRPr lang="en-US" sz="1600" dirty="0"/>
          </a:p>
          <a:p>
            <a:pPr marL="177800" indent="-177800">
              <a:lnSpc>
                <a:spcPct val="102000"/>
              </a:lnSpc>
              <a:spcAft>
                <a:spcPts val="600"/>
              </a:spcAft>
              <a:buSzPct val="100000"/>
              <a:buChar char="•"/>
            </a:pPr>
            <a:r>
              <a:rPr lang="en-US" sz="1600" dirty="0">
                <a:solidFill>
                  <a:srgbClr val="26313D"/>
                </a:solidFill>
                <a:latin typeface="Calibri" pitchFamily="34" charset="0"/>
                <a:ea typeface="Calibri" pitchFamily="34" charset="-122"/>
                <a:cs typeface="Calibri" pitchFamily="34" charset="-120"/>
              </a:rPr>
              <a:t>Pipeline tidak cukup hanya melakukan pencarian pada satu vocabulary.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6</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KONTEKS &amp; URGENSI</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Realitas Teks Klinis Bahasa Indonesia</a:t>
            </a:r>
            <a:endParaRPr lang="en-US" sz="2700" dirty="0"/>
          </a:p>
        </p:txBody>
      </p:sp>
      <p:sp>
        <p:nvSpPr>
          <p:cNvPr id="8" name="Text 5"/>
          <p:cNvSpPr/>
          <p:nvPr/>
        </p:nvSpPr>
        <p:spPr>
          <a:xfrm>
            <a:off x="640080" y="1828800"/>
            <a:ext cx="10972800" cy="3017520"/>
          </a:xfrm>
          <a:prstGeom prst="rect">
            <a:avLst/>
          </a:prstGeom>
          <a:noFill/>
          <a:ln/>
        </p:spPr>
        <p:txBody>
          <a:bodyPr wrap="square" rtlCol="0" anchor="t"/>
          <a:lstStyle/>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Istilah baku dan istilah sehari-hari bercampur.</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Singkatan dapat ambigu: DM, TD, TB, BB, Px.</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Terdapat typo, code-mixing, variasi satuan, dan tanda baca tidak konsisten.</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Informasi klinis hadir pada teks panjang dan lintas kalimat.</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Negasi, waktu, experiencer, dan ketidakpastian mengubah makna.</a:t>
            </a:r>
            <a:endParaRPr lang="en-US" sz="1500" dirty="0"/>
          </a:p>
        </p:txBody>
      </p:sp>
      <p:sp>
        <p:nvSpPr>
          <p:cNvPr id="9" name="callout background">
            <a:extLst>
              <a:ext uri="{C183D7F6-B498-43B3-948B-1728B52AA6E4}">
                <adec:decorative xmlns:adec="http://schemas.microsoft.com/office/drawing/2017/decorative" val="1"/>
              </a:ext>
            </a:extLst>
          </p:cNvPr>
          <p:cNvSpPr/>
          <p:nvPr/>
        </p:nvSpPr>
        <p:spPr>
          <a:xfrm>
            <a:off x="640080" y="5257800"/>
            <a:ext cx="10972800" cy="868680"/>
          </a:xfrm>
          <a:prstGeom prst="roundRect">
            <a:avLst>
              <a:gd name="adj" fmla="val 6316"/>
            </a:avLst>
          </a:prstGeom>
          <a:solidFill>
            <a:srgbClr val="EAF1F8"/>
          </a:solidFill>
          <a:ln/>
        </p:spPr>
        <p:txBody>
          <a:bodyPr/>
          <a:lstStyle/>
          <a:p>
            <a:endParaRPr lang="en-ID"/>
          </a:p>
        </p:txBody>
      </p:sp>
      <p:sp>
        <p:nvSpPr>
          <p:cNvPr id="10" name="Text 7"/>
          <p:cNvSpPr/>
          <p:nvPr/>
        </p:nvSpPr>
        <p:spPr>
          <a:xfrm>
            <a:off x="896112" y="5257800"/>
            <a:ext cx="10460736" cy="868680"/>
          </a:xfrm>
          <a:prstGeom prst="rect">
            <a:avLst/>
          </a:prstGeom>
          <a:noFill/>
          <a:ln/>
        </p:spPr>
        <p:txBody>
          <a:bodyPr wrap="square" rtlCol="0" anchor="ctr"/>
          <a:lstStyle/>
          <a:p>
            <a:pPr marL="0" indent="0">
              <a:lnSpc>
                <a:spcPct val="100000"/>
              </a:lnSpc>
              <a:buNone/>
            </a:pPr>
            <a:r>
              <a:rPr lang="en-US" sz="1350" b="1" dirty="0">
                <a:solidFill>
                  <a:srgbClr val="14568F"/>
                </a:solidFill>
                <a:latin typeface="Calibri" pitchFamily="34" charset="0"/>
                <a:ea typeface="Calibri" pitchFamily="34" charset="-122"/>
                <a:cs typeface="Calibri" pitchFamily="34" charset="-120"/>
              </a:rPr>
              <a:t>Contoh masukan:  </a:t>
            </a:r>
            <a:r>
              <a:rPr lang="en-US" sz="1350" dirty="0">
                <a:solidFill>
                  <a:srgbClr val="26313D"/>
                </a:solidFill>
                <a:latin typeface="Calibri" pitchFamily="34" charset="0"/>
                <a:ea typeface="Calibri" pitchFamily="34" charset="-122"/>
                <a:cs typeface="Calibri" pitchFamily="34" charset="-120"/>
              </a:rPr>
              <a:t>Px dgn DM tipe 2, GDP 126 mg/dL, TD 150/90</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7</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KONTEKS &amp; URGENSI</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Mengapa Clinical Mapping Sulit?</a:t>
            </a:r>
            <a:endParaRPr lang="en-US" sz="2700" dirty="0"/>
          </a:p>
        </p:txBody>
      </p:sp>
      <p:sp>
        <p:nvSpPr>
          <p:cNvPr id="8" name="Text 5"/>
          <p:cNvSpPr/>
          <p:nvPr/>
        </p:nvSpPr>
        <p:spPr>
          <a:xfrm>
            <a:off x="640080" y="1828800"/>
            <a:ext cx="10972800" cy="4206240"/>
          </a:xfrm>
          <a:prstGeom prst="rect">
            <a:avLst/>
          </a:prstGeom>
          <a:noFill/>
          <a:ln/>
        </p:spPr>
        <p:txBody>
          <a:bodyPr wrap="square" rtlCol="0" anchor="t"/>
          <a:lstStyle/>
          <a:p>
            <a:pPr marL="177800" indent="-177800">
              <a:lnSpc>
                <a:spcPct val="102000"/>
              </a:lnSpc>
              <a:spcAft>
                <a:spcPts val="900"/>
              </a:spcAft>
              <a:buSzPct val="100000"/>
              <a:buChar char="•"/>
            </a:pPr>
            <a:r>
              <a:rPr lang="en-US" sz="1550" dirty="0">
                <a:solidFill>
                  <a:srgbClr val="26313D"/>
                </a:solidFill>
                <a:latin typeface="Calibri" pitchFamily="34" charset="0"/>
                <a:ea typeface="Calibri" pitchFamily="34" charset="-122"/>
                <a:cs typeface="Calibri" pitchFamily="34" charset="-120"/>
              </a:rPr>
              <a:t>Memerlukan pemahaman hierarki dan relasi ontologi.</a:t>
            </a:r>
            <a:endParaRPr lang="en-US" sz="1550" dirty="0"/>
          </a:p>
          <a:p>
            <a:pPr marL="177800" indent="-177800">
              <a:lnSpc>
                <a:spcPct val="102000"/>
              </a:lnSpc>
              <a:spcAft>
                <a:spcPts val="900"/>
              </a:spcAft>
              <a:buSzPct val="100000"/>
              <a:buChar char="•"/>
            </a:pPr>
            <a:r>
              <a:rPr lang="en-US" sz="1550" dirty="0">
                <a:solidFill>
                  <a:srgbClr val="26313D"/>
                </a:solidFill>
                <a:latin typeface="Calibri" pitchFamily="34" charset="0"/>
                <a:ea typeface="Calibri" pitchFamily="34" charset="-122"/>
                <a:cs typeface="Calibri" pitchFamily="34" charset="-120"/>
              </a:rPr>
              <a:t>Entitas komposit harus didekomposisi.</a:t>
            </a:r>
            <a:endParaRPr lang="en-US" sz="1550" dirty="0"/>
          </a:p>
          <a:p>
            <a:pPr marL="177800" indent="-177800">
              <a:lnSpc>
                <a:spcPct val="102000"/>
              </a:lnSpc>
              <a:spcAft>
                <a:spcPts val="900"/>
              </a:spcAft>
              <a:buSzPct val="100000"/>
              <a:buChar char="•"/>
            </a:pPr>
            <a:r>
              <a:rPr lang="en-US" sz="1550" dirty="0">
                <a:solidFill>
                  <a:srgbClr val="26313D"/>
                </a:solidFill>
                <a:latin typeface="Calibri" pitchFamily="34" charset="0"/>
                <a:ea typeface="Calibri" pitchFamily="34" charset="-122"/>
                <a:cs typeface="Calibri" pitchFamily="34" charset="-120"/>
              </a:rPr>
              <a:t>Teks panjang mengandung banyak mention klinis.</a:t>
            </a:r>
            <a:endParaRPr lang="en-US" sz="1550" dirty="0"/>
          </a:p>
          <a:p>
            <a:pPr marL="177800" indent="-177800">
              <a:lnSpc>
                <a:spcPct val="102000"/>
              </a:lnSpc>
              <a:spcAft>
                <a:spcPts val="900"/>
              </a:spcAft>
              <a:buSzPct val="100000"/>
              <a:buChar char="•"/>
            </a:pPr>
            <a:r>
              <a:rPr lang="en-US" sz="1550" dirty="0">
                <a:solidFill>
                  <a:srgbClr val="26313D"/>
                </a:solidFill>
                <a:latin typeface="Calibri" pitchFamily="34" charset="0"/>
                <a:ea typeface="Calibri" pitchFamily="34" charset="-122"/>
                <a:cs typeface="Calibri" pitchFamily="34" charset="-120"/>
              </a:rPr>
              <a:t>Variasi bahasa dan istilah lokal sangat tinggi.</a:t>
            </a:r>
            <a:endParaRPr lang="en-US" sz="1550" dirty="0"/>
          </a:p>
          <a:p>
            <a:pPr marL="177800" indent="-177800">
              <a:lnSpc>
                <a:spcPct val="102000"/>
              </a:lnSpc>
              <a:spcAft>
                <a:spcPts val="900"/>
              </a:spcAft>
              <a:buSzPct val="100000"/>
              <a:buChar char="•"/>
            </a:pPr>
            <a:r>
              <a:rPr lang="en-US" sz="1550" dirty="0">
                <a:solidFill>
                  <a:srgbClr val="26313D"/>
                </a:solidFill>
                <a:latin typeface="Calibri" pitchFamily="34" charset="0"/>
                <a:ea typeface="Calibri" pitchFamily="34" charset="-122"/>
                <a:cs typeface="Calibri" pitchFamily="34" charset="-120"/>
              </a:rPr>
              <a:t>Kesalahan berpotensi memengaruhi keselamatan pasien.</a:t>
            </a:r>
            <a:endParaRPr lang="en-US" sz="1550" dirty="0"/>
          </a:p>
          <a:p>
            <a:pPr marL="177800" indent="-177800">
              <a:lnSpc>
                <a:spcPct val="102000"/>
              </a:lnSpc>
              <a:spcAft>
                <a:spcPts val="900"/>
              </a:spcAft>
              <a:buSzPct val="100000"/>
              <a:buChar char="•"/>
            </a:pPr>
            <a:r>
              <a:rPr lang="en-US" sz="1550" dirty="0">
                <a:solidFill>
                  <a:srgbClr val="26313D"/>
                </a:solidFill>
                <a:latin typeface="Calibri" pitchFamily="34" charset="0"/>
                <a:ea typeface="Calibri" pitchFamily="34" charset="-122"/>
                <a:cs typeface="Calibri" pitchFamily="34" charset="-120"/>
              </a:rPr>
              <a:t>Keluaran harus sesuai standar dan dapat diaudit.</a:t>
            </a:r>
            <a:endParaRPr lang="en-US" sz="1550" dirty="0"/>
          </a:p>
          <a:p>
            <a:pPr marL="177800" indent="-177800">
              <a:lnSpc>
                <a:spcPct val="102000"/>
              </a:lnSpc>
              <a:spcAft>
                <a:spcPts val="900"/>
              </a:spcAft>
              <a:buSzPct val="100000"/>
              <a:buChar char="•"/>
            </a:pPr>
            <a:r>
              <a:rPr lang="en-US" sz="1550" dirty="0">
                <a:solidFill>
                  <a:srgbClr val="26313D"/>
                </a:solidFill>
                <a:latin typeface="Calibri" pitchFamily="34" charset="0"/>
                <a:ea typeface="Calibri" pitchFamily="34" charset="-122"/>
                <a:cs typeface="Calibri" pitchFamily="34" charset="-120"/>
              </a:rPr>
              <a:t>Gold standard membutuhkan validasi ahli klinis.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8</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LANDASAN</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Evolusi Pendekatan Pemetaan</a:t>
            </a:r>
            <a:endParaRPr lang="en-US" sz="2700" dirty="0"/>
          </a:p>
        </p:txBody>
      </p:sp>
      <p:sp>
        <p:nvSpPr>
          <p:cNvPr id="8" name="step box">
            <a:extLst>
              <a:ext uri="{C183D7F6-B498-43B3-948B-1728B52AA6E4}">
                <adec:decorative xmlns:adec="http://schemas.microsoft.com/office/drawing/2017/decorative" val="1"/>
              </a:ext>
            </a:extLst>
          </p:cNvPr>
          <p:cNvSpPr/>
          <p:nvPr/>
        </p:nvSpPr>
        <p:spPr>
          <a:xfrm>
            <a:off x="640080" y="1783080"/>
            <a:ext cx="5486400" cy="475488"/>
          </a:xfrm>
          <a:prstGeom prst="roundRect">
            <a:avLst>
              <a:gd name="adj" fmla="val 9615"/>
            </a:avLst>
          </a:prstGeom>
          <a:solidFill>
            <a:srgbClr val="EAF1F8"/>
          </a:solidFill>
          <a:ln w="12700">
            <a:solidFill>
              <a:srgbClr val="D5E0EC"/>
            </a:solidFill>
            <a:prstDash val="solid"/>
          </a:ln>
        </p:spPr>
        <p:txBody>
          <a:bodyPr/>
          <a:lstStyle/>
          <a:p>
            <a:endParaRPr lang="en-ID"/>
          </a:p>
        </p:txBody>
      </p:sp>
      <p:sp>
        <p:nvSpPr>
          <p:cNvPr id="9" name="Text 6"/>
          <p:cNvSpPr/>
          <p:nvPr/>
        </p:nvSpPr>
        <p:spPr>
          <a:xfrm>
            <a:off x="822960" y="1783080"/>
            <a:ext cx="5120640" cy="475488"/>
          </a:xfrm>
          <a:prstGeom prst="rect">
            <a:avLst/>
          </a:prstGeom>
          <a:noFill/>
          <a:ln/>
        </p:spPr>
        <p:txBody>
          <a:bodyPr wrap="square" rtlCol="0" anchor="ctr"/>
          <a:lstStyle/>
          <a:p>
            <a:pPr marL="0" indent="0">
              <a:buNone/>
            </a:pPr>
            <a:r>
              <a:rPr lang="en-US" sz="1250" dirty="0">
                <a:solidFill>
                  <a:srgbClr val="0B3C6E"/>
                </a:solidFill>
                <a:latin typeface="Calibri" pitchFamily="34" charset="0"/>
                <a:ea typeface="Calibri" pitchFamily="34" charset="-122"/>
                <a:cs typeface="Calibri" pitchFamily="34" charset="-120"/>
              </a:rPr>
              <a:t>Rule-based / lexical</a:t>
            </a:r>
            <a:endParaRPr lang="en-US" sz="1250" dirty="0"/>
          </a:p>
        </p:txBody>
      </p:sp>
      <p:sp>
        <p:nvSpPr>
          <p:cNvPr id="10" name="Text 7"/>
          <p:cNvSpPr/>
          <p:nvPr/>
        </p:nvSpPr>
        <p:spPr>
          <a:xfrm>
            <a:off x="640080" y="2240280"/>
            <a:ext cx="5486400" cy="219456"/>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11" name="step box">
            <a:extLst>
              <a:ext uri="{C183D7F6-B498-43B3-948B-1728B52AA6E4}">
                <adec:decorative xmlns:adec="http://schemas.microsoft.com/office/drawing/2017/decorative" val="1"/>
              </a:ext>
            </a:extLst>
          </p:cNvPr>
          <p:cNvSpPr/>
          <p:nvPr/>
        </p:nvSpPr>
        <p:spPr>
          <a:xfrm>
            <a:off x="640080" y="2441448"/>
            <a:ext cx="5486400" cy="475488"/>
          </a:xfrm>
          <a:prstGeom prst="roundRect">
            <a:avLst>
              <a:gd name="adj" fmla="val 9615"/>
            </a:avLst>
          </a:prstGeom>
          <a:solidFill>
            <a:srgbClr val="EAF1F8"/>
          </a:solidFill>
          <a:ln w="12700">
            <a:solidFill>
              <a:srgbClr val="D5E0EC"/>
            </a:solidFill>
            <a:prstDash val="solid"/>
          </a:ln>
        </p:spPr>
        <p:txBody>
          <a:bodyPr/>
          <a:lstStyle/>
          <a:p>
            <a:endParaRPr lang="en-ID"/>
          </a:p>
        </p:txBody>
      </p:sp>
      <p:sp>
        <p:nvSpPr>
          <p:cNvPr id="12" name="Text 9"/>
          <p:cNvSpPr/>
          <p:nvPr/>
        </p:nvSpPr>
        <p:spPr>
          <a:xfrm>
            <a:off x="822960" y="2441448"/>
            <a:ext cx="5120640" cy="475488"/>
          </a:xfrm>
          <a:prstGeom prst="rect">
            <a:avLst/>
          </a:prstGeom>
          <a:noFill/>
          <a:ln/>
        </p:spPr>
        <p:txBody>
          <a:bodyPr wrap="square" rtlCol="0" anchor="ctr"/>
          <a:lstStyle/>
          <a:p>
            <a:pPr marL="0" indent="0">
              <a:buNone/>
            </a:pPr>
            <a:r>
              <a:rPr lang="en-US" sz="1250" dirty="0">
                <a:solidFill>
                  <a:srgbClr val="0B3C6E"/>
                </a:solidFill>
                <a:latin typeface="Calibri" pitchFamily="34" charset="0"/>
                <a:ea typeface="Calibri" pitchFamily="34" charset="-122"/>
                <a:cs typeface="Calibri" pitchFamily="34" charset="-120"/>
              </a:rPr>
              <a:t>Machine learning</a:t>
            </a:r>
            <a:endParaRPr lang="en-US" sz="1250" dirty="0"/>
          </a:p>
        </p:txBody>
      </p:sp>
      <p:sp>
        <p:nvSpPr>
          <p:cNvPr id="13" name="Text 10"/>
          <p:cNvSpPr/>
          <p:nvPr/>
        </p:nvSpPr>
        <p:spPr>
          <a:xfrm>
            <a:off x="640080" y="2898648"/>
            <a:ext cx="5486400" cy="219456"/>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14" name="step box">
            <a:extLst>
              <a:ext uri="{C183D7F6-B498-43B3-948B-1728B52AA6E4}">
                <adec:decorative xmlns:adec="http://schemas.microsoft.com/office/drawing/2017/decorative" val="1"/>
              </a:ext>
            </a:extLst>
          </p:cNvPr>
          <p:cNvSpPr/>
          <p:nvPr/>
        </p:nvSpPr>
        <p:spPr>
          <a:xfrm>
            <a:off x="640080" y="3099816"/>
            <a:ext cx="5486400" cy="475488"/>
          </a:xfrm>
          <a:prstGeom prst="roundRect">
            <a:avLst>
              <a:gd name="adj" fmla="val 9615"/>
            </a:avLst>
          </a:prstGeom>
          <a:solidFill>
            <a:srgbClr val="EAF1F8"/>
          </a:solidFill>
          <a:ln w="12700">
            <a:solidFill>
              <a:srgbClr val="D5E0EC"/>
            </a:solidFill>
            <a:prstDash val="solid"/>
          </a:ln>
        </p:spPr>
        <p:txBody>
          <a:bodyPr/>
          <a:lstStyle/>
          <a:p>
            <a:endParaRPr lang="en-ID"/>
          </a:p>
        </p:txBody>
      </p:sp>
      <p:sp>
        <p:nvSpPr>
          <p:cNvPr id="15" name="Text 12"/>
          <p:cNvSpPr/>
          <p:nvPr/>
        </p:nvSpPr>
        <p:spPr>
          <a:xfrm>
            <a:off x="822960" y="3099816"/>
            <a:ext cx="5120640" cy="475488"/>
          </a:xfrm>
          <a:prstGeom prst="rect">
            <a:avLst/>
          </a:prstGeom>
          <a:noFill/>
          <a:ln/>
        </p:spPr>
        <p:txBody>
          <a:bodyPr wrap="square" rtlCol="0" anchor="ctr"/>
          <a:lstStyle/>
          <a:p>
            <a:pPr marL="0" indent="0">
              <a:buNone/>
            </a:pPr>
            <a:r>
              <a:rPr lang="en-US" sz="1250" dirty="0">
                <a:solidFill>
                  <a:srgbClr val="0B3C6E"/>
                </a:solidFill>
                <a:latin typeface="Calibri" pitchFamily="34" charset="0"/>
                <a:ea typeface="Calibri" pitchFamily="34" charset="-122"/>
                <a:cs typeface="Calibri" pitchFamily="34" charset="-120"/>
              </a:rPr>
              <a:t>Deep learning &amp; contextual embedding</a:t>
            </a:r>
            <a:endParaRPr lang="en-US" sz="1250" dirty="0"/>
          </a:p>
        </p:txBody>
      </p:sp>
      <p:sp>
        <p:nvSpPr>
          <p:cNvPr id="16" name="Text 13"/>
          <p:cNvSpPr/>
          <p:nvPr/>
        </p:nvSpPr>
        <p:spPr>
          <a:xfrm>
            <a:off x="640080" y="3557016"/>
            <a:ext cx="5486400" cy="219456"/>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17" name="step box">
            <a:extLst>
              <a:ext uri="{C183D7F6-B498-43B3-948B-1728B52AA6E4}">
                <adec:decorative xmlns:adec="http://schemas.microsoft.com/office/drawing/2017/decorative" val="1"/>
              </a:ext>
            </a:extLst>
          </p:cNvPr>
          <p:cNvSpPr/>
          <p:nvPr/>
        </p:nvSpPr>
        <p:spPr>
          <a:xfrm>
            <a:off x="640080" y="3758184"/>
            <a:ext cx="5486400" cy="475488"/>
          </a:xfrm>
          <a:prstGeom prst="roundRect">
            <a:avLst>
              <a:gd name="adj" fmla="val 9615"/>
            </a:avLst>
          </a:prstGeom>
          <a:solidFill>
            <a:srgbClr val="EAF1F8"/>
          </a:solidFill>
          <a:ln w="12700">
            <a:solidFill>
              <a:srgbClr val="D5E0EC"/>
            </a:solidFill>
            <a:prstDash val="solid"/>
          </a:ln>
        </p:spPr>
        <p:txBody>
          <a:bodyPr/>
          <a:lstStyle/>
          <a:p>
            <a:endParaRPr lang="en-ID"/>
          </a:p>
        </p:txBody>
      </p:sp>
      <p:sp>
        <p:nvSpPr>
          <p:cNvPr id="18" name="Text 15"/>
          <p:cNvSpPr/>
          <p:nvPr/>
        </p:nvSpPr>
        <p:spPr>
          <a:xfrm>
            <a:off x="822960" y="3758184"/>
            <a:ext cx="5120640" cy="475488"/>
          </a:xfrm>
          <a:prstGeom prst="rect">
            <a:avLst/>
          </a:prstGeom>
          <a:noFill/>
          <a:ln/>
        </p:spPr>
        <p:txBody>
          <a:bodyPr wrap="square" rtlCol="0" anchor="ctr"/>
          <a:lstStyle/>
          <a:p>
            <a:pPr marL="0" indent="0">
              <a:buNone/>
            </a:pPr>
            <a:r>
              <a:rPr lang="en-US" sz="1250" dirty="0">
                <a:solidFill>
                  <a:srgbClr val="0B3C6E"/>
                </a:solidFill>
                <a:latin typeface="Calibri" pitchFamily="34" charset="0"/>
                <a:ea typeface="Calibri" pitchFamily="34" charset="-122"/>
                <a:cs typeface="Calibri" pitchFamily="34" charset="-120"/>
              </a:rPr>
              <a:t>Knowledge graph &amp; semantic retrieval</a:t>
            </a:r>
            <a:endParaRPr lang="en-US" sz="1250" dirty="0"/>
          </a:p>
        </p:txBody>
      </p:sp>
      <p:sp>
        <p:nvSpPr>
          <p:cNvPr id="19" name="Text 16"/>
          <p:cNvSpPr/>
          <p:nvPr/>
        </p:nvSpPr>
        <p:spPr>
          <a:xfrm>
            <a:off x="640080" y="4215384"/>
            <a:ext cx="5486400" cy="219456"/>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20" name="step box">
            <a:extLst>
              <a:ext uri="{C183D7F6-B498-43B3-948B-1728B52AA6E4}">
                <adec:decorative xmlns:adec="http://schemas.microsoft.com/office/drawing/2017/decorative" val="1"/>
              </a:ext>
            </a:extLst>
          </p:cNvPr>
          <p:cNvSpPr/>
          <p:nvPr/>
        </p:nvSpPr>
        <p:spPr>
          <a:xfrm>
            <a:off x="640080" y="4416552"/>
            <a:ext cx="5486400" cy="475488"/>
          </a:xfrm>
          <a:prstGeom prst="roundRect">
            <a:avLst>
              <a:gd name="adj" fmla="val 9615"/>
            </a:avLst>
          </a:prstGeom>
          <a:solidFill>
            <a:srgbClr val="EAF1F8"/>
          </a:solidFill>
          <a:ln w="12700">
            <a:solidFill>
              <a:srgbClr val="D5E0EC"/>
            </a:solidFill>
            <a:prstDash val="solid"/>
          </a:ln>
        </p:spPr>
        <p:txBody>
          <a:bodyPr/>
          <a:lstStyle/>
          <a:p>
            <a:endParaRPr lang="en-ID"/>
          </a:p>
        </p:txBody>
      </p:sp>
      <p:sp>
        <p:nvSpPr>
          <p:cNvPr id="21" name="Text 18"/>
          <p:cNvSpPr/>
          <p:nvPr/>
        </p:nvSpPr>
        <p:spPr>
          <a:xfrm>
            <a:off x="822960" y="4416552"/>
            <a:ext cx="5120640" cy="475488"/>
          </a:xfrm>
          <a:prstGeom prst="rect">
            <a:avLst/>
          </a:prstGeom>
          <a:noFill/>
          <a:ln/>
        </p:spPr>
        <p:txBody>
          <a:bodyPr wrap="square" rtlCol="0" anchor="ctr"/>
          <a:lstStyle/>
          <a:p>
            <a:pPr marL="0" indent="0">
              <a:buNone/>
            </a:pPr>
            <a:r>
              <a:rPr lang="en-US" sz="1250" dirty="0">
                <a:solidFill>
                  <a:srgbClr val="0B3C6E"/>
                </a:solidFill>
                <a:latin typeface="Calibri" pitchFamily="34" charset="0"/>
                <a:ea typeface="Calibri" pitchFamily="34" charset="-122"/>
                <a:cs typeface="Calibri" pitchFamily="34" charset="-120"/>
              </a:rPr>
              <a:t>LLM + Retrieval-Augmented Generation</a:t>
            </a:r>
            <a:endParaRPr lang="en-US" sz="1250" dirty="0"/>
          </a:p>
        </p:txBody>
      </p:sp>
      <p:sp>
        <p:nvSpPr>
          <p:cNvPr id="22" name="Text 19"/>
          <p:cNvSpPr/>
          <p:nvPr/>
        </p:nvSpPr>
        <p:spPr>
          <a:xfrm>
            <a:off x="640080" y="4873752"/>
            <a:ext cx="5486400" cy="219456"/>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23" name="step box">
            <a:extLst>
              <a:ext uri="{C183D7F6-B498-43B3-948B-1728B52AA6E4}">
                <adec:decorative xmlns:adec="http://schemas.microsoft.com/office/drawing/2017/decorative" val="1"/>
              </a:ext>
            </a:extLst>
          </p:cNvPr>
          <p:cNvSpPr/>
          <p:nvPr/>
        </p:nvSpPr>
        <p:spPr>
          <a:xfrm>
            <a:off x="640080" y="5074920"/>
            <a:ext cx="5486400" cy="475488"/>
          </a:xfrm>
          <a:prstGeom prst="roundRect">
            <a:avLst>
              <a:gd name="adj" fmla="val 9615"/>
            </a:avLst>
          </a:prstGeom>
          <a:solidFill>
            <a:srgbClr val="0B3C6E"/>
          </a:solidFill>
          <a:ln w="12700">
            <a:solidFill>
              <a:srgbClr val="0B3C6E"/>
            </a:solidFill>
            <a:prstDash val="solid"/>
          </a:ln>
        </p:spPr>
        <p:txBody>
          <a:bodyPr/>
          <a:lstStyle/>
          <a:p>
            <a:endParaRPr lang="en-ID"/>
          </a:p>
        </p:txBody>
      </p:sp>
      <p:sp>
        <p:nvSpPr>
          <p:cNvPr id="24" name="Text 21"/>
          <p:cNvSpPr/>
          <p:nvPr/>
        </p:nvSpPr>
        <p:spPr>
          <a:xfrm>
            <a:off x="822960" y="5074920"/>
            <a:ext cx="5120640" cy="47548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Hybrid, constrained, human-in-the-loop</a:t>
            </a:r>
            <a:endParaRPr lang="en-US" sz="1250" dirty="0"/>
          </a:p>
        </p:txBody>
      </p:sp>
      <p:sp>
        <p:nvSpPr>
          <p:cNvPr id="25" name="Text 22"/>
          <p:cNvSpPr/>
          <p:nvPr/>
        </p:nvSpPr>
        <p:spPr>
          <a:xfrm>
            <a:off x="6583680" y="2011680"/>
            <a:ext cx="5029200" cy="3840480"/>
          </a:xfrm>
          <a:prstGeom prst="rect">
            <a:avLst/>
          </a:prstGeom>
          <a:noFill/>
          <a:ln/>
        </p:spPr>
        <p:txBody>
          <a:bodyPr wrap="square" rtlCol="0" anchor="t"/>
          <a:lstStyle/>
          <a:p>
            <a:pPr marL="177800" indent="-177800">
              <a:lnSpc>
                <a:spcPct val="102000"/>
              </a:lnSpc>
              <a:buSzPct val="100000"/>
              <a:buChar char="•"/>
            </a:pPr>
            <a:r>
              <a:rPr lang="en-US" sz="1400" b="1" dirty="0">
                <a:solidFill>
                  <a:srgbClr val="0B3C6E"/>
                </a:solidFill>
                <a:latin typeface="Calibri" pitchFamily="34" charset="0"/>
                <a:ea typeface="Calibri" pitchFamily="34" charset="-122"/>
                <a:cs typeface="Calibri" pitchFamily="34" charset="-120"/>
              </a:rPr>
              <a:t>Rule-based:  </a:t>
            </a:r>
            <a:r>
              <a:rPr lang="en-US" sz="1400" dirty="0">
                <a:solidFill>
                  <a:srgbClr val="26313D"/>
                </a:solidFill>
                <a:latin typeface="Calibri" pitchFamily="34" charset="0"/>
                <a:ea typeface="Calibri" pitchFamily="34" charset="-122"/>
                <a:cs typeface="Calibri" pitchFamily="34" charset="-120"/>
              </a:rPr>
              <a:t>transparan, tetapi sulit diskalakan.</a:t>
            </a:r>
            <a:endParaRPr lang="en-US" sz="1400" dirty="0"/>
          </a:p>
          <a:p>
            <a:pPr marL="177800" indent="-177800">
              <a:lnSpc>
                <a:spcPct val="102000"/>
              </a:lnSpc>
              <a:buSzPct val="100000"/>
              <a:buChar char="•"/>
            </a:pPr>
            <a:r>
              <a:rPr lang="en-US" sz="1400" b="1" dirty="0">
                <a:solidFill>
                  <a:srgbClr val="0B3C6E"/>
                </a:solidFill>
                <a:latin typeface="Calibri" pitchFamily="34" charset="0"/>
                <a:ea typeface="Calibri" pitchFamily="34" charset="-122"/>
                <a:cs typeface="Calibri" pitchFamily="34" charset="-120"/>
              </a:rPr>
              <a:t>Embedding:  </a:t>
            </a:r>
            <a:r>
              <a:rPr lang="en-US" sz="1400" dirty="0">
                <a:solidFill>
                  <a:srgbClr val="26313D"/>
                </a:solidFill>
                <a:latin typeface="Calibri" pitchFamily="34" charset="0"/>
                <a:ea typeface="Calibri" pitchFamily="34" charset="-122"/>
                <a:cs typeface="Calibri" pitchFamily="34" charset="-120"/>
              </a:rPr>
              <a:t>menangkap semantik, tetapi dapat kehilangan kecocokan istilah spesifik.</a:t>
            </a:r>
            <a:endParaRPr lang="en-US" sz="1400" dirty="0"/>
          </a:p>
          <a:p>
            <a:pPr marL="177800" indent="-177800">
              <a:lnSpc>
                <a:spcPct val="102000"/>
              </a:lnSpc>
              <a:buSzPct val="100000"/>
              <a:buChar char="•"/>
            </a:pPr>
            <a:r>
              <a:rPr lang="en-US" sz="1400" b="1" dirty="0">
                <a:solidFill>
                  <a:srgbClr val="0B3C6E"/>
                </a:solidFill>
                <a:latin typeface="Calibri" pitchFamily="34" charset="0"/>
                <a:ea typeface="Calibri" pitchFamily="34" charset="-122"/>
                <a:cs typeface="Calibri" pitchFamily="34" charset="-120"/>
              </a:rPr>
              <a:t>LLM:  </a:t>
            </a:r>
            <a:r>
              <a:rPr lang="en-US" sz="1400" dirty="0">
                <a:solidFill>
                  <a:srgbClr val="26313D"/>
                </a:solidFill>
                <a:latin typeface="Calibri" pitchFamily="34" charset="0"/>
                <a:ea typeface="Calibri" pitchFamily="34" charset="-122"/>
                <a:cs typeface="Calibri" pitchFamily="34" charset="-120"/>
              </a:rPr>
              <a:t>kuat memahami konteks, tetapi berisiko halusinasi.</a:t>
            </a:r>
            <a:endParaRPr lang="en-US" sz="1400" dirty="0"/>
          </a:p>
          <a:p>
            <a:pPr marL="177800" indent="-177800">
              <a:lnSpc>
                <a:spcPct val="102000"/>
              </a:lnSpc>
              <a:buSzPct val="100000"/>
              <a:buChar char="•"/>
            </a:pPr>
            <a:r>
              <a:rPr lang="en-US" sz="1400" b="1" dirty="0">
                <a:solidFill>
                  <a:srgbClr val="0B3C6E"/>
                </a:solidFill>
                <a:latin typeface="Calibri" pitchFamily="34" charset="0"/>
                <a:ea typeface="Calibri" pitchFamily="34" charset="-122"/>
                <a:cs typeface="Calibri" pitchFamily="34" charset="-120"/>
              </a:rPr>
              <a:t>Hybrid:  </a:t>
            </a:r>
            <a:r>
              <a:rPr lang="en-US" sz="1400" dirty="0">
                <a:solidFill>
                  <a:srgbClr val="26313D"/>
                </a:solidFill>
                <a:latin typeface="Calibri" pitchFamily="34" charset="0"/>
                <a:ea typeface="Calibri" pitchFamily="34" charset="-122"/>
                <a:cs typeface="Calibri" pitchFamily="34" charset="-120"/>
              </a:rPr>
              <a:t>menggabungkan kekuatan dan mengendalikan kelemahannya.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7D84E-0E55-098C-5B03-9B57761B7802}"/>
            </a:ext>
          </a:extLst>
        </p:cNvPr>
        <p:cNvGrpSpPr/>
        <p:nvPr/>
      </p:nvGrpSpPr>
      <p:grpSpPr>
        <a:xfrm>
          <a:off x="0" y="0"/>
          <a:ext cx="0" cy="0"/>
          <a:chOff x="0" y="0"/>
          <a:chExt cx="0" cy="0"/>
        </a:xfrm>
      </p:grpSpPr>
      <p:pic>
        <p:nvPicPr>
          <p:cNvPr id="2" name="Image 0" descr="Logo Universitas Gadjah Mada">
            <a:extLst>
              <a:ext uri="{FF2B5EF4-FFF2-40B4-BE49-F238E27FC236}">
                <a16:creationId xmlns:a16="http://schemas.microsoft.com/office/drawing/2014/main" id="{493A417C-A4D0-4408-DED6-A92D6832E410}"/>
              </a:ext>
            </a:extLst>
          </p:cNvPr>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FF2B5EF4-FFF2-40B4-BE49-F238E27FC236}">
                <a16:creationId xmlns:a16="http://schemas.microsoft.com/office/drawing/2014/main" id="{13B9F680-E1F5-3BFD-D483-D2D1CF954BFF}"/>
              </a:ex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a:extLst>
              <a:ext uri="{FF2B5EF4-FFF2-40B4-BE49-F238E27FC236}">
                <a16:creationId xmlns:a16="http://schemas.microsoft.com/office/drawing/2014/main" id="{95EBEF5A-6FE6-8D98-3554-D501271A85BC}"/>
              </a:ext>
            </a:extLst>
          </p:cNvPr>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a:extLst>
              <a:ext uri="{FF2B5EF4-FFF2-40B4-BE49-F238E27FC236}">
                <a16:creationId xmlns:a16="http://schemas.microsoft.com/office/drawing/2014/main" id="{EB16EF95-4AB7-D255-0530-35301A07E53B}"/>
              </a:ext>
            </a:extLst>
          </p:cNvPr>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8</a:t>
            </a:r>
            <a:endParaRPr lang="en-US" sz="900" dirty="0"/>
          </a:p>
        </p:txBody>
      </p:sp>
      <p:sp>
        <p:nvSpPr>
          <p:cNvPr id="6" name="Text 3">
            <a:extLst>
              <a:ext uri="{FF2B5EF4-FFF2-40B4-BE49-F238E27FC236}">
                <a16:creationId xmlns:a16="http://schemas.microsoft.com/office/drawing/2014/main" id="{CFA852BA-0A32-6F1A-7409-4A9057C99161}"/>
              </a:ext>
            </a:extLst>
          </p:cNvPr>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LANDASAN</a:t>
            </a:r>
            <a:endParaRPr lang="en-US" sz="1200" dirty="0"/>
          </a:p>
        </p:txBody>
      </p:sp>
      <p:sp>
        <p:nvSpPr>
          <p:cNvPr id="7" name="Text 0">
            <a:extLst>
              <a:ext uri="{FF2B5EF4-FFF2-40B4-BE49-F238E27FC236}">
                <a16:creationId xmlns:a16="http://schemas.microsoft.com/office/drawing/2014/main" id="{47ADF352-5CAC-4415-D2AC-1A115C30670C}"/>
              </a:ext>
            </a:extLst>
          </p:cNvPr>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highlight>
                  <a:srgbClr val="FFFF00"/>
                </a:highlight>
                <a:latin typeface="Georgia" pitchFamily="34" charset="0"/>
                <a:ea typeface="Georgia" pitchFamily="34" charset="-122"/>
                <a:cs typeface="Georgia" pitchFamily="34" charset="-120"/>
              </a:rPr>
              <a:t>Evolusi Pendekatan Pemetaan</a:t>
            </a:r>
            <a:endParaRPr lang="en-US" sz="2700" dirty="0">
              <a:highlight>
                <a:srgbClr val="FFFF00"/>
              </a:highlight>
            </a:endParaRPr>
          </a:p>
        </p:txBody>
      </p:sp>
      <p:graphicFrame>
        <p:nvGraphicFramePr>
          <p:cNvPr id="27" name="Tabel 26">
            <a:extLst>
              <a:ext uri="{FF2B5EF4-FFF2-40B4-BE49-F238E27FC236}">
                <a16:creationId xmlns:a16="http://schemas.microsoft.com/office/drawing/2014/main" id="{BB3EDEF7-434D-785F-1B0C-4B4D76A81D6B}"/>
              </a:ext>
            </a:extLst>
          </p:cNvPr>
          <p:cNvGraphicFramePr>
            <a:graphicFrameLocks noGrp="1"/>
          </p:cNvGraphicFramePr>
          <p:nvPr>
            <p:extLst>
              <p:ext uri="{D42A27DB-BD31-4B8C-83A1-F6EECF244321}">
                <p14:modId xmlns:p14="http://schemas.microsoft.com/office/powerpoint/2010/main" val="1410792840"/>
              </p:ext>
            </p:extLst>
          </p:nvPr>
        </p:nvGraphicFramePr>
        <p:xfrm>
          <a:off x="380458" y="1244821"/>
          <a:ext cx="11430778" cy="5439443"/>
        </p:xfrm>
        <a:graphic>
          <a:graphicData uri="http://schemas.openxmlformats.org/drawingml/2006/table">
            <a:tbl>
              <a:tblPr>
                <a:tableStyleId>{5C22544A-7EE6-4342-B048-85BDC9FD1C3A}</a:tableStyleId>
              </a:tblPr>
              <a:tblGrid>
                <a:gridCol w="1310555">
                  <a:extLst>
                    <a:ext uri="{9D8B030D-6E8A-4147-A177-3AD203B41FA5}">
                      <a16:colId xmlns:a16="http://schemas.microsoft.com/office/drawing/2014/main" val="1795220410"/>
                    </a:ext>
                  </a:extLst>
                </a:gridCol>
                <a:gridCol w="1996712">
                  <a:extLst>
                    <a:ext uri="{9D8B030D-6E8A-4147-A177-3AD203B41FA5}">
                      <a16:colId xmlns:a16="http://schemas.microsoft.com/office/drawing/2014/main" val="847969674"/>
                    </a:ext>
                  </a:extLst>
                </a:gridCol>
                <a:gridCol w="2746196">
                  <a:extLst>
                    <a:ext uri="{9D8B030D-6E8A-4147-A177-3AD203B41FA5}">
                      <a16:colId xmlns:a16="http://schemas.microsoft.com/office/drawing/2014/main" val="2482204526"/>
                    </a:ext>
                  </a:extLst>
                </a:gridCol>
                <a:gridCol w="5377315">
                  <a:extLst>
                    <a:ext uri="{9D8B030D-6E8A-4147-A177-3AD203B41FA5}">
                      <a16:colId xmlns:a16="http://schemas.microsoft.com/office/drawing/2014/main" val="2900713371"/>
                    </a:ext>
                  </a:extLst>
                </a:gridCol>
              </a:tblGrid>
              <a:tr h="301744">
                <a:tc>
                  <a:txBody>
                    <a:bodyPr/>
                    <a:lstStyle/>
                    <a:p>
                      <a:pPr algn="ctr" fontAlgn="ctr">
                        <a:buNone/>
                      </a:pPr>
                      <a:r>
                        <a:rPr lang="en-ID" sz="1200" b="1" u="none" strike="noStrike" dirty="0" err="1">
                          <a:effectLst/>
                        </a:rPr>
                        <a:t>Periode</a:t>
                      </a:r>
                      <a:r>
                        <a:rPr lang="en-ID" sz="1200" b="1" u="none" strike="noStrike" dirty="0">
                          <a:effectLst/>
                        </a:rPr>
                        <a:t> (</a:t>
                      </a:r>
                      <a:r>
                        <a:rPr lang="en-ID" sz="1200" b="1" u="none" strike="noStrike" dirty="0" err="1">
                          <a:effectLst/>
                        </a:rPr>
                        <a:t>rentang</a:t>
                      </a:r>
                      <a:r>
                        <a:rPr lang="en-ID" sz="1200" b="1" u="none" strike="noStrike" dirty="0">
                          <a:effectLst/>
                        </a:rPr>
                        <a:t> </a:t>
                      </a:r>
                      <a:r>
                        <a:rPr lang="en-ID" sz="1200" b="1" u="none" strike="noStrike" dirty="0" err="1">
                          <a:effectLst/>
                        </a:rPr>
                        <a:t>tahun</a:t>
                      </a:r>
                      <a:r>
                        <a:rPr lang="en-ID" sz="1200" b="1" u="none" strike="noStrike" dirty="0">
                          <a:effectLst/>
                        </a:rPr>
                        <a:t>)</a:t>
                      </a:r>
                      <a:endParaRPr lang="en-ID" sz="1200" b="1" i="0" u="none" strike="noStrike" dirty="0">
                        <a:solidFill>
                          <a:srgbClr val="000000"/>
                        </a:solidFill>
                        <a:effectLst/>
                        <a:latin typeface="Aptos Narrow" panose="020B0004020202020204" pitchFamily="34" charset="0"/>
                      </a:endParaRPr>
                    </a:p>
                  </a:txBody>
                  <a:tcPr marL="3481" marR="3481" marT="3481" marB="0" anchor="ctr">
                    <a:solidFill>
                      <a:schemeClr val="accent1">
                        <a:lumMod val="60000"/>
                        <a:lumOff val="40000"/>
                      </a:schemeClr>
                    </a:solidFill>
                  </a:tcPr>
                </a:tc>
                <a:tc>
                  <a:txBody>
                    <a:bodyPr/>
                    <a:lstStyle/>
                    <a:p>
                      <a:pPr algn="ctr" fontAlgn="ctr">
                        <a:buNone/>
                      </a:pPr>
                      <a:r>
                        <a:rPr lang="en-ID" sz="1200" b="1" u="none" strike="noStrike" dirty="0">
                          <a:effectLst/>
                        </a:rPr>
                        <a:t>Metode </a:t>
                      </a:r>
                      <a:r>
                        <a:rPr lang="en-ID" sz="1200" b="1" u="none" strike="noStrike" dirty="0" err="1">
                          <a:effectLst/>
                        </a:rPr>
                        <a:t>Dominan</a:t>
                      </a:r>
                      <a:endParaRPr lang="en-ID" sz="1200" b="1" i="0" u="none" strike="noStrike" dirty="0">
                        <a:solidFill>
                          <a:srgbClr val="000000"/>
                        </a:solidFill>
                        <a:effectLst/>
                        <a:latin typeface="Aptos Narrow" panose="020B0004020202020204" pitchFamily="34" charset="0"/>
                      </a:endParaRPr>
                    </a:p>
                  </a:txBody>
                  <a:tcPr marL="3481" marR="3481" marT="3481" marB="0" anchor="ctr">
                    <a:solidFill>
                      <a:schemeClr val="accent1">
                        <a:lumMod val="60000"/>
                        <a:lumOff val="40000"/>
                      </a:schemeClr>
                    </a:solidFill>
                  </a:tcPr>
                </a:tc>
                <a:tc>
                  <a:txBody>
                    <a:bodyPr/>
                    <a:lstStyle/>
                    <a:p>
                      <a:pPr algn="ctr" fontAlgn="ctr">
                        <a:buNone/>
                      </a:pPr>
                      <a:r>
                        <a:rPr lang="en-ID" sz="1200" b="1" u="none" strike="noStrike">
                          <a:effectLst/>
                        </a:rPr>
                        <a:t>Referensi (Nama, Tahun)</a:t>
                      </a:r>
                      <a:endParaRPr lang="en-ID" sz="1200" b="1" i="0" u="none" strike="noStrike">
                        <a:solidFill>
                          <a:srgbClr val="000000"/>
                        </a:solidFill>
                        <a:effectLst/>
                        <a:latin typeface="Aptos Narrow" panose="020B0004020202020204" pitchFamily="34" charset="0"/>
                      </a:endParaRPr>
                    </a:p>
                  </a:txBody>
                  <a:tcPr marL="3481" marR="3481" marT="3481" marB="0" anchor="ctr">
                    <a:solidFill>
                      <a:schemeClr val="accent1">
                        <a:lumMod val="60000"/>
                        <a:lumOff val="40000"/>
                      </a:schemeClr>
                    </a:solidFill>
                  </a:tcPr>
                </a:tc>
                <a:tc>
                  <a:txBody>
                    <a:bodyPr/>
                    <a:lstStyle/>
                    <a:p>
                      <a:pPr algn="ctr" fontAlgn="ctr">
                        <a:buNone/>
                      </a:pPr>
                      <a:r>
                        <a:rPr lang="en-ID" sz="1200" b="1" u="none" strike="noStrike" dirty="0" err="1">
                          <a:effectLst/>
                        </a:rPr>
                        <a:t>Kelemahan</a:t>
                      </a:r>
                      <a:r>
                        <a:rPr lang="en-ID" sz="1200" b="1" u="none" strike="noStrike" dirty="0">
                          <a:effectLst/>
                        </a:rPr>
                        <a:t> Metode </a:t>
                      </a:r>
                      <a:r>
                        <a:rPr lang="en-ID" sz="1200" b="1" u="none" strike="noStrike" dirty="0" err="1">
                          <a:effectLst/>
                        </a:rPr>
                        <a:t>Secara</a:t>
                      </a:r>
                      <a:r>
                        <a:rPr lang="en-ID" sz="1200" b="1" u="none" strike="noStrike" dirty="0">
                          <a:effectLst/>
                        </a:rPr>
                        <a:t> Umum</a:t>
                      </a:r>
                      <a:endParaRPr lang="en-ID" sz="1200" b="1" i="0" u="none" strike="noStrike" dirty="0">
                        <a:solidFill>
                          <a:srgbClr val="000000"/>
                        </a:solidFill>
                        <a:effectLst/>
                        <a:latin typeface="Aptos Narrow" panose="020B0004020202020204" pitchFamily="34" charset="0"/>
                      </a:endParaRPr>
                    </a:p>
                  </a:txBody>
                  <a:tcPr marL="3481" marR="3481" marT="3481" marB="0" anchor="ctr">
                    <a:solidFill>
                      <a:schemeClr val="accent1">
                        <a:lumMod val="60000"/>
                        <a:lumOff val="40000"/>
                      </a:schemeClr>
                    </a:solidFill>
                  </a:tcPr>
                </a:tc>
                <a:extLst>
                  <a:ext uri="{0D108BD9-81ED-4DB2-BD59-A6C34878D82A}">
                    <a16:rowId xmlns:a16="http://schemas.microsoft.com/office/drawing/2014/main" val="3353754411"/>
                  </a:ext>
                </a:extLst>
              </a:tr>
              <a:tr h="161243">
                <a:tc rowSpan="4">
                  <a:txBody>
                    <a:bodyPr/>
                    <a:lstStyle/>
                    <a:p>
                      <a:pPr algn="l" fontAlgn="ctr">
                        <a:buNone/>
                      </a:pPr>
                      <a:r>
                        <a:rPr lang="fi-FI" sz="1000" u="none" strike="noStrike" dirty="0">
                          <a:effectLst/>
                        </a:rPr>
                        <a:t>2000–2015 (dan masih digunakan hingga 2024)</a:t>
                      </a:r>
                      <a:endParaRPr lang="fi-FI" sz="1000" b="1" i="0" u="none" strike="noStrike" dirty="0">
                        <a:solidFill>
                          <a:srgbClr val="000000"/>
                        </a:solidFill>
                        <a:effectLst/>
                        <a:latin typeface="Aptos Narrow" panose="020B0004020202020204" pitchFamily="34" charset="0"/>
                      </a:endParaRPr>
                    </a:p>
                  </a:txBody>
                  <a:tcPr marL="3481" marR="3481" marT="3481" marB="0" anchor="ctr"/>
                </a:tc>
                <a:tc rowSpan="4">
                  <a:txBody>
                    <a:bodyPr/>
                    <a:lstStyle/>
                    <a:p>
                      <a:pPr algn="l" fontAlgn="ctr">
                        <a:buNone/>
                      </a:pPr>
                      <a:r>
                        <a:rPr lang="en-US" sz="1000" u="none" strike="noStrike" dirty="0">
                          <a:effectLst/>
                        </a:rPr>
                        <a:t>Rule‑based / Lexical (fuzzy string matching, </a:t>
                      </a:r>
                      <a:r>
                        <a:rPr lang="en-US" sz="1000" u="none" strike="noStrike" dirty="0" err="1">
                          <a:effectLst/>
                        </a:rPr>
                        <a:t>tabel</a:t>
                      </a:r>
                      <a:r>
                        <a:rPr lang="en-US" sz="1000" u="none" strike="noStrike" dirty="0">
                          <a:effectLst/>
                        </a:rPr>
                        <a:t> </a:t>
                      </a:r>
                      <a:r>
                        <a:rPr lang="en-US" sz="1000" u="none" strike="noStrike" dirty="0" err="1">
                          <a:effectLst/>
                        </a:rPr>
                        <a:t>sinonim</a:t>
                      </a:r>
                      <a:r>
                        <a:rPr lang="en-US" sz="1000" u="none" strike="noStrike" dirty="0">
                          <a:effectLst/>
                        </a:rPr>
                        <a:t>, </a:t>
                      </a:r>
                      <a:r>
                        <a:rPr lang="en-US" sz="1000" u="none" strike="noStrike" dirty="0" err="1">
                          <a:effectLst/>
                        </a:rPr>
                        <a:t>aturan</a:t>
                      </a:r>
                      <a:r>
                        <a:rPr lang="en-US" sz="1000" u="none" strike="noStrike" dirty="0">
                          <a:effectLst/>
                        </a:rPr>
                        <a:t> </a:t>
                      </a:r>
                      <a:r>
                        <a:rPr lang="en-US" sz="1000" u="none" strike="noStrike" dirty="0" err="1">
                          <a:effectLst/>
                        </a:rPr>
                        <a:t>buatan</a:t>
                      </a:r>
                      <a:r>
                        <a:rPr lang="en-US" sz="1000" u="none" strike="noStrike" dirty="0">
                          <a:effectLst/>
                        </a:rPr>
                        <a:t> manual)</a:t>
                      </a:r>
                      <a:endParaRPr lang="en-US" sz="1000" b="1" i="0" u="none" strike="noStrike" dirty="0">
                        <a:solidFill>
                          <a:srgbClr val="000000"/>
                        </a:solidFill>
                        <a:effectLst/>
                        <a:latin typeface="Aptos Narrow" panose="020B0004020202020204" pitchFamily="34" charset="0"/>
                      </a:endParaRPr>
                    </a:p>
                  </a:txBody>
                  <a:tcPr marL="3481" marR="3481" marT="3481" marB="0" anchor="ctr"/>
                </a:tc>
                <a:tc rowSpan="4">
                  <a:txBody>
                    <a:bodyPr/>
                    <a:lstStyle/>
                    <a:p>
                      <a:pPr algn="l" fontAlgn="ctr">
                        <a:buNone/>
                      </a:pPr>
                      <a:r>
                        <a:rPr lang="da-DK" sz="1000" u="none" strike="noStrike" dirty="0">
                          <a:effectLst/>
                        </a:rPr>
                        <a:t>Meizoso et al. (2011); Jung et al. (2022); Sitaru et al. (2024); Zayed et al. (2026) – untuk unit</a:t>
                      </a:r>
                      <a:endParaRPr lang="da-DK" sz="1000" b="0" i="0" u="none" strike="noStrike" dirty="0">
                        <a:solidFill>
                          <a:srgbClr val="000000"/>
                        </a:solidFill>
                        <a:effectLst/>
                        <a:latin typeface="Aptos Narrow" panose="020B0004020202020204" pitchFamily="34" charset="0"/>
                      </a:endParaRPr>
                    </a:p>
                  </a:txBody>
                  <a:tcPr marL="3481" marR="3481" marT="3481" marB="0" anchor="ctr"/>
                </a:tc>
                <a:tc>
                  <a:txBody>
                    <a:bodyPr/>
                    <a:lstStyle/>
                    <a:p>
                      <a:pPr algn="l" fontAlgn="ctr">
                        <a:buNone/>
                      </a:pPr>
                      <a:r>
                        <a:rPr lang="en-ID" sz="1000" u="none" strike="noStrike" dirty="0">
                          <a:effectLst/>
                        </a:rPr>
                        <a:t>– Tidak </a:t>
                      </a:r>
                      <a:r>
                        <a:rPr lang="en-ID" sz="1000" u="none" strike="noStrike" dirty="0" err="1">
                          <a:effectLst/>
                        </a:rPr>
                        <a:t>memahami</a:t>
                      </a:r>
                      <a:r>
                        <a:rPr lang="en-ID" sz="1000" u="none" strike="noStrike" dirty="0">
                          <a:effectLst/>
                        </a:rPr>
                        <a:t> </a:t>
                      </a:r>
                      <a:r>
                        <a:rPr lang="en-ID" sz="1000" u="none" strike="noStrike" dirty="0" err="1">
                          <a:effectLst/>
                        </a:rPr>
                        <a:t>konteks</a:t>
                      </a:r>
                      <a:r>
                        <a:rPr lang="en-ID" sz="1000" u="none" strike="noStrike" dirty="0">
                          <a:effectLst/>
                        </a:rPr>
                        <a:t> </a:t>
                      </a:r>
                      <a:r>
                        <a:rPr lang="en-ID" sz="1000" u="none" strike="noStrike" dirty="0" err="1">
                          <a:effectLst/>
                        </a:rPr>
                        <a:t>semantik</a:t>
                      </a:r>
                      <a:r>
                        <a:rPr lang="en-ID" sz="1000" u="none" strike="noStrike" dirty="0">
                          <a:effectLst/>
                        </a:rPr>
                        <a:t> (</a:t>
                      </a:r>
                      <a:r>
                        <a:rPr lang="en-ID" sz="1000" u="none" strike="noStrike" dirty="0" err="1">
                          <a:effectLst/>
                        </a:rPr>
                        <a:t>negasi</a:t>
                      </a:r>
                      <a:r>
                        <a:rPr lang="en-ID" sz="1000" u="none" strike="noStrike" dirty="0">
                          <a:effectLst/>
                        </a:rPr>
                        <a:t>, </a:t>
                      </a:r>
                      <a:r>
                        <a:rPr lang="en-ID" sz="1000" u="none" strike="noStrike" dirty="0" err="1">
                          <a:effectLst/>
                        </a:rPr>
                        <a:t>ketidakpastian</a:t>
                      </a:r>
                      <a:r>
                        <a:rPr lang="en-ID" sz="1000" u="none" strike="noStrike" dirty="0">
                          <a:effectLst/>
                        </a:rPr>
                        <a:t>, </a:t>
                      </a:r>
                      <a:r>
                        <a:rPr lang="en-ID" sz="1000" u="none" strike="noStrike" dirty="0" err="1">
                          <a:effectLst/>
                        </a:rPr>
                        <a:t>sinonim</a:t>
                      </a:r>
                      <a:r>
                        <a:rPr lang="en-ID" sz="1000" u="none" strike="noStrike" dirty="0">
                          <a:effectLst/>
                        </a:rPr>
                        <a:t> </a:t>
                      </a:r>
                      <a:r>
                        <a:rPr lang="en-ID" sz="1000" u="none" strike="noStrike" dirty="0" err="1">
                          <a:effectLst/>
                        </a:rPr>
                        <a:t>tidak</a:t>
                      </a:r>
                      <a:r>
                        <a:rPr lang="en-ID" sz="1000" u="none" strike="noStrike" dirty="0">
                          <a:effectLst/>
                        </a:rPr>
                        <a:t> </a:t>
                      </a:r>
                      <a:r>
                        <a:rPr lang="en-ID" sz="1000" u="none" strike="noStrike" dirty="0" err="1">
                          <a:effectLst/>
                        </a:rPr>
                        <a:t>eksak</a:t>
                      </a:r>
                      <a:r>
                        <a:rPr lang="en-ID" sz="1000" u="none" strike="noStrike" dirty="0">
                          <a:effectLst/>
                        </a:rPr>
                        <a:t>)</a:t>
                      </a:r>
                      <a:endParaRPr lang="en-ID" sz="1000" b="0" i="0" u="none" strike="noStrike" dirty="0">
                        <a:solidFill>
                          <a:srgbClr val="000000"/>
                        </a:solidFill>
                        <a:effectLst/>
                        <a:latin typeface="Aptos Narrow" panose="020B0004020202020204" pitchFamily="34" charset="0"/>
                      </a:endParaRPr>
                    </a:p>
                  </a:txBody>
                  <a:tcPr marL="3481" marR="3481" marT="3481" marB="0" anchor="ctr"/>
                </a:tc>
                <a:extLst>
                  <a:ext uri="{0D108BD9-81ED-4DB2-BD59-A6C34878D82A}">
                    <a16:rowId xmlns:a16="http://schemas.microsoft.com/office/drawing/2014/main" val="2553665872"/>
                  </a:ext>
                </a:extLst>
              </a:tr>
              <a:tr h="160666">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a:effectLst/>
                        </a:rPr>
                        <a:t>– Tidak dapat menangani istilah di luar tabel sinonim</a:t>
                      </a:r>
                      <a:endParaRPr lang="en-ID" sz="1000" b="0" i="0" u="none" strike="noStrike">
                        <a:solidFill>
                          <a:srgbClr val="000000"/>
                        </a:solidFill>
                        <a:effectLst/>
                        <a:latin typeface="Aptos Narrow" panose="020B0004020202020204" pitchFamily="34" charset="0"/>
                      </a:endParaRPr>
                    </a:p>
                  </a:txBody>
                  <a:tcPr marL="3481" marR="3481" marT="3481" marB="0" anchor="ctr"/>
                </a:tc>
                <a:extLst>
                  <a:ext uri="{0D108BD9-81ED-4DB2-BD59-A6C34878D82A}">
                    <a16:rowId xmlns:a16="http://schemas.microsoft.com/office/drawing/2014/main" val="1684486187"/>
                  </a:ext>
                </a:extLst>
              </a:tr>
              <a:tr h="161243">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a:effectLst/>
                        </a:rPr>
                        <a:t>– Memerlukan pemeliharaan aturan yang ekstensif dan mahal</a:t>
                      </a:r>
                      <a:endParaRPr lang="en-ID" sz="1000" b="0" i="0" u="none" strike="noStrike">
                        <a:solidFill>
                          <a:srgbClr val="000000"/>
                        </a:solidFill>
                        <a:effectLst/>
                        <a:latin typeface="Aptos Narrow" panose="020B0004020202020204" pitchFamily="34" charset="0"/>
                      </a:endParaRPr>
                    </a:p>
                  </a:txBody>
                  <a:tcPr marL="3481" marR="3481" marT="3481" marB="0" anchor="ctr"/>
                </a:tc>
                <a:extLst>
                  <a:ext uri="{0D108BD9-81ED-4DB2-BD59-A6C34878D82A}">
                    <a16:rowId xmlns:a16="http://schemas.microsoft.com/office/drawing/2014/main" val="775269212"/>
                  </a:ext>
                </a:extLst>
              </a:tr>
              <a:tr h="161243">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a:effectLst/>
                        </a:rPr>
                        <a:t>– Recall sering rendah karena tidak bisa generalisasi ke variasi bahasa baru</a:t>
                      </a:r>
                      <a:endParaRPr lang="en-ID" sz="1000" b="0" i="0" u="none" strike="noStrike">
                        <a:solidFill>
                          <a:srgbClr val="000000"/>
                        </a:solidFill>
                        <a:effectLst/>
                        <a:latin typeface="Aptos Narrow" panose="020B0004020202020204" pitchFamily="34" charset="0"/>
                      </a:endParaRPr>
                    </a:p>
                  </a:txBody>
                  <a:tcPr marL="3481" marR="3481" marT="3481" marB="0" anchor="ctr"/>
                </a:tc>
                <a:extLst>
                  <a:ext uri="{0D108BD9-81ED-4DB2-BD59-A6C34878D82A}">
                    <a16:rowId xmlns:a16="http://schemas.microsoft.com/office/drawing/2014/main" val="24762881"/>
                  </a:ext>
                </a:extLst>
              </a:tr>
              <a:tr h="161243">
                <a:tc rowSpan="4">
                  <a:txBody>
                    <a:bodyPr/>
                    <a:lstStyle/>
                    <a:p>
                      <a:pPr algn="l" fontAlgn="ctr">
                        <a:buNone/>
                      </a:pPr>
                      <a:r>
                        <a:rPr lang="en-ID" sz="1000" u="none" strike="noStrike" dirty="0">
                          <a:effectLst/>
                        </a:rPr>
                        <a:t>2010–2020</a:t>
                      </a:r>
                      <a:endParaRPr lang="en-ID" sz="1000" b="1" i="0" u="none" strike="noStrike" dirty="0">
                        <a:solidFill>
                          <a:srgbClr val="000000"/>
                        </a:solidFill>
                        <a:effectLst/>
                        <a:latin typeface="Aptos Narrow" panose="020B0004020202020204" pitchFamily="34" charset="0"/>
                      </a:endParaRPr>
                    </a:p>
                  </a:txBody>
                  <a:tcPr marL="3481" marR="3481" marT="3481" marB="0" anchor="ctr">
                    <a:solidFill>
                      <a:schemeClr val="accent5">
                        <a:lumMod val="40000"/>
                        <a:lumOff val="60000"/>
                      </a:schemeClr>
                    </a:solidFill>
                  </a:tcPr>
                </a:tc>
                <a:tc rowSpan="4">
                  <a:txBody>
                    <a:bodyPr/>
                    <a:lstStyle/>
                    <a:p>
                      <a:pPr algn="l" fontAlgn="ctr">
                        <a:buNone/>
                      </a:pPr>
                      <a:r>
                        <a:rPr lang="en-ID" sz="1000" u="none" strike="noStrike" dirty="0">
                          <a:effectLst/>
                        </a:rPr>
                        <a:t>Machine Learning </a:t>
                      </a:r>
                      <a:r>
                        <a:rPr lang="en-ID" sz="1000" u="none" strike="noStrike" dirty="0" err="1">
                          <a:effectLst/>
                        </a:rPr>
                        <a:t>klasik</a:t>
                      </a:r>
                      <a:r>
                        <a:rPr lang="en-ID" sz="1000" u="none" strike="noStrike" dirty="0">
                          <a:effectLst/>
                        </a:rPr>
                        <a:t> (SVM, </a:t>
                      </a:r>
                      <a:r>
                        <a:rPr lang="en-ID" sz="1000" u="none" strike="noStrike" dirty="0" err="1">
                          <a:effectLst/>
                        </a:rPr>
                        <a:t>probabilitas</a:t>
                      </a:r>
                      <a:r>
                        <a:rPr lang="en-ID" sz="1000" u="none" strike="noStrike" dirty="0">
                          <a:effectLst/>
                        </a:rPr>
                        <a:t>, </a:t>
                      </a:r>
                      <a:r>
                        <a:rPr lang="en-ID" sz="1000" u="none" strike="noStrike" dirty="0" err="1">
                          <a:effectLst/>
                        </a:rPr>
                        <a:t>regresi</a:t>
                      </a:r>
                      <a:r>
                        <a:rPr lang="en-ID" sz="1000" u="none" strike="noStrike" dirty="0">
                          <a:effectLst/>
                        </a:rPr>
                        <a:t> </a:t>
                      </a:r>
                      <a:r>
                        <a:rPr lang="en-ID" sz="1000" u="none" strike="noStrike" dirty="0" err="1">
                          <a:effectLst/>
                        </a:rPr>
                        <a:t>logistik</a:t>
                      </a:r>
                      <a:r>
                        <a:rPr lang="en-ID" sz="1000" u="none" strike="noStrike" dirty="0">
                          <a:effectLst/>
                        </a:rPr>
                        <a:t>, decision tree)</a:t>
                      </a:r>
                      <a:endParaRPr lang="en-ID" sz="1000" b="1" i="0" u="none" strike="noStrike" dirty="0">
                        <a:solidFill>
                          <a:srgbClr val="000000"/>
                        </a:solidFill>
                        <a:effectLst/>
                        <a:latin typeface="Aptos Narrow" panose="020B0004020202020204" pitchFamily="34" charset="0"/>
                      </a:endParaRPr>
                    </a:p>
                  </a:txBody>
                  <a:tcPr marL="3481" marR="3481" marT="3481" marB="0" anchor="ctr">
                    <a:solidFill>
                      <a:schemeClr val="accent5">
                        <a:lumMod val="40000"/>
                        <a:lumOff val="60000"/>
                      </a:schemeClr>
                    </a:solidFill>
                  </a:tcPr>
                </a:tc>
                <a:tc rowSpan="4">
                  <a:txBody>
                    <a:bodyPr/>
                    <a:lstStyle/>
                    <a:p>
                      <a:pPr algn="l" fontAlgn="ctr">
                        <a:buNone/>
                      </a:pPr>
                      <a:r>
                        <a:rPr lang="fr-FR" sz="1000" u="none" strike="noStrike" dirty="0">
                          <a:effectLst/>
                        </a:rPr>
                        <a:t>Kate (2020) – probabilistic + noisy‑or; Michel‑Picque et al. (2024) – SGD classifier chains</a:t>
                      </a:r>
                      <a:endParaRPr lang="fr-FR" sz="1000" b="0" i="0" u="none" strike="noStrike" dirty="0">
                        <a:solidFill>
                          <a:srgbClr val="000000"/>
                        </a:solidFill>
                        <a:effectLst/>
                        <a:latin typeface="Aptos Narrow" panose="020B0004020202020204" pitchFamily="34" charset="0"/>
                      </a:endParaRPr>
                    </a:p>
                  </a:txBody>
                  <a:tcPr marL="3481" marR="3481" marT="3481" marB="0" anchor="ctr">
                    <a:solidFill>
                      <a:schemeClr val="accent5">
                        <a:lumMod val="40000"/>
                        <a:lumOff val="60000"/>
                      </a:schemeClr>
                    </a:solidFill>
                  </a:tcPr>
                </a:tc>
                <a:tc>
                  <a:txBody>
                    <a:bodyPr/>
                    <a:lstStyle/>
                    <a:p>
                      <a:pPr algn="l" fontAlgn="ctr">
                        <a:buNone/>
                      </a:pPr>
                      <a:r>
                        <a:rPr lang="en-US" sz="1000" u="none" strike="noStrike">
                          <a:effectLst/>
                        </a:rPr>
                        <a:t>– Memerlukan fitur yang dirancang manual (feature engineering)</a:t>
                      </a:r>
                      <a:endParaRPr lang="en-US" sz="1000" b="0" i="0" u="none" strike="noStrike">
                        <a:solidFill>
                          <a:srgbClr val="000000"/>
                        </a:solidFill>
                        <a:effectLst/>
                        <a:latin typeface="Aptos Narrow" panose="020B0004020202020204" pitchFamily="34" charset="0"/>
                      </a:endParaRPr>
                    </a:p>
                  </a:txBody>
                  <a:tcPr marL="3481" marR="3481" marT="3481" marB="0" anchor="ctr">
                    <a:solidFill>
                      <a:schemeClr val="accent5">
                        <a:lumMod val="40000"/>
                        <a:lumOff val="60000"/>
                      </a:schemeClr>
                    </a:solidFill>
                  </a:tcPr>
                </a:tc>
                <a:extLst>
                  <a:ext uri="{0D108BD9-81ED-4DB2-BD59-A6C34878D82A}">
                    <a16:rowId xmlns:a16="http://schemas.microsoft.com/office/drawing/2014/main" val="3943878584"/>
                  </a:ext>
                </a:extLst>
              </a:tr>
              <a:tr h="161243">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dirty="0">
                          <a:effectLst/>
                        </a:rPr>
                        <a:t>– Kurang </a:t>
                      </a:r>
                      <a:r>
                        <a:rPr lang="en-ID" sz="1000" u="none" strike="noStrike" dirty="0" err="1">
                          <a:effectLst/>
                        </a:rPr>
                        <a:t>mampu</a:t>
                      </a:r>
                      <a:r>
                        <a:rPr lang="en-ID" sz="1000" u="none" strike="noStrike" dirty="0">
                          <a:effectLst/>
                        </a:rPr>
                        <a:t> </a:t>
                      </a:r>
                      <a:r>
                        <a:rPr lang="en-ID" sz="1000" u="none" strike="noStrike" dirty="0" err="1">
                          <a:effectLst/>
                        </a:rPr>
                        <a:t>menangkap</a:t>
                      </a:r>
                      <a:r>
                        <a:rPr lang="en-ID" sz="1000" u="none" strike="noStrike" dirty="0">
                          <a:effectLst/>
                        </a:rPr>
                        <a:t> </a:t>
                      </a:r>
                      <a:r>
                        <a:rPr lang="en-ID" sz="1000" u="none" strike="noStrike" dirty="0" err="1">
                          <a:effectLst/>
                        </a:rPr>
                        <a:t>hubungan</a:t>
                      </a:r>
                      <a:r>
                        <a:rPr lang="en-ID" sz="1000" u="none" strike="noStrike" dirty="0">
                          <a:effectLst/>
                        </a:rPr>
                        <a:t> </a:t>
                      </a:r>
                      <a:r>
                        <a:rPr lang="en-ID" sz="1000" u="none" strike="noStrike" dirty="0" err="1">
                          <a:effectLst/>
                        </a:rPr>
                        <a:t>semantik</a:t>
                      </a:r>
                      <a:r>
                        <a:rPr lang="en-ID" sz="1000" u="none" strike="noStrike" dirty="0">
                          <a:effectLst/>
                        </a:rPr>
                        <a:t> yang </a:t>
                      </a:r>
                      <a:r>
                        <a:rPr lang="en-ID" sz="1000" u="none" strike="noStrike" dirty="0" err="1">
                          <a:effectLst/>
                        </a:rPr>
                        <a:t>kompleks</a:t>
                      </a:r>
                      <a:endParaRPr lang="en-ID" sz="1000" b="0" i="0" u="none" strike="noStrike" dirty="0">
                        <a:solidFill>
                          <a:srgbClr val="000000"/>
                        </a:solidFill>
                        <a:effectLst/>
                        <a:latin typeface="Aptos Narrow" panose="020B0004020202020204" pitchFamily="34" charset="0"/>
                      </a:endParaRPr>
                    </a:p>
                  </a:txBody>
                  <a:tcPr marL="3481" marR="3481" marT="3481" marB="0" anchor="ctr">
                    <a:solidFill>
                      <a:schemeClr val="accent5">
                        <a:lumMod val="40000"/>
                        <a:lumOff val="60000"/>
                      </a:schemeClr>
                    </a:solidFill>
                  </a:tcPr>
                </a:tc>
                <a:extLst>
                  <a:ext uri="{0D108BD9-81ED-4DB2-BD59-A6C34878D82A}">
                    <a16:rowId xmlns:a16="http://schemas.microsoft.com/office/drawing/2014/main" val="2400567811"/>
                  </a:ext>
                </a:extLst>
              </a:tr>
              <a:tr h="161243">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dirty="0">
                          <a:effectLst/>
                        </a:rPr>
                        <a:t>– Performa </a:t>
                      </a:r>
                      <a:r>
                        <a:rPr lang="en-ID" sz="1000" u="none" strike="noStrike" dirty="0" err="1">
                          <a:effectLst/>
                        </a:rPr>
                        <a:t>terbatas</a:t>
                      </a:r>
                      <a:r>
                        <a:rPr lang="en-ID" sz="1000" u="none" strike="noStrike" dirty="0">
                          <a:effectLst/>
                        </a:rPr>
                        <a:t> pada data </a:t>
                      </a:r>
                      <a:r>
                        <a:rPr lang="en-ID" sz="1000" u="none" strike="noStrike" dirty="0" err="1">
                          <a:effectLst/>
                        </a:rPr>
                        <a:t>dengan</a:t>
                      </a:r>
                      <a:r>
                        <a:rPr lang="en-ID" sz="1000" u="none" strike="noStrike" dirty="0">
                          <a:effectLst/>
                        </a:rPr>
                        <a:t> noise </a:t>
                      </a:r>
                      <a:r>
                        <a:rPr lang="en-ID" sz="1000" u="none" strike="noStrike" dirty="0" err="1">
                          <a:effectLst/>
                        </a:rPr>
                        <a:t>tinggi</a:t>
                      </a:r>
                      <a:r>
                        <a:rPr lang="en-ID" sz="1000" u="none" strike="noStrike" dirty="0">
                          <a:effectLst/>
                        </a:rPr>
                        <a:t> (</a:t>
                      </a:r>
                      <a:r>
                        <a:rPr lang="en-ID" sz="1000" u="none" strike="noStrike" dirty="0" err="1">
                          <a:effectLst/>
                        </a:rPr>
                        <a:t>teks</a:t>
                      </a:r>
                      <a:r>
                        <a:rPr lang="en-ID" sz="1000" u="none" strike="noStrike" dirty="0">
                          <a:effectLst/>
                        </a:rPr>
                        <a:t> </a:t>
                      </a:r>
                      <a:r>
                        <a:rPr lang="en-ID" sz="1000" u="none" strike="noStrike" dirty="0" err="1">
                          <a:effectLst/>
                        </a:rPr>
                        <a:t>klinis</a:t>
                      </a:r>
                      <a:r>
                        <a:rPr lang="en-ID" sz="1000" u="none" strike="noStrike" dirty="0">
                          <a:effectLst/>
                        </a:rPr>
                        <a:t>)</a:t>
                      </a:r>
                      <a:endParaRPr lang="en-ID" sz="1000" b="0" i="0" u="none" strike="noStrike" dirty="0">
                        <a:solidFill>
                          <a:srgbClr val="000000"/>
                        </a:solidFill>
                        <a:effectLst/>
                        <a:latin typeface="Aptos Narrow" panose="020B0004020202020204" pitchFamily="34" charset="0"/>
                      </a:endParaRPr>
                    </a:p>
                  </a:txBody>
                  <a:tcPr marL="3481" marR="3481" marT="3481" marB="0" anchor="ctr">
                    <a:solidFill>
                      <a:schemeClr val="accent5">
                        <a:lumMod val="40000"/>
                        <a:lumOff val="60000"/>
                      </a:schemeClr>
                    </a:solidFill>
                  </a:tcPr>
                </a:tc>
                <a:extLst>
                  <a:ext uri="{0D108BD9-81ED-4DB2-BD59-A6C34878D82A}">
                    <a16:rowId xmlns:a16="http://schemas.microsoft.com/office/drawing/2014/main" val="3109511267"/>
                  </a:ext>
                </a:extLst>
              </a:tr>
              <a:tr h="161243">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dirty="0">
                          <a:effectLst/>
                        </a:rPr>
                        <a:t>– Tidak </a:t>
                      </a:r>
                      <a:r>
                        <a:rPr lang="en-ID" sz="1000" u="none" strike="noStrike" dirty="0" err="1">
                          <a:effectLst/>
                        </a:rPr>
                        <a:t>dapat</a:t>
                      </a:r>
                      <a:r>
                        <a:rPr lang="en-ID" sz="1000" u="none" strike="noStrike" dirty="0">
                          <a:effectLst/>
                        </a:rPr>
                        <a:t> </a:t>
                      </a:r>
                      <a:r>
                        <a:rPr lang="en-ID" sz="1000" u="none" strike="noStrike" dirty="0" err="1">
                          <a:effectLst/>
                        </a:rPr>
                        <a:t>menangani</a:t>
                      </a:r>
                      <a:r>
                        <a:rPr lang="en-ID" sz="1000" u="none" strike="noStrike" dirty="0">
                          <a:effectLst/>
                        </a:rPr>
                        <a:t> composite concepts </a:t>
                      </a:r>
                      <a:r>
                        <a:rPr lang="en-ID" sz="1000" u="none" strike="noStrike" dirty="0" err="1">
                          <a:effectLst/>
                        </a:rPr>
                        <a:t>secara</a:t>
                      </a:r>
                      <a:r>
                        <a:rPr lang="en-ID" sz="1000" u="none" strike="noStrike" dirty="0">
                          <a:effectLst/>
                        </a:rPr>
                        <a:t> </a:t>
                      </a:r>
                      <a:r>
                        <a:rPr lang="en-ID" sz="1000" u="none" strike="noStrike" dirty="0" err="1">
                          <a:effectLst/>
                        </a:rPr>
                        <a:t>alami</a:t>
                      </a:r>
                      <a:endParaRPr lang="en-ID" sz="1000" b="0" i="0" u="none" strike="noStrike" dirty="0">
                        <a:solidFill>
                          <a:srgbClr val="000000"/>
                        </a:solidFill>
                        <a:effectLst/>
                        <a:latin typeface="Aptos Narrow" panose="020B0004020202020204" pitchFamily="34" charset="0"/>
                      </a:endParaRPr>
                    </a:p>
                  </a:txBody>
                  <a:tcPr marL="3481" marR="3481" marT="3481" marB="0" anchor="ctr">
                    <a:solidFill>
                      <a:schemeClr val="accent5">
                        <a:lumMod val="40000"/>
                        <a:lumOff val="60000"/>
                      </a:schemeClr>
                    </a:solidFill>
                  </a:tcPr>
                </a:tc>
                <a:extLst>
                  <a:ext uri="{0D108BD9-81ED-4DB2-BD59-A6C34878D82A}">
                    <a16:rowId xmlns:a16="http://schemas.microsoft.com/office/drawing/2014/main" val="3807567293"/>
                  </a:ext>
                </a:extLst>
              </a:tr>
              <a:tr h="161243">
                <a:tc rowSpan="4">
                  <a:txBody>
                    <a:bodyPr/>
                    <a:lstStyle/>
                    <a:p>
                      <a:pPr algn="l" fontAlgn="ctr">
                        <a:buNone/>
                      </a:pPr>
                      <a:r>
                        <a:rPr lang="en-ID" sz="1000" u="none" strike="noStrike">
                          <a:effectLst/>
                        </a:rPr>
                        <a:t>2015–2022</a:t>
                      </a:r>
                      <a:endParaRPr lang="en-ID" sz="1000" b="1" i="0" u="none" strike="noStrike">
                        <a:solidFill>
                          <a:srgbClr val="000000"/>
                        </a:solidFill>
                        <a:effectLst/>
                        <a:latin typeface="Aptos Narrow" panose="020B0004020202020204" pitchFamily="34" charset="0"/>
                      </a:endParaRPr>
                    </a:p>
                  </a:txBody>
                  <a:tcPr marL="3481" marR="3481" marT="3481" marB="0" anchor="ctr"/>
                </a:tc>
                <a:tc rowSpan="4">
                  <a:txBody>
                    <a:bodyPr/>
                    <a:lstStyle/>
                    <a:p>
                      <a:pPr algn="l" fontAlgn="ctr">
                        <a:buNone/>
                      </a:pPr>
                      <a:r>
                        <a:rPr lang="en-ID" sz="1000" u="none" strike="noStrike">
                          <a:effectLst/>
                        </a:rPr>
                        <a:t>Deep Learning non‑Transformer (RNN, LSTM, BiLSTM, GRU, CNN)</a:t>
                      </a:r>
                      <a:endParaRPr lang="en-ID" sz="1000" b="1" i="0" u="none" strike="noStrike">
                        <a:solidFill>
                          <a:srgbClr val="000000"/>
                        </a:solidFill>
                        <a:effectLst/>
                        <a:latin typeface="Aptos Narrow" panose="020B0004020202020204" pitchFamily="34" charset="0"/>
                      </a:endParaRPr>
                    </a:p>
                  </a:txBody>
                  <a:tcPr marL="3481" marR="3481" marT="3481" marB="0" anchor="ctr"/>
                </a:tc>
                <a:tc rowSpan="4">
                  <a:txBody>
                    <a:bodyPr/>
                    <a:lstStyle/>
                    <a:p>
                      <a:pPr algn="l" fontAlgn="ctr">
                        <a:buNone/>
                      </a:pPr>
                      <a:r>
                        <a:rPr lang="en-ID" sz="1000" u="none" strike="noStrike" dirty="0">
                          <a:effectLst/>
                        </a:rPr>
                        <a:t>Chen et al. (2022) – </a:t>
                      </a:r>
                      <a:r>
                        <a:rPr lang="en-ID" sz="1000" u="none" strike="noStrike" dirty="0" err="1">
                          <a:effectLst/>
                        </a:rPr>
                        <a:t>BiLSTM</a:t>
                      </a:r>
                      <a:r>
                        <a:rPr lang="en-ID" sz="1000" u="none" strike="noStrike" dirty="0">
                          <a:effectLst/>
                        </a:rPr>
                        <a:t> + attention; Zahra &amp; Kate (2024) – GRU; Peterson &amp; Liu (2020) – </a:t>
                      </a:r>
                      <a:r>
                        <a:rPr lang="en-ID" sz="1000" u="none" strike="noStrike" dirty="0" err="1">
                          <a:effectLst/>
                        </a:rPr>
                        <a:t>BiLSTM</a:t>
                      </a:r>
                      <a:endParaRPr lang="en-ID" sz="1000" b="0" i="0" u="none" strike="noStrike" dirty="0">
                        <a:solidFill>
                          <a:srgbClr val="000000"/>
                        </a:solidFill>
                        <a:effectLst/>
                        <a:latin typeface="Aptos Narrow" panose="020B0004020202020204" pitchFamily="34" charset="0"/>
                      </a:endParaRPr>
                    </a:p>
                  </a:txBody>
                  <a:tcPr marL="3481" marR="3481" marT="3481" marB="0" anchor="ctr"/>
                </a:tc>
                <a:tc>
                  <a:txBody>
                    <a:bodyPr/>
                    <a:lstStyle/>
                    <a:p>
                      <a:pPr algn="l" fontAlgn="ctr">
                        <a:buNone/>
                      </a:pPr>
                      <a:r>
                        <a:rPr lang="en-ID" sz="1000" u="none" strike="noStrike" dirty="0">
                          <a:effectLst/>
                        </a:rPr>
                        <a:t>– </a:t>
                      </a:r>
                      <a:r>
                        <a:rPr lang="en-ID" sz="1000" u="none" strike="noStrike" dirty="0" err="1">
                          <a:effectLst/>
                        </a:rPr>
                        <a:t>Pemrosesan</a:t>
                      </a:r>
                      <a:r>
                        <a:rPr lang="en-ID" sz="1000" u="none" strike="noStrike" dirty="0">
                          <a:effectLst/>
                        </a:rPr>
                        <a:t> </a:t>
                      </a:r>
                      <a:r>
                        <a:rPr lang="en-ID" sz="1000" u="none" strike="noStrike" dirty="0" err="1">
                          <a:effectLst/>
                        </a:rPr>
                        <a:t>sekuensial</a:t>
                      </a:r>
                      <a:r>
                        <a:rPr lang="en-ID" sz="1000" u="none" strike="noStrike" dirty="0">
                          <a:effectLst/>
                        </a:rPr>
                        <a:t> (RNN/LSTM) </a:t>
                      </a:r>
                      <a:r>
                        <a:rPr lang="en-ID" sz="1000" u="none" strike="noStrike" dirty="0" err="1">
                          <a:effectLst/>
                        </a:rPr>
                        <a:t>sulit</a:t>
                      </a:r>
                      <a:r>
                        <a:rPr lang="en-ID" sz="1000" u="none" strike="noStrike" dirty="0">
                          <a:effectLst/>
                        </a:rPr>
                        <a:t> </a:t>
                      </a:r>
                      <a:r>
                        <a:rPr lang="en-ID" sz="1000" u="none" strike="noStrike" dirty="0" err="1">
                          <a:effectLst/>
                        </a:rPr>
                        <a:t>diparalelkan</a:t>
                      </a:r>
                      <a:r>
                        <a:rPr lang="en-ID" sz="1000" u="none" strike="noStrike" dirty="0">
                          <a:effectLst/>
                        </a:rPr>
                        <a:t>, </a:t>
                      </a:r>
                      <a:r>
                        <a:rPr lang="en-ID" sz="1000" u="none" strike="noStrike" dirty="0" err="1">
                          <a:effectLst/>
                        </a:rPr>
                        <a:t>lambat</a:t>
                      </a:r>
                      <a:r>
                        <a:rPr lang="en-ID" sz="1000" u="none" strike="noStrike" dirty="0">
                          <a:effectLst/>
                        </a:rPr>
                        <a:t> pada data </a:t>
                      </a:r>
                      <a:r>
                        <a:rPr lang="en-ID" sz="1000" u="none" strike="noStrike" dirty="0" err="1">
                          <a:effectLst/>
                        </a:rPr>
                        <a:t>besar</a:t>
                      </a:r>
                      <a:endParaRPr lang="en-ID" sz="1000" b="0" i="0" u="none" strike="noStrike" dirty="0">
                        <a:solidFill>
                          <a:srgbClr val="000000"/>
                        </a:solidFill>
                        <a:effectLst/>
                        <a:latin typeface="Aptos Narrow" panose="020B0004020202020204" pitchFamily="34" charset="0"/>
                      </a:endParaRPr>
                    </a:p>
                  </a:txBody>
                  <a:tcPr marL="3481" marR="3481" marT="3481" marB="0" anchor="ctr"/>
                </a:tc>
                <a:extLst>
                  <a:ext uri="{0D108BD9-81ED-4DB2-BD59-A6C34878D82A}">
                    <a16:rowId xmlns:a16="http://schemas.microsoft.com/office/drawing/2014/main" val="452993087"/>
                  </a:ext>
                </a:extLst>
              </a:tr>
              <a:tr h="161243">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dirty="0">
                          <a:effectLst/>
                        </a:rPr>
                        <a:t>– </a:t>
                      </a:r>
                      <a:r>
                        <a:rPr lang="en-ID" sz="1000" u="none" strike="noStrike" dirty="0" err="1">
                          <a:effectLst/>
                        </a:rPr>
                        <a:t>Kesulitan</a:t>
                      </a:r>
                      <a:r>
                        <a:rPr lang="en-ID" sz="1000" u="none" strike="noStrike" dirty="0">
                          <a:effectLst/>
                        </a:rPr>
                        <a:t> </a:t>
                      </a:r>
                      <a:r>
                        <a:rPr lang="en-ID" sz="1000" u="none" strike="noStrike" dirty="0" err="1">
                          <a:effectLst/>
                        </a:rPr>
                        <a:t>menangkap</a:t>
                      </a:r>
                      <a:r>
                        <a:rPr lang="en-ID" sz="1000" u="none" strike="noStrike" dirty="0">
                          <a:effectLst/>
                        </a:rPr>
                        <a:t> </a:t>
                      </a:r>
                      <a:r>
                        <a:rPr lang="en-ID" sz="1000" u="none" strike="noStrike" dirty="0" err="1">
                          <a:effectLst/>
                        </a:rPr>
                        <a:t>ketergantungan</a:t>
                      </a:r>
                      <a:r>
                        <a:rPr lang="en-ID" sz="1000" u="none" strike="noStrike" dirty="0">
                          <a:effectLst/>
                        </a:rPr>
                        <a:t> </a:t>
                      </a:r>
                      <a:r>
                        <a:rPr lang="en-ID" sz="1000" u="none" strike="noStrike" dirty="0" err="1">
                          <a:effectLst/>
                        </a:rPr>
                        <a:t>jarak</a:t>
                      </a:r>
                      <a:r>
                        <a:rPr lang="en-ID" sz="1000" u="none" strike="noStrike" dirty="0">
                          <a:effectLst/>
                        </a:rPr>
                        <a:t> </a:t>
                      </a:r>
                      <a:r>
                        <a:rPr lang="en-ID" sz="1000" u="none" strike="noStrike" dirty="0" err="1">
                          <a:effectLst/>
                        </a:rPr>
                        <a:t>jauh</a:t>
                      </a:r>
                      <a:r>
                        <a:rPr lang="en-ID" sz="1000" u="none" strike="noStrike" dirty="0">
                          <a:effectLst/>
                        </a:rPr>
                        <a:t> </a:t>
                      </a:r>
                      <a:r>
                        <a:rPr lang="en-ID" sz="1000" u="none" strike="noStrike" dirty="0" err="1">
                          <a:effectLst/>
                        </a:rPr>
                        <a:t>dalam</a:t>
                      </a:r>
                      <a:r>
                        <a:rPr lang="en-ID" sz="1000" u="none" strike="noStrike" dirty="0">
                          <a:effectLst/>
                        </a:rPr>
                        <a:t> </a:t>
                      </a:r>
                      <a:r>
                        <a:rPr lang="en-ID" sz="1000" u="none" strike="noStrike" dirty="0" err="1">
                          <a:effectLst/>
                        </a:rPr>
                        <a:t>teks</a:t>
                      </a:r>
                      <a:r>
                        <a:rPr lang="en-ID" sz="1000" u="none" strike="noStrike" dirty="0">
                          <a:effectLst/>
                        </a:rPr>
                        <a:t> </a:t>
                      </a:r>
                      <a:r>
                        <a:rPr lang="en-ID" sz="1000" u="none" strike="noStrike" dirty="0" err="1">
                          <a:effectLst/>
                        </a:rPr>
                        <a:t>panjang</a:t>
                      </a:r>
                      <a:r>
                        <a:rPr lang="en-ID" sz="1000" u="none" strike="noStrike" dirty="0">
                          <a:effectLst/>
                        </a:rPr>
                        <a:t> (vanishing gradient)</a:t>
                      </a:r>
                      <a:endParaRPr lang="en-ID" sz="1000" b="0" i="0" u="none" strike="noStrike" dirty="0">
                        <a:solidFill>
                          <a:srgbClr val="000000"/>
                        </a:solidFill>
                        <a:effectLst/>
                        <a:latin typeface="Aptos Narrow" panose="020B0004020202020204" pitchFamily="34" charset="0"/>
                      </a:endParaRPr>
                    </a:p>
                  </a:txBody>
                  <a:tcPr marL="3481" marR="3481" marT="3481" marB="0" anchor="ctr"/>
                </a:tc>
                <a:extLst>
                  <a:ext uri="{0D108BD9-81ED-4DB2-BD59-A6C34878D82A}">
                    <a16:rowId xmlns:a16="http://schemas.microsoft.com/office/drawing/2014/main" val="1172237120"/>
                  </a:ext>
                </a:extLst>
              </a:tr>
              <a:tr h="161243">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a:effectLst/>
                        </a:rPr>
                        <a:t>– Memerlukan data training yang besar dan anotasi manual</a:t>
                      </a:r>
                      <a:endParaRPr lang="en-ID" sz="1000" b="0" i="0" u="none" strike="noStrike">
                        <a:solidFill>
                          <a:srgbClr val="000000"/>
                        </a:solidFill>
                        <a:effectLst/>
                        <a:latin typeface="Aptos Narrow" panose="020B0004020202020204" pitchFamily="34" charset="0"/>
                      </a:endParaRPr>
                    </a:p>
                  </a:txBody>
                  <a:tcPr marL="3481" marR="3481" marT="3481" marB="0" anchor="ctr"/>
                </a:tc>
                <a:extLst>
                  <a:ext uri="{0D108BD9-81ED-4DB2-BD59-A6C34878D82A}">
                    <a16:rowId xmlns:a16="http://schemas.microsoft.com/office/drawing/2014/main" val="2821044913"/>
                  </a:ext>
                </a:extLst>
              </a:tr>
              <a:tr h="161243">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dirty="0">
                          <a:effectLst/>
                        </a:rPr>
                        <a:t>– Tidak </a:t>
                      </a:r>
                      <a:r>
                        <a:rPr lang="en-ID" sz="1000" u="none" strike="noStrike" dirty="0" err="1">
                          <a:effectLst/>
                        </a:rPr>
                        <a:t>dapat</a:t>
                      </a:r>
                      <a:r>
                        <a:rPr lang="en-ID" sz="1000" u="none" strike="noStrike" dirty="0">
                          <a:effectLst/>
                        </a:rPr>
                        <a:t> </a:t>
                      </a:r>
                      <a:r>
                        <a:rPr lang="en-ID" sz="1000" u="none" strike="noStrike" dirty="0" err="1">
                          <a:effectLst/>
                        </a:rPr>
                        <a:t>memanfaatkan</a:t>
                      </a:r>
                      <a:r>
                        <a:rPr lang="en-ID" sz="1000" u="none" strike="noStrike" dirty="0">
                          <a:effectLst/>
                        </a:rPr>
                        <a:t> pre‑training </a:t>
                      </a:r>
                      <a:r>
                        <a:rPr lang="en-ID" sz="1000" u="none" strike="noStrike" dirty="0" err="1">
                          <a:effectLst/>
                        </a:rPr>
                        <a:t>secara</a:t>
                      </a:r>
                      <a:r>
                        <a:rPr lang="en-ID" sz="1000" u="none" strike="noStrike" dirty="0">
                          <a:effectLst/>
                        </a:rPr>
                        <a:t> optimal (transfer learning </a:t>
                      </a:r>
                      <a:r>
                        <a:rPr lang="en-ID" sz="1000" u="none" strike="noStrike" dirty="0" err="1">
                          <a:effectLst/>
                        </a:rPr>
                        <a:t>terbatas</a:t>
                      </a:r>
                      <a:r>
                        <a:rPr lang="en-ID" sz="1000" u="none" strike="noStrike" dirty="0">
                          <a:effectLst/>
                        </a:rPr>
                        <a:t>)</a:t>
                      </a:r>
                      <a:endParaRPr lang="en-ID" sz="1000" b="0" i="0" u="none" strike="noStrike" dirty="0">
                        <a:solidFill>
                          <a:srgbClr val="000000"/>
                        </a:solidFill>
                        <a:effectLst/>
                        <a:latin typeface="Aptos Narrow" panose="020B0004020202020204" pitchFamily="34" charset="0"/>
                      </a:endParaRPr>
                    </a:p>
                  </a:txBody>
                  <a:tcPr marL="3481" marR="3481" marT="3481" marB="0" anchor="ctr"/>
                </a:tc>
                <a:extLst>
                  <a:ext uri="{0D108BD9-81ED-4DB2-BD59-A6C34878D82A}">
                    <a16:rowId xmlns:a16="http://schemas.microsoft.com/office/drawing/2014/main" val="1407674747"/>
                  </a:ext>
                </a:extLst>
              </a:tr>
              <a:tr h="317744">
                <a:tc rowSpan="4">
                  <a:txBody>
                    <a:bodyPr/>
                    <a:lstStyle/>
                    <a:p>
                      <a:pPr algn="l" fontAlgn="ctr">
                        <a:buNone/>
                      </a:pPr>
                      <a:r>
                        <a:rPr lang="en-ID" sz="1000" u="none" strike="noStrike" dirty="0">
                          <a:effectLst/>
                        </a:rPr>
                        <a:t>2018–2023</a:t>
                      </a:r>
                      <a:endParaRPr lang="en-ID" sz="1000" b="1" i="0" u="none" strike="noStrike" dirty="0">
                        <a:solidFill>
                          <a:srgbClr val="000000"/>
                        </a:solidFill>
                        <a:effectLst/>
                        <a:latin typeface="Aptos Narrow" panose="020B0004020202020204" pitchFamily="34" charset="0"/>
                      </a:endParaRPr>
                    </a:p>
                  </a:txBody>
                  <a:tcPr marL="3481" marR="3481" marT="3481" marB="0" anchor="ctr">
                    <a:solidFill>
                      <a:schemeClr val="accent5">
                        <a:lumMod val="40000"/>
                        <a:lumOff val="60000"/>
                      </a:schemeClr>
                    </a:solidFill>
                  </a:tcPr>
                </a:tc>
                <a:tc rowSpan="4">
                  <a:txBody>
                    <a:bodyPr/>
                    <a:lstStyle/>
                    <a:p>
                      <a:pPr algn="l" fontAlgn="ctr">
                        <a:buNone/>
                      </a:pPr>
                      <a:r>
                        <a:rPr lang="en-ID" sz="1000" u="none" strike="noStrike" dirty="0">
                          <a:effectLst/>
                        </a:rPr>
                        <a:t>Transformer (BERT, </a:t>
                      </a:r>
                      <a:r>
                        <a:rPr lang="en-ID" sz="1000" u="none" strike="noStrike" dirty="0" err="1">
                          <a:effectLst/>
                        </a:rPr>
                        <a:t>BioBERT</a:t>
                      </a:r>
                      <a:r>
                        <a:rPr lang="en-ID" sz="1000" u="none" strike="noStrike" dirty="0">
                          <a:effectLst/>
                        </a:rPr>
                        <a:t>, Sentence‑Transformer)</a:t>
                      </a:r>
                      <a:endParaRPr lang="en-ID" sz="1000" b="1" i="0" u="none" strike="noStrike" dirty="0">
                        <a:solidFill>
                          <a:srgbClr val="000000"/>
                        </a:solidFill>
                        <a:effectLst/>
                        <a:latin typeface="Aptos Narrow" panose="020B0004020202020204" pitchFamily="34" charset="0"/>
                      </a:endParaRPr>
                    </a:p>
                  </a:txBody>
                  <a:tcPr marL="3481" marR="3481" marT="3481" marB="0" anchor="ctr">
                    <a:solidFill>
                      <a:schemeClr val="accent5">
                        <a:lumMod val="40000"/>
                        <a:lumOff val="60000"/>
                      </a:schemeClr>
                    </a:solidFill>
                  </a:tcPr>
                </a:tc>
                <a:tc rowSpan="4">
                  <a:txBody>
                    <a:bodyPr/>
                    <a:lstStyle/>
                    <a:p>
                      <a:pPr algn="l" fontAlgn="ctr">
                        <a:buNone/>
                      </a:pPr>
                      <a:r>
                        <a:rPr lang="fr-FR" sz="1000" u="none" strike="noStrike" dirty="0">
                          <a:effectLst/>
                        </a:rPr>
                        <a:t>Hristov et al. (2021) – BioBERT; Chen et al. (2022) – BERT; Michel‑Picque et al. (2024) – CamemBERT, DrBERT; Zhou et al. (2024) – sentence‑transformer</a:t>
                      </a:r>
                      <a:endParaRPr lang="fr-FR" sz="1000" b="0" i="0" u="none" strike="noStrike" dirty="0">
                        <a:solidFill>
                          <a:srgbClr val="000000"/>
                        </a:solidFill>
                        <a:effectLst/>
                        <a:latin typeface="Aptos Narrow" panose="020B0004020202020204" pitchFamily="34" charset="0"/>
                      </a:endParaRPr>
                    </a:p>
                  </a:txBody>
                  <a:tcPr marL="3481" marR="3481" marT="3481" marB="0" anchor="ctr">
                    <a:solidFill>
                      <a:schemeClr val="accent5">
                        <a:lumMod val="40000"/>
                        <a:lumOff val="60000"/>
                      </a:schemeClr>
                    </a:solidFill>
                  </a:tcPr>
                </a:tc>
                <a:tc>
                  <a:txBody>
                    <a:bodyPr/>
                    <a:lstStyle/>
                    <a:p>
                      <a:pPr algn="l" fontAlgn="ctr">
                        <a:buNone/>
                      </a:pPr>
                      <a:r>
                        <a:rPr lang="en-ID" sz="1000" u="none" strike="noStrike" dirty="0">
                          <a:effectLst/>
                        </a:rPr>
                        <a:t>– Masih </a:t>
                      </a:r>
                      <a:r>
                        <a:rPr lang="en-ID" sz="1000" u="none" strike="noStrike" dirty="0" err="1">
                          <a:effectLst/>
                        </a:rPr>
                        <a:t>bersifat</a:t>
                      </a:r>
                      <a:r>
                        <a:rPr lang="en-ID" sz="1000" u="none" strike="noStrike" dirty="0">
                          <a:effectLst/>
                        </a:rPr>
                        <a:t> closed‑book (</a:t>
                      </a:r>
                      <a:r>
                        <a:rPr lang="en-ID" sz="1000" u="none" strike="noStrike" dirty="0" err="1">
                          <a:effectLst/>
                        </a:rPr>
                        <a:t>pengetahuan</a:t>
                      </a:r>
                      <a:r>
                        <a:rPr lang="en-ID" sz="1000" u="none" strike="noStrike" dirty="0">
                          <a:effectLst/>
                        </a:rPr>
                        <a:t> </a:t>
                      </a:r>
                      <a:r>
                        <a:rPr lang="en-ID" sz="1000" u="none" strike="noStrike" dirty="0" err="1">
                          <a:effectLst/>
                        </a:rPr>
                        <a:t>hanya</a:t>
                      </a:r>
                      <a:r>
                        <a:rPr lang="en-ID" sz="1000" u="none" strike="noStrike" dirty="0">
                          <a:effectLst/>
                        </a:rPr>
                        <a:t> </a:t>
                      </a:r>
                      <a:r>
                        <a:rPr lang="en-ID" sz="1000" u="none" strike="noStrike" dirty="0" err="1">
                          <a:effectLst/>
                        </a:rPr>
                        <a:t>dari</a:t>
                      </a:r>
                      <a:r>
                        <a:rPr lang="en-ID" sz="1000" u="none" strike="noStrike" dirty="0">
                          <a:effectLst/>
                        </a:rPr>
                        <a:t> data </a:t>
                      </a:r>
                      <a:r>
                        <a:rPr lang="en-ID" sz="1000" u="none" strike="noStrike" dirty="0" err="1">
                          <a:effectLst/>
                        </a:rPr>
                        <a:t>pelatihan</a:t>
                      </a:r>
                      <a:r>
                        <a:rPr lang="en-ID" sz="1000" u="none" strike="noStrike" dirty="0">
                          <a:effectLst/>
                        </a:rPr>
                        <a:t>, </a:t>
                      </a:r>
                      <a:r>
                        <a:rPr lang="en-ID" sz="1000" u="none" strike="noStrike" dirty="0" err="1">
                          <a:effectLst/>
                        </a:rPr>
                        <a:t>tidak</a:t>
                      </a:r>
                      <a:r>
                        <a:rPr lang="en-ID" sz="1000" u="none" strike="noStrike" dirty="0">
                          <a:effectLst/>
                        </a:rPr>
                        <a:t> </a:t>
                      </a:r>
                      <a:r>
                        <a:rPr lang="en-ID" sz="1000" u="none" strike="noStrike" dirty="0" err="1">
                          <a:effectLst/>
                        </a:rPr>
                        <a:t>bisa</a:t>
                      </a:r>
                      <a:r>
                        <a:rPr lang="en-ID" sz="1000" u="none" strike="noStrike" dirty="0">
                          <a:effectLst/>
                        </a:rPr>
                        <a:t> </a:t>
                      </a:r>
                      <a:r>
                        <a:rPr lang="en-ID" sz="1000" u="none" strike="noStrike" dirty="0" err="1">
                          <a:effectLst/>
                        </a:rPr>
                        <a:t>akses</a:t>
                      </a:r>
                      <a:r>
                        <a:rPr lang="en-ID" sz="1000" u="none" strike="noStrike" dirty="0">
                          <a:effectLst/>
                        </a:rPr>
                        <a:t> </a:t>
                      </a:r>
                      <a:r>
                        <a:rPr lang="en-ID" sz="1000" u="none" strike="noStrike" dirty="0" err="1">
                          <a:effectLst/>
                        </a:rPr>
                        <a:t>terminologi</a:t>
                      </a:r>
                      <a:r>
                        <a:rPr lang="en-ID" sz="1000" u="none" strike="noStrike" dirty="0">
                          <a:effectLst/>
                        </a:rPr>
                        <a:t> </a:t>
                      </a:r>
                      <a:r>
                        <a:rPr lang="en-ID" sz="1000" u="none" strike="noStrike" dirty="0" err="1">
                          <a:effectLst/>
                        </a:rPr>
                        <a:t>terbaru</a:t>
                      </a:r>
                      <a:r>
                        <a:rPr lang="en-ID" sz="1000" u="none" strike="noStrike" dirty="0">
                          <a:effectLst/>
                        </a:rPr>
                        <a:t>)</a:t>
                      </a:r>
                      <a:endParaRPr lang="en-ID" sz="1000" b="0" i="0" u="none" strike="noStrike" dirty="0">
                        <a:solidFill>
                          <a:srgbClr val="000000"/>
                        </a:solidFill>
                        <a:effectLst/>
                        <a:latin typeface="Aptos Narrow" panose="020B0004020202020204" pitchFamily="34" charset="0"/>
                      </a:endParaRPr>
                    </a:p>
                  </a:txBody>
                  <a:tcPr marL="3481" marR="3481" marT="3481" marB="0" anchor="ctr">
                    <a:solidFill>
                      <a:schemeClr val="accent5">
                        <a:lumMod val="40000"/>
                        <a:lumOff val="60000"/>
                      </a:schemeClr>
                    </a:solidFill>
                  </a:tcPr>
                </a:tc>
                <a:extLst>
                  <a:ext uri="{0D108BD9-81ED-4DB2-BD59-A6C34878D82A}">
                    <a16:rowId xmlns:a16="http://schemas.microsoft.com/office/drawing/2014/main" val="252344330"/>
                  </a:ext>
                </a:extLst>
              </a:tr>
              <a:tr h="190355">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dirty="0">
                          <a:effectLst/>
                        </a:rPr>
                        <a:t>– Tidak </a:t>
                      </a:r>
                      <a:r>
                        <a:rPr lang="en-ID" sz="1000" u="none" strike="noStrike" dirty="0" err="1">
                          <a:effectLst/>
                        </a:rPr>
                        <a:t>dapat</a:t>
                      </a:r>
                      <a:r>
                        <a:rPr lang="en-ID" sz="1000" u="none" strike="noStrike" dirty="0">
                          <a:effectLst/>
                        </a:rPr>
                        <a:t> </a:t>
                      </a:r>
                      <a:r>
                        <a:rPr lang="en-ID" sz="1000" u="none" strike="noStrike" dirty="0" err="1">
                          <a:effectLst/>
                        </a:rPr>
                        <a:t>menangani</a:t>
                      </a:r>
                      <a:r>
                        <a:rPr lang="en-ID" sz="1000" u="none" strike="noStrike" dirty="0">
                          <a:effectLst/>
                        </a:rPr>
                        <a:t> composite concepts </a:t>
                      </a:r>
                      <a:r>
                        <a:rPr lang="en-ID" sz="1000" u="none" strike="noStrike" dirty="0" err="1">
                          <a:effectLst/>
                        </a:rPr>
                        <a:t>atau</a:t>
                      </a:r>
                      <a:r>
                        <a:rPr lang="en-ID" sz="1000" u="none" strike="noStrike" dirty="0">
                          <a:effectLst/>
                        </a:rPr>
                        <a:t> </a:t>
                      </a:r>
                      <a:r>
                        <a:rPr lang="en-ID" sz="1000" u="none" strike="noStrike" dirty="0" err="1">
                          <a:effectLst/>
                        </a:rPr>
                        <a:t>istilah</a:t>
                      </a:r>
                      <a:r>
                        <a:rPr lang="en-ID" sz="1000" u="none" strike="noStrike" dirty="0">
                          <a:effectLst/>
                        </a:rPr>
                        <a:t> yang </a:t>
                      </a:r>
                      <a:r>
                        <a:rPr lang="en-ID" sz="1000" u="none" strike="noStrike" dirty="0" err="1">
                          <a:effectLst/>
                        </a:rPr>
                        <a:t>memerlukan</a:t>
                      </a:r>
                      <a:r>
                        <a:rPr lang="en-ID" sz="1000" u="none" strike="noStrike" dirty="0">
                          <a:effectLst/>
                        </a:rPr>
                        <a:t> </a:t>
                      </a:r>
                      <a:r>
                        <a:rPr lang="en-ID" sz="1000" u="none" strike="noStrike" dirty="0" err="1">
                          <a:effectLst/>
                        </a:rPr>
                        <a:t>penalaran</a:t>
                      </a:r>
                      <a:r>
                        <a:rPr lang="en-ID" sz="1000" u="none" strike="noStrike" dirty="0">
                          <a:effectLst/>
                        </a:rPr>
                        <a:t> multi‑</a:t>
                      </a:r>
                      <a:r>
                        <a:rPr lang="en-ID" sz="1000" u="none" strike="noStrike" dirty="0" err="1">
                          <a:effectLst/>
                        </a:rPr>
                        <a:t>langkah</a:t>
                      </a:r>
                      <a:endParaRPr lang="en-ID" sz="1000" b="0" i="0" u="none" strike="noStrike" dirty="0">
                        <a:solidFill>
                          <a:srgbClr val="000000"/>
                        </a:solidFill>
                        <a:effectLst/>
                        <a:latin typeface="Aptos Narrow" panose="020B0004020202020204" pitchFamily="34" charset="0"/>
                      </a:endParaRPr>
                    </a:p>
                  </a:txBody>
                  <a:tcPr marL="3481" marR="3481" marT="3481" marB="0" anchor="ctr">
                    <a:solidFill>
                      <a:schemeClr val="accent5">
                        <a:lumMod val="40000"/>
                        <a:lumOff val="60000"/>
                      </a:schemeClr>
                    </a:solidFill>
                  </a:tcPr>
                </a:tc>
                <a:extLst>
                  <a:ext uri="{0D108BD9-81ED-4DB2-BD59-A6C34878D82A}">
                    <a16:rowId xmlns:a16="http://schemas.microsoft.com/office/drawing/2014/main" val="2812154775"/>
                  </a:ext>
                </a:extLst>
              </a:tr>
              <a:tr h="160666">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dirty="0">
                          <a:effectLst/>
                        </a:rPr>
                        <a:t>– </a:t>
                      </a:r>
                      <a:r>
                        <a:rPr lang="en-ID" sz="1000" u="none" strike="noStrike" dirty="0" err="1">
                          <a:effectLst/>
                        </a:rPr>
                        <a:t>Biaya</a:t>
                      </a:r>
                      <a:r>
                        <a:rPr lang="en-ID" sz="1000" u="none" strike="noStrike" dirty="0">
                          <a:effectLst/>
                        </a:rPr>
                        <a:t> </a:t>
                      </a:r>
                      <a:r>
                        <a:rPr lang="en-ID" sz="1000" u="none" strike="noStrike" dirty="0" err="1">
                          <a:effectLst/>
                        </a:rPr>
                        <a:t>komputasi</a:t>
                      </a:r>
                      <a:r>
                        <a:rPr lang="en-ID" sz="1000" u="none" strike="noStrike" dirty="0">
                          <a:effectLst/>
                        </a:rPr>
                        <a:t> </a:t>
                      </a:r>
                      <a:r>
                        <a:rPr lang="en-ID" sz="1000" u="none" strike="noStrike" dirty="0" err="1">
                          <a:effectLst/>
                        </a:rPr>
                        <a:t>tinggi</a:t>
                      </a:r>
                      <a:r>
                        <a:rPr lang="en-ID" sz="1000" u="none" strike="noStrike" dirty="0">
                          <a:effectLst/>
                        </a:rPr>
                        <a:t> </a:t>
                      </a:r>
                      <a:r>
                        <a:rPr lang="en-ID" sz="1000" u="none" strike="noStrike" dirty="0" err="1">
                          <a:effectLst/>
                        </a:rPr>
                        <a:t>untuk</a:t>
                      </a:r>
                      <a:r>
                        <a:rPr lang="en-ID" sz="1000" u="none" strike="noStrike" dirty="0">
                          <a:effectLst/>
                        </a:rPr>
                        <a:t> fine‑tuning dan inference</a:t>
                      </a:r>
                      <a:endParaRPr lang="en-ID" sz="1000" b="0" i="0" u="none" strike="noStrike" dirty="0">
                        <a:solidFill>
                          <a:srgbClr val="000000"/>
                        </a:solidFill>
                        <a:effectLst/>
                        <a:latin typeface="Aptos Narrow" panose="020B0004020202020204" pitchFamily="34" charset="0"/>
                      </a:endParaRPr>
                    </a:p>
                  </a:txBody>
                  <a:tcPr marL="3481" marR="3481" marT="3481" marB="0" anchor="ctr">
                    <a:solidFill>
                      <a:schemeClr val="accent5">
                        <a:lumMod val="40000"/>
                        <a:lumOff val="60000"/>
                      </a:schemeClr>
                    </a:solidFill>
                  </a:tcPr>
                </a:tc>
                <a:extLst>
                  <a:ext uri="{0D108BD9-81ED-4DB2-BD59-A6C34878D82A}">
                    <a16:rowId xmlns:a16="http://schemas.microsoft.com/office/drawing/2014/main" val="2762328174"/>
                  </a:ext>
                </a:extLst>
              </a:tr>
              <a:tr h="317744">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dirty="0">
                          <a:effectLst/>
                        </a:rPr>
                        <a:t>– </a:t>
                      </a:r>
                      <a:r>
                        <a:rPr lang="en-ID" sz="1000" u="none" strike="noStrike" dirty="0" err="1">
                          <a:effectLst/>
                        </a:rPr>
                        <a:t>Rentan</a:t>
                      </a:r>
                      <a:r>
                        <a:rPr lang="en-ID" sz="1000" u="none" strike="noStrike" dirty="0">
                          <a:effectLst/>
                        </a:rPr>
                        <a:t> </a:t>
                      </a:r>
                      <a:r>
                        <a:rPr lang="en-ID" sz="1000" u="none" strike="noStrike" dirty="0" err="1">
                          <a:effectLst/>
                        </a:rPr>
                        <a:t>terhadap</a:t>
                      </a:r>
                      <a:r>
                        <a:rPr lang="en-ID" sz="1000" u="none" strike="noStrike" dirty="0">
                          <a:effectLst/>
                        </a:rPr>
                        <a:t> semantic drift dan </a:t>
                      </a:r>
                      <a:r>
                        <a:rPr lang="en-ID" sz="1000" u="none" strike="noStrike" dirty="0" err="1">
                          <a:effectLst/>
                        </a:rPr>
                        <a:t>kebingungan</a:t>
                      </a:r>
                      <a:r>
                        <a:rPr lang="en-ID" sz="1000" u="none" strike="noStrike" dirty="0">
                          <a:effectLst/>
                        </a:rPr>
                        <a:t> pada </a:t>
                      </a:r>
                      <a:r>
                        <a:rPr lang="en-ID" sz="1000" u="none" strike="noStrike" dirty="0" err="1">
                          <a:effectLst/>
                        </a:rPr>
                        <a:t>istilah</a:t>
                      </a:r>
                      <a:r>
                        <a:rPr lang="en-ID" sz="1000" u="none" strike="noStrike" dirty="0">
                          <a:effectLst/>
                        </a:rPr>
                        <a:t> yang </a:t>
                      </a:r>
                      <a:r>
                        <a:rPr lang="en-ID" sz="1000" u="none" strike="noStrike" dirty="0" err="1">
                          <a:effectLst/>
                        </a:rPr>
                        <a:t>mirip</a:t>
                      </a:r>
                      <a:r>
                        <a:rPr lang="en-ID" sz="1000" u="none" strike="noStrike" dirty="0">
                          <a:effectLst/>
                        </a:rPr>
                        <a:t> </a:t>
                      </a:r>
                      <a:r>
                        <a:rPr lang="en-ID" sz="1000" u="none" strike="noStrike" dirty="0" err="1">
                          <a:effectLst/>
                        </a:rPr>
                        <a:t>secara</a:t>
                      </a:r>
                      <a:r>
                        <a:rPr lang="en-ID" sz="1000" u="none" strike="noStrike" dirty="0">
                          <a:effectLst/>
                        </a:rPr>
                        <a:t> </a:t>
                      </a:r>
                      <a:r>
                        <a:rPr lang="en-ID" sz="1000" u="none" strike="noStrike" dirty="0" err="1">
                          <a:effectLst/>
                        </a:rPr>
                        <a:t>tekstual</a:t>
                      </a:r>
                      <a:r>
                        <a:rPr lang="en-ID" sz="1000" u="none" strike="noStrike" dirty="0">
                          <a:effectLst/>
                        </a:rPr>
                        <a:t> </a:t>
                      </a:r>
                      <a:r>
                        <a:rPr lang="en-ID" sz="1000" u="none" strike="noStrike" dirty="0" err="1">
                          <a:effectLst/>
                        </a:rPr>
                        <a:t>namun</a:t>
                      </a:r>
                      <a:r>
                        <a:rPr lang="en-ID" sz="1000" u="none" strike="noStrike" dirty="0">
                          <a:effectLst/>
                        </a:rPr>
                        <a:t> </a:t>
                      </a:r>
                      <a:r>
                        <a:rPr lang="en-ID" sz="1000" u="none" strike="noStrike" dirty="0" err="1">
                          <a:effectLst/>
                        </a:rPr>
                        <a:t>berbeda</a:t>
                      </a:r>
                      <a:r>
                        <a:rPr lang="en-ID" sz="1000" u="none" strike="noStrike" dirty="0">
                          <a:effectLst/>
                        </a:rPr>
                        <a:t> </a:t>
                      </a:r>
                      <a:r>
                        <a:rPr lang="en-ID" sz="1000" u="none" strike="noStrike" dirty="0" err="1">
                          <a:effectLst/>
                        </a:rPr>
                        <a:t>secara</a:t>
                      </a:r>
                      <a:r>
                        <a:rPr lang="en-ID" sz="1000" u="none" strike="noStrike" dirty="0">
                          <a:effectLst/>
                        </a:rPr>
                        <a:t> </a:t>
                      </a:r>
                      <a:r>
                        <a:rPr lang="en-ID" sz="1000" u="none" strike="noStrike" dirty="0" err="1">
                          <a:effectLst/>
                        </a:rPr>
                        <a:t>klinis</a:t>
                      </a:r>
                      <a:endParaRPr lang="en-ID" sz="1000" b="0" i="0" u="none" strike="noStrike" dirty="0">
                        <a:solidFill>
                          <a:srgbClr val="000000"/>
                        </a:solidFill>
                        <a:effectLst/>
                        <a:latin typeface="Aptos Narrow" panose="020B0004020202020204" pitchFamily="34" charset="0"/>
                      </a:endParaRPr>
                    </a:p>
                  </a:txBody>
                  <a:tcPr marL="3481" marR="3481" marT="3481" marB="0" anchor="ctr">
                    <a:solidFill>
                      <a:schemeClr val="accent5">
                        <a:lumMod val="40000"/>
                        <a:lumOff val="60000"/>
                      </a:schemeClr>
                    </a:solidFill>
                  </a:tcPr>
                </a:tc>
                <a:extLst>
                  <a:ext uri="{0D108BD9-81ED-4DB2-BD59-A6C34878D82A}">
                    <a16:rowId xmlns:a16="http://schemas.microsoft.com/office/drawing/2014/main" val="1320187636"/>
                  </a:ext>
                </a:extLst>
              </a:tr>
              <a:tr h="161243">
                <a:tc rowSpan="4">
                  <a:txBody>
                    <a:bodyPr/>
                    <a:lstStyle/>
                    <a:p>
                      <a:pPr algn="l" fontAlgn="ctr">
                        <a:buNone/>
                      </a:pPr>
                      <a:r>
                        <a:rPr lang="en-ID" sz="1000" u="none" strike="noStrike">
                          <a:effectLst/>
                        </a:rPr>
                        <a:t>2019–2023 (berdampingan dengan Transformer)</a:t>
                      </a:r>
                      <a:endParaRPr lang="en-ID" sz="1000" b="1" i="0" u="none" strike="noStrike">
                        <a:solidFill>
                          <a:srgbClr val="000000"/>
                        </a:solidFill>
                        <a:effectLst/>
                        <a:latin typeface="Aptos Narrow" panose="020B0004020202020204" pitchFamily="34" charset="0"/>
                      </a:endParaRPr>
                    </a:p>
                  </a:txBody>
                  <a:tcPr marL="3481" marR="3481" marT="3481" marB="0" anchor="ctr"/>
                </a:tc>
                <a:tc rowSpan="4">
                  <a:txBody>
                    <a:bodyPr/>
                    <a:lstStyle/>
                    <a:p>
                      <a:pPr algn="l" fontAlgn="ctr">
                        <a:buNone/>
                      </a:pPr>
                      <a:r>
                        <a:rPr lang="en-US" sz="1000" u="none" strike="noStrike">
                          <a:effectLst/>
                        </a:rPr>
                        <a:t>Knowledge Graph / Graph Embedding (random walk, node embedding, ontologi)</a:t>
                      </a:r>
                      <a:endParaRPr lang="en-US" sz="1000" b="1" i="0" u="none" strike="noStrike">
                        <a:solidFill>
                          <a:srgbClr val="000000"/>
                        </a:solidFill>
                        <a:effectLst/>
                        <a:latin typeface="Aptos Narrow" panose="020B0004020202020204" pitchFamily="34" charset="0"/>
                      </a:endParaRPr>
                    </a:p>
                  </a:txBody>
                  <a:tcPr marL="3481" marR="3481" marT="3481" marB="0" anchor="ctr"/>
                </a:tc>
                <a:tc rowSpan="4">
                  <a:txBody>
                    <a:bodyPr/>
                    <a:lstStyle/>
                    <a:p>
                      <a:pPr algn="l" fontAlgn="ctr">
                        <a:buNone/>
                      </a:pPr>
                      <a:r>
                        <a:rPr lang="en-ID" sz="1000" u="none" strike="noStrike">
                          <a:effectLst/>
                        </a:rPr>
                        <a:t>Zhou et al. (2022) – MIKGI (SPPMI‑SVD + SAPBERT); Xiao et al. (2022) – FHIR‑Ontop‑OMOP (virtual knowledge graph)</a:t>
                      </a:r>
                      <a:endParaRPr lang="en-ID" sz="1000" b="0" i="0" u="none" strike="noStrike">
                        <a:solidFill>
                          <a:srgbClr val="000000"/>
                        </a:solidFill>
                        <a:effectLst/>
                        <a:latin typeface="Aptos Narrow" panose="020B0004020202020204" pitchFamily="34" charset="0"/>
                      </a:endParaRPr>
                    </a:p>
                  </a:txBody>
                  <a:tcPr marL="3481" marR="3481" marT="3481" marB="0" anchor="ctr"/>
                </a:tc>
                <a:tc>
                  <a:txBody>
                    <a:bodyPr/>
                    <a:lstStyle/>
                    <a:p>
                      <a:pPr algn="l" fontAlgn="ctr">
                        <a:buNone/>
                      </a:pPr>
                      <a:r>
                        <a:rPr lang="en-ID" sz="1000" u="none" strike="noStrike" dirty="0">
                          <a:effectLst/>
                        </a:rPr>
                        <a:t>– </a:t>
                      </a:r>
                      <a:r>
                        <a:rPr lang="en-ID" sz="1000" u="none" strike="noStrike" dirty="0" err="1">
                          <a:effectLst/>
                        </a:rPr>
                        <a:t>Membutuhkan</a:t>
                      </a:r>
                      <a:r>
                        <a:rPr lang="en-ID" sz="1000" u="none" strike="noStrike" dirty="0">
                          <a:effectLst/>
                        </a:rPr>
                        <a:t> </a:t>
                      </a:r>
                      <a:r>
                        <a:rPr lang="en-ID" sz="1000" u="none" strike="noStrike" dirty="0" err="1">
                          <a:effectLst/>
                        </a:rPr>
                        <a:t>struktur</a:t>
                      </a:r>
                      <a:r>
                        <a:rPr lang="en-ID" sz="1000" u="none" strike="noStrike" dirty="0">
                          <a:effectLst/>
                        </a:rPr>
                        <a:t> </a:t>
                      </a:r>
                      <a:r>
                        <a:rPr lang="en-ID" sz="1000" u="none" strike="noStrike" dirty="0" err="1">
                          <a:effectLst/>
                        </a:rPr>
                        <a:t>graf</a:t>
                      </a:r>
                      <a:r>
                        <a:rPr lang="en-ID" sz="1000" u="none" strike="noStrike" dirty="0">
                          <a:effectLst/>
                        </a:rPr>
                        <a:t> yang </a:t>
                      </a:r>
                      <a:r>
                        <a:rPr lang="en-ID" sz="1000" u="none" strike="noStrike" dirty="0" err="1">
                          <a:effectLst/>
                        </a:rPr>
                        <a:t>sudah</a:t>
                      </a:r>
                      <a:r>
                        <a:rPr lang="en-ID" sz="1000" u="none" strike="noStrike" dirty="0">
                          <a:effectLst/>
                        </a:rPr>
                        <a:t> </a:t>
                      </a:r>
                      <a:r>
                        <a:rPr lang="en-ID" sz="1000" u="none" strike="noStrike" dirty="0" err="1">
                          <a:effectLst/>
                        </a:rPr>
                        <a:t>ada</a:t>
                      </a:r>
                      <a:r>
                        <a:rPr lang="en-ID" sz="1000" u="none" strike="noStrike" dirty="0">
                          <a:effectLst/>
                        </a:rPr>
                        <a:t> (</a:t>
                      </a:r>
                      <a:r>
                        <a:rPr lang="en-ID" sz="1000" u="none" strike="noStrike" dirty="0" err="1">
                          <a:effectLst/>
                        </a:rPr>
                        <a:t>ontologi</a:t>
                      </a:r>
                      <a:r>
                        <a:rPr lang="en-ID" sz="1000" u="none" strike="noStrike" dirty="0">
                          <a:effectLst/>
                        </a:rPr>
                        <a:t>) – </a:t>
                      </a:r>
                      <a:r>
                        <a:rPr lang="en-ID" sz="1000" u="none" strike="noStrike" dirty="0" err="1">
                          <a:effectLst/>
                        </a:rPr>
                        <a:t>tidak</a:t>
                      </a:r>
                      <a:r>
                        <a:rPr lang="en-ID" sz="1000" u="none" strike="noStrike" dirty="0">
                          <a:effectLst/>
                        </a:rPr>
                        <a:t> </a:t>
                      </a:r>
                      <a:r>
                        <a:rPr lang="en-ID" sz="1000" u="none" strike="noStrike" dirty="0" err="1">
                          <a:effectLst/>
                        </a:rPr>
                        <a:t>bisa</a:t>
                      </a:r>
                      <a:r>
                        <a:rPr lang="en-ID" sz="1000" u="none" strike="noStrike" dirty="0">
                          <a:effectLst/>
                        </a:rPr>
                        <a:t> </a:t>
                      </a:r>
                      <a:r>
                        <a:rPr lang="en-ID" sz="1000" u="none" strike="noStrike" dirty="0" err="1">
                          <a:effectLst/>
                        </a:rPr>
                        <a:t>dari</a:t>
                      </a:r>
                      <a:r>
                        <a:rPr lang="en-ID" sz="1000" u="none" strike="noStrike" dirty="0">
                          <a:effectLst/>
                        </a:rPr>
                        <a:t> </a:t>
                      </a:r>
                      <a:r>
                        <a:rPr lang="en-ID" sz="1000" u="none" strike="noStrike" dirty="0" err="1">
                          <a:effectLst/>
                        </a:rPr>
                        <a:t>teks</a:t>
                      </a:r>
                      <a:r>
                        <a:rPr lang="en-ID" sz="1000" u="none" strike="noStrike" dirty="0">
                          <a:effectLst/>
                        </a:rPr>
                        <a:t> </a:t>
                      </a:r>
                      <a:r>
                        <a:rPr lang="en-ID" sz="1000" u="none" strike="noStrike" dirty="0" err="1">
                          <a:effectLst/>
                        </a:rPr>
                        <a:t>mentah</a:t>
                      </a:r>
                      <a:endParaRPr lang="en-ID" sz="1000" b="0" i="0" u="none" strike="noStrike" dirty="0">
                        <a:solidFill>
                          <a:srgbClr val="000000"/>
                        </a:solidFill>
                        <a:effectLst/>
                        <a:latin typeface="Aptos Narrow" panose="020B0004020202020204" pitchFamily="34" charset="0"/>
                      </a:endParaRPr>
                    </a:p>
                  </a:txBody>
                  <a:tcPr marL="3481" marR="3481" marT="3481" marB="0" anchor="ctr"/>
                </a:tc>
                <a:extLst>
                  <a:ext uri="{0D108BD9-81ED-4DB2-BD59-A6C34878D82A}">
                    <a16:rowId xmlns:a16="http://schemas.microsoft.com/office/drawing/2014/main" val="1284849547"/>
                  </a:ext>
                </a:extLst>
              </a:tr>
              <a:tr h="161243">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dirty="0">
                          <a:effectLst/>
                        </a:rPr>
                        <a:t>– Embedding </a:t>
                      </a:r>
                      <a:r>
                        <a:rPr lang="en-ID" sz="1000" u="none" strike="noStrike" dirty="0" err="1">
                          <a:effectLst/>
                        </a:rPr>
                        <a:t>hanya</a:t>
                      </a:r>
                      <a:r>
                        <a:rPr lang="en-ID" sz="1000" u="none" strike="noStrike" dirty="0">
                          <a:effectLst/>
                        </a:rPr>
                        <a:t> </a:t>
                      </a:r>
                      <a:r>
                        <a:rPr lang="en-ID" sz="1000" u="none" strike="noStrike" dirty="0" err="1">
                          <a:effectLst/>
                        </a:rPr>
                        <a:t>untuk</a:t>
                      </a:r>
                      <a:r>
                        <a:rPr lang="en-ID" sz="1000" u="none" strike="noStrike" dirty="0">
                          <a:effectLst/>
                        </a:rPr>
                        <a:t> </a:t>
                      </a:r>
                      <a:r>
                        <a:rPr lang="en-ID" sz="1000" u="none" strike="noStrike" dirty="0" err="1">
                          <a:effectLst/>
                        </a:rPr>
                        <a:t>konsep</a:t>
                      </a:r>
                      <a:r>
                        <a:rPr lang="en-ID" sz="1000" u="none" strike="noStrike" dirty="0">
                          <a:effectLst/>
                        </a:rPr>
                        <a:t> (</a:t>
                      </a:r>
                      <a:r>
                        <a:rPr lang="en-ID" sz="1000" u="none" strike="noStrike" dirty="0" err="1">
                          <a:effectLst/>
                        </a:rPr>
                        <a:t>bukan</a:t>
                      </a:r>
                      <a:r>
                        <a:rPr lang="en-ID" sz="1000" u="none" strike="noStrike" dirty="0">
                          <a:effectLst/>
                        </a:rPr>
                        <a:t> </a:t>
                      </a:r>
                      <a:r>
                        <a:rPr lang="en-ID" sz="1000" u="none" strike="noStrike" dirty="0" err="1">
                          <a:effectLst/>
                        </a:rPr>
                        <a:t>untuk</a:t>
                      </a:r>
                      <a:r>
                        <a:rPr lang="en-ID" sz="1000" u="none" strike="noStrike" dirty="0">
                          <a:effectLst/>
                        </a:rPr>
                        <a:t> </a:t>
                      </a:r>
                      <a:r>
                        <a:rPr lang="en-ID" sz="1000" u="none" strike="noStrike" dirty="0" err="1">
                          <a:effectLst/>
                        </a:rPr>
                        <a:t>istilah</a:t>
                      </a:r>
                      <a:r>
                        <a:rPr lang="en-ID" sz="1000" u="none" strike="noStrike" dirty="0">
                          <a:effectLst/>
                        </a:rPr>
                        <a:t> </a:t>
                      </a:r>
                      <a:r>
                        <a:rPr lang="en-ID" sz="1000" u="none" strike="noStrike" dirty="0" err="1">
                          <a:effectLst/>
                        </a:rPr>
                        <a:t>bebas</a:t>
                      </a:r>
                      <a:r>
                        <a:rPr lang="en-ID" sz="1000" u="none" strike="noStrike" dirty="0">
                          <a:effectLst/>
                        </a:rPr>
                        <a:t>)</a:t>
                      </a:r>
                      <a:endParaRPr lang="en-ID" sz="1000" b="0" i="0" u="none" strike="noStrike" dirty="0">
                        <a:solidFill>
                          <a:srgbClr val="000000"/>
                        </a:solidFill>
                        <a:effectLst/>
                        <a:latin typeface="Aptos Narrow" panose="020B0004020202020204" pitchFamily="34" charset="0"/>
                      </a:endParaRPr>
                    </a:p>
                  </a:txBody>
                  <a:tcPr marL="3481" marR="3481" marT="3481" marB="0" anchor="ctr"/>
                </a:tc>
                <a:extLst>
                  <a:ext uri="{0D108BD9-81ED-4DB2-BD59-A6C34878D82A}">
                    <a16:rowId xmlns:a16="http://schemas.microsoft.com/office/drawing/2014/main" val="2424486450"/>
                  </a:ext>
                </a:extLst>
              </a:tr>
              <a:tr h="160666">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dirty="0">
                          <a:effectLst/>
                        </a:rPr>
                        <a:t>– Tidak </a:t>
                      </a:r>
                      <a:r>
                        <a:rPr lang="en-ID" sz="1000" u="none" strike="noStrike" dirty="0" err="1">
                          <a:effectLst/>
                        </a:rPr>
                        <a:t>menangkap</a:t>
                      </a:r>
                      <a:r>
                        <a:rPr lang="en-ID" sz="1000" u="none" strike="noStrike" dirty="0">
                          <a:effectLst/>
                        </a:rPr>
                        <a:t> </a:t>
                      </a:r>
                      <a:r>
                        <a:rPr lang="en-ID" sz="1000" u="none" strike="noStrike" dirty="0" err="1">
                          <a:effectLst/>
                        </a:rPr>
                        <a:t>informasi</a:t>
                      </a:r>
                      <a:r>
                        <a:rPr lang="en-ID" sz="1000" u="none" strike="noStrike" dirty="0">
                          <a:effectLst/>
                        </a:rPr>
                        <a:t> </a:t>
                      </a:r>
                      <a:r>
                        <a:rPr lang="en-ID" sz="1000" u="none" strike="noStrike" dirty="0" err="1">
                          <a:effectLst/>
                        </a:rPr>
                        <a:t>linguistik</a:t>
                      </a:r>
                      <a:r>
                        <a:rPr lang="en-ID" sz="1000" u="none" strike="noStrike" dirty="0">
                          <a:effectLst/>
                        </a:rPr>
                        <a:t> </a:t>
                      </a:r>
                      <a:r>
                        <a:rPr lang="en-ID" sz="1000" u="none" strike="noStrike" dirty="0" err="1">
                          <a:effectLst/>
                        </a:rPr>
                        <a:t>dari</a:t>
                      </a:r>
                      <a:r>
                        <a:rPr lang="en-ID" sz="1000" u="none" strike="noStrike" dirty="0">
                          <a:effectLst/>
                        </a:rPr>
                        <a:t> </a:t>
                      </a:r>
                      <a:r>
                        <a:rPr lang="en-ID" sz="1000" u="none" strike="noStrike" dirty="0" err="1">
                          <a:effectLst/>
                        </a:rPr>
                        <a:t>teks</a:t>
                      </a:r>
                      <a:r>
                        <a:rPr lang="en-ID" sz="1000" u="none" strike="noStrike" dirty="0">
                          <a:effectLst/>
                        </a:rPr>
                        <a:t> </a:t>
                      </a:r>
                      <a:r>
                        <a:rPr lang="en-ID" sz="1000" u="none" strike="noStrike" dirty="0" err="1">
                          <a:effectLst/>
                        </a:rPr>
                        <a:t>naratif</a:t>
                      </a:r>
                      <a:endParaRPr lang="en-ID" sz="1000" b="0" i="0" u="none" strike="noStrike" dirty="0">
                        <a:solidFill>
                          <a:srgbClr val="000000"/>
                        </a:solidFill>
                        <a:effectLst/>
                        <a:latin typeface="Aptos Narrow" panose="020B0004020202020204" pitchFamily="34" charset="0"/>
                      </a:endParaRPr>
                    </a:p>
                  </a:txBody>
                  <a:tcPr marL="3481" marR="3481" marT="3481" marB="0" anchor="ctr"/>
                </a:tc>
                <a:extLst>
                  <a:ext uri="{0D108BD9-81ED-4DB2-BD59-A6C34878D82A}">
                    <a16:rowId xmlns:a16="http://schemas.microsoft.com/office/drawing/2014/main" val="3949612254"/>
                  </a:ext>
                </a:extLst>
              </a:tr>
              <a:tr h="161243">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dirty="0">
                          <a:effectLst/>
                        </a:rPr>
                        <a:t>– Sulit </a:t>
                      </a:r>
                      <a:r>
                        <a:rPr lang="en-ID" sz="1000" u="none" strike="noStrike" dirty="0" err="1">
                          <a:effectLst/>
                        </a:rPr>
                        <a:t>diintegrasikan</a:t>
                      </a:r>
                      <a:r>
                        <a:rPr lang="en-ID" sz="1000" u="none" strike="noStrike" dirty="0">
                          <a:effectLst/>
                        </a:rPr>
                        <a:t> </a:t>
                      </a:r>
                      <a:r>
                        <a:rPr lang="en-ID" sz="1000" u="none" strike="noStrike" dirty="0" err="1">
                          <a:effectLst/>
                        </a:rPr>
                        <a:t>dengan</a:t>
                      </a:r>
                      <a:r>
                        <a:rPr lang="en-ID" sz="1000" u="none" strike="noStrike" dirty="0">
                          <a:effectLst/>
                        </a:rPr>
                        <a:t> model </a:t>
                      </a:r>
                      <a:r>
                        <a:rPr lang="en-ID" sz="1000" u="none" strike="noStrike" dirty="0" err="1">
                          <a:effectLst/>
                        </a:rPr>
                        <a:t>bahasa</a:t>
                      </a:r>
                      <a:r>
                        <a:rPr lang="en-ID" sz="1000" u="none" strike="noStrike" dirty="0">
                          <a:effectLst/>
                        </a:rPr>
                        <a:t> </a:t>
                      </a:r>
                      <a:r>
                        <a:rPr lang="en-ID" sz="1000" u="none" strike="noStrike" dirty="0" err="1">
                          <a:effectLst/>
                        </a:rPr>
                        <a:t>untuk</a:t>
                      </a:r>
                      <a:r>
                        <a:rPr lang="en-ID" sz="1000" u="none" strike="noStrike" dirty="0">
                          <a:effectLst/>
                        </a:rPr>
                        <a:t> </a:t>
                      </a:r>
                      <a:r>
                        <a:rPr lang="en-ID" sz="1000" u="none" strike="noStrike" dirty="0" err="1">
                          <a:effectLst/>
                        </a:rPr>
                        <a:t>tugas</a:t>
                      </a:r>
                      <a:r>
                        <a:rPr lang="en-ID" sz="1000" u="none" strike="noStrike" dirty="0">
                          <a:effectLst/>
                        </a:rPr>
                        <a:t> </a:t>
                      </a:r>
                      <a:r>
                        <a:rPr lang="en-ID" sz="1000" u="none" strike="noStrike" dirty="0" err="1">
                          <a:effectLst/>
                        </a:rPr>
                        <a:t>berbasis</a:t>
                      </a:r>
                      <a:r>
                        <a:rPr lang="en-ID" sz="1000" u="none" strike="noStrike" dirty="0">
                          <a:effectLst/>
                        </a:rPr>
                        <a:t> </a:t>
                      </a:r>
                      <a:r>
                        <a:rPr lang="en-ID" sz="1000" u="none" strike="noStrike" dirty="0" err="1">
                          <a:effectLst/>
                        </a:rPr>
                        <a:t>kalimat</a:t>
                      </a:r>
                      <a:endParaRPr lang="en-ID" sz="1000" b="0" i="0" u="none" strike="noStrike" dirty="0">
                        <a:solidFill>
                          <a:srgbClr val="000000"/>
                        </a:solidFill>
                        <a:effectLst/>
                        <a:latin typeface="Aptos Narrow" panose="020B0004020202020204" pitchFamily="34" charset="0"/>
                      </a:endParaRPr>
                    </a:p>
                  </a:txBody>
                  <a:tcPr marL="3481" marR="3481" marT="3481" marB="0" anchor="ctr"/>
                </a:tc>
                <a:extLst>
                  <a:ext uri="{0D108BD9-81ED-4DB2-BD59-A6C34878D82A}">
                    <a16:rowId xmlns:a16="http://schemas.microsoft.com/office/drawing/2014/main" val="1677108669"/>
                  </a:ext>
                </a:extLst>
              </a:tr>
              <a:tr h="161243">
                <a:tc rowSpan="4">
                  <a:txBody>
                    <a:bodyPr/>
                    <a:lstStyle/>
                    <a:p>
                      <a:pPr algn="l" fontAlgn="ctr">
                        <a:buNone/>
                      </a:pPr>
                      <a:r>
                        <a:rPr lang="en-ID" sz="1000" u="none" strike="noStrike" dirty="0">
                          <a:effectLst/>
                        </a:rPr>
                        <a:t>2023–2025</a:t>
                      </a:r>
                      <a:endParaRPr lang="en-ID" sz="1000" b="1" i="0" u="none" strike="noStrike" dirty="0">
                        <a:solidFill>
                          <a:srgbClr val="000000"/>
                        </a:solidFill>
                        <a:effectLst/>
                        <a:latin typeface="Aptos Narrow" panose="020B0004020202020204" pitchFamily="34" charset="0"/>
                      </a:endParaRPr>
                    </a:p>
                  </a:txBody>
                  <a:tcPr marL="3481" marR="3481" marT="3481" marB="0" anchor="ctr">
                    <a:solidFill>
                      <a:schemeClr val="accent5">
                        <a:lumMod val="40000"/>
                        <a:lumOff val="60000"/>
                      </a:schemeClr>
                    </a:solidFill>
                  </a:tcPr>
                </a:tc>
                <a:tc rowSpan="4">
                  <a:txBody>
                    <a:bodyPr/>
                    <a:lstStyle/>
                    <a:p>
                      <a:pPr algn="l" fontAlgn="ctr">
                        <a:buNone/>
                      </a:pPr>
                      <a:r>
                        <a:rPr lang="en-US" sz="1000" u="none" strike="noStrike" dirty="0">
                          <a:effectLst/>
                        </a:rPr>
                        <a:t>Large Language Model (LLM) Zero‑shot / Few‑shot (</a:t>
                      </a:r>
                      <a:r>
                        <a:rPr lang="en-US" sz="1000" u="none" strike="noStrike" dirty="0" err="1">
                          <a:effectLst/>
                        </a:rPr>
                        <a:t>tanpa</a:t>
                      </a:r>
                      <a:r>
                        <a:rPr lang="en-US" sz="1000" u="none" strike="noStrike" dirty="0">
                          <a:effectLst/>
                        </a:rPr>
                        <a:t> retrieval)</a:t>
                      </a:r>
                      <a:endParaRPr lang="en-US" sz="1000" b="1" i="0" u="none" strike="noStrike" dirty="0">
                        <a:solidFill>
                          <a:srgbClr val="000000"/>
                        </a:solidFill>
                        <a:effectLst/>
                        <a:latin typeface="Aptos Narrow" panose="020B0004020202020204" pitchFamily="34" charset="0"/>
                      </a:endParaRPr>
                    </a:p>
                  </a:txBody>
                  <a:tcPr marL="3481" marR="3481" marT="3481" marB="0" anchor="ctr">
                    <a:solidFill>
                      <a:schemeClr val="accent5">
                        <a:lumMod val="40000"/>
                        <a:lumOff val="60000"/>
                      </a:schemeClr>
                    </a:solidFill>
                  </a:tcPr>
                </a:tc>
                <a:tc rowSpan="4">
                  <a:txBody>
                    <a:bodyPr/>
                    <a:lstStyle/>
                    <a:p>
                      <a:pPr algn="l" fontAlgn="ctr">
                        <a:buNone/>
                      </a:pPr>
                      <a:r>
                        <a:rPr lang="en-ID" sz="1000" u="none" strike="noStrike" dirty="0">
                          <a:effectLst/>
                        </a:rPr>
                        <a:t>Yu et al. (2026) – ChatGPT, Gemini, Perplexity </a:t>
                      </a:r>
                      <a:r>
                        <a:rPr lang="en-ID" sz="1000" u="none" strike="noStrike" dirty="0" err="1">
                          <a:effectLst/>
                        </a:rPr>
                        <a:t>untuk</a:t>
                      </a:r>
                      <a:r>
                        <a:rPr lang="en-ID" sz="1000" u="none" strike="noStrike" dirty="0">
                          <a:effectLst/>
                        </a:rPr>
                        <a:t> LOINC</a:t>
                      </a:r>
                      <a:endParaRPr lang="en-ID" sz="1000" b="0" i="0" u="none" strike="noStrike" dirty="0">
                        <a:solidFill>
                          <a:srgbClr val="000000"/>
                        </a:solidFill>
                        <a:effectLst/>
                        <a:latin typeface="Aptos Narrow" panose="020B0004020202020204" pitchFamily="34" charset="0"/>
                      </a:endParaRPr>
                    </a:p>
                  </a:txBody>
                  <a:tcPr marL="3481" marR="3481" marT="3481" marB="0" anchor="ctr">
                    <a:solidFill>
                      <a:schemeClr val="accent5">
                        <a:lumMod val="40000"/>
                        <a:lumOff val="60000"/>
                      </a:schemeClr>
                    </a:solidFill>
                  </a:tcPr>
                </a:tc>
                <a:tc>
                  <a:txBody>
                    <a:bodyPr/>
                    <a:lstStyle/>
                    <a:p>
                      <a:pPr algn="l" fontAlgn="ctr">
                        <a:buNone/>
                      </a:pPr>
                      <a:r>
                        <a:rPr lang="en-ID" sz="1000" u="none" strike="noStrike" dirty="0">
                          <a:effectLst/>
                        </a:rPr>
                        <a:t>– </a:t>
                      </a:r>
                      <a:r>
                        <a:rPr lang="en-ID" sz="1000" u="none" strike="noStrike" dirty="0" err="1">
                          <a:effectLst/>
                        </a:rPr>
                        <a:t>Halusinasi</a:t>
                      </a:r>
                      <a:r>
                        <a:rPr lang="en-ID" sz="1000" u="none" strike="noStrike" dirty="0">
                          <a:effectLst/>
                        </a:rPr>
                        <a:t> </a:t>
                      </a:r>
                      <a:r>
                        <a:rPr lang="en-ID" sz="1000" u="none" strike="noStrike" dirty="0" err="1">
                          <a:effectLst/>
                        </a:rPr>
                        <a:t>tinggi</a:t>
                      </a:r>
                      <a:r>
                        <a:rPr lang="en-ID" sz="1000" u="none" strike="noStrike" dirty="0">
                          <a:effectLst/>
                        </a:rPr>
                        <a:t> (</a:t>
                      </a:r>
                      <a:r>
                        <a:rPr lang="en-ID" sz="1000" u="none" strike="noStrike" dirty="0" err="1">
                          <a:effectLst/>
                        </a:rPr>
                        <a:t>menghasilkan</a:t>
                      </a:r>
                      <a:r>
                        <a:rPr lang="en-ID" sz="1000" u="none" strike="noStrike" dirty="0">
                          <a:effectLst/>
                        </a:rPr>
                        <a:t> </a:t>
                      </a:r>
                      <a:r>
                        <a:rPr lang="en-ID" sz="1000" u="none" strike="noStrike" dirty="0" err="1">
                          <a:effectLst/>
                        </a:rPr>
                        <a:t>kode</a:t>
                      </a:r>
                      <a:r>
                        <a:rPr lang="en-ID" sz="1000" u="none" strike="noStrike" dirty="0">
                          <a:effectLst/>
                        </a:rPr>
                        <a:t> yang </a:t>
                      </a:r>
                      <a:r>
                        <a:rPr lang="en-ID" sz="1000" u="none" strike="noStrike" dirty="0" err="1">
                          <a:effectLst/>
                        </a:rPr>
                        <a:t>tidak</a:t>
                      </a:r>
                      <a:r>
                        <a:rPr lang="en-ID" sz="1000" u="none" strike="noStrike" dirty="0">
                          <a:effectLst/>
                        </a:rPr>
                        <a:t> </a:t>
                      </a:r>
                      <a:r>
                        <a:rPr lang="en-ID" sz="1000" u="none" strike="noStrike" dirty="0" err="1">
                          <a:effectLst/>
                        </a:rPr>
                        <a:t>ada</a:t>
                      </a:r>
                      <a:r>
                        <a:rPr lang="en-ID" sz="1000" u="none" strike="noStrike" dirty="0">
                          <a:effectLst/>
                        </a:rPr>
                        <a:t> </a:t>
                      </a:r>
                      <a:r>
                        <a:rPr lang="en-ID" sz="1000" u="none" strike="noStrike" dirty="0" err="1">
                          <a:effectLst/>
                        </a:rPr>
                        <a:t>atau</a:t>
                      </a:r>
                      <a:r>
                        <a:rPr lang="en-ID" sz="1000" u="none" strike="noStrike" dirty="0">
                          <a:effectLst/>
                        </a:rPr>
                        <a:t> </a:t>
                      </a:r>
                      <a:r>
                        <a:rPr lang="en-ID" sz="1000" u="none" strike="noStrike" dirty="0" err="1">
                          <a:effectLst/>
                        </a:rPr>
                        <a:t>tidak</a:t>
                      </a:r>
                      <a:r>
                        <a:rPr lang="en-ID" sz="1000" u="none" strike="noStrike" dirty="0">
                          <a:effectLst/>
                        </a:rPr>
                        <a:t> </a:t>
                      </a:r>
                      <a:r>
                        <a:rPr lang="en-ID" sz="1000" u="none" strike="noStrike" dirty="0" err="1">
                          <a:effectLst/>
                        </a:rPr>
                        <a:t>tepat</a:t>
                      </a:r>
                      <a:r>
                        <a:rPr lang="en-ID" sz="1000" u="none" strike="noStrike" dirty="0">
                          <a:effectLst/>
                        </a:rPr>
                        <a:t>)</a:t>
                      </a:r>
                      <a:endParaRPr lang="en-ID" sz="1000" b="0" i="0" u="none" strike="noStrike" dirty="0">
                        <a:solidFill>
                          <a:srgbClr val="000000"/>
                        </a:solidFill>
                        <a:effectLst/>
                        <a:latin typeface="Aptos Narrow" panose="020B0004020202020204" pitchFamily="34" charset="0"/>
                      </a:endParaRPr>
                    </a:p>
                  </a:txBody>
                  <a:tcPr marL="3481" marR="3481" marT="3481" marB="0" anchor="ctr">
                    <a:solidFill>
                      <a:schemeClr val="accent5">
                        <a:lumMod val="40000"/>
                        <a:lumOff val="60000"/>
                      </a:schemeClr>
                    </a:solidFill>
                  </a:tcPr>
                </a:tc>
                <a:extLst>
                  <a:ext uri="{0D108BD9-81ED-4DB2-BD59-A6C34878D82A}">
                    <a16:rowId xmlns:a16="http://schemas.microsoft.com/office/drawing/2014/main" val="2995754828"/>
                  </a:ext>
                </a:extLst>
              </a:tr>
              <a:tr h="161243">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dirty="0">
                          <a:effectLst/>
                        </a:rPr>
                        <a:t>– Tidak </a:t>
                      </a:r>
                      <a:r>
                        <a:rPr lang="en-ID" sz="1000" u="none" strike="noStrike" dirty="0" err="1">
                          <a:effectLst/>
                        </a:rPr>
                        <a:t>memiliki</a:t>
                      </a:r>
                      <a:r>
                        <a:rPr lang="en-ID" sz="1000" u="none" strike="noStrike" dirty="0">
                          <a:effectLst/>
                        </a:rPr>
                        <a:t> </a:t>
                      </a:r>
                      <a:r>
                        <a:rPr lang="en-ID" sz="1000" u="none" strike="noStrike" dirty="0" err="1">
                          <a:effectLst/>
                        </a:rPr>
                        <a:t>akses</a:t>
                      </a:r>
                      <a:r>
                        <a:rPr lang="en-ID" sz="1000" u="none" strike="noStrike" dirty="0">
                          <a:effectLst/>
                        </a:rPr>
                        <a:t> </a:t>
                      </a:r>
                      <a:r>
                        <a:rPr lang="en-ID" sz="1000" u="none" strike="noStrike" dirty="0" err="1">
                          <a:effectLst/>
                        </a:rPr>
                        <a:t>ke</a:t>
                      </a:r>
                      <a:r>
                        <a:rPr lang="en-ID" sz="1000" u="none" strike="noStrike" dirty="0">
                          <a:effectLst/>
                        </a:rPr>
                        <a:t> </a:t>
                      </a:r>
                      <a:r>
                        <a:rPr lang="en-ID" sz="1000" u="none" strike="noStrike" dirty="0" err="1">
                          <a:effectLst/>
                        </a:rPr>
                        <a:t>terminologi</a:t>
                      </a:r>
                      <a:r>
                        <a:rPr lang="en-ID" sz="1000" u="none" strike="noStrike" dirty="0">
                          <a:effectLst/>
                        </a:rPr>
                        <a:t> </a:t>
                      </a:r>
                      <a:r>
                        <a:rPr lang="en-ID" sz="1000" u="none" strike="noStrike" dirty="0" err="1">
                          <a:effectLst/>
                        </a:rPr>
                        <a:t>terbaru</a:t>
                      </a:r>
                      <a:r>
                        <a:rPr lang="en-ID" sz="1000" u="none" strike="noStrike" dirty="0">
                          <a:effectLst/>
                        </a:rPr>
                        <a:t> (</a:t>
                      </a:r>
                      <a:r>
                        <a:rPr lang="en-ID" sz="1000" u="none" strike="noStrike" dirty="0" err="1">
                          <a:effectLst/>
                        </a:rPr>
                        <a:t>pengetahuan</a:t>
                      </a:r>
                      <a:r>
                        <a:rPr lang="en-ID" sz="1000" u="none" strike="noStrike" dirty="0">
                          <a:effectLst/>
                        </a:rPr>
                        <a:t> statis)</a:t>
                      </a:r>
                      <a:endParaRPr lang="en-ID" sz="1000" b="0" i="0" u="none" strike="noStrike" dirty="0">
                        <a:solidFill>
                          <a:srgbClr val="000000"/>
                        </a:solidFill>
                        <a:effectLst/>
                        <a:latin typeface="Aptos Narrow" panose="020B0004020202020204" pitchFamily="34" charset="0"/>
                      </a:endParaRPr>
                    </a:p>
                  </a:txBody>
                  <a:tcPr marL="3481" marR="3481" marT="3481" marB="0" anchor="ctr">
                    <a:solidFill>
                      <a:schemeClr val="accent5">
                        <a:lumMod val="40000"/>
                        <a:lumOff val="60000"/>
                      </a:schemeClr>
                    </a:solidFill>
                  </a:tcPr>
                </a:tc>
                <a:extLst>
                  <a:ext uri="{0D108BD9-81ED-4DB2-BD59-A6C34878D82A}">
                    <a16:rowId xmlns:a16="http://schemas.microsoft.com/office/drawing/2014/main" val="3626707419"/>
                  </a:ext>
                </a:extLst>
              </a:tr>
              <a:tr h="161243">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dirty="0">
                          <a:effectLst/>
                        </a:rPr>
                        <a:t>– </a:t>
                      </a:r>
                      <a:r>
                        <a:rPr lang="en-ID" sz="1000" u="none" strike="noStrike" dirty="0" err="1">
                          <a:effectLst/>
                        </a:rPr>
                        <a:t>Gagal</a:t>
                      </a:r>
                      <a:r>
                        <a:rPr lang="en-ID" sz="1000" u="none" strike="noStrike" dirty="0">
                          <a:effectLst/>
                        </a:rPr>
                        <a:t> pada </a:t>
                      </a:r>
                      <a:r>
                        <a:rPr lang="en-ID" sz="1000" u="none" strike="noStrike" dirty="0" err="1">
                          <a:effectLst/>
                        </a:rPr>
                        <a:t>istilah</a:t>
                      </a:r>
                      <a:r>
                        <a:rPr lang="en-ID" sz="1000" u="none" strike="noStrike" dirty="0">
                          <a:effectLst/>
                        </a:rPr>
                        <a:t> yang </a:t>
                      </a:r>
                      <a:r>
                        <a:rPr lang="en-ID" sz="1000" u="none" strike="noStrike" dirty="0" err="1">
                          <a:effectLst/>
                        </a:rPr>
                        <a:t>memerlukan</a:t>
                      </a:r>
                      <a:r>
                        <a:rPr lang="en-ID" sz="1000" u="none" strike="noStrike" dirty="0">
                          <a:effectLst/>
                        </a:rPr>
                        <a:t> </a:t>
                      </a:r>
                      <a:r>
                        <a:rPr lang="en-ID" sz="1000" u="none" strike="noStrike" dirty="0" err="1">
                          <a:effectLst/>
                        </a:rPr>
                        <a:t>pengetahuan</a:t>
                      </a:r>
                      <a:r>
                        <a:rPr lang="en-ID" sz="1000" u="none" strike="noStrike" dirty="0">
                          <a:effectLst/>
                        </a:rPr>
                        <a:t> </a:t>
                      </a:r>
                      <a:r>
                        <a:rPr lang="en-ID" sz="1000" u="none" strike="noStrike" dirty="0" err="1">
                          <a:effectLst/>
                        </a:rPr>
                        <a:t>spesifik</a:t>
                      </a:r>
                      <a:r>
                        <a:rPr lang="en-ID" sz="1000" u="none" strike="noStrike" dirty="0">
                          <a:effectLst/>
                        </a:rPr>
                        <a:t> (</a:t>
                      </a:r>
                      <a:r>
                        <a:rPr lang="en-ID" sz="1000" u="none" strike="noStrike" dirty="0" err="1">
                          <a:effectLst/>
                        </a:rPr>
                        <a:t>metode</a:t>
                      </a:r>
                      <a:r>
                        <a:rPr lang="en-ID" sz="1000" u="none" strike="noStrike" dirty="0">
                          <a:effectLst/>
                        </a:rPr>
                        <a:t>, </a:t>
                      </a:r>
                      <a:r>
                        <a:rPr lang="en-ID" sz="1000" u="none" strike="noStrike" dirty="0" err="1">
                          <a:effectLst/>
                        </a:rPr>
                        <a:t>properti</a:t>
                      </a:r>
                      <a:r>
                        <a:rPr lang="en-ID" sz="1000" u="none" strike="noStrike" dirty="0">
                          <a:effectLst/>
                        </a:rPr>
                        <a:t>, unit)</a:t>
                      </a:r>
                      <a:endParaRPr lang="en-ID" sz="1000" b="0" i="0" u="none" strike="noStrike" dirty="0">
                        <a:solidFill>
                          <a:srgbClr val="000000"/>
                        </a:solidFill>
                        <a:effectLst/>
                        <a:latin typeface="Aptos Narrow" panose="020B0004020202020204" pitchFamily="34" charset="0"/>
                      </a:endParaRPr>
                    </a:p>
                  </a:txBody>
                  <a:tcPr marL="3481" marR="3481" marT="3481" marB="0" anchor="ctr">
                    <a:solidFill>
                      <a:schemeClr val="accent5">
                        <a:lumMod val="40000"/>
                        <a:lumOff val="60000"/>
                      </a:schemeClr>
                    </a:solidFill>
                  </a:tcPr>
                </a:tc>
                <a:extLst>
                  <a:ext uri="{0D108BD9-81ED-4DB2-BD59-A6C34878D82A}">
                    <a16:rowId xmlns:a16="http://schemas.microsoft.com/office/drawing/2014/main" val="510391834"/>
                  </a:ext>
                </a:extLst>
              </a:tr>
              <a:tr h="161243">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dirty="0">
                          <a:effectLst/>
                        </a:rPr>
                        <a:t>– Tidak </a:t>
                      </a:r>
                      <a:r>
                        <a:rPr lang="en-ID" sz="1000" u="none" strike="noStrike" dirty="0" err="1">
                          <a:effectLst/>
                        </a:rPr>
                        <a:t>dapat</a:t>
                      </a:r>
                      <a:r>
                        <a:rPr lang="en-ID" sz="1000" u="none" strike="noStrike" dirty="0">
                          <a:effectLst/>
                        </a:rPr>
                        <a:t> </a:t>
                      </a:r>
                      <a:r>
                        <a:rPr lang="en-ID" sz="1000" u="none" strike="noStrike" dirty="0" err="1">
                          <a:effectLst/>
                        </a:rPr>
                        <a:t>menangani</a:t>
                      </a:r>
                      <a:r>
                        <a:rPr lang="en-ID" sz="1000" u="none" strike="noStrike" dirty="0">
                          <a:effectLst/>
                        </a:rPr>
                        <a:t> composite concepts </a:t>
                      </a:r>
                      <a:r>
                        <a:rPr lang="en-ID" sz="1000" u="none" strike="noStrike" dirty="0" err="1">
                          <a:effectLst/>
                        </a:rPr>
                        <a:t>secara</a:t>
                      </a:r>
                      <a:r>
                        <a:rPr lang="en-ID" sz="1000" u="none" strike="noStrike" dirty="0">
                          <a:effectLst/>
                        </a:rPr>
                        <a:t> </a:t>
                      </a:r>
                      <a:r>
                        <a:rPr lang="en-ID" sz="1000" u="none" strike="noStrike" dirty="0" err="1">
                          <a:effectLst/>
                        </a:rPr>
                        <a:t>sistematis</a:t>
                      </a:r>
                      <a:endParaRPr lang="en-ID" sz="1000" b="0" i="0" u="none" strike="noStrike" dirty="0">
                        <a:solidFill>
                          <a:srgbClr val="000000"/>
                        </a:solidFill>
                        <a:effectLst/>
                        <a:latin typeface="Aptos Narrow" panose="020B0004020202020204" pitchFamily="34" charset="0"/>
                      </a:endParaRPr>
                    </a:p>
                  </a:txBody>
                  <a:tcPr marL="3481" marR="3481" marT="3481" marB="0" anchor="ctr">
                    <a:solidFill>
                      <a:schemeClr val="accent5">
                        <a:lumMod val="40000"/>
                        <a:lumOff val="60000"/>
                      </a:schemeClr>
                    </a:solidFill>
                  </a:tcPr>
                </a:tc>
                <a:extLst>
                  <a:ext uri="{0D108BD9-81ED-4DB2-BD59-A6C34878D82A}">
                    <a16:rowId xmlns:a16="http://schemas.microsoft.com/office/drawing/2014/main" val="1219382143"/>
                  </a:ext>
                </a:extLst>
              </a:tr>
              <a:tr h="161243">
                <a:tc rowSpan="5">
                  <a:txBody>
                    <a:bodyPr/>
                    <a:lstStyle/>
                    <a:p>
                      <a:pPr algn="l" fontAlgn="ctr">
                        <a:buNone/>
                      </a:pPr>
                      <a:r>
                        <a:rPr lang="en-ID" sz="1000" u="none" strike="noStrike" dirty="0">
                          <a:effectLst/>
                        </a:rPr>
                        <a:t>2024–2026</a:t>
                      </a:r>
                      <a:endParaRPr lang="en-ID" sz="1000" b="1" i="0" u="none" strike="noStrike" dirty="0">
                        <a:solidFill>
                          <a:srgbClr val="000000"/>
                        </a:solidFill>
                        <a:effectLst/>
                        <a:latin typeface="Aptos Narrow" panose="020B0004020202020204" pitchFamily="34" charset="0"/>
                      </a:endParaRPr>
                    </a:p>
                  </a:txBody>
                  <a:tcPr marL="3481" marR="3481" marT="3481" marB="0" anchor="ctr"/>
                </a:tc>
                <a:tc rowSpan="5">
                  <a:txBody>
                    <a:bodyPr/>
                    <a:lstStyle/>
                    <a:p>
                      <a:pPr algn="l" fontAlgn="ctr">
                        <a:buNone/>
                      </a:pPr>
                      <a:r>
                        <a:rPr lang="en-ID" sz="1000" u="none" strike="noStrike">
                          <a:effectLst/>
                        </a:rPr>
                        <a:t>LLM + RAG (Retrieval‑Augmented Generation)</a:t>
                      </a:r>
                      <a:endParaRPr lang="en-ID" sz="1000" b="1" i="0" u="none" strike="noStrike">
                        <a:solidFill>
                          <a:srgbClr val="000000"/>
                        </a:solidFill>
                        <a:effectLst/>
                        <a:latin typeface="Aptos Narrow" panose="020B0004020202020204" pitchFamily="34" charset="0"/>
                      </a:endParaRPr>
                    </a:p>
                  </a:txBody>
                  <a:tcPr marL="3481" marR="3481" marT="3481" marB="0" anchor="ctr"/>
                </a:tc>
                <a:tc rowSpan="5">
                  <a:txBody>
                    <a:bodyPr/>
                    <a:lstStyle/>
                    <a:p>
                      <a:pPr algn="l" fontAlgn="ctr">
                        <a:buNone/>
                      </a:pPr>
                      <a:r>
                        <a:rPr lang="en-ID" sz="1000" u="none" strike="noStrike" dirty="0">
                          <a:effectLst/>
                        </a:rPr>
                        <a:t>Gilani et al. (2025) – CDE‑Mapper; Vanzin et al. (2025) – RAG pipeline; Huh et al. (2025) – RAG </a:t>
                      </a:r>
                      <a:r>
                        <a:rPr lang="en-ID" sz="1000" u="none" strike="noStrike" dirty="0" err="1">
                          <a:effectLst/>
                        </a:rPr>
                        <a:t>dengan</a:t>
                      </a:r>
                      <a:r>
                        <a:rPr lang="en-ID" sz="1000" u="none" strike="noStrike" dirty="0">
                          <a:effectLst/>
                        </a:rPr>
                        <a:t> GPT‑4; Eslami et al. (2026) – LLM + embedding + </a:t>
                      </a:r>
                      <a:r>
                        <a:rPr lang="en-ID" sz="1000" u="none" strike="noStrike" dirty="0" err="1">
                          <a:effectLst/>
                        </a:rPr>
                        <a:t>postcoordination</a:t>
                      </a:r>
                      <a:r>
                        <a:rPr lang="en-ID" sz="1000" u="none" strike="noStrike" dirty="0">
                          <a:effectLst/>
                        </a:rPr>
                        <a:t>; Park et al. (2026) – LLM‑assisted (embedding + post‑coord)</a:t>
                      </a:r>
                      <a:endParaRPr lang="en-ID" sz="1000" b="0" i="0" u="none" strike="noStrike" dirty="0">
                        <a:solidFill>
                          <a:srgbClr val="000000"/>
                        </a:solidFill>
                        <a:effectLst/>
                        <a:latin typeface="Aptos Narrow" panose="020B0004020202020204" pitchFamily="34" charset="0"/>
                      </a:endParaRPr>
                    </a:p>
                  </a:txBody>
                  <a:tcPr marL="3481" marR="3481" marT="3481" marB="0" anchor="ctr"/>
                </a:tc>
                <a:tc>
                  <a:txBody>
                    <a:bodyPr/>
                    <a:lstStyle/>
                    <a:p>
                      <a:pPr algn="l" fontAlgn="ctr">
                        <a:buNone/>
                      </a:pPr>
                      <a:r>
                        <a:rPr lang="en-ID" sz="1000" u="none" strike="noStrike" dirty="0">
                          <a:effectLst/>
                        </a:rPr>
                        <a:t>– Masih </a:t>
                      </a:r>
                      <a:r>
                        <a:rPr lang="en-ID" sz="1000" u="none" strike="noStrike" dirty="0" err="1">
                          <a:effectLst/>
                        </a:rPr>
                        <a:t>bergantung</a:t>
                      </a:r>
                      <a:r>
                        <a:rPr lang="en-ID" sz="1000" u="none" strike="noStrike" dirty="0">
                          <a:effectLst/>
                        </a:rPr>
                        <a:t> pada </a:t>
                      </a:r>
                      <a:r>
                        <a:rPr lang="en-ID" sz="1000" u="none" strike="noStrike" dirty="0" err="1">
                          <a:effectLst/>
                        </a:rPr>
                        <a:t>kualitas</a:t>
                      </a:r>
                      <a:r>
                        <a:rPr lang="en-ID" sz="1000" u="none" strike="noStrike" dirty="0">
                          <a:effectLst/>
                        </a:rPr>
                        <a:t> knowledge base (</a:t>
                      </a:r>
                      <a:r>
                        <a:rPr lang="en-ID" sz="1000" u="none" strike="noStrike" dirty="0" err="1">
                          <a:effectLst/>
                        </a:rPr>
                        <a:t>sinonim</a:t>
                      </a:r>
                      <a:r>
                        <a:rPr lang="en-ID" sz="1000" u="none" strike="noStrike" dirty="0">
                          <a:effectLst/>
                        </a:rPr>
                        <a:t>, </a:t>
                      </a:r>
                      <a:r>
                        <a:rPr lang="en-ID" sz="1000" u="none" strike="noStrike" dirty="0" err="1">
                          <a:effectLst/>
                        </a:rPr>
                        <a:t>hierarki</a:t>
                      </a:r>
                      <a:r>
                        <a:rPr lang="en-ID" sz="1000" u="none" strike="noStrike" dirty="0">
                          <a:effectLst/>
                        </a:rPr>
                        <a:t>)</a:t>
                      </a:r>
                      <a:endParaRPr lang="en-ID" sz="1000" b="0" i="0" u="none" strike="noStrike" dirty="0">
                        <a:solidFill>
                          <a:srgbClr val="000000"/>
                        </a:solidFill>
                        <a:effectLst/>
                        <a:latin typeface="Aptos Narrow" panose="020B0004020202020204" pitchFamily="34" charset="0"/>
                      </a:endParaRPr>
                    </a:p>
                  </a:txBody>
                  <a:tcPr marL="3481" marR="3481" marT="3481" marB="0" anchor="ctr"/>
                </a:tc>
                <a:extLst>
                  <a:ext uri="{0D108BD9-81ED-4DB2-BD59-A6C34878D82A}">
                    <a16:rowId xmlns:a16="http://schemas.microsoft.com/office/drawing/2014/main" val="4189060699"/>
                  </a:ext>
                </a:extLst>
              </a:tr>
              <a:tr h="161243">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dirty="0">
                          <a:effectLst/>
                        </a:rPr>
                        <a:t>– </a:t>
                      </a:r>
                      <a:r>
                        <a:rPr lang="en-ID" sz="1000" u="none" strike="noStrike" dirty="0" err="1">
                          <a:effectLst/>
                        </a:rPr>
                        <a:t>Biaya</a:t>
                      </a:r>
                      <a:r>
                        <a:rPr lang="en-ID" sz="1000" u="none" strike="noStrike" dirty="0">
                          <a:effectLst/>
                        </a:rPr>
                        <a:t> </a:t>
                      </a:r>
                      <a:r>
                        <a:rPr lang="en-ID" sz="1000" u="none" strike="noStrike" dirty="0" err="1">
                          <a:effectLst/>
                        </a:rPr>
                        <a:t>komputasi</a:t>
                      </a:r>
                      <a:r>
                        <a:rPr lang="en-ID" sz="1000" u="none" strike="noStrike" dirty="0">
                          <a:effectLst/>
                        </a:rPr>
                        <a:t> </a:t>
                      </a:r>
                      <a:r>
                        <a:rPr lang="en-ID" sz="1000" u="none" strike="noStrike" dirty="0" err="1">
                          <a:effectLst/>
                        </a:rPr>
                        <a:t>masih</a:t>
                      </a:r>
                      <a:r>
                        <a:rPr lang="en-ID" sz="1000" u="none" strike="noStrike" dirty="0">
                          <a:effectLst/>
                        </a:rPr>
                        <a:t> </a:t>
                      </a:r>
                      <a:r>
                        <a:rPr lang="en-ID" sz="1000" u="none" strike="noStrike" dirty="0" err="1">
                          <a:effectLst/>
                        </a:rPr>
                        <a:t>tinggi</a:t>
                      </a:r>
                      <a:r>
                        <a:rPr lang="en-ID" sz="1000" u="none" strike="noStrike" dirty="0">
                          <a:effectLst/>
                        </a:rPr>
                        <a:t> (</a:t>
                      </a:r>
                      <a:r>
                        <a:rPr lang="en-ID" sz="1000" u="none" strike="noStrike" dirty="0" err="1">
                          <a:effectLst/>
                        </a:rPr>
                        <a:t>terutama</a:t>
                      </a:r>
                      <a:r>
                        <a:rPr lang="en-ID" sz="1000" u="none" strike="noStrike" dirty="0">
                          <a:effectLst/>
                        </a:rPr>
                        <a:t> </a:t>
                      </a:r>
                      <a:r>
                        <a:rPr lang="en-ID" sz="1000" u="none" strike="noStrike" dirty="0" err="1">
                          <a:effectLst/>
                        </a:rPr>
                        <a:t>jika</a:t>
                      </a:r>
                      <a:r>
                        <a:rPr lang="en-ID" sz="1000" u="none" strike="noStrike" dirty="0">
                          <a:effectLst/>
                        </a:rPr>
                        <a:t> </a:t>
                      </a:r>
                      <a:r>
                        <a:rPr lang="en-ID" sz="1000" u="none" strike="noStrike" dirty="0" err="1">
                          <a:effectLst/>
                        </a:rPr>
                        <a:t>menggunakan</a:t>
                      </a:r>
                      <a:r>
                        <a:rPr lang="en-ID" sz="1000" u="none" strike="noStrike" dirty="0">
                          <a:effectLst/>
                        </a:rPr>
                        <a:t> LLM </a:t>
                      </a:r>
                      <a:r>
                        <a:rPr lang="en-ID" sz="1000" u="none" strike="noStrike" dirty="0" err="1">
                          <a:effectLst/>
                        </a:rPr>
                        <a:t>komersial</a:t>
                      </a:r>
                      <a:r>
                        <a:rPr lang="en-ID" sz="1000" u="none" strike="noStrike" dirty="0">
                          <a:effectLst/>
                        </a:rPr>
                        <a:t>)</a:t>
                      </a:r>
                      <a:endParaRPr lang="en-ID" sz="1000" b="0" i="0" u="none" strike="noStrike" dirty="0">
                        <a:solidFill>
                          <a:srgbClr val="000000"/>
                        </a:solidFill>
                        <a:effectLst/>
                        <a:latin typeface="Aptos Narrow" panose="020B0004020202020204" pitchFamily="34" charset="0"/>
                      </a:endParaRPr>
                    </a:p>
                  </a:txBody>
                  <a:tcPr marL="3481" marR="3481" marT="3481" marB="0" anchor="ctr"/>
                </a:tc>
                <a:extLst>
                  <a:ext uri="{0D108BD9-81ED-4DB2-BD59-A6C34878D82A}">
                    <a16:rowId xmlns:a16="http://schemas.microsoft.com/office/drawing/2014/main" val="3752331267"/>
                  </a:ext>
                </a:extLst>
              </a:tr>
              <a:tr h="161243">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dirty="0">
                          <a:effectLst/>
                        </a:rPr>
                        <a:t>– RAG pipeline </a:t>
                      </a:r>
                      <a:r>
                        <a:rPr lang="en-ID" sz="1000" u="none" strike="noStrike" dirty="0" err="1">
                          <a:effectLst/>
                        </a:rPr>
                        <a:t>dapat</a:t>
                      </a:r>
                      <a:r>
                        <a:rPr lang="en-ID" sz="1000" u="none" strike="noStrike" dirty="0">
                          <a:effectLst/>
                        </a:rPr>
                        <a:t> </a:t>
                      </a:r>
                      <a:r>
                        <a:rPr lang="en-ID" sz="1000" u="none" strike="noStrike" dirty="0" err="1">
                          <a:effectLst/>
                        </a:rPr>
                        <a:t>kehilangan</a:t>
                      </a:r>
                      <a:r>
                        <a:rPr lang="en-ID" sz="1000" u="none" strike="noStrike" dirty="0">
                          <a:effectLst/>
                        </a:rPr>
                        <a:t> recall </a:t>
                      </a:r>
                      <a:r>
                        <a:rPr lang="en-ID" sz="1000" u="none" strike="noStrike" dirty="0" err="1">
                          <a:effectLst/>
                        </a:rPr>
                        <a:t>karena</a:t>
                      </a:r>
                      <a:r>
                        <a:rPr lang="en-ID" sz="1000" u="none" strike="noStrike" dirty="0">
                          <a:effectLst/>
                        </a:rPr>
                        <a:t> filtering multi‑</a:t>
                      </a:r>
                      <a:r>
                        <a:rPr lang="en-ID" sz="1000" u="none" strike="noStrike" dirty="0" err="1">
                          <a:effectLst/>
                        </a:rPr>
                        <a:t>tahap</a:t>
                      </a:r>
                      <a:endParaRPr lang="en-ID" sz="1000" b="0" i="0" u="none" strike="noStrike" dirty="0">
                        <a:solidFill>
                          <a:srgbClr val="000000"/>
                        </a:solidFill>
                        <a:effectLst/>
                        <a:latin typeface="Aptos Narrow" panose="020B0004020202020204" pitchFamily="34" charset="0"/>
                      </a:endParaRPr>
                    </a:p>
                  </a:txBody>
                  <a:tcPr marL="3481" marR="3481" marT="3481" marB="0" anchor="ctr"/>
                </a:tc>
                <a:extLst>
                  <a:ext uri="{0D108BD9-81ED-4DB2-BD59-A6C34878D82A}">
                    <a16:rowId xmlns:a16="http://schemas.microsoft.com/office/drawing/2014/main" val="3821148547"/>
                  </a:ext>
                </a:extLst>
              </a:tr>
              <a:tr h="215015">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dirty="0">
                          <a:effectLst/>
                        </a:rPr>
                        <a:t>– Agent‑based RAG </a:t>
                      </a:r>
                      <a:r>
                        <a:rPr lang="en-ID" sz="1000" u="none" strike="noStrike" dirty="0" err="1">
                          <a:effectLst/>
                        </a:rPr>
                        <a:t>memerlukan</a:t>
                      </a:r>
                      <a:r>
                        <a:rPr lang="en-ID" sz="1000" u="none" strike="noStrike" dirty="0">
                          <a:effectLst/>
                        </a:rPr>
                        <a:t> model </a:t>
                      </a:r>
                      <a:r>
                        <a:rPr lang="en-ID" sz="1000" u="none" strike="noStrike" dirty="0" err="1">
                          <a:effectLst/>
                        </a:rPr>
                        <a:t>dengan</a:t>
                      </a:r>
                      <a:r>
                        <a:rPr lang="en-ID" sz="1000" u="none" strike="noStrike" dirty="0">
                          <a:effectLst/>
                        </a:rPr>
                        <a:t> tool‑calling (</a:t>
                      </a:r>
                      <a:r>
                        <a:rPr lang="en-ID" sz="1000" u="none" strike="noStrike" dirty="0" err="1">
                          <a:effectLst/>
                        </a:rPr>
                        <a:t>belum</a:t>
                      </a:r>
                      <a:r>
                        <a:rPr lang="en-ID" sz="1000" u="none" strike="noStrike" dirty="0">
                          <a:effectLst/>
                        </a:rPr>
                        <a:t> </a:t>
                      </a:r>
                      <a:r>
                        <a:rPr lang="en-ID" sz="1000" u="none" strike="noStrike" dirty="0" err="1">
                          <a:effectLst/>
                        </a:rPr>
                        <a:t>tersedia</a:t>
                      </a:r>
                      <a:r>
                        <a:rPr lang="en-ID" sz="1000" u="none" strike="noStrike" dirty="0">
                          <a:effectLst/>
                        </a:rPr>
                        <a:t> di open‑source </a:t>
                      </a:r>
                      <a:r>
                        <a:rPr lang="en-ID" sz="1000" u="none" strike="noStrike" dirty="0" err="1">
                          <a:effectLst/>
                        </a:rPr>
                        <a:t>mumpuni</a:t>
                      </a:r>
                      <a:r>
                        <a:rPr lang="en-ID" sz="1000" u="none" strike="noStrike" dirty="0">
                          <a:effectLst/>
                        </a:rPr>
                        <a:t>)</a:t>
                      </a:r>
                      <a:endParaRPr lang="en-ID" sz="1000" b="0" i="0" u="none" strike="noStrike" dirty="0">
                        <a:solidFill>
                          <a:srgbClr val="000000"/>
                        </a:solidFill>
                        <a:effectLst/>
                        <a:latin typeface="Aptos Narrow" panose="020B0004020202020204" pitchFamily="34" charset="0"/>
                      </a:endParaRPr>
                    </a:p>
                  </a:txBody>
                  <a:tcPr marL="3481" marR="3481" marT="3481" marB="0" anchor="ctr"/>
                </a:tc>
                <a:extLst>
                  <a:ext uri="{0D108BD9-81ED-4DB2-BD59-A6C34878D82A}">
                    <a16:rowId xmlns:a16="http://schemas.microsoft.com/office/drawing/2014/main" val="619425854"/>
                  </a:ext>
                </a:extLst>
              </a:tr>
              <a:tr h="161243">
                <a:tc vMerge="1">
                  <a:txBody>
                    <a:bodyPr/>
                    <a:lstStyle/>
                    <a:p>
                      <a:endParaRPr lang="en-ID"/>
                    </a:p>
                  </a:txBody>
                  <a:tcPr/>
                </a:tc>
                <a:tc vMerge="1">
                  <a:txBody>
                    <a:bodyPr/>
                    <a:lstStyle/>
                    <a:p>
                      <a:endParaRPr lang="en-ID"/>
                    </a:p>
                  </a:txBody>
                  <a:tcPr/>
                </a:tc>
                <a:tc vMerge="1">
                  <a:txBody>
                    <a:bodyPr/>
                    <a:lstStyle/>
                    <a:p>
                      <a:endParaRPr lang="en-ID"/>
                    </a:p>
                  </a:txBody>
                  <a:tcPr/>
                </a:tc>
                <a:tc>
                  <a:txBody>
                    <a:bodyPr/>
                    <a:lstStyle/>
                    <a:p>
                      <a:pPr algn="l" fontAlgn="ctr">
                        <a:buNone/>
                      </a:pPr>
                      <a:r>
                        <a:rPr lang="en-ID" sz="1000" u="none" strike="noStrike" dirty="0">
                          <a:effectLst/>
                        </a:rPr>
                        <a:t>– Edge cases yang sangat </a:t>
                      </a:r>
                      <a:r>
                        <a:rPr lang="en-ID" sz="1000" u="none" strike="noStrike" dirty="0" err="1">
                          <a:effectLst/>
                        </a:rPr>
                        <a:t>spesifik</a:t>
                      </a:r>
                      <a:r>
                        <a:rPr lang="en-ID" sz="1000" u="none" strike="noStrike" dirty="0">
                          <a:effectLst/>
                        </a:rPr>
                        <a:t> </a:t>
                      </a:r>
                      <a:r>
                        <a:rPr lang="en-ID" sz="1000" u="none" strike="noStrike" dirty="0" err="1">
                          <a:effectLst/>
                        </a:rPr>
                        <a:t>atau</a:t>
                      </a:r>
                      <a:r>
                        <a:rPr lang="en-ID" sz="1000" u="none" strike="noStrike" dirty="0">
                          <a:effectLst/>
                        </a:rPr>
                        <a:t> </a:t>
                      </a:r>
                      <a:r>
                        <a:rPr lang="en-ID" sz="1000" u="none" strike="noStrike" dirty="0" err="1">
                          <a:effectLst/>
                        </a:rPr>
                        <a:t>ambigu</a:t>
                      </a:r>
                      <a:r>
                        <a:rPr lang="en-ID" sz="1000" u="none" strike="noStrike" dirty="0">
                          <a:effectLst/>
                        </a:rPr>
                        <a:t> </a:t>
                      </a:r>
                      <a:r>
                        <a:rPr lang="en-ID" sz="1000" u="none" strike="noStrike" dirty="0" err="1">
                          <a:effectLst/>
                        </a:rPr>
                        <a:t>masih</a:t>
                      </a:r>
                      <a:r>
                        <a:rPr lang="en-ID" sz="1000" u="none" strike="noStrike" dirty="0">
                          <a:effectLst/>
                        </a:rPr>
                        <a:t> </a:t>
                      </a:r>
                      <a:r>
                        <a:rPr lang="en-ID" sz="1000" u="none" strike="noStrike" dirty="0" err="1">
                          <a:effectLst/>
                        </a:rPr>
                        <a:t>sering</a:t>
                      </a:r>
                      <a:r>
                        <a:rPr lang="en-ID" sz="1000" u="none" strike="noStrike" dirty="0">
                          <a:effectLst/>
                        </a:rPr>
                        <a:t> </a:t>
                      </a:r>
                      <a:r>
                        <a:rPr lang="en-ID" sz="1000" u="none" strike="noStrike" dirty="0" err="1">
                          <a:effectLst/>
                        </a:rPr>
                        <a:t>gagal</a:t>
                      </a:r>
                      <a:endParaRPr lang="en-ID" sz="1000" b="0" i="0" u="none" strike="noStrike" dirty="0">
                        <a:solidFill>
                          <a:srgbClr val="000000"/>
                        </a:solidFill>
                        <a:effectLst/>
                        <a:latin typeface="Aptos Narrow" panose="020B0004020202020204" pitchFamily="34" charset="0"/>
                      </a:endParaRPr>
                    </a:p>
                  </a:txBody>
                  <a:tcPr marL="3481" marR="3481" marT="3481" marB="0" anchor="ctr"/>
                </a:tc>
                <a:extLst>
                  <a:ext uri="{0D108BD9-81ED-4DB2-BD59-A6C34878D82A}">
                    <a16:rowId xmlns:a16="http://schemas.microsoft.com/office/drawing/2014/main" val="4095185337"/>
                  </a:ext>
                </a:extLst>
              </a:tr>
            </a:tbl>
          </a:graphicData>
        </a:graphic>
      </p:graphicFrame>
    </p:spTree>
    <p:extLst>
      <p:ext uri="{BB962C8B-B14F-4D97-AF65-F5344CB8AC3E}">
        <p14:creationId xmlns:p14="http://schemas.microsoft.com/office/powerpoint/2010/main" val="291833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8812F-90DF-8EA9-E307-7D51F998B751}"/>
            </a:ext>
          </a:extLst>
        </p:cNvPr>
        <p:cNvGrpSpPr/>
        <p:nvPr/>
      </p:nvGrpSpPr>
      <p:grpSpPr>
        <a:xfrm>
          <a:off x="0" y="0"/>
          <a:ext cx="0" cy="0"/>
          <a:chOff x="0" y="0"/>
          <a:chExt cx="0" cy="0"/>
        </a:xfrm>
      </p:grpSpPr>
      <p:pic>
        <p:nvPicPr>
          <p:cNvPr id="2" name="Image 0" descr="Logo Universitas Gadjah Mada">
            <a:extLst>
              <a:ext uri="{FF2B5EF4-FFF2-40B4-BE49-F238E27FC236}">
                <a16:creationId xmlns:a16="http://schemas.microsoft.com/office/drawing/2014/main" id="{C6CF9648-3205-701F-7615-20C1F9D95EA4}"/>
              </a:ext>
            </a:extLst>
          </p:cNvPr>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FF2B5EF4-FFF2-40B4-BE49-F238E27FC236}">
                <a16:creationId xmlns:a16="http://schemas.microsoft.com/office/drawing/2014/main" id="{B8D0CD61-92D8-F3E9-0748-9A09B0FB683F}"/>
              </a:ex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a:extLst>
              <a:ext uri="{FF2B5EF4-FFF2-40B4-BE49-F238E27FC236}">
                <a16:creationId xmlns:a16="http://schemas.microsoft.com/office/drawing/2014/main" id="{8F246753-4A1A-2E5D-635F-7D2AF0F35578}"/>
              </a:ext>
            </a:extLst>
          </p:cNvPr>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a:extLst>
              <a:ext uri="{FF2B5EF4-FFF2-40B4-BE49-F238E27FC236}">
                <a16:creationId xmlns:a16="http://schemas.microsoft.com/office/drawing/2014/main" id="{88ECF7ED-EE16-C38E-7435-030BB4319404}"/>
              </a:ext>
            </a:extLst>
          </p:cNvPr>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8</a:t>
            </a:r>
            <a:endParaRPr lang="en-US" sz="900" dirty="0"/>
          </a:p>
        </p:txBody>
      </p:sp>
      <p:sp>
        <p:nvSpPr>
          <p:cNvPr id="6" name="Text 3">
            <a:extLst>
              <a:ext uri="{FF2B5EF4-FFF2-40B4-BE49-F238E27FC236}">
                <a16:creationId xmlns:a16="http://schemas.microsoft.com/office/drawing/2014/main" id="{5972456E-2749-796A-B3E1-9A14BC49E294}"/>
              </a:ext>
            </a:extLst>
          </p:cNvPr>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LANDASAN</a:t>
            </a:r>
            <a:endParaRPr lang="en-US" sz="1200" dirty="0"/>
          </a:p>
        </p:txBody>
      </p:sp>
      <p:sp>
        <p:nvSpPr>
          <p:cNvPr id="28" name="Judul 1">
            <a:extLst>
              <a:ext uri="{FF2B5EF4-FFF2-40B4-BE49-F238E27FC236}">
                <a16:creationId xmlns:a16="http://schemas.microsoft.com/office/drawing/2014/main" id="{45BBF836-51FF-9B16-99DD-34CEF0B2DFF4}"/>
              </a:ext>
            </a:extLst>
          </p:cNvPr>
          <p:cNvSpPr txBox="1">
            <a:spLocks/>
          </p:cNvSpPr>
          <p:nvPr/>
        </p:nvSpPr>
        <p:spPr>
          <a:xfrm>
            <a:off x="431323" y="954348"/>
            <a:ext cx="10515600" cy="552012"/>
          </a:xfrm>
          <a:prstGeom prst="rect">
            <a:avLst/>
          </a:prstGeom>
          <a:noFill/>
          <a:ln/>
        </p:spPr>
        <p:txBody>
          <a:bodyPr wrap="square" lIns="0" tIns="0" rIns="0" bIns="0" rtlCol="0" anchor="t"/>
          <a:lstStyle>
            <a:lvl1pPr indent="0">
              <a:spcBef>
                <a:spcPct val="0"/>
              </a:spcBef>
              <a:buNone/>
              <a:defRPr lang="en-US" sz="2700" b="1" dirty="0">
                <a:solidFill>
                  <a:srgbClr val="0B3C6E"/>
                </a:solidFill>
                <a:latin typeface="Georgia" pitchFamily="34" charset="0"/>
                <a:ea typeface="Georgia" pitchFamily="34" charset="-122"/>
                <a:cs typeface="Georgia" pitchFamily="34" charset="-120"/>
              </a:defRPr>
            </a:lvl1pPr>
          </a:lstStyle>
          <a:p>
            <a:r>
              <a:rPr lang="en-US" dirty="0"/>
              <a:t>RAG dan LLM </a:t>
            </a:r>
            <a:r>
              <a:rPr lang="en-US" dirty="0" err="1"/>
              <a:t>untuk</a:t>
            </a:r>
            <a:r>
              <a:rPr lang="en-US" dirty="0"/>
              <a:t> mapping</a:t>
            </a:r>
            <a:endParaRPr lang="en-ID" dirty="0"/>
          </a:p>
        </p:txBody>
      </p:sp>
      <p:sp>
        <p:nvSpPr>
          <p:cNvPr id="29" name="Kotak Teks 28">
            <a:extLst>
              <a:ext uri="{FF2B5EF4-FFF2-40B4-BE49-F238E27FC236}">
                <a16:creationId xmlns:a16="http://schemas.microsoft.com/office/drawing/2014/main" id="{D0B0CDA8-E56D-3354-D39B-92913C950E61}"/>
              </a:ext>
            </a:extLst>
          </p:cNvPr>
          <p:cNvSpPr txBox="1"/>
          <p:nvPr/>
        </p:nvSpPr>
        <p:spPr>
          <a:xfrm>
            <a:off x="431323" y="2016439"/>
            <a:ext cx="10754532" cy="2954655"/>
          </a:xfrm>
          <a:prstGeom prst="rect">
            <a:avLst/>
          </a:prstGeom>
          <a:noFill/>
        </p:spPr>
        <p:txBody>
          <a:bodyPr wrap="square">
            <a:spAutoFit/>
          </a:bodyPr>
          <a:lstStyle/>
          <a:p>
            <a:pPr algn="just" rtl="0">
              <a:spcBef>
                <a:spcPts val="1200"/>
              </a:spcBef>
              <a:spcAft>
                <a:spcPts val="1200"/>
              </a:spcAft>
              <a:buNone/>
            </a:pPr>
            <a:r>
              <a:rPr lang="en-ID" sz="1800" b="0" i="0" u="none" strike="noStrike" dirty="0">
                <a:solidFill>
                  <a:srgbClr val="000000"/>
                </a:solidFill>
                <a:effectLst/>
                <a:latin typeface="Times New Roman" panose="02020603050405020304" pitchFamily="18" charset="0"/>
              </a:rPr>
              <a:t>RAG </a:t>
            </a:r>
            <a:r>
              <a:rPr lang="en-ID" sz="1800" b="0" i="0" u="none" strike="noStrike" dirty="0" err="1">
                <a:solidFill>
                  <a:srgbClr val="000000"/>
                </a:solidFill>
                <a:effectLst/>
                <a:latin typeface="Times New Roman" panose="02020603050405020304" pitchFamily="18" charset="0"/>
              </a:rPr>
              <a:t>mengatasi</a:t>
            </a:r>
            <a:r>
              <a:rPr lang="en-ID" sz="1800" b="0" i="0" u="none" strike="noStrike" dirty="0">
                <a:solidFill>
                  <a:srgbClr val="000000"/>
                </a:solidFill>
                <a:effectLst/>
                <a:latin typeface="Times New Roman" panose="02020603050405020304" pitchFamily="18" charset="0"/>
              </a:rPr>
              <a:t> LLM </a:t>
            </a:r>
            <a:r>
              <a:rPr lang="en-ID" sz="1800" b="0" i="0" u="none" strike="noStrike" dirty="0" err="1">
                <a:solidFill>
                  <a:srgbClr val="000000"/>
                </a:solidFill>
                <a:effectLst/>
                <a:latin typeface="Times New Roman" panose="02020603050405020304" pitchFamily="18" charset="0"/>
              </a:rPr>
              <a:t>murni</a:t>
            </a:r>
            <a:r>
              <a:rPr lang="en-ID" sz="1800" b="0" i="0" u="none" strike="noStrike" dirty="0">
                <a:solidFill>
                  <a:srgbClr val="000000"/>
                </a:solidFill>
                <a:effectLst/>
                <a:latin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rPr>
              <a:t>sebagai</a:t>
            </a:r>
            <a:r>
              <a:rPr lang="en-ID" sz="1800" b="0" i="0" u="none" strike="noStrike" dirty="0">
                <a:solidFill>
                  <a:srgbClr val="000000"/>
                </a:solidFill>
                <a:effectLst/>
                <a:latin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rPr>
              <a:t>berikut</a:t>
            </a:r>
            <a:r>
              <a:rPr lang="en-ID" sz="1800" b="0" i="0" u="none" strike="noStrike" dirty="0">
                <a:solidFill>
                  <a:srgbClr val="000000"/>
                </a:solidFill>
                <a:effectLst/>
                <a:latin typeface="Times New Roman" panose="02020603050405020304" pitchFamily="18" charset="0"/>
              </a:rPr>
              <a:t> </a:t>
            </a:r>
            <a:r>
              <a:rPr lang="en-ID" sz="1800" b="0" i="0" u="none" strike="noStrike" dirty="0">
                <a:solidFill>
                  <a:srgbClr val="000000"/>
                </a:solidFill>
                <a:effectLst/>
                <a:latin typeface="Times New Roman" panose="02020603050405020304" pitchFamily="18" charset="0"/>
                <a:hlinkClick r:id="rId4"/>
              </a:rPr>
              <a:t>(Lewis et al., 2021)</a:t>
            </a:r>
            <a:r>
              <a:rPr lang="en-ID" dirty="0">
                <a:solidFill>
                  <a:srgbClr val="000000"/>
                </a:solidFill>
                <a:latin typeface="Times New Roman" panose="02020603050405020304" pitchFamily="18" charset="0"/>
              </a:rPr>
              <a:t>:</a:t>
            </a:r>
            <a:endParaRPr lang="en-ID" dirty="0"/>
          </a:p>
          <a:p>
            <a:pPr marL="342900" indent="-342900" algn="just" rtl="0">
              <a:spcBef>
                <a:spcPts val="1200"/>
              </a:spcBef>
              <a:spcAft>
                <a:spcPts val="1200"/>
              </a:spcAft>
              <a:buFont typeface="+mj-lt"/>
              <a:buAutoNum type="arabicPeriod"/>
            </a:pPr>
            <a:r>
              <a:rPr lang="en-ID" sz="1800" b="0" i="0" u="none" strike="noStrike" dirty="0" err="1">
                <a:solidFill>
                  <a:srgbClr val="000000"/>
                </a:solidFill>
                <a:effectLst/>
                <a:latin typeface="Times New Roman" panose="02020603050405020304" pitchFamily="18" charset="0"/>
              </a:rPr>
              <a:t>Halusinasi</a:t>
            </a:r>
            <a:r>
              <a:rPr lang="en-ID" sz="1800" b="0" i="0" u="none" strike="noStrike" dirty="0">
                <a:solidFill>
                  <a:srgbClr val="000000"/>
                </a:solidFill>
                <a:effectLst/>
                <a:latin typeface="Times New Roman" panose="02020603050405020304" pitchFamily="18" charset="0"/>
              </a:rPr>
              <a:t>. LLM </a:t>
            </a:r>
            <a:r>
              <a:rPr lang="en-ID" sz="1800" b="0" i="0" u="none" strike="noStrike" dirty="0" err="1">
                <a:solidFill>
                  <a:srgbClr val="000000"/>
                </a:solidFill>
                <a:effectLst/>
                <a:latin typeface="Times New Roman" panose="02020603050405020304" pitchFamily="18" charset="0"/>
              </a:rPr>
              <a:t>cenderung</a:t>
            </a:r>
            <a:r>
              <a:rPr lang="en-ID" sz="1800" b="0" i="0" u="none" strike="noStrike" dirty="0">
                <a:solidFill>
                  <a:srgbClr val="000000"/>
                </a:solidFill>
                <a:effectLst/>
                <a:latin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rPr>
              <a:t>menghasilkan</a:t>
            </a:r>
            <a:r>
              <a:rPr lang="en-ID" sz="1800" b="0" i="0" u="none" strike="noStrike" dirty="0">
                <a:solidFill>
                  <a:srgbClr val="000000"/>
                </a:solidFill>
                <a:effectLst/>
                <a:latin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rPr>
              <a:t>konten</a:t>
            </a:r>
            <a:r>
              <a:rPr lang="en-ID" sz="1800" b="0" i="0" u="none" strike="noStrike" dirty="0">
                <a:solidFill>
                  <a:srgbClr val="000000"/>
                </a:solidFill>
                <a:effectLst/>
                <a:latin typeface="Times New Roman" panose="02020603050405020304" pitchFamily="18" charset="0"/>
              </a:rPr>
              <a:t> yang </a:t>
            </a:r>
            <a:r>
              <a:rPr lang="en-ID" sz="1800" b="0" i="0" u="none" strike="noStrike" dirty="0" err="1">
                <a:solidFill>
                  <a:srgbClr val="000000"/>
                </a:solidFill>
                <a:effectLst/>
                <a:latin typeface="Times New Roman" panose="02020603050405020304" pitchFamily="18" charset="0"/>
              </a:rPr>
              <a:t>terdengar</a:t>
            </a:r>
            <a:r>
              <a:rPr lang="en-ID" sz="1800" b="0" i="0" u="none" strike="noStrike" dirty="0">
                <a:solidFill>
                  <a:srgbClr val="000000"/>
                </a:solidFill>
                <a:effectLst/>
                <a:latin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rPr>
              <a:t>masuk</a:t>
            </a:r>
            <a:r>
              <a:rPr lang="en-ID" sz="1800" b="0" i="0" u="none" strike="noStrike" dirty="0">
                <a:solidFill>
                  <a:srgbClr val="000000"/>
                </a:solidFill>
                <a:effectLst/>
                <a:latin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rPr>
              <a:t>akal</a:t>
            </a:r>
            <a:r>
              <a:rPr lang="en-ID" sz="1800" b="0" i="0" u="none" strike="noStrike" dirty="0">
                <a:solidFill>
                  <a:srgbClr val="000000"/>
                </a:solidFill>
                <a:effectLst/>
                <a:latin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rPr>
              <a:t>tetapi</a:t>
            </a:r>
            <a:r>
              <a:rPr lang="en-ID" sz="1800" b="0" i="0" u="none" strike="noStrike" dirty="0">
                <a:solidFill>
                  <a:srgbClr val="000000"/>
                </a:solidFill>
                <a:effectLst/>
                <a:latin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rPr>
              <a:t>tidak</a:t>
            </a:r>
            <a:r>
              <a:rPr lang="en-ID" sz="1800" b="0" i="0" u="none" strike="noStrike" dirty="0">
                <a:solidFill>
                  <a:srgbClr val="000000"/>
                </a:solidFill>
                <a:effectLst/>
                <a:latin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rPr>
              <a:t>sesuai</a:t>
            </a:r>
            <a:r>
              <a:rPr lang="en-ID" sz="1800" b="0" i="0" u="none" strike="noStrike" dirty="0">
                <a:solidFill>
                  <a:srgbClr val="000000"/>
                </a:solidFill>
                <a:effectLst/>
                <a:latin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rPr>
              <a:t>fakta</a:t>
            </a:r>
            <a:r>
              <a:rPr lang="en-ID" sz="1800" b="0" i="0" u="none" strike="noStrike" dirty="0">
                <a:solidFill>
                  <a:srgbClr val="000000"/>
                </a:solidFill>
                <a:effectLst/>
                <a:latin typeface="Times New Roman" panose="02020603050405020304" pitchFamily="18" charset="0"/>
              </a:rPr>
              <a:t>. </a:t>
            </a:r>
          </a:p>
          <a:p>
            <a:pPr marL="342900" indent="-342900" algn="just">
              <a:spcBef>
                <a:spcPts val="1200"/>
              </a:spcBef>
              <a:spcAft>
                <a:spcPts val="1200"/>
              </a:spcAft>
              <a:buFont typeface="+mj-lt"/>
              <a:buAutoNum type="arabicPeriod"/>
            </a:pPr>
            <a:r>
              <a:rPr lang="en-ID" sz="1800" b="0" i="0" u="none" strike="noStrike" dirty="0" err="1">
                <a:solidFill>
                  <a:srgbClr val="000000"/>
                </a:solidFill>
                <a:effectLst/>
                <a:latin typeface="Times New Roman" panose="02020603050405020304" pitchFamily="18" charset="0"/>
              </a:rPr>
              <a:t>Pengetahuan</a:t>
            </a:r>
            <a:r>
              <a:rPr lang="en-ID" sz="1800" b="0" i="0" u="none" strike="noStrike" dirty="0">
                <a:solidFill>
                  <a:srgbClr val="000000"/>
                </a:solidFill>
                <a:effectLst/>
                <a:latin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rPr>
              <a:t>Usang</a:t>
            </a:r>
            <a:r>
              <a:rPr lang="en-ID" sz="1800" b="0" i="0" u="none" strike="noStrike" dirty="0">
                <a:solidFill>
                  <a:srgbClr val="000000"/>
                </a:solidFill>
                <a:effectLst/>
                <a:latin typeface="Times New Roman" panose="02020603050405020304" pitchFamily="18" charset="0"/>
              </a:rPr>
              <a:t> (Outdated Knowledge) dan Sulit Diperbarui. </a:t>
            </a:r>
            <a:r>
              <a:rPr lang="en-ID" sz="1800" b="0" i="0" u="none" strike="noStrike" dirty="0" err="1">
                <a:solidFill>
                  <a:srgbClr val="000000"/>
                </a:solidFill>
                <a:effectLst/>
                <a:latin typeface="Times New Roman" panose="02020603050405020304" pitchFamily="18" charset="0"/>
              </a:rPr>
              <a:t>Pengetahuan</a:t>
            </a:r>
            <a:r>
              <a:rPr lang="en-ID" sz="1800" b="0" i="0" u="none" strike="noStrike" dirty="0">
                <a:solidFill>
                  <a:srgbClr val="000000"/>
                </a:solidFill>
                <a:effectLst/>
                <a:latin typeface="Times New Roman" panose="02020603050405020304" pitchFamily="18" charset="0"/>
              </a:rPr>
              <a:t> LLM </a:t>
            </a:r>
            <a:r>
              <a:rPr lang="pt-BR" dirty="0"/>
              <a:t>sepenuhnya bergantung pada data pelatihan</a:t>
            </a:r>
          </a:p>
          <a:p>
            <a:pPr marL="342900" indent="-342900" algn="just">
              <a:spcBef>
                <a:spcPts val="1200"/>
              </a:spcBef>
              <a:spcAft>
                <a:spcPts val="1200"/>
              </a:spcAft>
              <a:buFont typeface="+mj-lt"/>
              <a:buAutoNum type="arabicPeriod"/>
            </a:pPr>
            <a:r>
              <a:rPr lang="en-ID" sz="1800" b="0" i="0" u="none" strike="noStrike" dirty="0">
                <a:solidFill>
                  <a:srgbClr val="000000"/>
                </a:solidFill>
                <a:effectLst/>
                <a:latin typeface="Times New Roman" panose="02020603050405020304" pitchFamily="18" charset="0"/>
              </a:rPr>
              <a:t>Kurang </a:t>
            </a:r>
            <a:r>
              <a:rPr lang="en-ID" sz="1800" b="0" i="0" u="none" strike="noStrike" dirty="0" err="1">
                <a:solidFill>
                  <a:srgbClr val="000000"/>
                </a:solidFill>
                <a:effectLst/>
                <a:latin typeface="Times New Roman" panose="02020603050405020304" pitchFamily="18" charset="0"/>
              </a:rPr>
              <a:t>Transparan</a:t>
            </a:r>
            <a:r>
              <a:rPr lang="en-ID" sz="1800" b="0" i="0" u="none" strike="noStrike" dirty="0">
                <a:solidFill>
                  <a:srgbClr val="000000"/>
                </a:solidFill>
                <a:effectLst/>
                <a:latin typeface="Times New Roman" panose="02020603050405020304" pitchFamily="18" charset="0"/>
              </a:rPr>
              <a:t> dan Sulit Dilacak (Lack of Interpretability). Model </a:t>
            </a:r>
            <a:r>
              <a:rPr lang="en-ID" sz="1800" b="0" i="0" u="none" strike="noStrike" dirty="0" err="1">
                <a:solidFill>
                  <a:srgbClr val="000000"/>
                </a:solidFill>
                <a:effectLst/>
                <a:latin typeface="Times New Roman" panose="02020603050405020304" pitchFamily="18" charset="0"/>
              </a:rPr>
              <a:t>parametrik</a:t>
            </a:r>
            <a:r>
              <a:rPr lang="en-ID" sz="1800" b="0" i="0" u="none" strike="noStrike" dirty="0">
                <a:solidFill>
                  <a:srgbClr val="000000"/>
                </a:solidFill>
                <a:effectLst/>
                <a:latin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rPr>
              <a:t>besar</a:t>
            </a:r>
            <a:r>
              <a:rPr lang="en-ID" sz="1800" b="0" i="0" u="none" strike="noStrike" dirty="0">
                <a:solidFill>
                  <a:srgbClr val="000000"/>
                </a:solidFill>
                <a:effectLst/>
                <a:latin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rPr>
              <a:t>memerlukan</a:t>
            </a:r>
            <a:r>
              <a:rPr lang="en-ID" sz="1800" b="0" i="0" u="none" strike="noStrike" dirty="0">
                <a:solidFill>
                  <a:srgbClr val="000000"/>
                </a:solidFill>
                <a:effectLst/>
                <a:latin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rPr>
              <a:t>miliaran</a:t>
            </a:r>
            <a:r>
              <a:rPr lang="en-ID" sz="1800" b="0" i="0" u="none" strike="noStrike" dirty="0">
                <a:solidFill>
                  <a:srgbClr val="000000"/>
                </a:solidFill>
                <a:effectLst/>
                <a:latin typeface="Times New Roman" panose="02020603050405020304" pitchFamily="18" charset="0"/>
              </a:rPr>
              <a:t> parameter </a:t>
            </a:r>
            <a:r>
              <a:rPr lang="en-ID" sz="1800" b="0" i="0" u="none" strike="noStrike" dirty="0" err="1">
                <a:solidFill>
                  <a:srgbClr val="000000"/>
                </a:solidFill>
                <a:effectLst/>
                <a:latin typeface="Times New Roman" panose="02020603050405020304" pitchFamily="18" charset="0"/>
              </a:rPr>
              <a:t>untuk</a:t>
            </a:r>
            <a:r>
              <a:rPr lang="en-ID" sz="1800" b="0" i="0" u="none" strike="noStrike" dirty="0">
                <a:solidFill>
                  <a:srgbClr val="000000"/>
                </a:solidFill>
                <a:effectLst/>
                <a:latin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rPr>
              <a:t>menyimpan</a:t>
            </a:r>
            <a:r>
              <a:rPr lang="en-ID" sz="1800" b="0" i="0" u="none" strike="noStrike" dirty="0">
                <a:solidFill>
                  <a:srgbClr val="000000"/>
                </a:solidFill>
                <a:effectLst/>
                <a:latin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rPr>
              <a:t>pengetahuan</a:t>
            </a:r>
            <a:r>
              <a:rPr lang="en-ID" sz="1800" b="0" i="0" u="none" strike="noStrike" dirty="0">
                <a:solidFill>
                  <a:srgbClr val="000000"/>
                </a:solidFill>
                <a:effectLst/>
                <a:latin typeface="Times New Roman" panose="02020603050405020304" pitchFamily="18" charset="0"/>
              </a:rPr>
              <a:t> yang </a:t>
            </a:r>
            <a:r>
              <a:rPr lang="en-ID" sz="1800" b="0" i="0" u="none" strike="noStrike" dirty="0" err="1">
                <a:solidFill>
                  <a:srgbClr val="000000"/>
                </a:solidFill>
                <a:effectLst/>
                <a:latin typeface="Times New Roman" panose="02020603050405020304" pitchFamily="18" charset="0"/>
              </a:rPr>
              <a:t>relatif</a:t>
            </a:r>
            <a:r>
              <a:rPr lang="en-ID" sz="1800" b="0" i="0" u="none" strike="noStrike" dirty="0">
                <a:solidFill>
                  <a:srgbClr val="000000"/>
                </a:solidFill>
                <a:effectLst/>
                <a:latin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rPr>
              <a:t>sedikit</a:t>
            </a:r>
            <a:r>
              <a:rPr lang="en-ID" sz="1800" b="0" i="0" u="none" strike="noStrike" dirty="0">
                <a:solidFill>
                  <a:srgbClr val="000000"/>
                </a:solidFill>
                <a:effectLst/>
                <a:latin typeface="Times New Roman" panose="02020603050405020304" pitchFamily="18" charset="0"/>
              </a:rPr>
              <a:t>. Fakta </a:t>
            </a:r>
            <a:r>
              <a:rPr lang="en-ID" sz="1800" b="0" i="0" u="none" strike="noStrike" dirty="0" err="1">
                <a:solidFill>
                  <a:srgbClr val="000000"/>
                </a:solidFill>
                <a:effectLst/>
                <a:latin typeface="Times New Roman" panose="02020603050405020304" pitchFamily="18" charset="0"/>
              </a:rPr>
              <a:t>ini</a:t>
            </a:r>
            <a:r>
              <a:rPr lang="en-ID" sz="1800" b="0" i="0" u="none" strike="noStrike" dirty="0">
                <a:solidFill>
                  <a:srgbClr val="000000"/>
                </a:solidFill>
                <a:effectLst/>
                <a:latin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rPr>
              <a:t>memicu</a:t>
            </a:r>
            <a:r>
              <a:rPr lang="en-ID" sz="1800" b="0" i="0" u="none" strike="noStrike" dirty="0">
                <a:solidFill>
                  <a:srgbClr val="000000"/>
                </a:solidFill>
                <a:effectLst/>
                <a:latin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rPr>
              <a:t>gagasan</a:t>
            </a:r>
            <a:r>
              <a:rPr lang="en-ID" sz="1800" b="0" i="0" u="none" strike="noStrike" dirty="0">
                <a:solidFill>
                  <a:srgbClr val="000000"/>
                </a:solidFill>
                <a:effectLst/>
                <a:latin typeface="Times New Roman" panose="02020603050405020304" pitchFamily="18" charset="0"/>
              </a:rPr>
              <a:t> non‑parametric memory: </a:t>
            </a:r>
            <a:r>
              <a:rPr lang="en-ID" sz="1800" b="0" i="0" u="none" strike="noStrike" dirty="0" err="1">
                <a:solidFill>
                  <a:srgbClr val="000000"/>
                </a:solidFill>
                <a:effectLst/>
                <a:latin typeface="Times New Roman" panose="02020603050405020304" pitchFamily="18" charset="0"/>
              </a:rPr>
              <a:t>penyimpanan</a:t>
            </a:r>
            <a:r>
              <a:rPr lang="en-ID" sz="1800" b="0" i="0" u="none" strike="noStrike" dirty="0">
                <a:solidFill>
                  <a:srgbClr val="000000"/>
                </a:solidFill>
                <a:effectLst/>
                <a:latin typeface="Times New Roman" panose="02020603050405020304" pitchFamily="18" charset="0"/>
              </a:rPr>
              <a:t> </a:t>
            </a:r>
            <a:r>
              <a:rPr lang="en-ID" sz="1800" b="0" i="0" u="none" strike="noStrike" dirty="0" err="1">
                <a:solidFill>
                  <a:srgbClr val="000000"/>
                </a:solidFill>
                <a:effectLst/>
                <a:latin typeface="Times New Roman" panose="02020603050405020304" pitchFamily="18" charset="0"/>
              </a:rPr>
              <a:t>pengetahuan</a:t>
            </a:r>
            <a:r>
              <a:rPr lang="en-ID" sz="1800" b="0" i="0" u="none" strike="noStrike" dirty="0">
                <a:solidFill>
                  <a:srgbClr val="000000"/>
                </a:solidFill>
                <a:effectLst/>
                <a:latin typeface="Times New Roman" panose="02020603050405020304" pitchFamily="18" charset="0"/>
              </a:rPr>
              <a:t> di </a:t>
            </a:r>
            <a:r>
              <a:rPr lang="en-ID" sz="1800" b="0" i="0" u="none" strike="noStrike" dirty="0" err="1">
                <a:solidFill>
                  <a:srgbClr val="000000"/>
                </a:solidFill>
                <a:effectLst/>
                <a:latin typeface="Times New Roman" panose="02020603050405020304" pitchFamily="18" charset="0"/>
              </a:rPr>
              <a:t>luar</a:t>
            </a:r>
            <a:r>
              <a:rPr lang="en-ID" sz="1800" b="0" i="0" u="none" strike="noStrike" dirty="0">
                <a:solidFill>
                  <a:srgbClr val="000000"/>
                </a:solidFill>
                <a:effectLst/>
                <a:latin typeface="Times New Roman" panose="02020603050405020304" pitchFamily="18" charset="0"/>
              </a:rPr>
              <a:t> parameter model.</a:t>
            </a:r>
          </a:p>
        </p:txBody>
      </p:sp>
    </p:spTree>
    <p:extLst>
      <p:ext uri="{BB962C8B-B14F-4D97-AF65-F5344CB8AC3E}">
        <p14:creationId xmlns:p14="http://schemas.microsoft.com/office/powerpoint/2010/main" val="17876880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DFCE6-372A-8050-0573-703B3B1303A3}"/>
            </a:ext>
          </a:extLst>
        </p:cNvPr>
        <p:cNvGrpSpPr/>
        <p:nvPr/>
      </p:nvGrpSpPr>
      <p:grpSpPr>
        <a:xfrm>
          <a:off x="0" y="0"/>
          <a:ext cx="0" cy="0"/>
          <a:chOff x="0" y="0"/>
          <a:chExt cx="0" cy="0"/>
        </a:xfrm>
      </p:grpSpPr>
      <p:pic>
        <p:nvPicPr>
          <p:cNvPr id="2" name="Image 0" descr="Logo Universitas Gadjah Mada">
            <a:extLst>
              <a:ext uri="{FF2B5EF4-FFF2-40B4-BE49-F238E27FC236}">
                <a16:creationId xmlns:a16="http://schemas.microsoft.com/office/drawing/2014/main" id="{BD92F9D6-5714-0012-6064-C1DD581D2F26}"/>
              </a:ext>
            </a:extLst>
          </p:cNvPr>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FF2B5EF4-FFF2-40B4-BE49-F238E27FC236}">
                <a16:creationId xmlns:a16="http://schemas.microsoft.com/office/drawing/2014/main" id="{B9C4CAFB-C819-4AAE-D89A-93DF72876513}"/>
              </a:ex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a:extLst>
              <a:ext uri="{FF2B5EF4-FFF2-40B4-BE49-F238E27FC236}">
                <a16:creationId xmlns:a16="http://schemas.microsoft.com/office/drawing/2014/main" id="{B0E654F0-4C67-8D5B-BA25-C6E830D99793}"/>
              </a:ext>
            </a:extLst>
          </p:cNvPr>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a:extLst>
              <a:ext uri="{FF2B5EF4-FFF2-40B4-BE49-F238E27FC236}">
                <a16:creationId xmlns:a16="http://schemas.microsoft.com/office/drawing/2014/main" id="{2D54BB84-032D-7978-2376-672B7A95A819}"/>
              </a:ext>
            </a:extLst>
          </p:cNvPr>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8</a:t>
            </a:r>
            <a:endParaRPr lang="en-US" sz="900" dirty="0"/>
          </a:p>
        </p:txBody>
      </p:sp>
      <p:sp>
        <p:nvSpPr>
          <p:cNvPr id="6" name="Text 3">
            <a:extLst>
              <a:ext uri="{FF2B5EF4-FFF2-40B4-BE49-F238E27FC236}">
                <a16:creationId xmlns:a16="http://schemas.microsoft.com/office/drawing/2014/main" id="{42059EBE-67A9-41B1-C0D2-539E88F1AE69}"/>
              </a:ext>
            </a:extLst>
          </p:cNvPr>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LANDASAN</a:t>
            </a:r>
            <a:endParaRPr lang="en-US" sz="1200" dirty="0"/>
          </a:p>
        </p:txBody>
      </p:sp>
      <p:sp>
        <p:nvSpPr>
          <p:cNvPr id="7" name="Text 0">
            <a:extLst>
              <a:ext uri="{FF2B5EF4-FFF2-40B4-BE49-F238E27FC236}">
                <a16:creationId xmlns:a16="http://schemas.microsoft.com/office/drawing/2014/main" id="{1703B961-5830-42A2-4536-47ECEBBF30DF}"/>
              </a:ext>
            </a:extLst>
          </p:cNvPr>
          <p:cNvSpPr>
            <a:spLocks noGrp="1"/>
          </p:cNvSpPr>
          <p:nvPr>
            <p:ph type="title" idx="100" hasCustomPrompt="1"/>
          </p:nvPr>
        </p:nvSpPr>
        <p:spPr>
          <a:xfrm>
            <a:off x="833091" y="980310"/>
            <a:ext cx="2291133"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NLP </a:t>
            </a:r>
            <a:r>
              <a:rPr lang="en-US" sz="2700" b="1" dirty="0" err="1">
                <a:solidFill>
                  <a:srgbClr val="0B3C6E"/>
                </a:solidFill>
                <a:latin typeface="Georgia" pitchFamily="34" charset="0"/>
                <a:ea typeface="Georgia" pitchFamily="34" charset="-122"/>
                <a:cs typeface="Georgia" pitchFamily="34" charset="-120"/>
              </a:rPr>
              <a:t>ke</a:t>
            </a:r>
            <a:r>
              <a:rPr lang="en-US" sz="2700" b="1" dirty="0">
                <a:solidFill>
                  <a:srgbClr val="0B3C6E"/>
                </a:solidFill>
                <a:latin typeface="Georgia" pitchFamily="34" charset="0"/>
                <a:ea typeface="Georgia" pitchFamily="34" charset="-122"/>
                <a:cs typeface="Georgia" pitchFamily="34" charset="-120"/>
              </a:rPr>
              <a:t> LLM</a:t>
            </a:r>
            <a:endParaRPr lang="en-US" sz="2700" dirty="0"/>
          </a:p>
        </p:txBody>
      </p:sp>
      <p:sp>
        <p:nvSpPr>
          <p:cNvPr id="11" name="Kotak Teks 10">
            <a:extLst>
              <a:ext uri="{FF2B5EF4-FFF2-40B4-BE49-F238E27FC236}">
                <a16:creationId xmlns:a16="http://schemas.microsoft.com/office/drawing/2014/main" id="{B126D025-1C24-D5AF-92FA-BEB5373898CF}"/>
              </a:ext>
            </a:extLst>
          </p:cNvPr>
          <p:cNvSpPr txBox="1"/>
          <p:nvPr/>
        </p:nvSpPr>
        <p:spPr>
          <a:xfrm>
            <a:off x="2504195" y="5666339"/>
            <a:ext cx="7291772" cy="369332"/>
          </a:xfrm>
          <a:prstGeom prst="rect">
            <a:avLst/>
          </a:prstGeom>
          <a:noFill/>
        </p:spPr>
        <p:txBody>
          <a:bodyPr wrap="square">
            <a:spAutoFit/>
          </a:bodyPr>
          <a:lstStyle/>
          <a:p>
            <a:r>
              <a:rPr lang="en-ID" dirty="0" err="1"/>
              <a:t>Evolusi</a:t>
            </a:r>
            <a:r>
              <a:rPr lang="en-ID" dirty="0"/>
              <a:t> LLM </a:t>
            </a:r>
            <a:r>
              <a:rPr lang="en-ID" dirty="0" err="1"/>
              <a:t>berdasarkan</a:t>
            </a:r>
            <a:r>
              <a:rPr lang="en-ID" dirty="0"/>
              <a:t> </a:t>
            </a:r>
            <a:r>
              <a:rPr lang="en-ID" dirty="0" err="1"/>
              <a:t>kemampuan</a:t>
            </a:r>
            <a:r>
              <a:rPr lang="en-ID" dirty="0"/>
              <a:t> </a:t>
            </a:r>
            <a:r>
              <a:rPr lang="en-ID" dirty="0" err="1"/>
              <a:t>penyelesaian</a:t>
            </a:r>
            <a:r>
              <a:rPr lang="en-ID" dirty="0"/>
              <a:t> </a:t>
            </a:r>
            <a:r>
              <a:rPr lang="en-ID" dirty="0" err="1"/>
              <a:t>tugas</a:t>
            </a:r>
            <a:r>
              <a:rPr lang="en-ID" dirty="0"/>
              <a:t> (Zhao </a:t>
            </a:r>
            <a:r>
              <a:rPr lang="en-ID" dirty="0" err="1"/>
              <a:t>dkk</a:t>
            </a:r>
            <a:r>
              <a:rPr lang="en-ID" dirty="0"/>
              <a:t>., 2026)</a:t>
            </a:r>
          </a:p>
        </p:txBody>
      </p:sp>
      <p:pic>
        <p:nvPicPr>
          <p:cNvPr id="10" name="Gambar 9">
            <a:extLst>
              <a:ext uri="{FF2B5EF4-FFF2-40B4-BE49-F238E27FC236}">
                <a16:creationId xmlns:a16="http://schemas.microsoft.com/office/drawing/2014/main" id="{87011E6F-3B73-12D4-15DE-86DDC9154B66}"/>
              </a:ext>
            </a:extLst>
          </p:cNvPr>
          <p:cNvPicPr>
            <a:picLocks noChangeAspect="1"/>
          </p:cNvPicPr>
          <p:nvPr/>
        </p:nvPicPr>
        <p:blipFill>
          <a:blip r:embed="rId4"/>
          <a:stretch>
            <a:fillRect/>
          </a:stretch>
        </p:blipFill>
        <p:spPr>
          <a:xfrm>
            <a:off x="933264" y="1308539"/>
            <a:ext cx="10460175" cy="3882944"/>
          </a:xfrm>
          <a:prstGeom prst="rect">
            <a:avLst/>
          </a:prstGeom>
        </p:spPr>
      </p:pic>
    </p:spTree>
    <p:extLst>
      <p:ext uri="{BB962C8B-B14F-4D97-AF65-F5344CB8AC3E}">
        <p14:creationId xmlns:p14="http://schemas.microsoft.com/office/powerpoint/2010/main" val="2054892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BBEBC-4449-A8AF-152C-28309D73593C}"/>
            </a:ext>
          </a:extLst>
        </p:cNvPr>
        <p:cNvGrpSpPr/>
        <p:nvPr/>
      </p:nvGrpSpPr>
      <p:grpSpPr>
        <a:xfrm>
          <a:off x="0" y="0"/>
          <a:ext cx="0" cy="0"/>
          <a:chOff x="0" y="0"/>
          <a:chExt cx="0" cy="0"/>
        </a:xfrm>
      </p:grpSpPr>
      <p:pic>
        <p:nvPicPr>
          <p:cNvPr id="2" name="Image 0" descr="Logo Universitas Gadjah Mada">
            <a:extLst>
              <a:ext uri="{FF2B5EF4-FFF2-40B4-BE49-F238E27FC236}">
                <a16:creationId xmlns:a16="http://schemas.microsoft.com/office/drawing/2014/main" id="{1EF4E450-A554-188E-44D3-407DFAAE1419}"/>
              </a:ext>
            </a:extLst>
          </p:cNvPr>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FF2B5EF4-FFF2-40B4-BE49-F238E27FC236}">
                <a16:creationId xmlns:a16="http://schemas.microsoft.com/office/drawing/2014/main" id="{981E2BF1-D7B5-8247-C99B-D2010C707E89}"/>
              </a:ex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a:extLst>
              <a:ext uri="{FF2B5EF4-FFF2-40B4-BE49-F238E27FC236}">
                <a16:creationId xmlns:a16="http://schemas.microsoft.com/office/drawing/2014/main" id="{8E52E259-AE1A-9B0A-EE4C-82A248C4D1E3}"/>
              </a:ext>
            </a:extLst>
          </p:cNvPr>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a:extLst>
              <a:ext uri="{FF2B5EF4-FFF2-40B4-BE49-F238E27FC236}">
                <a16:creationId xmlns:a16="http://schemas.microsoft.com/office/drawing/2014/main" id="{C844BABE-31F5-938B-5C43-D357698079B2}"/>
              </a:ext>
            </a:extLst>
          </p:cNvPr>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8</a:t>
            </a:r>
            <a:endParaRPr lang="en-US" sz="900" dirty="0"/>
          </a:p>
        </p:txBody>
      </p:sp>
      <p:sp>
        <p:nvSpPr>
          <p:cNvPr id="6" name="Text 3">
            <a:extLst>
              <a:ext uri="{FF2B5EF4-FFF2-40B4-BE49-F238E27FC236}">
                <a16:creationId xmlns:a16="http://schemas.microsoft.com/office/drawing/2014/main" id="{7DB80452-2DA2-E7AA-F629-17B21117ADB3}"/>
              </a:ext>
            </a:extLst>
          </p:cNvPr>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LANDASAN</a:t>
            </a:r>
            <a:endParaRPr lang="en-US" sz="1200" dirty="0"/>
          </a:p>
        </p:txBody>
      </p:sp>
      <p:sp>
        <p:nvSpPr>
          <p:cNvPr id="7" name="Text 0">
            <a:extLst>
              <a:ext uri="{FF2B5EF4-FFF2-40B4-BE49-F238E27FC236}">
                <a16:creationId xmlns:a16="http://schemas.microsoft.com/office/drawing/2014/main" id="{E751032A-36F3-EF28-F9AE-2292B2DE9CF2}"/>
              </a:ext>
            </a:extLst>
          </p:cNvPr>
          <p:cNvSpPr>
            <a:spLocks noGrp="1"/>
          </p:cNvSpPr>
          <p:nvPr>
            <p:ph type="title" idx="100" hasCustomPrompt="1"/>
          </p:nvPr>
        </p:nvSpPr>
        <p:spPr>
          <a:xfrm>
            <a:off x="777764" y="901746"/>
            <a:ext cx="4976649" cy="868680"/>
          </a:xfrm>
          <a:prstGeom prst="rect">
            <a:avLst/>
          </a:prstGeom>
          <a:noFill/>
          <a:ln/>
        </p:spPr>
        <p:txBody>
          <a:bodyPr wrap="square" lIns="0" tIns="0" rIns="0" bIns="0" rtlCol="0" anchor="t"/>
          <a:lstStyle/>
          <a:p>
            <a:pPr marL="0" indent="0" algn="l">
              <a:buNone/>
            </a:pPr>
            <a:r>
              <a:rPr lang="en-US" sz="2700" b="1" dirty="0" err="1">
                <a:solidFill>
                  <a:srgbClr val="0B3C6E"/>
                </a:solidFill>
                <a:latin typeface="Georgia" pitchFamily="34" charset="0"/>
                <a:ea typeface="Georgia" pitchFamily="34" charset="-122"/>
                <a:cs typeface="Georgia" pitchFamily="34" charset="-120"/>
              </a:rPr>
              <a:t>Bagaimana</a:t>
            </a:r>
            <a:r>
              <a:rPr lang="en-US" sz="2700" b="1" dirty="0">
                <a:solidFill>
                  <a:srgbClr val="0B3C6E"/>
                </a:solidFill>
                <a:latin typeface="Georgia" pitchFamily="34" charset="0"/>
                <a:ea typeface="Georgia" pitchFamily="34" charset="-122"/>
                <a:cs typeface="Georgia" pitchFamily="34" charset="-120"/>
              </a:rPr>
              <a:t> RAG </a:t>
            </a:r>
            <a:r>
              <a:rPr lang="en-US" sz="2700" b="1" dirty="0" err="1">
                <a:solidFill>
                  <a:srgbClr val="0B3C6E"/>
                </a:solidFill>
                <a:latin typeface="Georgia" pitchFamily="34" charset="0"/>
                <a:ea typeface="Georgia" pitchFamily="34" charset="-122"/>
                <a:cs typeface="Georgia" pitchFamily="34" charset="-120"/>
              </a:rPr>
              <a:t>bekerja</a:t>
            </a:r>
            <a:endParaRPr lang="en-US" sz="2700" dirty="0"/>
          </a:p>
        </p:txBody>
      </p:sp>
      <p:pic>
        <p:nvPicPr>
          <p:cNvPr id="27" name="Gambar 26">
            <a:extLst>
              <a:ext uri="{FF2B5EF4-FFF2-40B4-BE49-F238E27FC236}">
                <a16:creationId xmlns:a16="http://schemas.microsoft.com/office/drawing/2014/main" id="{8EA51B93-F545-4722-6ACE-3B2D91E36895}"/>
              </a:ext>
            </a:extLst>
          </p:cNvPr>
          <p:cNvPicPr>
            <a:picLocks noChangeAspect="1"/>
          </p:cNvPicPr>
          <p:nvPr/>
        </p:nvPicPr>
        <p:blipFill>
          <a:blip r:embed="rId4"/>
          <a:stretch>
            <a:fillRect/>
          </a:stretch>
        </p:blipFill>
        <p:spPr>
          <a:xfrm>
            <a:off x="2161180" y="1336917"/>
            <a:ext cx="7186465" cy="5210187"/>
          </a:xfrm>
          <a:prstGeom prst="rect">
            <a:avLst/>
          </a:prstGeom>
        </p:spPr>
      </p:pic>
    </p:spTree>
    <p:extLst>
      <p:ext uri="{BB962C8B-B14F-4D97-AF65-F5344CB8AC3E}">
        <p14:creationId xmlns:p14="http://schemas.microsoft.com/office/powerpoint/2010/main" val="1283004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230B5-C8B2-1D72-8ABD-07AE7E27843A}"/>
            </a:ext>
          </a:extLst>
        </p:cNvPr>
        <p:cNvGrpSpPr/>
        <p:nvPr/>
      </p:nvGrpSpPr>
      <p:grpSpPr>
        <a:xfrm>
          <a:off x="0" y="0"/>
          <a:ext cx="0" cy="0"/>
          <a:chOff x="0" y="0"/>
          <a:chExt cx="0" cy="0"/>
        </a:xfrm>
      </p:grpSpPr>
      <p:pic>
        <p:nvPicPr>
          <p:cNvPr id="2" name="Image 0" descr="Logo Universitas Gadjah Mada">
            <a:extLst>
              <a:ext uri="{FF2B5EF4-FFF2-40B4-BE49-F238E27FC236}">
                <a16:creationId xmlns:a16="http://schemas.microsoft.com/office/drawing/2014/main" id="{A2E4823B-DE2A-07F4-E4E9-0154FED4B3B2}"/>
              </a:ext>
            </a:extLst>
          </p:cNvPr>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FF2B5EF4-FFF2-40B4-BE49-F238E27FC236}">
                <a16:creationId xmlns:a16="http://schemas.microsoft.com/office/drawing/2014/main" id="{B9F40751-8CF3-B62A-7EEE-FB476A3121B9}"/>
              </a:ex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a:extLst>
              <a:ext uri="{FF2B5EF4-FFF2-40B4-BE49-F238E27FC236}">
                <a16:creationId xmlns:a16="http://schemas.microsoft.com/office/drawing/2014/main" id="{0F8A4B53-B53A-B800-4D6D-C0955CDAB3FA}"/>
              </a:ext>
            </a:extLst>
          </p:cNvPr>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a:extLst>
              <a:ext uri="{FF2B5EF4-FFF2-40B4-BE49-F238E27FC236}">
                <a16:creationId xmlns:a16="http://schemas.microsoft.com/office/drawing/2014/main" id="{AE64EF16-78E1-CD41-8E1C-D1E61405CF69}"/>
              </a:ext>
            </a:extLst>
          </p:cNvPr>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8</a:t>
            </a:r>
            <a:endParaRPr lang="en-US" sz="900" dirty="0"/>
          </a:p>
        </p:txBody>
      </p:sp>
      <p:sp>
        <p:nvSpPr>
          <p:cNvPr id="6" name="Text 3">
            <a:extLst>
              <a:ext uri="{FF2B5EF4-FFF2-40B4-BE49-F238E27FC236}">
                <a16:creationId xmlns:a16="http://schemas.microsoft.com/office/drawing/2014/main" id="{11D01C00-4198-C0B5-314B-DFA6355DA5CD}"/>
              </a:ext>
            </a:extLst>
          </p:cNvPr>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LANDASAN</a:t>
            </a:r>
            <a:endParaRPr lang="en-US" sz="1200" dirty="0"/>
          </a:p>
        </p:txBody>
      </p:sp>
      <p:sp>
        <p:nvSpPr>
          <p:cNvPr id="7" name="Text 0">
            <a:extLst>
              <a:ext uri="{FF2B5EF4-FFF2-40B4-BE49-F238E27FC236}">
                <a16:creationId xmlns:a16="http://schemas.microsoft.com/office/drawing/2014/main" id="{011271B9-BED4-40EC-BF9F-0F8357403040}"/>
              </a:ext>
            </a:extLst>
          </p:cNvPr>
          <p:cNvSpPr>
            <a:spLocks noGrp="1"/>
          </p:cNvSpPr>
          <p:nvPr>
            <p:ph type="title" idx="100" hasCustomPrompt="1"/>
          </p:nvPr>
        </p:nvSpPr>
        <p:spPr>
          <a:xfrm>
            <a:off x="402336" y="2560320"/>
            <a:ext cx="2372395" cy="1239170"/>
          </a:xfrm>
          <a:prstGeom prst="rect">
            <a:avLst/>
          </a:prstGeom>
          <a:noFill/>
          <a:ln/>
        </p:spPr>
        <p:txBody>
          <a:bodyPr wrap="square" lIns="0" tIns="0" rIns="0" bIns="0" rtlCol="0" anchor="t"/>
          <a:lstStyle/>
          <a:p>
            <a:pPr algn="l"/>
            <a:r>
              <a:rPr lang="en-US" sz="2800" dirty="0" err="1"/>
              <a:t>Evolusi</a:t>
            </a:r>
            <a:r>
              <a:rPr lang="en-US" sz="2800" dirty="0"/>
              <a:t> RAG </a:t>
            </a:r>
            <a:r>
              <a:rPr lang="en-US" sz="2800" dirty="0">
                <a:hlinkClick r:id="rId4">
                  <a:extLst>
                    <a:ext uri="{A12FA001-AC4F-418D-AE19-62706E023703}">
                      <ahyp:hlinkClr xmlns:ahyp="http://schemas.microsoft.com/office/drawing/2018/hyperlinkcolor" val="tx"/>
                    </a:ext>
                  </a:extLst>
                </a:hlinkClick>
              </a:rPr>
              <a:t>(Gao et al., 2024)</a:t>
            </a:r>
            <a:endParaRPr lang="en-US" sz="2700" dirty="0"/>
          </a:p>
        </p:txBody>
      </p:sp>
      <p:pic>
        <p:nvPicPr>
          <p:cNvPr id="9" name="Gambar 8">
            <a:extLst>
              <a:ext uri="{FF2B5EF4-FFF2-40B4-BE49-F238E27FC236}">
                <a16:creationId xmlns:a16="http://schemas.microsoft.com/office/drawing/2014/main" id="{DF1DA0D3-E31B-5831-F8E6-A85FAB9E822A}"/>
              </a:ext>
            </a:extLst>
          </p:cNvPr>
          <p:cNvPicPr>
            <a:picLocks noChangeAspect="1"/>
          </p:cNvPicPr>
          <p:nvPr/>
        </p:nvPicPr>
        <p:blipFill>
          <a:blip r:embed="rId5"/>
          <a:stretch>
            <a:fillRect/>
          </a:stretch>
        </p:blipFill>
        <p:spPr>
          <a:xfrm>
            <a:off x="2985043" y="954347"/>
            <a:ext cx="8639724" cy="5378227"/>
          </a:xfrm>
          <a:prstGeom prst="rect">
            <a:avLst/>
          </a:prstGeom>
        </p:spPr>
      </p:pic>
    </p:spTree>
    <p:extLst>
      <p:ext uri="{BB962C8B-B14F-4D97-AF65-F5344CB8AC3E}">
        <p14:creationId xmlns:p14="http://schemas.microsoft.com/office/powerpoint/2010/main" val="1083960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10</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RESEARCH GAP</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Tiga Research Gap Utama</a:t>
            </a:r>
            <a:endParaRPr lang="en-US" sz="2700" dirty="0"/>
          </a:p>
        </p:txBody>
      </p:sp>
      <p:sp>
        <p:nvSpPr>
          <p:cNvPr id="8" name="card 1">
            <a:extLst>
              <a:ext uri="{C183D7F6-B498-43B3-948B-1728B52AA6E4}">
                <adec:decorative xmlns:adec="http://schemas.microsoft.com/office/drawing/2017/decorative" val="1"/>
              </a:ext>
            </a:extLst>
          </p:cNvPr>
          <p:cNvSpPr/>
          <p:nvPr/>
        </p:nvSpPr>
        <p:spPr>
          <a:xfrm>
            <a:off x="640080" y="1828800"/>
            <a:ext cx="3422904" cy="4023360"/>
          </a:xfrm>
          <a:prstGeom prst="rect">
            <a:avLst/>
          </a:prstGeom>
          <a:solidFill>
            <a:srgbClr val="F1F5FA"/>
          </a:solidFill>
          <a:ln w="12700">
            <a:solidFill>
              <a:srgbClr val="D5E0EC"/>
            </a:solidFill>
            <a:prstDash val="solid"/>
          </a:ln>
          <a:effectLst>
            <a:outerShdw blurRad="88900" dist="25400" dir="5400000" algn="bl" rotWithShape="0">
              <a:srgbClr val="9AA7B4">
                <a:alpha val="22000"/>
              </a:srgbClr>
            </a:outerShdw>
          </a:effectLst>
        </p:spPr>
        <p:txBody>
          <a:bodyPr/>
          <a:lstStyle/>
          <a:p>
            <a:endParaRPr lang="en-ID"/>
          </a:p>
        </p:txBody>
      </p:sp>
      <p:sp>
        <p:nvSpPr>
          <p:cNvPr id="9" name="card top accent">
            <a:extLst>
              <a:ext uri="{C183D7F6-B498-43B3-948B-1728B52AA6E4}">
                <adec:decorative xmlns:adec="http://schemas.microsoft.com/office/drawing/2017/decorative" val="1"/>
              </a:ext>
            </a:extLst>
          </p:cNvPr>
          <p:cNvSpPr/>
          <p:nvPr/>
        </p:nvSpPr>
        <p:spPr>
          <a:xfrm>
            <a:off x="640080" y="1828800"/>
            <a:ext cx="3422904" cy="109728"/>
          </a:xfrm>
          <a:prstGeom prst="rect">
            <a:avLst/>
          </a:prstGeom>
          <a:solidFill>
            <a:srgbClr val="B98A1E"/>
          </a:solidFill>
          <a:ln/>
        </p:spPr>
        <p:txBody>
          <a:bodyPr/>
          <a:lstStyle/>
          <a:p>
            <a:endParaRPr lang="en-ID"/>
          </a:p>
        </p:txBody>
      </p:sp>
      <p:sp>
        <p:nvSpPr>
          <p:cNvPr id="10" name="number disc">
            <a:extLst>
              <a:ext uri="{C183D7F6-B498-43B3-948B-1728B52AA6E4}">
                <adec:decorative xmlns:adec="http://schemas.microsoft.com/office/drawing/2017/decorative" val="1"/>
              </a:ext>
            </a:extLst>
          </p:cNvPr>
          <p:cNvSpPr/>
          <p:nvPr/>
        </p:nvSpPr>
        <p:spPr>
          <a:xfrm>
            <a:off x="896112" y="2103120"/>
            <a:ext cx="566928" cy="566928"/>
          </a:xfrm>
          <a:prstGeom prst="ellipse">
            <a:avLst/>
          </a:prstGeom>
          <a:solidFill>
            <a:srgbClr val="0B3C6E"/>
          </a:solidFill>
          <a:ln/>
        </p:spPr>
        <p:txBody>
          <a:bodyPr/>
          <a:lstStyle/>
          <a:p>
            <a:endParaRPr lang="en-ID"/>
          </a:p>
        </p:txBody>
      </p:sp>
      <p:sp>
        <p:nvSpPr>
          <p:cNvPr id="11" name="Text 8"/>
          <p:cNvSpPr/>
          <p:nvPr/>
        </p:nvSpPr>
        <p:spPr>
          <a:xfrm>
            <a:off x="896112" y="2103120"/>
            <a:ext cx="566928" cy="566928"/>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12" name="Text 9"/>
          <p:cNvSpPr/>
          <p:nvPr/>
        </p:nvSpPr>
        <p:spPr>
          <a:xfrm>
            <a:off x="896112" y="2880360"/>
            <a:ext cx="2910840" cy="685800"/>
          </a:xfrm>
          <a:prstGeom prst="rect">
            <a:avLst/>
          </a:prstGeom>
          <a:noFill/>
          <a:ln/>
        </p:spPr>
        <p:txBody>
          <a:bodyPr wrap="square" rtlCol="0" anchor="t"/>
          <a:lstStyle/>
          <a:p>
            <a:pPr marL="0" indent="0">
              <a:buNone/>
            </a:pPr>
            <a:r>
              <a:rPr lang="en-US" sz="1550" b="1" dirty="0">
                <a:solidFill>
                  <a:srgbClr val="0B3C6E"/>
                </a:solidFill>
                <a:latin typeface="Georgia" pitchFamily="34" charset="0"/>
                <a:ea typeface="Georgia" pitchFamily="34" charset="-122"/>
                <a:cs typeface="Georgia" pitchFamily="34" charset="-120"/>
              </a:rPr>
              <a:t>Multi-standar</a:t>
            </a:r>
            <a:endParaRPr lang="en-US" sz="1550" dirty="0"/>
          </a:p>
        </p:txBody>
      </p:sp>
      <p:sp>
        <p:nvSpPr>
          <p:cNvPr id="13" name="Text 10"/>
          <p:cNvSpPr/>
          <p:nvPr/>
        </p:nvSpPr>
        <p:spPr>
          <a:xfrm>
            <a:off x="896112" y="3538728"/>
            <a:ext cx="2910840" cy="2084832"/>
          </a:xfrm>
          <a:prstGeom prst="rect">
            <a:avLst/>
          </a:prstGeom>
          <a:noFill/>
          <a:ln/>
        </p:spPr>
        <p:txBody>
          <a:bodyPr wrap="square" rtlCol="0" anchor="t"/>
          <a:lstStyle/>
          <a:p>
            <a:pPr marL="0" indent="0">
              <a:lnSpc>
                <a:spcPct val="102000"/>
              </a:lnSpc>
              <a:spcAft>
                <a:spcPts val="500"/>
              </a:spcAft>
              <a:buNone/>
            </a:pPr>
            <a:r>
              <a:rPr lang="en-US" sz="1250" dirty="0">
                <a:solidFill>
                  <a:srgbClr val="26313D"/>
                </a:solidFill>
                <a:latin typeface="Calibri" pitchFamily="34" charset="0"/>
                <a:ea typeface="Calibri" pitchFamily="34" charset="-122"/>
                <a:cs typeface="Calibri" pitchFamily="34" charset="-120"/>
              </a:rPr>
              <a:t>Mayoritas penelitian fokus pada satu terminologi, sedangkan kebutuhan nasional bersifat multi-terminologi.</a:t>
            </a:r>
            <a:endParaRPr lang="en-US" sz="1250" dirty="0"/>
          </a:p>
        </p:txBody>
      </p:sp>
      <p:sp>
        <p:nvSpPr>
          <p:cNvPr id="14" name="card 2">
            <a:extLst>
              <a:ext uri="{C183D7F6-B498-43B3-948B-1728B52AA6E4}">
                <adec:decorative xmlns:adec="http://schemas.microsoft.com/office/drawing/2017/decorative" val="1"/>
              </a:ext>
            </a:extLst>
          </p:cNvPr>
          <p:cNvSpPr/>
          <p:nvPr/>
        </p:nvSpPr>
        <p:spPr>
          <a:xfrm>
            <a:off x="4383024" y="1828800"/>
            <a:ext cx="3422904" cy="4023360"/>
          </a:xfrm>
          <a:prstGeom prst="rect">
            <a:avLst/>
          </a:prstGeom>
          <a:solidFill>
            <a:srgbClr val="F1F5FA"/>
          </a:solidFill>
          <a:ln w="12700">
            <a:solidFill>
              <a:srgbClr val="D5E0EC"/>
            </a:solidFill>
            <a:prstDash val="solid"/>
          </a:ln>
          <a:effectLst>
            <a:outerShdw blurRad="88900" dist="25400" dir="5400000" algn="bl" rotWithShape="0">
              <a:srgbClr val="9AA7B4">
                <a:alpha val="22000"/>
              </a:srgbClr>
            </a:outerShdw>
          </a:effectLst>
        </p:spPr>
        <p:txBody>
          <a:bodyPr/>
          <a:lstStyle/>
          <a:p>
            <a:endParaRPr lang="en-ID"/>
          </a:p>
        </p:txBody>
      </p:sp>
      <p:sp>
        <p:nvSpPr>
          <p:cNvPr id="15" name="card top accent">
            <a:extLst>
              <a:ext uri="{C183D7F6-B498-43B3-948B-1728B52AA6E4}">
                <adec:decorative xmlns:adec="http://schemas.microsoft.com/office/drawing/2017/decorative" val="1"/>
              </a:ext>
            </a:extLst>
          </p:cNvPr>
          <p:cNvSpPr/>
          <p:nvPr/>
        </p:nvSpPr>
        <p:spPr>
          <a:xfrm>
            <a:off x="4383024" y="1828800"/>
            <a:ext cx="3422904" cy="109728"/>
          </a:xfrm>
          <a:prstGeom prst="rect">
            <a:avLst/>
          </a:prstGeom>
          <a:solidFill>
            <a:srgbClr val="B98A1E"/>
          </a:solidFill>
          <a:ln/>
        </p:spPr>
        <p:txBody>
          <a:bodyPr/>
          <a:lstStyle/>
          <a:p>
            <a:endParaRPr lang="en-ID"/>
          </a:p>
        </p:txBody>
      </p:sp>
      <p:sp>
        <p:nvSpPr>
          <p:cNvPr id="16" name="number disc">
            <a:extLst>
              <a:ext uri="{C183D7F6-B498-43B3-948B-1728B52AA6E4}">
                <adec:decorative xmlns:adec="http://schemas.microsoft.com/office/drawing/2017/decorative" val="1"/>
              </a:ext>
            </a:extLst>
          </p:cNvPr>
          <p:cNvSpPr/>
          <p:nvPr/>
        </p:nvSpPr>
        <p:spPr>
          <a:xfrm>
            <a:off x="4639056" y="2103120"/>
            <a:ext cx="566928" cy="566928"/>
          </a:xfrm>
          <a:prstGeom prst="ellipse">
            <a:avLst/>
          </a:prstGeom>
          <a:solidFill>
            <a:srgbClr val="0B3C6E"/>
          </a:solidFill>
          <a:ln/>
        </p:spPr>
        <p:txBody>
          <a:bodyPr/>
          <a:lstStyle/>
          <a:p>
            <a:endParaRPr lang="en-ID"/>
          </a:p>
        </p:txBody>
      </p:sp>
      <p:sp>
        <p:nvSpPr>
          <p:cNvPr id="17" name="Text 14"/>
          <p:cNvSpPr/>
          <p:nvPr/>
        </p:nvSpPr>
        <p:spPr>
          <a:xfrm>
            <a:off x="4639056" y="2103120"/>
            <a:ext cx="566928" cy="566928"/>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8" name="Text 15"/>
          <p:cNvSpPr/>
          <p:nvPr/>
        </p:nvSpPr>
        <p:spPr>
          <a:xfrm>
            <a:off x="4639056" y="2880360"/>
            <a:ext cx="2910840" cy="685800"/>
          </a:xfrm>
          <a:prstGeom prst="rect">
            <a:avLst/>
          </a:prstGeom>
          <a:noFill/>
          <a:ln/>
        </p:spPr>
        <p:txBody>
          <a:bodyPr wrap="square" rtlCol="0" anchor="t"/>
          <a:lstStyle/>
          <a:p>
            <a:pPr marL="0" indent="0">
              <a:buNone/>
            </a:pPr>
            <a:r>
              <a:rPr lang="en-US" sz="1550" b="1" dirty="0">
                <a:solidFill>
                  <a:srgbClr val="0B3C6E"/>
                </a:solidFill>
                <a:latin typeface="Georgia" pitchFamily="34" charset="0"/>
                <a:ea typeface="Georgia" pitchFamily="34" charset="-122"/>
                <a:cs typeface="Georgia" pitchFamily="34" charset="-120"/>
              </a:rPr>
              <a:t>Teks panjang</a:t>
            </a:r>
            <a:endParaRPr lang="en-US" sz="1550" dirty="0"/>
          </a:p>
        </p:txBody>
      </p:sp>
      <p:sp>
        <p:nvSpPr>
          <p:cNvPr id="19" name="Text 16"/>
          <p:cNvSpPr/>
          <p:nvPr/>
        </p:nvSpPr>
        <p:spPr>
          <a:xfrm>
            <a:off x="4639056" y="3538728"/>
            <a:ext cx="2910840" cy="2084832"/>
          </a:xfrm>
          <a:prstGeom prst="rect">
            <a:avLst/>
          </a:prstGeom>
          <a:noFill/>
          <a:ln/>
        </p:spPr>
        <p:txBody>
          <a:bodyPr wrap="square" rtlCol="0" anchor="t"/>
          <a:lstStyle/>
          <a:p>
            <a:pPr marL="0" indent="0">
              <a:lnSpc>
                <a:spcPct val="102000"/>
              </a:lnSpc>
              <a:spcAft>
                <a:spcPts val="500"/>
              </a:spcAft>
              <a:buNone/>
            </a:pPr>
            <a:r>
              <a:rPr lang="en-US" sz="1250" dirty="0">
                <a:solidFill>
                  <a:srgbClr val="26313D"/>
                </a:solidFill>
                <a:latin typeface="Calibri" pitchFamily="34" charset="0"/>
                <a:ea typeface="Calibri" pitchFamily="34" charset="-122"/>
                <a:cs typeface="Calibri" pitchFamily="34" charset="-120"/>
              </a:rPr>
              <a:t>CDE-Mapper berfokus pada item CDE; dokumen klinis panjang dapat memuat banyak entitas dan konteks.</a:t>
            </a:r>
            <a:endParaRPr lang="en-US" sz="1250" dirty="0"/>
          </a:p>
        </p:txBody>
      </p:sp>
      <p:sp>
        <p:nvSpPr>
          <p:cNvPr id="20" name="card 3">
            <a:extLst>
              <a:ext uri="{C183D7F6-B498-43B3-948B-1728B52AA6E4}">
                <adec:decorative xmlns:adec="http://schemas.microsoft.com/office/drawing/2017/decorative" val="1"/>
              </a:ext>
            </a:extLst>
          </p:cNvPr>
          <p:cNvSpPr/>
          <p:nvPr/>
        </p:nvSpPr>
        <p:spPr>
          <a:xfrm>
            <a:off x="8125968" y="1828800"/>
            <a:ext cx="3422904" cy="4023360"/>
          </a:xfrm>
          <a:prstGeom prst="rect">
            <a:avLst/>
          </a:prstGeom>
          <a:solidFill>
            <a:srgbClr val="F1F5FA"/>
          </a:solidFill>
          <a:ln w="12700">
            <a:solidFill>
              <a:srgbClr val="D5E0EC"/>
            </a:solidFill>
            <a:prstDash val="solid"/>
          </a:ln>
          <a:effectLst>
            <a:outerShdw blurRad="88900" dist="25400" dir="5400000" algn="bl" rotWithShape="0">
              <a:srgbClr val="9AA7B4">
                <a:alpha val="22000"/>
              </a:srgbClr>
            </a:outerShdw>
          </a:effectLst>
        </p:spPr>
        <p:txBody>
          <a:bodyPr/>
          <a:lstStyle/>
          <a:p>
            <a:endParaRPr lang="en-ID"/>
          </a:p>
        </p:txBody>
      </p:sp>
      <p:sp>
        <p:nvSpPr>
          <p:cNvPr id="21" name="card top accent">
            <a:extLst>
              <a:ext uri="{C183D7F6-B498-43B3-948B-1728B52AA6E4}">
                <adec:decorative xmlns:adec="http://schemas.microsoft.com/office/drawing/2017/decorative" val="1"/>
              </a:ext>
            </a:extLst>
          </p:cNvPr>
          <p:cNvSpPr/>
          <p:nvPr/>
        </p:nvSpPr>
        <p:spPr>
          <a:xfrm>
            <a:off x="8125968" y="1828800"/>
            <a:ext cx="3422904" cy="109728"/>
          </a:xfrm>
          <a:prstGeom prst="rect">
            <a:avLst/>
          </a:prstGeom>
          <a:solidFill>
            <a:srgbClr val="B98A1E"/>
          </a:solidFill>
          <a:ln/>
        </p:spPr>
        <p:txBody>
          <a:bodyPr/>
          <a:lstStyle/>
          <a:p>
            <a:endParaRPr lang="en-ID"/>
          </a:p>
        </p:txBody>
      </p:sp>
      <p:sp>
        <p:nvSpPr>
          <p:cNvPr id="22" name="number disc">
            <a:extLst>
              <a:ext uri="{C183D7F6-B498-43B3-948B-1728B52AA6E4}">
                <adec:decorative xmlns:adec="http://schemas.microsoft.com/office/drawing/2017/decorative" val="1"/>
              </a:ext>
            </a:extLst>
          </p:cNvPr>
          <p:cNvSpPr/>
          <p:nvPr/>
        </p:nvSpPr>
        <p:spPr>
          <a:xfrm>
            <a:off x="8382000" y="2103120"/>
            <a:ext cx="566928" cy="566928"/>
          </a:xfrm>
          <a:prstGeom prst="ellipse">
            <a:avLst/>
          </a:prstGeom>
          <a:solidFill>
            <a:srgbClr val="0B3C6E"/>
          </a:solidFill>
          <a:ln/>
        </p:spPr>
        <p:txBody>
          <a:bodyPr/>
          <a:lstStyle/>
          <a:p>
            <a:endParaRPr lang="en-ID"/>
          </a:p>
        </p:txBody>
      </p:sp>
      <p:sp>
        <p:nvSpPr>
          <p:cNvPr id="23" name="Text 20"/>
          <p:cNvSpPr/>
          <p:nvPr/>
        </p:nvSpPr>
        <p:spPr>
          <a:xfrm>
            <a:off x="8382000" y="2103120"/>
            <a:ext cx="566928" cy="566928"/>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24" name="Text 21"/>
          <p:cNvSpPr/>
          <p:nvPr/>
        </p:nvSpPr>
        <p:spPr>
          <a:xfrm>
            <a:off x="8382000" y="2880360"/>
            <a:ext cx="2910840" cy="685800"/>
          </a:xfrm>
          <a:prstGeom prst="rect">
            <a:avLst/>
          </a:prstGeom>
          <a:noFill/>
          <a:ln/>
        </p:spPr>
        <p:txBody>
          <a:bodyPr wrap="square" rtlCol="0" anchor="t"/>
          <a:lstStyle/>
          <a:p>
            <a:pPr marL="0" indent="0">
              <a:buNone/>
            </a:pPr>
            <a:r>
              <a:rPr lang="en-US" sz="1550" b="1" dirty="0">
                <a:solidFill>
                  <a:srgbClr val="0B3C6E"/>
                </a:solidFill>
                <a:latin typeface="Georgia" pitchFamily="34" charset="0"/>
                <a:ea typeface="Georgia" pitchFamily="34" charset="-122"/>
                <a:cs typeface="Georgia" pitchFamily="34" charset="-120"/>
              </a:rPr>
              <a:t>Bahasa Indonesia</a:t>
            </a:r>
            <a:endParaRPr lang="en-US" sz="1550" dirty="0"/>
          </a:p>
        </p:txBody>
      </p:sp>
      <p:sp>
        <p:nvSpPr>
          <p:cNvPr id="25" name="Text 22"/>
          <p:cNvSpPr/>
          <p:nvPr/>
        </p:nvSpPr>
        <p:spPr>
          <a:xfrm>
            <a:off x="8382000" y="3538728"/>
            <a:ext cx="2910840" cy="2084832"/>
          </a:xfrm>
          <a:prstGeom prst="rect">
            <a:avLst/>
          </a:prstGeom>
          <a:noFill/>
          <a:ln/>
        </p:spPr>
        <p:txBody>
          <a:bodyPr wrap="square" rtlCol="0" anchor="t"/>
          <a:lstStyle/>
          <a:p>
            <a:pPr marL="0" indent="0">
              <a:lnSpc>
                <a:spcPct val="102000"/>
              </a:lnSpc>
              <a:spcAft>
                <a:spcPts val="500"/>
              </a:spcAft>
              <a:buNone/>
            </a:pPr>
            <a:r>
              <a:rPr lang="en-US" sz="1250" dirty="0">
                <a:solidFill>
                  <a:srgbClr val="26313D"/>
                </a:solidFill>
                <a:latin typeface="Calibri" pitchFamily="34" charset="0"/>
                <a:ea typeface="Calibri" pitchFamily="34" charset="-122"/>
                <a:cs typeface="Calibri" pitchFamily="34" charset="-120"/>
              </a:rPr>
              <a:t>Baseline diuji pada bahasa Inggris; Bahasa Indonesia memiliki singkatan, morfologi, istilah lokal, dan sumber daya klinis yang berbeda.</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11</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RUMUSAN MASALAH</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highlight>
                  <a:srgbClr val="FF0000"/>
                </a:highlight>
                <a:latin typeface="Georgia" pitchFamily="34" charset="0"/>
                <a:ea typeface="Georgia" pitchFamily="34" charset="-122"/>
                <a:cs typeface="Georgia" pitchFamily="34" charset="-120"/>
              </a:rPr>
              <a:t>Rumusan Masalah</a:t>
            </a:r>
            <a:endParaRPr lang="en-US" sz="2700" dirty="0">
              <a:highlight>
                <a:srgbClr val="FF0000"/>
              </a:highlight>
            </a:endParaRPr>
          </a:p>
        </p:txBody>
      </p:sp>
      <p:sp>
        <p:nvSpPr>
          <p:cNvPr id="9" name="callout background">
            <a:extLst>
              <a:ext uri="{C183D7F6-B498-43B3-948B-1728B52AA6E4}">
                <adec:decorative xmlns:adec="http://schemas.microsoft.com/office/drawing/2017/decorative" val="1"/>
              </a:ext>
            </a:extLst>
          </p:cNvPr>
          <p:cNvSpPr/>
          <p:nvPr/>
        </p:nvSpPr>
        <p:spPr>
          <a:xfrm>
            <a:off x="640080" y="5120640"/>
            <a:ext cx="10972800" cy="914400"/>
          </a:xfrm>
          <a:prstGeom prst="roundRect">
            <a:avLst>
              <a:gd name="adj" fmla="val 6000"/>
            </a:avLst>
          </a:prstGeom>
          <a:solidFill>
            <a:srgbClr val="F7EFD8"/>
          </a:solidFill>
          <a:ln/>
        </p:spPr>
        <p:txBody>
          <a:bodyPr/>
          <a:lstStyle/>
          <a:p>
            <a:endParaRPr lang="en-ID"/>
          </a:p>
        </p:txBody>
      </p:sp>
      <p:sp>
        <p:nvSpPr>
          <p:cNvPr id="10" name="Text 7"/>
          <p:cNvSpPr/>
          <p:nvPr/>
        </p:nvSpPr>
        <p:spPr>
          <a:xfrm>
            <a:off x="896112" y="5120640"/>
            <a:ext cx="10460736" cy="91440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Pertanyaan evaluatif:  </a:t>
            </a:r>
            <a:r>
              <a:rPr lang="en-US" sz="1350" dirty="0">
                <a:solidFill>
                  <a:srgbClr val="26313D"/>
                </a:solidFill>
                <a:latin typeface="Calibri" pitchFamily="34" charset="0"/>
                <a:ea typeface="Calibri" pitchFamily="34" charset="-122"/>
                <a:cs typeface="Calibri" pitchFamily="34" charset="-120"/>
              </a:rPr>
              <a:t>apakah adaptasi tersebut meningkatkan akurasi, coverage, robustness, dan efisiensi dibanding baseline?</a:t>
            </a:r>
            <a:endParaRPr lang="en-US" sz="1350" dirty="0"/>
          </a:p>
        </p:txBody>
      </p:sp>
      <p:sp>
        <p:nvSpPr>
          <p:cNvPr id="12" name="TextBox 11">
            <a:extLst>
              <a:ext uri="{FF2B5EF4-FFF2-40B4-BE49-F238E27FC236}">
                <a16:creationId xmlns:a16="http://schemas.microsoft.com/office/drawing/2014/main" id="{6CD7B164-DA1E-F2AB-5F06-7990792BE965}"/>
              </a:ext>
            </a:extLst>
          </p:cNvPr>
          <p:cNvSpPr txBox="1"/>
          <p:nvPr/>
        </p:nvSpPr>
        <p:spPr>
          <a:xfrm>
            <a:off x="541551" y="1491913"/>
            <a:ext cx="11169857" cy="3170099"/>
          </a:xfrm>
          <a:prstGeom prst="rect">
            <a:avLst/>
          </a:prstGeom>
          <a:noFill/>
        </p:spPr>
        <p:txBody>
          <a:bodyPr wrap="square">
            <a:spAutoFit/>
          </a:bodyPr>
          <a:lstStyle/>
          <a:p>
            <a:pPr marL="342900" indent="-342900">
              <a:spcBef>
                <a:spcPts val="600"/>
              </a:spcBef>
              <a:spcAft>
                <a:spcPts val="600"/>
              </a:spcAft>
              <a:buFont typeface="+mj-lt"/>
              <a:buAutoNum type="arabicPeriod"/>
            </a:pPr>
            <a:r>
              <a:rPr lang="en-ID" sz="2000" dirty="0" err="1"/>
              <a:t>Interoperabilitas</a:t>
            </a:r>
            <a:r>
              <a:rPr lang="en-ID" sz="2000" dirty="0"/>
              <a:t> data </a:t>
            </a:r>
            <a:r>
              <a:rPr lang="en-ID" sz="2000" dirty="0" err="1"/>
              <a:t>kesehatan</a:t>
            </a:r>
            <a:r>
              <a:rPr lang="en-ID" sz="2000" dirty="0"/>
              <a:t> </a:t>
            </a:r>
            <a:r>
              <a:rPr lang="en-ID" sz="2000" dirty="0" err="1"/>
              <a:t>melalui</a:t>
            </a:r>
            <a:r>
              <a:rPr lang="en-ID" sz="2000" dirty="0"/>
              <a:t> SATUSEHAT </a:t>
            </a:r>
            <a:r>
              <a:rPr lang="en-ID" sz="2000" dirty="0" err="1"/>
              <a:t>menuntut</a:t>
            </a:r>
            <a:r>
              <a:rPr lang="en-ID" sz="2000" dirty="0"/>
              <a:t> </a:t>
            </a:r>
            <a:r>
              <a:rPr lang="en-ID" sz="2000" dirty="0" err="1"/>
              <a:t>pemetaan</a:t>
            </a:r>
            <a:r>
              <a:rPr lang="en-ID" sz="2000" dirty="0"/>
              <a:t> </a:t>
            </a:r>
            <a:r>
              <a:rPr lang="en-ID" sz="2000" dirty="0" err="1"/>
              <a:t>otomatis</a:t>
            </a:r>
            <a:r>
              <a:rPr lang="en-ID" sz="2000" dirty="0"/>
              <a:t> </a:t>
            </a:r>
            <a:r>
              <a:rPr lang="en-ID" sz="2000" dirty="0" err="1"/>
              <a:t>lintas</a:t>
            </a:r>
            <a:r>
              <a:rPr lang="en-ID" sz="2000" dirty="0"/>
              <a:t> </a:t>
            </a:r>
            <a:r>
              <a:rPr lang="en-ID" sz="2000" dirty="0" err="1"/>
              <a:t>standar</a:t>
            </a:r>
            <a:r>
              <a:rPr lang="en-ID" sz="2000" dirty="0"/>
              <a:t>. </a:t>
            </a:r>
            <a:r>
              <a:rPr lang="en-ID" sz="2000" dirty="0" err="1"/>
              <a:t>Namun</a:t>
            </a:r>
            <a:r>
              <a:rPr lang="en-ID" sz="2000" dirty="0"/>
              <a:t>, </a:t>
            </a:r>
            <a:r>
              <a:rPr lang="en-ID" sz="2000" dirty="0" err="1"/>
              <a:t>mayoritas</a:t>
            </a:r>
            <a:r>
              <a:rPr lang="en-ID" sz="2000" dirty="0"/>
              <a:t> </a:t>
            </a:r>
            <a:r>
              <a:rPr lang="en-ID" sz="2000" dirty="0" err="1"/>
              <a:t>penelitian</a:t>
            </a:r>
            <a:r>
              <a:rPr lang="en-ID" sz="2000" dirty="0"/>
              <a:t> </a:t>
            </a:r>
            <a:r>
              <a:rPr lang="en-ID" sz="2000" dirty="0" err="1"/>
              <a:t>hanya</a:t>
            </a:r>
            <a:r>
              <a:rPr lang="en-ID" sz="2000" dirty="0"/>
              <a:t> </a:t>
            </a:r>
            <a:r>
              <a:rPr lang="en-ID" sz="2000" dirty="0" err="1"/>
              <a:t>fokus</a:t>
            </a:r>
            <a:r>
              <a:rPr lang="en-ID" sz="2000" dirty="0"/>
              <a:t> pada SNOMED CT, </a:t>
            </a:r>
            <a:r>
              <a:rPr lang="en-ID" sz="2000" dirty="0" err="1"/>
              <a:t>sehingga</a:t>
            </a:r>
            <a:r>
              <a:rPr lang="en-ID" sz="2000" dirty="0"/>
              <a:t> </a:t>
            </a:r>
            <a:r>
              <a:rPr lang="en-ID" sz="2000" dirty="0" err="1"/>
              <a:t>diperlukan</a:t>
            </a:r>
            <a:r>
              <a:rPr lang="en-ID" sz="2000" dirty="0"/>
              <a:t> pipeline </a:t>
            </a:r>
            <a:r>
              <a:rPr lang="en-ID" sz="2000" dirty="0" err="1"/>
              <a:t>terpadu</a:t>
            </a:r>
            <a:r>
              <a:rPr lang="en-ID" sz="2000" dirty="0"/>
              <a:t> </a:t>
            </a:r>
            <a:r>
              <a:rPr lang="en-ID" sz="2000" dirty="0" err="1"/>
              <a:t>untuk</a:t>
            </a:r>
            <a:r>
              <a:rPr lang="en-ID" sz="2000" dirty="0"/>
              <a:t> </a:t>
            </a:r>
            <a:r>
              <a:rPr lang="en-ID" sz="2000" dirty="0" err="1"/>
              <a:t>pemetaan</a:t>
            </a:r>
            <a:r>
              <a:rPr lang="en-ID" sz="2000" dirty="0"/>
              <a:t> </a:t>
            </a:r>
            <a:r>
              <a:rPr lang="en-ID" sz="2000" dirty="0" err="1"/>
              <a:t>ke</a:t>
            </a:r>
            <a:r>
              <a:rPr lang="en-ID" sz="2000" dirty="0"/>
              <a:t> SNOMED CT, LOINC, dan ICD-10 </a:t>
            </a:r>
            <a:r>
              <a:rPr lang="en-ID" sz="2000" dirty="0" err="1"/>
              <a:t>secara</a:t>
            </a:r>
            <a:r>
              <a:rPr lang="en-ID" sz="2000" dirty="0"/>
              <a:t> </a:t>
            </a:r>
            <a:r>
              <a:rPr lang="en-ID" sz="2000" dirty="0" err="1"/>
              <a:t>simultan</a:t>
            </a:r>
            <a:r>
              <a:rPr lang="en-ID" sz="2000" dirty="0"/>
              <a:t>.</a:t>
            </a:r>
          </a:p>
          <a:p>
            <a:pPr marL="342900" indent="-342900">
              <a:spcBef>
                <a:spcPts val="600"/>
              </a:spcBef>
              <a:spcAft>
                <a:spcPts val="600"/>
              </a:spcAft>
              <a:buFont typeface="+mj-lt"/>
              <a:buAutoNum type="arabicPeriod"/>
            </a:pPr>
            <a:r>
              <a:rPr lang="en-ID" sz="2000" dirty="0"/>
              <a:t>CDE-Mapper (Gilani et al., 2025) </a:t>
            </a:r>
            <a:r>
              <a:rPr lang="en-ID" sz="2000" dirty="0" err="1"/>
              <a:t>efektif</a:t>
            </a:r>
            <a:r>
              <a:rPr lang="en-ID" sz="2000" dirty="0"/>
              <a:t> </a:t>
            </a:r>
            <a:r>
              <a:rPr lang="en-ID" sz="2000" dirty="0" err="1"/>
              <a:t>untuk</a:t>
            </a:r>
            <a:r>
              <a:rPr lang="en-ID" sz="2000" dirty="0"/>
              <a:t> item data </a:t>
            </a:r>
            <a:r>
              <a:rPr lang="en-ID" sz="2000" dirty="0" err="1"/>
              <a:t>spesifik</a:t>
            </a:r>
            <a:r>
              <a:rPr lang="en-ID" sz="2000" dirty="0"/>
              <a:t> </a:t>
            </a:r>
            <a:r>
              <a:rPr lang="en-ID" sz="2000" dirty="0" err="1"/>
              <a:t>tetapi</a:t>
            </a:r>
            <a:r>
              <a:rPr lang="en-ID" sz="2000" dirty="0"/>
              <a:t> </a:t>
            </a:r>
            <a:r>
              <a:rPr lang="en-ID" sz="2000" dirty="0" err="1"/>
              <a:t>tidak</a:t>
            </a:r>
            <a:r>
              <a:rPr lang="en-ID" sz="2000" dirty="0"/>
              <a:t> </a:t>
            </a:r>
            <a:r>
              <a:rPr lang="en-ID" sz="2000" dirty="0" err="1"/>
              <a:t>menangani</a:t>
            </a:r>
            <a:r>
              <a:rPr lang="en-ID" sz="2000" dirty="0"/>
              <a:t> </a:t>
            </a:r>
            <a:r>
              <a:rPr lang="en-ID" sz="2000" dirty="0" err="1"/>
              <a:t>teks</a:t>
            </a:r>
            <a:r>
              <a:rPr lang="en-ID" sz="2000" dirty="0"/>
              <a:t> </a:t>
            </a:r>
            <a:r>
              <a:rPr lang="en-ID" sz="2000" dirty="0" err="1"/>
              <a:t>panjang</a:t>
            </a:r>
            <a:r>
              <a:rPr lang="en-ID" sz="2000" dirty="0"/>
              <a:t> </a:t>
            </a:r>
            <a:r>
              <a:rPr lang="en-ID" sz="2000" dirty="0" err="1"/>
              <a:t>rekam</a:t>
            </a:r>
            <a:r>
              <a:rPr lang="en-ID" sz="2000" dirty="0"/>
              <a:t> </a:t>
            </a:r>
            <a:r>
              <a:rPr lang="en-ID" sz="2000" dirty="0" err="1"/>
              <a:t>medis</a:t>
            </a:r>
            <a:r>
              <a:rPr lang="en-ID" sz="2000" dirty="0"/>
              <a:t>. Oleh </a:t>
            </a:r>
            <a:r>
              <a:rPr lang="en-ID" sz="2000" dirty="0" err="1"/>
              <a:t>karena</a:t>
            </a:r>
            <a:r>
              <a:rPr lang="en-ID" sz="2000" dirty="0"/>
              <a:t> </a:t>
            </a:r>
            <a:r>
              <a:rPr lang="en-ID" sz="2000" dirty="0" err="1"/>
              <a:t>itu</a:t>
            </a:r>
            <a:r>
              <a:rPr lang="en-ID" sz="2000" dirty="0"/>
              <a:t>, </a:t>
            </a:r>
            <a:r>
              <a:rPr lang="en-ID" sz="2000" dirty="0" err="1"/>
              <a:t>diperlukan</a:t>
            </a:r>
            <a:r>
              <a:rPr lang="en-ID" sz="2000" dirty="0"/>
              <a:t> </a:t>
            </a:r>
            <a:r>
              <a:rPr lang="en-ID" sz="2000" dirty="0" err="1"/>
              <a:t>integrasi</a:t>
            </a:r>
            <a:r>
              <a:rPr lang="en-ID" sz="2000" dirty="0"/>
              <a:t> </a:t>
            </a:r>
            <a:r>
              <a:rPr lang="en-ID" sz="2000" dirty="0" err="1"/>
              <a:t>modul</a:t>
            </a:r>
            <a:r>
              <a:rPr lang="en-ID" sz="2000" dirty="0"/>
              <a:t> long-text entity extraction (NER) </a:t>
            </a:r>
            <a:r>
              <a:rPr lang="en-ID" sz="2000" dirty="0" err="1"/>
              <a:t>berbasis</a:t>
            </a:r>
            <a:r>
              <a:rPr lang="en-ID" sz="2000" dirty="0"/>
              <a:t> LLM </a:t>
            </a:r>
            <a:r>
              <a:rPr lang="en-ID" sz="2000" dirty="0" err="1"/>
              <a:t>untuk</a:t>
            </a:r>
            <a:r>
              <a:rPr lang="en-ID" sz="2000" dirty="0"/>
              <a:t> </a:t>
            </a:r>
            <a:r>
              <a:rPr lang="en-ID" sz="2000" dirty="0" err="1"/>
              <a:t>memetakan</a:t>
            </a:r>
            <a:r>
              <a:rPr lang="en-ID" sz="2000" dirty="0"/>
              <a:t> </a:t>
            </a:r>
            <a:r>
              <a:rPr lang="en-ID" sz="2000" dirty="0" err="1"/>
              <a:t>seluruh</a:t>
            </a:r>
            <a:r>
              <a:rPr lang="en-ID" sz="2000" dirty="0"/>
              <a:t> CDE </a:t>
            </a:r>
            <a:r>
              <a:rPr lang="en-ID" sz="2000" dirty="0" err="1"/>
              <a:t>dari</a:t>
            </a:r>
            <a:r>
              <a:rPr lang="en-ID" sz="2000" dirty="0"/>
              <a:t> </a:t>
            </a:r>
            <a:r>
              <a:rPr lang="en-ID" sz="2000" dirty="0" err="1"/>
              <a:t>satu</a:t>
            </a:r>
            <a:r>
              <a:rPr lang="en-ID" sz="2000" dirty="0"/>
              <a:t> </a:t>
            </a:r>
            <a:r>
              <a:rPr lang="en-ID" sz="2000" dirty="0" err="1"/>
              <a:t>dokumen</a:t>
            </a:r>
            <a:r>
              <a:rPr lang="en-ID" sz="2000" dirty="0"/>
              <a:t> </a:t>
            </a:r>
            <a:r>
              <a:rPr lang="en-ID" sz="2000" dirty="0" err="1"/>
              <a:t>klinis</a:t>
            </a:r>
            <a:r>
              <a:rPr lang="en-ID" sz="2000" dirty="0"/>
              <a:t>.</a:t>
            </a:r>
          </a:p>
          <a:p>
            <a:pPr marL="342900" indent="-342900">
              <a:spcBef>
                <a:spcPts val="600"/>
              </a:spcBef>
              <a:spcAft>
                <a:spcPts val="600"/>
              </a:spcAft>
              <a:buFont typeface="+mj-lt"/>
              <a:buAutoNum type="arabicPeriod"/>
            </a:pPr>
            <a:r>
              <a:rPr lang="en-ID" sz="2000" dirty="0"/>
              <a:t>CDE-Mapper </a:t>
            </a:r>
            <a:r>
              <a:rPr lang="en-ID" sz="2000" dirty="0" err="1"/>
              <a:t>diuji</a:t>
            </a:r>
            <a:r>
              <a:rPr lang="en-ID" sz="2000" dirty="0"/>
              <a:t> pada </a:t>
            </a:r>
            <a:r>
              <a:rPr lang="en-ID" sz="2000" dirty="0" err="1"/>
              <a:t>teks</a:t>
            </a:r>
            <a:r>
              <a:rPr lang="en-ID" sz="2000" dirty="0"/>
              <a:t> </a:t>
            </a:r>
            <a:r>
              <a:rPr lang="en-ID" sz="2000" dirty="0" err="1"/>
              <a:t>Inggris</a:t>
            </a:r>
            <a:r>
              <a:rPr lang="en-ID" sz="2000" dirty="0"/>
              <a:t>. Agar </a:t>
            </a:r>
            <a:r>
              <a:rPr lang="en-ID" sz="2000" dirty="0" err="1"/>
              <a:t>dapat</a:t>
            </a:r>
            <a:r>
              <a:rPr lang="en-ID" sz="2000" dirty="0"/>
              <a:t> </a:t>
            </a:r>
            <a:r>
              <a:rPr lang="en-ID" sz="2000" dirty="0" err="1"/>
              <a:t>diterapkan</a:t>
            </a:r>
            <a:r>
              <a:rPr lang="en-ID" sz="2000" dirty="0"/>
              <a:t> di Indonesia, </a:t>
            </a:r>
            <a:r>
              <a:rPr lang="en-ID" sz="2000" dirty="0" err="1"/>
              <a:t>komponen</a:t>
            </a:r>
            <a:r>
              <a:rPr lang="en-ID" sz="2000" dirty="0"/>
              <a:t> retrieval ensemble </a:t>
            </a:r>
            <a:r>
              <a:rPr lang="en-ID" sz="2000" dirty="0" err="1"/>
              <a:t>perlu</a:t>
            </a:r>
            <a:r>
              <a:rPr lang="en-ID" sz="2000" dirty="0"/>
              <a:t> </a:t>
            </a:r>
            <a:r>
              <a:rPr lang="en-ID" sz="2000" dirty="0" err="1"/>
              <a:t>disesuaikan</a:t>
            </a:r>
            <a:r>
              <a:rPr lang="en-ID" sz="2000" dirty="0"/>
              <a:t> </a:t>
            </a:r>
            <a:r>
              <a:rPr lang="en-ID" sz="2000" dirty="0" err="1"/>
              <a:t>untuk</a:t>
            </a:r>
            <a:r>
              <a:rPr lang="en-ID" sz="2000" dirty="0"/>
              <a:t> </a:t>
            </a:r>
            <a:r>
              <a:rPr lang="en-ID" sz="2000" dirty="0" err="1"/>
              <a:t>teks</a:t>
            </a:r>
            <a:r>
              <a:rPr lang="en-ID" sz="2000" dirty="0"/>
              <a:t> </a:t>
            </a:r>
            <a:r>
              <a:rPr lang="en-ID" sz="2000" dirty="0" err="1"/>
              <a:t>klinis</a:t>
            </a:r>
            <a:r>
              <a:rPr lang="en-ID" sz="2000" dirty="0"/>
              <a:t> </a:t>
            </a:r>
            <a:r>
              <a:rPr lang="en-ID" sz="2000" dirty="0" err="1"/>
              <a:t>bahasa</a:t>
            </a:r>
            <a:r>
              <a:rPr lang="en-ID" sz="2000" dirty="0"/>
              <a:t> Indonesia </a:t>
            </a:r>
            <a:r>
              <a:rPr lang="en-ID" sz="2000" dirty="0" err="1"/>
              <a:t>mengingat</a:t>
            </a:r>
            <a:r>
              <a:rPr lang="en-ID" sz="2000" dirty="0"/>
              <a:t> </a:t>
            </a:r>
            <a:r>
              <a:rPr lang="en-ID" sz="2000" dirty="0" err="1"/>
              <a:t>perbedaan</a:t>
            </a:r>
            <a:r>
              <a:rPr lang="en-ID" sz="2000" dirty="0"/>
              <a:t> </a:t>
            </a:r>
            <a:r>
              <a:rPr lang="en-ID" sz="2000" dirty="0" err="1"/>
              <a:t>linguistik</a:t>
            </a:r>
            <a:r>
              <a:rPr lang="en-ID" sz="2000" dirty="0"/>
              <a:t>, </a:t>
            </a:r>
            <a:r>
              <a:rPr lang="en-ID" sz="2000" dirty="0" err="1"/>
              <a:t>keterbatasan</a:t>
            </a:r>
            <a:r>
              <a:rPr lang="en-ID" sz="2000" dirty="0"/>
              <a:t> </a:t>
            </a:r>
            <a:r>
              <a:rPr lang="en-ID" sz="2000" dirty="0" err="1"/>
              <a:t>terminologi</a:t>
            </a:r>
            <a:r>
              <a:rPr lang="en-ID" sz="2000" dirty="0"/>
              <a:t>, dan </a:t>
            </a:r>
            <a:r>
              <a:rPr lang="en-ID" sz="2000" dirty="0" err="1"/>
              <a:t>variasi</a:t>
            </a:r>
            <a:r>
              <a:rPr lang="en-ID" sz="2000" dirty="0"/>
              <a:t> </a:t>
            </a:r>
            <a:r>
              <a:rPr lang="en-ID" sz="2000" dirty="0" err="1"/>
              <a:t>istilah</a:t>
            </a:r>
            <a:r>
              <a:rPr lang="en-ID" sz="2000" dirty="0"/>
              <a:t> </a:t>
            </a:r>
            <a:r>
              <a:rPr lang="en-ID" sz="2000" dirty="0" err="1"/>
              <a:t>lokal</a:t>
            </a:r>
            <a:r>
              <a:rPr lang="en-ID" sz="2000" dirty="0"/>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12</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TUJUAN</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highlight>
                  <a:srgbClr val="FF0000"/>
                </a:highlight>
                <a:latin typeface="Georgia" pitchFamily="34" charset="0"/>
                <a:ea typeface="Georgia" pitchFamily="34" charset="-122"/>
                <a:cs typeface="Georgia" pitchFamily="34" charset="-120"/>
              </a:rPr>
              <a:t>Tujuan Penelitian</a:t>
            </a:r>
            <a:endParaRPr lang="en-US" sz="2700" dirty="0">
              <a:highlight>
                <a:srgbClr val="FF0000"/>
              </a:highlight>
            </a:endParaRPr>
          </a:p>
        </p:txBody>
      </p:sp>
      <p:sp>
        <p:nvSpPr>
          <p:cNvPr id="13" name="TextBox 12">
            <a:extLst>
              <a:ext uri="{FF2B5EF4-FFF2-40B4-BE49-F238E27FC236}">
                <a16:creationId xmlns:a16="http://schemas.microsoft.com/office/drawing/2014/main" id="{C048678B-0EDE-92DB-A000-012200E62E9F}"/>
              </a:ext>
            </a:extLst>
          </p:cNvPr>
          <p:cNvSpPr txBox="1"/>
          <p:nvPr/>
        </p:nvSpPr>
        <p:spPr>
          <a:xfrm>
            <a:off x="566928" y="1673352"/>
            <a:ext cx="10600639" cy="2400657"/>
          </a:xfrm>
          <a:prstGeom prst="rect">
            <a:avLst/>
          </a:prstGeom>
          <a:noFill/>
        </p:spPr>
        <p:txBody>
          <a:bodyPr wrap="square">
            <a:spAutoFit/>
          </a:bodyPr>
          <a:lstStyle/>
          <a:p>
            <a:pPr marL="457200" indent="-457200">
              <a:spcBef>
                <a:spcPts val="1200"/>
              </a:spcBef>
              <a:spcAft>
                <a:spcPts val="600"/>
              </a:spcAft>
              <a:buFont typeface="+mj-lt"/>
              <a:buAutoNum type="arabicPeriod"/>
            </a:pPr>
            <a:r>
              <a:rPr lang="en-ID" sz="2000" dirty="0" err="1"/>
              <a:t>Modifikasi</a:t>
            </a:r>
            <a:r>
              <a:rPr lang="en-ID" sz="2000" dirty="0"/>
              <a:t> </a:t>
            </a:r>
            <a:r>
              <a:rPr lang="en-ID" sz="2000" dirty="0" err="1"/>
              <a:t>arsitektur</a:t>
            </a:r>
            <a:r>
              <a:rPr lang="en-ID" sz="2000" dirty="0"/>
              <a:t> CDE‑Mapper agar </a:t>
            </a:r>
            <a:r>
              <a:rPr lang="en-ID" sz="2000" dirty="0" err="1"/>
              <a:t>mampu</a:t>
            </a:r>
            <a:r>
              <a:rPr lang="en-ID" sz="2000" dirty="0"/>
              <a:t> </a:t>
            </a:r>
            <a:r>
              <a:rPr lang="en-ID" sz="2000" dirty="0" err="1"/>
              <a:t>melakukan</a:t>
            </a:r>
            <a:r>
              <a:rPr lang="en-ID" sz="2000" dirty="0"/>
              <a:t> </a:t>
            </a:r>
            <a:r>
              <a:rPr lang="en-ID" sz="2000" dirty="0" err="1"/>
              <a:t>pemetaan</a:t>
            </a:r>
            <a:r>
              <a:rPr lang="en-ID" sz="2000" dirty="0"/>
              <a:t> </a:t>
            </a:r>
            <a:r>
              <a:rPr lang="en-ID" sz="2000" dirty="0" err="1"/>
              <a:t>simultan</a:t>
            </a:r>
            <a:r>
              <a:rPr lang="en-ID" sz="2000" dirty="0"/>
              <a:t> </a:t>
            </a:r>
            <a:r>
              <a:rPr lang="en-ID" sz="2000" dirty="0" err="1"/>
              <a:t>istilah</a:t>
            </a:r>
            <a:r>
              <a:rPr lang="en-ID" sz="2000" dirty="0"/>
              <a:t> </a:t>
            </a:r>
            <a:r>
              <a:rPr lang="en-ID" sz="2000" dirty="0" err="1"/>
              <a:t>klinis</a:t>
            </a:r>
            <a:r>
              <a:rPr lang="en-ID" sz="2000" dirty="0"/>
              <a:t> </a:t>
            </a:r>
            <a:r>
              <a:rPr lang="en-ID" sz="2000" dirty="0" err="1"/>
              <a:t>berbahasa</a:t>
            </a:r>
            <a:r>
              <a:rPr lang="en-ID" sz="2000" dirty="0"/>
              <a:t> Indonesia </a:t>
            </a:r>
            <a:r>
              <a:rPr lang="en-ID" sz="2000" dirty="0" err="1"/>
              <a:t>ke</a:t>
            </a:r>
            <a:r>
              <a:rPr lang="en-ID" sz="2000" dirty="0"/>
              <a:t> </a:t>
            </a:r>
            <a:r>
              <a:rPr lang="en-ID" sz="2000" dirty="0" err="1"/>
              <a:t>tiga</a:t>
            </a:r>
            <a:r>
              <a:rPr lang="en-ID" sz="2000" dirty="0"/>
              <a:t> </a:t>
            </a:r>
            <a:r>
              <a:rPr lang="en-ID" sz="2000" dirty="0" err="1"/>
              <a:t>standar</a:t>
            </a:r>
            <a:r>
              <a:rPr lang="en-ID" sz="2000" dirty="0"/>
              <a:t> </a:t>
            </a:r>
            <a:r>
              <a:rPr lang="en-ID" sz="2000" dirty="0" err="1"/>
              <a:t>terminologi</a:t>
            </a:r>
            <a:r>
              <a:rPr lang="en-ID" sz="2000" dirty="0"/>
              <a:t> </a:t>
            </a:r>
            <a:r>
              <a:rPr lang="en-ID" sz="2000" dirty="0" err="1"/>
              <a:t>sekaligus</a:t>
            </a:r>
            <a:r>
              <a:rPr lang="en-ID" sz="2000" dirty="0"/>
              <a:t>, </a:t>
            </a:r>
            <a:r>
              <a:rPr lang="en-ID" sz="2000" dirty="0" err="1"/>
              <a:t>yaitu</a:t>
            </a:r>
            <a:r>
              <a:rPr lang="en-ID" sz="2000" dirty="0"/>
              <a:t> SNOMED CT, LOINC, dan ICD‑10.</a:t>
            </a:r>
          </a:p>
          <a:p>
            <a:pPr marL="457200" indent="-457200">
              <a:spcBef>
                <a:spcPts val="1200"/>
              </a:spcBef>
              <a:spcAft>
                <a:spcPts val="600"/>
              </a:spcAft>
              <a:buFont typeface="+mj-lt"/>
              <a:buAutoNum type="arabicPeriod"/>
            </a:pPr>
            <a:r>
              <a:rPr lang="en-ID" sz="2000" dirty="0" err="1"/>
              <a:t>Adaptasi</a:t>
            </a:r>
            <a:r>
              <a:rPr lang="en-ID" sz="2000" dirty="0"/>
              <a:t> CDE‑Mapper </a:t>
            </a:r>
            <a:r>
              <a:rPr lang="en-ID" sz="2000" dirty="0" err="1"/>
              <a:t>dengan</a:t>
            </a:r>
            <a:r>
              <a:rPr lang="en-ID" sz="2000" dirty="0"/>
              <a:t> </a:t>
            </a:r>
            <a:r>
              <a:rPr lang="en-US" sz="2000" dirty="0" err="1"/>
              <a:t>integrasi</a:t>
            </a:r>
            <a:r>
              <a:rPr lang="en-US" sz="2000" dirty="0"/>
              <a:t> </a:t>
            </a:r>
            <a:r>
              <a:rPr lang="en-US" sz="2000" dirty="0" err="1"/>
              <a:t>modul</a:t>
            </a:r>
            <a:r>
              <a:rPr lang="en-US" sz="2000" dirty="0"/>
              <a:t> long‑text entity extraction (NER) </a:t>
            </a:r>
            <a:r>
              <a:rPr lang="en-US" sz="2000" dirty="0" err="1"/>
              <a:t>berbasis</a:t>
            </a:r>
            <a:r>
              <a:rPr lang="en-US" sz="2000" dirty="0"/>
              <a:t> LLM </a:t>
            </a:r>
            <a:r>
              <a:rPr lang="en-ID" sz="2000" dirty="0" err="1"/>
              <a:t>untuk</a:t>
            </a:r>
            <a:r>
              <a:rPr lang="en-ID" sz="2000" dirty="0"/>
              <a:t> </a:t>
            </a:r>
            <a:r>
              <a:rPr lang="en-ID" sz="2000" dirty="0" err="1"/>
              <a:t>pengenalan</a:t>
            </a:r>
            <a:r>
              <a:rPr lang="en-ID" sz="2000" dirty="0"/>
              <a:t> data </a:t>
            </a:r>
            <a:r>
              <a:rPr lang="en-ID" sz="2000" dirty="0" err="1"/>
              <a:t>klinis</a:t>
            </a:r>
            <a:r>
              <a:rPr lang="en-ID" sz="2000" dirty="0"/>
              <a:t> </a:t>
            </a:r>
            <a:r>
              <a:rPr lang="en-ID" sz="2000" dirty="0" err="1"/>
              <a:t>dari</a:t>
            </a:r>
            <a:r>
              <a:rPr lang="en-ID" sz="2000" dirty="0"/>
              <a:t> </a:t>
            </a:r>
            <a:r>
              <a:rPr lang="en-ID" sz="2000" dirty="0" err="1"/>
              <a:t>teks</a:t>
            </a:r>
            <a:r>
              <a:rPr lang="en-ID" sz="2000" dirty="0"/>
              <a:t> Panjang.</a:t>
            </a:r>
          </a:p>
          <a:p>
            <a:pPr marL="457200" indent="-457200">
              <a:spcBef>
                <a:spcPts val="1200"/>
              </a:spcBef>
              <a:spcAft>
                <a:spcPts val="600"/>
              </a:spcAft>
              <a:buFont typeface="+mj-lt"/>
              <a:buAutoNum type="arabicPeriod"/>
            </a:pPr>
            <a:r>
              <a:rPr lang="en-ID" sz="2000" dirty="0" err="1">
                <a:solidFill>
                  <a:srgbClr val="0F1115"/>
                </a:solidFill>
                <a:cs typeface="Times New Roman" panose="02020603050405020304" pitchFamily="18" charset="0"/>
              </a:rPr>
              <a:t>Membangun</a:t>
            </a:r>
            <a:r>
              <a:rPr lang="en-ID" sz="2000" dirty="0">
                <a:solidFill>
                  <a:srgbClr val="0F1115"/>
                </a:solidFill>
                <a:cs typeface="Times New Roman" panose="02020603050405020304" pitchFamily="18" charset="0"/>
              </a:rPr>
              <a:t> dan </a:t>
            </a:r>
            <a:r>
              <a:rPr lang="en-ID" sz="2000" dirty="0" err="1">
                <a:solidFill>
                  <a:srgbClr val="0F1115"/>
                </a:solidFill>
                <a:cs typeface="Times New Roman" panose="02020603050405020304" pitchFamily="18" charset="0"/>
              </a:rPr>
              <a:t>mengintegrasikan</a:t>
            </a:r>
            <a:r>
              <a:rPr lang="en-ID" sz="2000" dirty="0">
                <a:solidFill>
                  <a:srgbClr val="0F1115"/>
                </a:solidFill>
                <a:cs typeface="Times New Roman" panose="02020603050405020304" pitchFamily="18" charset="0"/>
              </a:rPr>
              <a:t> </a:t>
            </a:r>
            <a:r>
              <a:rPr lang="en-ID" sz="2000" dirty="0" err="1">
                <a:solidFill>
                  <a:srgbClr val="0F1115"/>
                </a:solidFill>
                <a:cs typeface="Times New Roman" panose="02020603050405020304" pitchFamily="18" charset="0"/>
              </a:rPr>
              <a:t>komponen</a:t>
            </a:r>
            <a:r>
              <a:rPr lang="en-ID" sz="2000" dirty="0">
                <a:solidFill>
                  <a:srgbClr val="0F1115"/>
                </a:solidFill>
                <a:cs typeface="Times New Roman" panose="02020603050405020304" pitchFamily="18" charset="0"/>
              </a:rPr>
              <a:t> retrieval ensemble </a:t>
            </a:r>
            <a:r>
              <a:rPr lang="en-ID" sz="2000" dirty="0" err="1">
                <a:solidFill>
                  <a:srgbClr val="0F1115"/>
                </a:solidFill>
                <a:cs typeface="Times New Roman" panose="02020603050405020304" pitchFamily="18" charset="0"/>
              </a:rPr>
              <a:t>dalam</a:t>
            </a:r>
            <a:r>
              <a:rPr lang="en-ID" sz="2000" dirty="0">
                <a:solidFill>
                  <a:srgbClr val="0F1115"/>
                </a:solidFill>
                <a:cs typeface="Times New Roman" panose="02020603050405020304" pitchFamily="18" charset="0"/>
              </a:rPr>
              <a:t> </a:t>
            </a:r>
            <a:r>
              <a:rPr lang="en-ID" sz="2000" dirty="0" err="1">
                <a:solidFill>
                  <a:srgbClr val="0F1115"/>
                </a:solidFill>
                <a:cs typeface="Times New Roman" panose="02020603050405020304" pitchFamily="18" charset="0"/>
              </a:rPr>
              <a:t>arsitektur</a:t>
            </a:r>
            <a:r>
              <a:rPr lang="en-ID" sz="2000" dirty="0">
                <a:solidFill>
                  <a:srgbClr val="0F1115"/>
                </a:solidFill>
                <a:cs typeface="Times New Roman" panose="02020603050405020304" pitchFamily="18" charset="0"/>
              </a:rPr>
              <a:t> CDE-mapper agar </a:t>
            </a:r>
            <a:r>
              <a:rPr lang="en-ID" sz="2000" dirty="0" err="1">
                <a:solidFill>
                  <a:srgbClr val="0F1115"/>
                </a:solidFill>
                <a:cs typeface="Times New Roman" panose="02020603050405020304" pitchFamily="18" charset="0"/>
              </a:rPr>
              <a:t>mampu</a:t>
            </a:r>
            <a:r>
              <a:rPr lang="en-ID" sz="2000" dirty="0">
                <a:solidFill>
                  <a:srgbClr val="0F1115"/>
                </a:solidFill>
                <a:cs typeface="Times New Roman" panose="02020603050405020304" pitchFamily="18" charset="0"/>
              </a:rPr>
              <a:t> </a:t>
            </a:r>
            <a:r>
              <a:rPr lang="en-ID" sz="2000" dirty="0" err="1">
                <a:solidFill>
                  <a:srgbClr val="0F1115"/>
                </a:solidFill>
                <a:cs typeface="Times New Roman" panose="02020603050405020304" pitchFamily="18" charset="0"/>
              </a:rPr>
              <a:t>memproses</a:t>
            </a:r>
            <a:r>
              <a:rPr lang="en-ID" sz="2000" dirty="0">
                <a:solidFill>
                  <a:srgbClr val="0F1115"/>
                </a:solidFill>
                <a:cs typeface="Times New Roman" panose="02020603050405020304" pitchFamily="18" charset="0"/>
              </a:rPr>
              <a:t> </a:t>
            </a:r>
            <a:r>
              <a:rPr lang="en-ID" sz="2000" dirty="0" err="1">
                <a:solidFill>
                  <a:srgbClr val="0F1115"/>
                </a:solidFill>
                <a:cs typeface="Times New Roman" panose="02020603050405020304" pitchFamily="18" charset="0"/>
              </a:rPr>
              <a:t>teks</a:t>
            </a:r>
            <a:r>
              <a:rPr lang="en-ID" sz="2000" dirty="0">
                <a:solidFill>
                  <a:srgbClr val="0F1115"/>
                </a:solidFill>
                <a:cs typeface="Times New Roman" panose="02020603050405020304" pitchFamily="18" charset="0"/>
              </a:rPr>
              <a:t> </a:t>
            </a:r>
            <a:r>
              <a:rPr lang="en-ID" sz="2000" dirty="0" err="1">
                <a:solidFill>
                  <a:srgbClr val="0F1115"/>
                </a:solidFill>
                <a:cs typeface="Times New Roman" panose="02020603050405020304" pitchFamily="18" charset="0"/>
              </a:rPr>
              <a:t>klinis</a:t>
            </a:r>
            <a:r>
              <a:rPr lang="en-ID" sz="2000" dirty="0">
                <a:solidFill>
                  <a:srgbClr val="0F1115"/>
                </a:solidFill>
                <a:cs typeface="Times New Roman" panose="02020603050405020304" pitchFamily="18" charset="0"/>
              </a:rPr>
              <a:t> </a:t>
            </a:r>
            <a:r>
              <a:rPr lang="en-ID" sz="2000" dirty="0" err="1">
                <a:solidFill>
                  <a:srgbClr val="0F1115"/>
                </a:solidFill>
                <a:cs typeface="Times New Roman" panose="02020603050405020304" pitchFamily="18" charset="0"/>
              </a:rPr>
              <a:t>berbahasa</a:t>
            </a:r>
            <a:r>
              <a:rPr lang="en-ID" sz="2000" dirty="0">
                <a:solidFill>
                  <a:srgbClr val="0F1115"/>
                </a:solidFill>
                <a:cs typeface="Times New Roman" panose="02020603050405020304" pitchFamily="18" charset="0"/>
              </a:rPr>
              <a:t> Indonesia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FD06B-78D1-6C24-926F-6D851F63982F}"/>
            </a:ext>
          </a:extLst>
        </p:cNvPr>
        <p:cNvGrpSpPr/>
        <p:nvPr/>
      </p:nvGrpSpPr>
      <p:grpSpPr>
        <a:xfrm>
          <a:off x="0" y="0"/>
          <a:ext cx="0" cy="0"/>
          <a:chOff x="0" y="0"/>
          <a:chExt cx="0" cy="0"/>
        </a:xfrm>
      </p:grpSpPr>
      <p:pic>
        <p:nvPicPr>
          <p:cNvPr id="2" name="Image 0" descr="Logo Universitas Gadjah Mada">
            <a:extLst>
              <a:ext uri="{FF2B5EF4-FFF2-40B4-BE49-F238E27FC236}">
                <a16:creationId xmlns:a16="http://schemas.microsoft.com/office/drawing/2014/main" id="{37E9FA0F-B261-41DE-BAE4-99E8621DBD8F}"/>
              </a:ext>
            </a:extLst>
          </p:cNvPr>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FF2B5EF4-FFF2-40B4-BE49-F238E27FC236}">
                <a16:creationId xmlns:a16="http://schemas.microsoft.com/office/drawing/2014/main" id="{7848C7CD-72EE-98B7-5CB5-5B59ACFEE0BE}"/>
              </a:ex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a:extLst>
              <a:ext uri="{FF2B5EF4-FFF2-40B4-BE49-F238E27FC236}">
                <a16:creationId xmlns:a16="http://schemas.microsoft.com/office/drawing/2014/main" id="{7FAB4BBB-3D43-9091-A963-7807C31BB411}"/>
              </a:ext>
            </a:extLst>
          </p:cNvPr>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a:extLst>
              <a:ext uri="{FF2B5EF4-FFF2-40B4-BE49-F238E27FC236}">
                <a16:creationId xmlns:a16="http://schemas.microsoft.com/office/drawing/2014/main" id="{33B5F714-34AC-308E-46BE-6B9D64A3C057}"/>
              </a:ext>
            </a:extLst>
          </p:cNvPr>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9</a:t>
            </a:r>
            <a:endParaRPr lang="en-US" sz="900" dirty="0"/>
          </a:p>
        </p:txBody>
      </p:sp>
      <p:sp>
        <p:nvSpPr>
          <p:cNvPr id="6" name="Text 3">
            <a:extLst>
              <a:ext uri="{FF2B5EF4-FFF2-40B4-BE49-F238E27FC236}">
                <a16:creationId xmlns:a16="http://schemas.microsoft.com/office/drawing/2014/main" id="{C564AAAB-75DD-F908-4328-92458ABF933A}"/>
              </a:ext>
            </a:extLst>
          </p:cNvPr>
          <p:cNvSpPr/>
          <p:nvPr/>
        </p:nvSpPr>
        <p:spPr>
          <a:xfrm>
            <a:off x="585216" y="457200"/>
            <a:ext cx="8229600" cy="274320"/>
          </a:xfrm>
          <a:prstGeom prst="rect">
            <a:avLst/>
          </a:prstGeom>
          <a:noFill/>
          <a:ln/>
        </p:spPr>
        <p:txBody>
          <a:bodyPr wrap="square" rtlCol="0" anchor="ctr"/>
          <a:lstStyle/>
          <a:p>
            <a:pPr marL="0" indent="0">
              <a:buNone/>
            </a:pPr>
            <a:r>
              <a:rPr lang="en-US" sz="1200" b="1" kern="0" spc="200" dirty="0" err="1">
                <a:solidFill>
                  <a:srgbClr val="B98A1E"/>
                </a:solidFill>
                <a:latin typeface="Calibri" pitchFamily="34" charset="0"/>
                <a:ea typeface="Calibri" pitchFamily="34" charset="-122"/>
                <a:cs typeface="Calibri" pitchFamily="34" charset="-120"/>
              </a:rPr>
              <a:t>Penelitian</a:t>
            </a:r>
            <a:r>
              <a:rPr lang="en-US" sz="1200" b="1" kern="0" spc="200" dirty="0">
                <a:solidFill>
                  <a:srgbClr val="B98A1E"/>
                </a:solidFill>
                <a:latin typeface="Calibri" pitchFamily="34" charset="0"/>
                <a:ea typeface="Calibri" pitchFamily="34" charset="-122"/>
                <a:cs typeface="Calibri" pitchFamily="34" charset="-120"/>
              </a:rPr>
              <a:t> </a:t>
            </a:r>
            <a:r>
              <a:rPr lang="en-US" sz="1200" b="1" kern="0" spc="200" dirty="0" err="1">
                <a:solidFill>
                  <a:srgbClr val="B98A1E"/>
                </a:solidFill>
                <a:latin typeface="Calibri" pitchFamily="34" charset="0"/>
                <a:ea typeface="Calibri" pitchFamily="34" charset="-122"/>
                <a:cs typeface="Calibri" pitchFamily="34" charset="-120"/>
              </a:rPr>
              <a:t>terdekat</a:t>
            </a:r>
            <a:endParaRPr lang="en-US" sz="1200" dirty="0"/>
          </a:p>
        </p:txBody>
      </p:sp>
      <p:sp>
        <p:nvSpPr>
          <p:cNvPr id="7" name="Text 0">
            <a:extLst>
              <a:ext uri="{FF2B5EF4-FFF2-40B4-BE49-F238E27FC236}">
                <a16:creationId xmlns:a16="http://schemas.microsoft.com/office/drawing/2014/main" id="{83C240F2-ACB4-8737-C6D8-C50E20522CE3}"/>
              </a:ext>
            </a:extLst>
          </p:cNvPr>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Titik Awal: CDE-Mapper</a:t>
            </a:r>
            <a:endParaRPr lang="en-US" sz="2700" dirty="0"/>
          </a:p>
        </p:txBody>
      </p:sp>
      <p:sp>
        <p:nvSpPr>
          <p:cNvPr id="9" name="callout background">
            <a:extLst>
              <a:ext uri="{FF2B5EF4-FFF2-40B4-BE49-F238E27FC236}">
                <a16:creationId xmlns:a16="http://schemas.microsoft.com/office/drawing/2014/main" id="{BED60254-00DA-EA1B-11DA-3CBD2E97A14B}"/>
              </a:ext>
              <a:ext uri="{C183D7F6-B498-43B3-948B-1728B52AA6E4}">
                <adec:decorative xmlns:adec="http://schemas.microsoft.com/office/drawing/2017/decorative" val="1"/>
              </a:ext>
            </a:extLst>
          </p:cNvPr>
          <p:cNvSpPr/>
          <p:nvPr/>
        </p:nvSpPr>
        <p:spPr>
          <a:xfrm>
            <a:off x="982927" y="5486400"/>
            <a:ext cx="10972800" cy="914400"/>
          </a:xfrm>
          <a:prstGeom prst="roundRect">
            <a:avLst>
              <a:gd name="adj" fmla="val 6000"/>
            </a:avLst>
          </a:prstGeom>
          <a:solidFill>
            <a:srgbClr val="F7EFD8"/>
          </a:solidFill>
          <a:ln/>
        </p:spPr>
        <p:txBody>
          <a:bodyPr/>
          <a:lstStyle/>
          <a:p>
            <a:endParaRPr lang="en-ID"/>
          </a:p>
        </p:txBody>
      </p:sp>
      <p:sp>
        <p:nvSpPr>
          <p:cNvPr id="10" name="Text 7">
            <a:extLst>
              <a:ext uri="{FF2B5EF4-FFF2-40B4-BE49-F238E27FC236}">
                <a16:creationId xmlns:a16="http://schemas.microsoft.com/office/drawing/2014/main" id="{66ADA42D-A23C-CCE1-5796-6355383F60E8}"/>
              </a:ext>
            </a:extLst>
          </p:cNvPr>
          <p:cNvSpPr/>
          <p:nvPr/>
        </p:nvSpPr>
        <p:spPr>
          <a:xfrm>
            <a:off x="1238959" y="5486400"/>
            <a:ext cx="10460736" cy="914400"/>
          </a:xfrm>
          <a:prstGeom prst="rect">
            <a:avLst/>
          </a:prstGeom>
          <a:noFill/>
          <a:ln/>
        </p:spPr>
        <p:txBody>
          <a:bodyPr wrap="square" rtlCol="0" anchor="ctr"/>
          <a:lstStyle/>
          <a:p>
            <a:r>
              <a:rPr lang="en-US" sz="1400" dirty="0"/>
              <a:t>Reff: </a:t>
            </a:r>
            <a:r>
              <a:rPr lang="en-ID" sz="1400" dirty="0"/>
              <a:t>Gilani, K., et al. (2025). CDE-Mapper: Using retrieval-augmented language models for linking clinical data elements to controlled vocabularies. </a:t>
            </a:r>
            <a:r>
              <a:rPr lang="en-ID" sz="1400" i="1" dirty="0"/>
              <a:t>Computers in Biology and Medicine, 196</a:t>
            </a:r>
            <a:r>
              <a:rPr lang="en-ID" sz="1400" dirty="0"/>
              <a:t>, 110745.</a:t>
            </a:r>
            <a:endParaRPr lang="en-US" sz="1350" dirty="0"/>
          </a:p>
        </p:txBody>
      </p:sp>
      <p:pic>
        <p:nvPicPr>
          <p:cNvPr id="12" name="Gambar 11" descr="Sebuah gambar berisi teks, cuplikan layar, diagram&#10;&#10;Konten yang dihasilkan AI mungkin salah.">
            <a:extLst>
              <a:ext uri="{FF2B5EF4-FFF2-40B4-BE49-F238E27FC236}">
                <a16:creationId xmlns:a16="http://schemas.microsoft.com/office/drawing/2014/main" id="{18C03765-D79F-20EE-41E8-F3F6BA614876}"/>
              </a:ext>
            </a:extLst>
          </p:cNvPr>
          <p:cNvPicPr>
            <a:picLocks noChangeAspect="1"/>
          </p:cNvPicPr>
          <p:nvPr/>
        </p:nvPicPr>
        <p:blipFill>
          <a:blip r:embed="rId4"/>
          <a:stretch>
            <a:fillRect/>
          </a:stretch>
        </p:blipFill>
        <p:spPr>
          <a:xfrm>
            <a:off x="837870" y="1365827"/>
            <a:ext cx="10045917" cy="3916034"/>
          </a:xfrm>
          <a:prstGeom prst="rect">
            <a:avLst/>
          </a:prstGeom>
        </p:spPr>
      </p:pic>
    </p:spTree>
    <p:extLst>
      <p:ext uri="{BB962C8B-B14F-4D97-AF65-F5344CB8AC3E}">
        <p14:creationId xmlns:p14="http://schemas.microsoft.com/office/powerpoint/2010/main" val="4004221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9</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err="1">
                <a:solidFill>
                  <a:srgbClr val="B98A1E"/>
                </a:solidFill>
                <a:latin typeface="Calibri" pitchFamily="34" charset="0"/>
                <a:ea typeface="Calibri" pitchFamily="34" charset="-122"/>
                <a:cs typeface="Calibri" pitchFamily="34" charset="-120"/>
              </a:rPr>
              <a:t>Penelitian</a:t>
            </a:r>
            <a:r>
              <a:rPr lang="en-US" sz="1200" b="1" kern="0" spc="200" dirty="0">
                <a:solidFill>
                  <a:srgbClr val="B98A1E"/>
                </a:solidFill>
                <a:latin typeface="Calibri" pitchFamily="34" charset="0"/>
                <a:ea typeface="Calibri" pitchFamily="34" charset="-122"/>
                <a:cs typeface="Calibri" pitchFamily="34" charset="-120"/>
              </a:rPr>
              <a:t> </a:t>
            </a:r>
            <a:r>
              <a:rPr lang="en-US" sz="1200" b="1" kern="0" spc="200" dirty="0" err="1">
                <a:solidFill>
                  <a:srgbClr val="B98A1E"/>
                </a:solidFill>
                <a:latin typeface="Calibri" pitchFamily="34" charset="0"/>
                <a:ea typeface="Calibri" pitchFamily="34" charset="-122"/>
                <a:cs typeface="Calibri" pitchFamily="34" charset="-120"/>
              </a:rPr>
              <a:t>terdekat</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CDE-Mapper</a:t>
            </a:r>
            <a:endParaRPr lang="en-US" sz="2700" dirty="0"/>
          </a:p>
        </p:txBody>
      </p:sp>
      <p:sp>
        <p:nvSpPr>
          <p:cNvPr id="12" name="Kotak Teks 11">
            <a:extLst>
              <a:ext uri="{FF2B5EF4-FFF2-40B4-BE49-F238E27FC236}">
                <a16:creationId xmlns:a16="http://schemas.microsoft.com/office/drawing/2014/main" id="{6510E41D-D8C3-7440-A3A2-7AF882694D03}"/>
              </a:ext>
            </a:extLst>
          </p:cNvPr>
          <p:cNvSpPr txBox="1"/>
          <p:nvPr/>
        </p:nvSpPr>
        <p:spPr>
          <a:xfrm>
            <a:off x="838200" y="1348991"/>
            <a:ext cx="5717583" cy="880306"/>
          </a:xfrm>
          <a:prstGeom prst="rect">
            <a:avLst/>
          </a:prstGeom>
          <a:noFill/>
        </p:spPr>
        <p:txBody>
          <a:bodyPr wrap="square" rtlCol="0">
            <a:spAutoFit/>
          </a:bodyPr>
          <a:lstStyle/>
          <a:p>
            <a:pPr algn="l">
              <a:lnSpc>
                <a:spcPts val="2080"/>
              </a:lnSpc>
            </a:pPr>
            <a:r>
              <a:rPr lang="en-US" sz="1400" spc="0" baseline="0" dirty="0">
                <a:ln/>
                <a:latin typeface="Gama-Sans-Regular"/>
                <a:sym typeface="Gama-Sans-Regular"/>
                <a:rtl val="0"/>
              </a:rPr>
              <a:t>Framework CDE-Mapper oleh Gilani et all (2025) </a:t>
            </a:r>
            <a:r>
              <a:rPr lang="en-US" sz="1400" dirty="0" err="1">
                <a:ln/>
                <a:latin typeface="Gama-Sans-Regular"/>
                <a:sym typeface="Gama-Sans-Regular"/>
                <a:rtl val="0"/>
              </a:rPr>
              <a:t>mengimplementasikan</a:t>
            </a:r>
            <a:r>
              <a:rPr lang="en-US" sz="1400" dirty="0">
                <a:ln/>
                <a:latin typeface="Gama-Sans-Regular"/>
                <a:sym typeface="Gama-Sans-Regular"/>
                <a:rtl val="0"/>
              </a:rPr>
              <a:t> LLM-RAG </a:t>
            </a:r>
            <a:r>
              <a:rPr lang="en-US" sz="1400" spc="0" baseline="0" dirty="0" err="1">
                <a:ln/>
                <a:latin typeface="Gama-Sans-Regular"/>
                <a:sym typeface="Gama-Sans-Regular"/>
                <a:rtl val="0"/>
              </a:rPr>
              <a:t>menunjukkan</a:t>
            </a:r>
            <a:r>
              <a:rPr lang="en-US" sz="1400" spc="0" baseline="0" dirty="0">
                <a:ln/>
                <a:latin typeface="Gama-Sans-Regular"/>
                <a:sym typeface="Gama-Sans-Regular"/>
                <a:rtl val="0"/>
              </a:rPr>
              <a:t> </a:t>
            </a:r>
            <a:r>
              <a:rPr lang="en-US" sz="1400" spc="0" baseline="0" dirty="0" err="1">
                <a:ln/>
                <a:latin typeface="Gama-Sans-Regular"/>
                <a:sym typeface="Gama-Sans-Regular"/>
                <a:rtl val="0"/>
              </a:rPr>
              <a:t>temuan</a:t>
            </a:r>
            <a:r>
              <a:rPr lang="en-US" sz="1400" spc="0" baseline="0" dirty="0">
                <a:ln/>
                <a:latin typeface="Gama-Sans-Regular"/>
                <a:sym typeface="Gama-Sans-Regular"/>
                <a:rtl val="0"/>
              </a:rPr>
              <a:t> yang </a:t>
            </a:r>
            <a:r>
              <a:rPr lang="en-US" sz="1400" spc="0" baseline="0" dirty="0" err="1">
                <a:ln/>
                <a:latin typeface="Gama-Sans-Regular"/>
                <a:sym typeface="Gama-Sans-Regular"/>
                <a:rtl val="0"/>
              </a:rPr>
              <a:t>baik</a:t>
            </a:r>
            <a:r>
              <a:rPr lang="en-US" sz="1400" spc="0" baseline="0" dirty="0">
                <a:ln/>
                <a:latin typeface="Gama-Sans-Regular"/>
                <a:sym typeface="Gama-Sans-Regular"/>
                <a:rtl val="0"/>
              </a:rPr>
              <a:t> </a:t>
            </a:r>
            <a:r>
              <a:rPr lang="en-US" sz="1400" spc="0" baseline="0" dirty="0" err="1">
                <a:ln/>
                <a:latin typeface="Gama-Sans-Regular"/>
                <a:sym typeface="Gama-Sans-Regular"/>
                <a:rtl val="0"/>
              </a:rPr>
              <a:t>dalam</a:t>
            </a:r>
            <a:r>
              <a:rPr lang="en-US" sz="1400" spc="0" baseline="0" dirty="0">
                <a:ln/>
                <a:latin typeface="Gama-Sans-Regular"/>
                <a:sym typeface="Gama-Sans-Regular"/>
                <a:rtl val="0"/>
              </a:rPr>
              <a:t> </a:t>
            </a:r>
            <a:r>
              <a:rPr lang="en-US" sz="1400" spc="0" baseline="0" dirty="0" err="1">
                <a:ln/>
                <a:latin typeface="Gama-Sans-Regular"/>
                <a:sym typeface="Gama-Sans-Regular"/>
                <a:rtl val="0"/>
              </a:rPr>
              <a:t>bidang</a:t>
            </a:r>
            <a:r>
              <a:rPr lang="en-US" sz="1400" spc="0" baseline="0" dirty="0">
                <a:ln/>
                <a:latin typeface="Gama-Sans-Regular"/>
                <a:sym typeface="Gama-Sans-Regular"/>
                <a:rtl val="0"/>
              </a:rPr>
              <a:t> </a:t>
            </a:r>
            <a:r>
              <a:rPr lang="en-US" sz="1400" spc="0" baseline="0" dirty="0" err="1">
                <a:ln/>
                <a:latin typeface="Gama-Sans-Regular"/>
                <a:sym typeface="Gama-Sans-Regular"/>
                <a:rtl val="0"/>
              </a:rPr>
              <a:t>pemetaan</a:t>
            </a:r>
            <a:r>
              <a:rPr lang="en-US" sz="1400" spc="0" baseline="0" dirty="0">
                <a:ln/>
                <a:latin typeface="Gama-Sans-Regular"/>
                <a:sym typeface="Gama-Sans-Regular"/>
                <a:rtl val="0"/>
              </a:rPr>
              <a:t> terminology </a:t>
            </a:r>
            <a:r>
              <a:rPr lang="en-US" sz="1400" spc="0" baseline="0" dirty="0" err="1">
                <a:ln/>
                <a:latin typeface="Gama-Sans-Regular"/>
                <a:sym typeface="Gama-Sans-Regular"/>
                <a:rtl val="0"/>
              </a:rPr>
              <a:t>klinis</a:t>
            </a:r>
            <a:r>
              <a:rPr lang="en-US" sz="1400" spc="0" baseline="0" dirty="0">
                <a:ln/>
                <a:latin typeface="Gama-Sans-Regular"/>
                <a:sym typeface="Gama-Sans-Regular"/>
                <a:rtl val="0"/>
              </a:rPr>
              <a:t>. </a:t>
            </a:r>
            <a:r>
              <a:rPr lang="en-US" sz="1400" spc="0" baseline="0" dirty="0" err="1">
                <a:ln/>
                <a:latin typeface="Gama-Sans-Regular"/>
                <a:sym typeface="Gama-Sans-Regular"/>
                <a:rtl val="0"/>
              </a:rPr>
              <a:t>Beberapa</a:t>
            </a:r>
            <a:r>
              <a:rPr lang="en-US" sz="1400" spc="0" baseline="0" dirty="0">
                <a:ln/>
                <a:latin typeface="Gama-Sans-Regular"/>
                <a:sym typeface="Gama-Sans-Regular"/>
                <a:rtl val="0"/>
              </a:rPr>
              <a:t> </a:t>
            </a:r>
            <a:r>
              <a:rPr lang="en-US" sz="1400" spc="0" baseline="0" dirty="0" err="1">
                <a:ln/>
                <a:latin typeface="Gama-Sans-Regular"/>
                <a:sym typeface="Gama-Sans-Regular"/>
                <a:rtl val="0"/>
              </a:rPr>
              <a:t>temuan</a:t>
            </a:r>
            <a:r>
              <a:rPr lang="en-US" sz="1400" spc="0" baseline="0" dirty="0">
                <a:ln/>
                <a:latin typeface="Gama-Sans-Regular"/>
                <a:sym typeface="Gama-Sans-Regular"/>
                <a:rtl val="0"/>
              </a:rPr>
              <a:t> </a:t>
            </a:r>
            <a:r>
              <a:rPr lang="en-US" sz="1400" spc="0" baseline="0" dirty="0" err="1">
                <a:ln/>
                <a:latin typeface="Gama-Sans-Regular"/>
                <a:sym typeface="Gama-Sans-Regular"/>
                <a:rtl val="0"/>
              </a:rPr>
              <a:t>unggulannya</a:t>
            </a:r>
            <a:r>
              <a:rPr lang="en-US" sz="1400" spc="0" baseline="0" dirty="0">
                <a:ln/>
                <a:latin typeface="Gama-Sans-Regular"/>
                <a:sym typeface="Gama-Sans-Regular"/>
                <a:rtl val="0"/>
              </a:rPr>
              <a:t>:</a:t>
            </a:r>
            <a:endParaRPr lang="en-ID" sz="1400" spc="0" baseline="0" dirty="0" err="1">
              <a:ln/>
              <a:latin typeface="Gama-Sans-Regular"/>
              <a:sym typeface="Gama-Sans-Regular"/>
              <a:rtl val="0"/>
            </a:endParaRPr>
          </a:p>
        </p:txBody>
      </p:sp>
      <p:graphicFrame>
        <p:nvGraphicFramePr>
          <p:cNvPr id="14" name="Diagram 13">
            <a:extLst>
              <a:ext uri="{FF2B5EF4-FFF2-40B4-BE49-F238E27FC236}">
                <a16:creationId xmlns:a16="http://schemas.microsoft.com/office/drawing/2014/main" id="{03FC655C-D205-B0A1-9FED-CB14F294A407}"/>
              </a:ext>
            </a:extLst>
          </p:cNvPr>
          <p:cNvGraphicFramePr/>
          <p:nvPr>
            <p:extLst>
              <p:ext uri="{D42A27DB-BD31-4B8C-83A1-F6EECF244321}">
                <p14:modId xmlns:p14="http://schemas.microsoft.com/office/powerpoint/2010/main" val="2263203787"/>
              </p:ext>
            </p:extLst>
          </p:nvPr>
        </p:nvGraphicFramePr>
        <p:xfrm>
          <a:off x="838200" y="2593910"/>
          <a:ext cx="5124061" cy="361208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6" name="Kotak Teks 15">
            <a:extLst>
              <a:ext uri="{FF2B5EF4-FFF2-40B4-BE49-F238E27FC236}">
                <a16:creationId xmlns:a16="http://schemas.microsoft.com/office/drawing/2014/main" id="{38464152-5EC8-B56C-E767-B1BBE3473129}"/>
              </a:ext>
            </a:extLst>
          </p:cNvPr>
          <p:cNvSpPr txBox="1"/>
          <p:nvPr/>
        </p:nvSpPr>
        <p:spPr>
          <a:xfrm>
            <a:off x="6775580" y="1789144"/>
            <a:ext cx="4863647" cy="611001"/>
          </a:xfrm>
          <a:prstGeom prst="rect">
            <a:avLst/>
          </a:prstGeom>
          <a:noFill/>
        </p:spPr>
        <p:txBody>
          <a:bodyPr wrap="square" rtlCol="0">
            <a:spAutoFit/>
          </a:bodyPr>
          <a:lstStyle/>
          <a:p>
            <a:pPr algn="l">
              <a:lnSpc>
                <a:spcPts val="2080"/>
              </a:lnSpc>
            </a:pPr>
            <a:r>
              <a:rPr lang="en-US" sz="1400" spc="0" baseline="0" dirty="0">
                <a:ln/>
                <a:latin typeface="Gama-Sans-Regular"/>
                <a:sym typeface="Gama-Sans-Regular"/>
                <a:rtl val="0"/>
              </a:rPr>
              <a:t>CDE-Mapper focus pada CDE linking. Beberapa yang </a:t>
            </a:r>
            <a:r>
              <a:rPr lang="en-US" sz="1400" spc="0" baseline="0" dirty="0" err="1">
                <a:ln/>
                <a:latin typeface="Gama-Sans-Regular"/>
                <a:sym typeface="Gama-Sans-Regular"/>
                <a:rtl val="0"/>
              </a:rPr>
              <a:t>belum</a:t>
            </a:r>
            <a:r>
              <a:rPr lang="en-US" sz="1400" spc="0" baseline="0" dirty="0">
                <a:ln/>
                <a:latin typeface="Gama-Sans-Regular"/>
                <a:sym typeface="Gama-Sans-Regular"/>
                <a:rtl val="0"/>
              </a:rPr>
              <a:t> </a:t>
            </a:r>
            <a:r>
              <a:rPr lang="en-US" sz="1400" spc="0" baseline="0" dirty="0" err="1">
                <a:ln/>
                <a:latin typeface="Gama-Sans-Regular"/>
                <a:sym typeface="Gama-Sans-Regular"/>
                <a:rtl val="0"/>
              </a:rPr>
              <a:t>diatasi</a:t>
            </a:r>
            <a:r>
              <a:rPr lang="en-US" sz="1400" spc="0" baseline="0" dirty="0">
                <a:ln/>
                <a:latin typeface="Gama-Sans-Regular"/>
                <a:sym typeface="Gama-Sans-Regular"/>
                <a:rtl val="0"/>
              </a:rPr>
              <a:t> oleh CDE mapper Gilani:</a:t>
            </a:r>
            <a:endParaRPr lang="en-ID" sz="1400" spc="0" baseline="0" dirty="0" err="1">
              <a:ln/>
              <a:latin typeface="Gama-Sans-Regular"/>
              <a:sym typeface="Gama-Sans-Regular"/>
              <a:rtl val="0"/>
            </a:endParaRPr>
          </a:p>
        </p:txBody>
      </p:sp>
      <p:graphicFrame>
        <p:nvGraphicFramePr>
          <p:cNvPr id="18" name="Diagram 17">
            <a:extLst>
              <a:ext uri="{FF2B5EF4-FFF2-40B4-BE49-F238E27FC236}">
                <a16:creationId xmlns:a16="http://schemas.microsoft.com/office/drawing/2014/main" id="{68A4A24A-DE8B-316B-D44C-D522CE046674}"/>
              </a:ext>
            </a:extLst>
          </p:cNvPr>
          <p:cNvGraphicFramePr/>
          <p:nvPr>
            <p:extLst>
              <p:ext uri="{D42A27DB-BD31-4B8C-83A1-F6EECF244321}">
                <p14:modId xmlns:p14="http://schemas.microsoft.com/office/powerpoint/2010/main" val="715111929"/>
              </p:ext>
            </p:extLst>
          </p:nvPr>
        </p:nvGraphicFramePr>
        <p:xfrm>
          <a:off x="6775580" y="2753359"/>
          <a:ext cx="4997320" cy="278066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2062040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13</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KEBARUAN</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Kebaruan yang Diusulkan</a:t>
            </a:r>
            <a:endParaRPr lang="en-US" sz="2700" dirty="0"/>
          </a:p>
        </p:txBody>
      </p:sp>
      <p:sp>
        <p:nvSpPr>
          <p:cNvPr id="8" name="Text 5"/>
          <p:cNvSpPr/>
          <p:nvPr/>
        </p:nvSpPr>
        <p:spPr>
          <a:xfrm>
            <a:off x="640080" y="1783080"/>
            <a:ext cx="10972800" cy="4297680"/>
          </a:xfrm>
          <a:prstGeom prst="rect">
            <a:avLst/>
          </a:prstGeom>
          <a:noFill/>
          <a:ln/>
        </p:spPr>
        <p:txBody>
          <a:bodyPr wrap="square" rtlCol="0" anchor="t"/>
          <a:lstStyle/>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Long-text first:  </a:t>
            </a:r>
            <a:r>
              <a:rPr lang="en-US" sz="1450" dirty="0">
                <a:solidFill>
                  <a:srgbClr val="26313D"/>
                </a:solidFill>
                <a:latin typeface="Calibri" pitchFamily="34" charset="0"/>
                <a:ea typeface="Calibri" pitchFamily="34" charset="-122"/>
                <a:cs typeface="Calibri" pitchFamily="34" charset="-120"/>
              </a:rPr>
              <a:t>banyak entitas diekstraksi sebelum mapping.</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Language-adaptive:  </a:t>
            </a:r>
            <a:r>
              <a:rPr lang="en-US" sz="1450" dirty="0">
                <a:solidFill>
                  <a:srgbClr val="26313D"/>
                </a:solidFill>
                <a:latin typeface="Calibri" pitchFamily="34" charset="0"/>
                <a:ea typeface="Calibri" pitchFamily="34" charset="-122"/>
                <a:cs typeface="Calibri" pitchFamily="34" charset="-120"/>
              </a:rPr>
              <a:t>normalisasi konservatif dan sumber daya lokal Bahasa Indonesia.</a:t>
            </a:r>
          </a:p>
          <a:p>
            <a:pPr marL="177800" indent="-177800">
              <a:lnSpc>
                <a:spcPct val="102000"/>
              </a:lnSpc>
              <a:buSzPct val="100000"/>
              <a:buFontTx/>
              <a:buChar char="•"/>
            </a:pPr>
            <a:r>
              <a:rPr lang="en-US" sz="1450" b="1" dirty="0">
                <a:solidFill>
                  <a:srgbClr val="0B3C6E"/>
                </a:solidFill>
                <a:latin typeface="Calibri" pitchFamily="34" charset="0"/>
                <a:ea typeface="Calibri" pitchFamily="34" charset="-122"/>
                <a:cs typeface="Calibri" pitchFamily="34" charset="-120"/>
              </a:rPr>
              <a:t>Context-aware entities:  </a:t>
            </a:r>
            <a:r>
              <a:rPr lang="en-US" sz="1450" dirty="0">
                <a:solidFill>
                  <a:srgbClr val="26313D"/>
                </a:solidFill>
                <a:latin typeface="Calibri" pitchFamily="34" charset="0"/>
                <a:ea typeface="Calibri" pitchFamily="34" charset="-122"/>
                <a:cs typeface="Calibri" pitchFamily="34" charset="-120"/>
              </a:rPr>
              <a:t>assertion, temporal, experiencer, dan epistemic status.</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Multi-terminology routing:  </a:t>
            </a:r>
            <a:r>
              <a:rPr lang="en-US" sz="1450" dirty="0">
                <a:solidFill>
                  <a:srgbClr val="26313D"/>
                </a:solidFill>
                <a:latin typeface="Calibri" pitchFamily="34" charset="0"/>
                <a:ea typeface="Calibri" pitchFamily="34" charset="-122"/>
                <a:cs typeface="Calibri" pitchFamily="34" charset="-120"/>
              </a:rPr>
              <a:t>target dipilih berdasarkan tipe dan konteks entitas.</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Hybrid retrieval</a:t>
            </a:r>
            <a:r>
              <a:rPr lang="en-US" sz="1450" dirty="0">
                <a:solidFill>
                  <a:srgbClr val="0B3C6E"/>
                </a:solidFill>
                <a:latin typeface="Calibri" pitchFamily="34" charset="0"/>
                <a:ea typeface="Calibri" pitchFamily="34" charset="-122"/>
                <a:cs typeface="Calibri" pitchFamily="34" charset="-120"/>
              </a:rPr>
              <a:t>:  </a:t>
            </a:r>
            <a:r>
              <a:rPr lang="en-US" sz="1450" dirty="0" err="1">
                <a:solidFill>
                  <a:srgbClr val="0B3C6E"/>
                </a:solidFill>
                <a:latin typeface="Calibri" pitchFamily="34" charset="0"/>
                <a:ea typeface="Calibri" pitchFamily="34" charset="-122"/>
                <a:cs typeface="Calibri" pitchFamily="34" charset="-120"/>
              </a:rPr>
              <a:t>adaptasi</a:t>
            </a:r>
            <a:r>
              <a:rPr lang="en-US" sz="1450" dirty="0">
                <a:solidFill>
                  <a:srgbClr val="0B3C6E"/>
                </a:solidFill>
                <a:latin typeface="Calibri" pitchFamily="34" charset="0"/>
                <a:ea typeface="Calibri" pitchFamily="34" charset="-122"/>
                <a:cs typeface="Calibri" pitchFamily="34" charset="-120"/>
              </a:rPr>
              <a:t> pada </a:t>
            </a:r>
            <a:r>
              <a:rPr lang="en-US" sz="1450" dirty="0">
                <a:solidFill>
                  <a:srgbClr val="26313D"/>
                </a:solidFill>
                <a:latin typeface="Calibri" pitchFamily="34" charset="0"/>
                <a:ea typeface="Calibri" pitchFamily="34" charset="-122"/>
                <a:cs typeface="Calibri" pitchFamily="34" charset="-120"/>
              </a:rPr>
              <a:t>dense + sparse + filtering + reranking.</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Validated reservoir:  </a:t>
            </a:r>
            <a:r>
              <a:rPr lang="en-US" sz="1450" dirty="0">
                <a:solidFill>
                  <a:srgbClr val="26313D"/>
                </a:solidFill>
                <a:latin typeface="Calibri" pitchFamily="34" charset="0"/>
                <a:ea typeface="Calibri" pitchFamily="34" charset="-122"/>
                <a:cs typeface="Calibri" pitchFamily="34" charset="-120"/>
              </a:rPr>
              <a:t>pengetahuan disimpan bersama status validasi dan provenance.</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14</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KONTRIBUSI</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Kontribusi Penelitian</a:t>
            </a:r>
            <a:endParaRPr lang="en-US" sz="2700" dirty="0"/>
          </a:p>
        </p:txBody>
      </p:sp>
      <p:graphicFrame>
        <p:nvGraphicFramePr>
          <p:cNvPr id="15" name="Table 0"/>
          <p:cNvGraphicFramePr>
            <a:graphicFrameLocks noGrp="1"/>
          </p:cNvGraphicFramePr>
          <p:nvPr>
            <p:extLst>
              <p:ext uri="{D42A27DB-BD31-4B8C-83A1-F6EECF244321}">
                <p14:modId xmlns:p14="http://schemas.microsoft.com/office/powerpoint/2010/main" val="2753967825"/>
              </p:ext>
            </p:extLst>
          </p:nvPr>
        </p:nvGraphicFramePr>
        <p:xfrm>
          <a:off x="640080" y="1874520"/>
          <a:ext cx="10881360" cy="3200400"/>
        </p:xfrm>
        <a:graphic>
          <a:graphicData uri="http://schemas.openxmlformats.org/drawingml/2006/table">
            <a:tbl>
              <a:tblPr/>
              <a:tblGrid>
                <a:gridCol w="274320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tblGrid>
              <a:tr h="640080">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Dimensi</a:t>
                      </a:r>
                      <a:endParaRPr lang="en-US" sz="14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Kontribusi</a:t>
                      </a:r>
                      <a:endParaRPr lang="en-US" sz="14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extLst>
                  <a:ext uri="{0D108BD9-81ED-4DB2-BD59-A6C34878D82A}">
                    <a16:rowId xmlns:a16="http://schemas.microsoft.com/office/drawing/2014/main" val="10000"/>
                  </a:ext>
                </a:extLst>
              </a:tr>
              <a:tr h="640080">
                <a:tc>
                  <a:txBody>
                    <a:bodyPr/>
                    <a:lstStyle/>
                    <a:p>
                      <a:pPr marL="0" indent="0" algn="l">
                        <a:buNone/>
                      </a:pPr>
                      <a:r>
                        <a:rPr lang="en-US" sz="1350" dirty="0">
                          <a:solidFill>
                            <a:srgbClr val="26313D"/>
                          </a:solidFill>
                          <a:latin typeface="Calibri" pitchFamily="34" charset="0"/>
                          <a:ea typeface="Calibri" pitchFamily="34" charset="-122"/>
                          <a:cs typeface="Calibri" pitchFamily="34" charset="-120"/>
                        </a:rPr>
                        <a:t>Metodologis</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313D"/>
                          </a:solidFill>
                          <a:latin typeface="Calibri" pitchFamily="34" charset="0"/>
                          <a:ea typeface="Calibri" pitchFamily="34" charset="-122"/>
                          <a:cs typeface="Calibri" pitchFamily="34" charset="-120"/>
                        </a:rPr>
                        <a:t>Framework hybrid LLM–semantic retrieval untuk teks klinis Indonesia</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350" dirty="0">
                          <a:solidFill>
                            <a:srgbClr val="26313D"/>
                          </a:solidFill>
                          <a:latin typeface="Calibri" pitchFamily="34" charset="0"/>
                          <a:ea typeface="Calibri" pitchFamily="34" charset="-122"/>
                          <a:cs typeface="Calibri" pitchFamily="34" charset="-120"/>
                        </a:rPr>
                        <a:t>Teknis</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50" dirty="0">
                          <a:solidFill>
                            <a:srgbClr val="26313D"/>
                          </a:solidFill>
                          <a:latin typeface="Calibri" pitchFamily="34" charset="0"/>
                          <a:ea typeface="Calibri" pitchFamily="34" charset="-122"/>
                          <a:cs typeface="Calibri" pitchFamily="34" charset="-120"/>
                        </a:rPr>
                        <a:t>Pipeline modular, tervalidasi skema, dan memiliki audit trail</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2"/>
                  </a:ext>
                </a:extLst>
              </a:tr>
              <a:tr h="640080">
                <a:tc>
                  <a:txBody>
                    <a:bodyPr/>
                    <a:lstStyle/>
                    <a:p>
                      <a:pPr marL="0" indent="0" algn="l">
                        <a:buNone/>
                      </a:pPr>
                      <a:r>
                        <a:rPr lang="en-US" sz="1350" dirty="0">
                          <a:solidFill>
                            <a:srgbClr val="26313D"/>
                          </a:solidFill>
                          <a:latin typeface="Calibri" pitchFamily="34" charset="0"/>
                          <a:ea typeface="Calibri" pitchFamily="34" charset="-122"/>
                          <a:cs typeface="Calibri" pitchFamily="34" charset="-120"/>
                        </a:rPr>
                        <a:t>Data</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50" dirty="0">
                          <a:solidFill>
                            <a:srgbClr val="26313D"/>
                          </a:solidFill>
                          <a:latin typeface="Calibri" pitchFamily="34" charset="0"/>
                          <a:ea typeface="Calibri" pitchFamily="34" charset="-122"/>
                          <a:cs typeface="Calibri" pitchFamily="34" charset="-120"/>
                        </a:rPr>
                        <a:t>Korpus normalisasi, pedoman anotasi, dan gold set bertahap</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l">
                        <a:buNone/>
                      </a:pPr>
                      <a:r>
                        <a:rPr lang="en-US" sz="1350" dirty="0">
                          <a:solidFill>
                            <a:srgbClr val="26313D"/>
                          </a:solidFill>
                          <a:latin typeface="Calibri" pitchFamily="34" charset="0"/>
                          <a:ea typeface="Calibri" pitchFamily="34" charset="-122"/>
                          <a:cs typeface="Calibri" pitchFamily="34" charset="-120"/>
                        </a:rPr>
                        <a:t>Evaluatif</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50" dirty="0">
                          <a:solidFill>
                            <a:srgbClr val="26313D"/>
                          </a:solidFill>
                          <a:latin typeface="Calibri" pitchFamily="34" charset="0"/>
                          <a:ea typeface="Calibri" pitchFamily="34" charset="-122"/>
                          <a:cs typeface="Calibri" pitchFamily="34" charset="-120"/>
                        </a:rPr>
                        <a:t>Baseline, ablation, metrik komponen dan end-to-end</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15</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RUANG LINGKUP</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Batasan dan Ruang Lingkup</a:t>
            </a:r>
            <a:endParaRPr lang="en-US" sz="2700" dirty="0"/>
          </a:p>
        </p:txBody>
      </p:sp>
      <p:sp>
        <p:nvSpPr>
          <p:cNvPr id="8" name="Text 5"/>
          <p:cNvSpPr/>
          <p:nvPr/>
        </p:nvSpPr>
        <p:spPr>
          <a:xfrm>
            <a:off x="640080" y="1783080"/>
            <a:ext cx="10972800" cy="4297680"/>
          </a:xfrm>
          <a:prstGeom prst="rect">
            <a:avLst/>
          </a:prstGeom>
          <a:noFill/>
          <a:ln/>
        </p:spPr>
        <p:txBody>
          <a:bodyPr wrap="square" rtlCol="0" anchor="t"/>
          <a:lstStyle/>
          <a:p>
            <a:pPr marL="177800" indent="-177800">
              <a:lnSpc>
                <a:spcPct val="102000"/>
              </a:lnSpc>
              <a:spcAft>
                <a:spcPts val="600"/>
              </a:spcAft>
              <a:buSzPct val="100000"/>
              <a:buChar char="•"/>
            </a:pPr>
            <a:r>
              <a:rPr lang="en-US" sz="1450" dirty="0">
                <a:solidFill>
                  <a:srgbClr val="26313D"/>
                </a:solidFill>
                <a:latin typeface="Calibri" pitchFamily="34" charset="0"/>
                <a:ea typeface="Calibri" pitchFamily="34" charset="-122"/>
                <a:cs typeface="Calibri" pitchFamily="34" charset="-120"/>
              </a:rPr>
              <a:t>Bahasa utama: Bahasa Indonesia klinis dengan kemungkinan code-mixing.</a:t>
            </a:r>
            <a:endParaRPr lang="en-US" sz="1450" dirty="0"/>
          </a:p>
          <a:p>
            <a:pPr marL="177800" indent="-177800">
              <a:lnSpc>
                <a:spcPct val="102000"/>
              </a:lnSpc>
              <a:spcAft>
                <a:spcPts val="600"/>
              </a:spcAft>
              <a:buSzPct val="100000"/>
              <a:buChar char="•"/>
            </a:pPr>
            <a:r>
              <a:rPr lang="en-US" sz="1450" dirty="0">
                <a:solidFill>
                  <a:srgbClr val="26313D"/>
                </a:solidFill>
                <a:latin typeface="Calibri" pitchFamily="34" charset="0"/>
                <a:ea typeface="Calibri" pitchFamily="34" charset="-122"/>
                <a:cs typeface="Calibri" pitchFamily="34" charset="-120"/>
              </a:rPr>
              <a:t>Input:</a:t>
            </a:r>
            <a:endParaRPr lang="en-US" sz="1450" dirty="0"/>
          </a:p>
          <a:p>
            <a:pPr marL="355600" lvl="1" indent="-177800">
              <a:lnSpc>
                <a:spcPct val="102000"/>
              </a:lnSpc>
              <a:spcAft>
                <a:spcPts val="300"/>
              </a:spcAft>
              <a:buSzPct val="100000"/>
              <a:buChar char="–"/>
            </a:pPr>
            <a:r>
              <a:rPr lang="en-US" sz="1450" dirty="0">
                <a:solidFill>
                  <a:srgbClr val="26313D"/>
                </a:solidFill>
                <a:latin typeface="Calibri" pitchFamily="34" charset="0"/>
                <a:ea typeface="Calibri" pitchFamily="34" charset="-122"/>
                <a:cs typeface="Calibri" pitchFamily="34" charset="-120"/>
              </a:rPr>
              <a:t>teks konsultasi kesehatan;</a:t>
            </a:r>
            <a:endParaRPr lang="en-US" sz="1450" dirty="0"/>
          </a:p>
          <a:p>
            <a:pPr marL="355600" lvl="1" indent="-177800">
              <a:lnSpc>
                <a:spcPct val="102000"/>
              </a:lnSpc>
              <a:spcAft>
                <a:spcPts val="300"/>
              </a:spcAft>
              <a:buSzPct val="100000"/>
              <a:buChar char="–"/>
            </a:pPr>
            <a:r>
              <a:rPr lang="en-US" sz="1450" dirty="0">
                <a:solidFill>
                  <a:srgbClr val="26313D"/>
                </a:solidFill>
                <a:latin typeface="Calibri" pitchFamily="34" charset="0"/>
                <a:ea typeface="Calibri" pitchFamily="34" charset="-122"/>
                <a:cs typeface="Calibri" pitchFamily="34" charset="-120"/>
              </a:rPr>
              <a:t>teks klinis panjang;</a:t>
            </a:r>
            <a:endParaRPr lang="en-US" sz="1450" dirty="0"/>
          </a:p>
          <a:p>
            <a:pPr marL="355600" lvl="1" indent="-177800">
              <a:lnSpc>
                <a:spcPct val="102000"/>
              </a:lnSpc>
              <a:spcAft>
                <a:spcPts val="600"/>
              </a:spcAft>
              <a:buSzPct val="100000"/>
              <a:buChar char="–"/>
            </a:pPr>
            <a:r>
              <a:rPr lang="en-US" sz="1450" dirty="0">
                <a:solidFill>
                  <a:srgbClr val="26313D"/>
                </a:solidFill>
                <a:latin typeface="Calibri" pitchFamily="34" charset="0"/>
                <a:ea typeface="Calibri" pitchFamily="34" charset="-122"/>
                <a:cs typeface="Calibri" pitchFamily="34" charset="-120"/>
              </a:rPr>
              <a:t>istilah atau field RME.</a:t>
            </a:r>
            <a:endParaRPr lang="en-US" sz="1450" dirty="0"/>
          </a:p>
          <a:p>
            <a:pPr marL="177800" indent="-177800">
              <a:lnSpc>
                <a:spcPct val="102000"/>
              </a:lnSpc>
              <a:spcAft>
                <a:spcPts val="600"/>
              </a:spcAft>
              <a:buSzPct val="100000"/>
              <a:buChar char="•"/>
            </a:pPr>
            <a:r>
              <a:rPr lang="en-US" sz="1450" dirty="0">
                <a:solidFill>
                  <a:srgbClr val="26313D"/>
                </a:solidFill>
                <a:latin typeface="Calibri" pitchFamily="34" charset="0"/>
                <a:ea typeface="Calibri" pitchFamily="34" charset="-122"/>
                <a:cs typeface="Calibri" pitchFamily="34" charset="-120"/>
              </a:rPr>
              <a:t>Target utama: SNOMED CT, LOINC, dan ICD-10.</a:t>
            </a:r>
            <a:endParaRPr lang="en-US" sz="1450" dirty="0"/>
          </a:p>
          <a:p>
            <a:pPr marL="177800" indent="-177800">
              <a:lnSpc>
                <a:spcPct val="102000"/>
              </a:lnSpc>
              <a:spcAft>
                <a:spcPts val="600"/>
              </a:spcAft>
              <a:buSzPct val="100000"/>
              <a:buChar char="•"/>
            </a:pPr>
            <a:r>
              <a:rPr lang="en-US" sz="1450" dirty="0">
                <a:solidFill>
                  <a:srgbClr val="26313D"/>
                </a:solidFill>
                <a:latin typeface="Calibri" pitchFamily="34" charset="0"/>
                <a:ea typeface="Calibri" pitchFamily="34" charset="-122"/>
                <a:cs typeface="Calibri" pitchFamily="34" charset="-120"/>
              </a:rPr>
              <a:t>Fokus penelitian: dukungan keputusan mapping, bukan pengganti ahli.</a:t>
            </a:r>
            <a:endParaRPr lang="en-US" sz="1450" dirty="0"/>
          </a:p>
          <a:p>
            <a:pPr marL="177800" indent="-177800">
              <a:lnSpc>
                <a:spcPct val="102000"/>
              </a:lnSpc>
              <a:spcAft>
                <a:spcPts val="600"/>
              </a:spcAft>
              <a:buSzPct val="100000"/>
              <a:buChar char="•"/>
            </a:pPr>
            <a:r>
              <a:rPr lang="en-US" sz="1450" dirty="0">
                <a:solidFill>
                  <a:srgbClr val="26313D"/>
                </a:solidFill>
                <a:latin typeface="Calibri" pitchFamily="34" charset="0"/>
                <a:ea typeface="Calibri" pitchFamily="34" charset="-122"/>
                <a:cs typeface="Calibri" pitchFamily="34" charset="-120"/>
              </a:rPr>
              <a:t>Data sensitif harus dianonimkan dan dikelola sesuai tata kelola penelitian.</a:t>
            </a:r>
            <a:endParaRPr lang="en-US" sz="1450" dirty="0"/>
          </a:p>
          <a:p>
            <a:pPr marL="177800" indent="-177800">
              <a:lnSpc>
                <a:spcPct val="102000"/>
              </a:lnSpc>
              <a:spcAft>
                <a:spcPts val="600"/>
              </a:spcAft>
              <a:buSzPct val="100000"/>
              <a:buChar char="•"/>
            </a:pPr>
            <a:r>
              <a:rPr lang="en-US" sz="1450" dirty="0">
                <a:solidFill>
                  <a:srgbClr val="26313D"/>
                </a:solidFill>
                <a:latin typeface="Calibri" pitchFamily="34" charset="0"/>
                <a:ea typeface="Calibri" pitchFamily="34" charset="-122"/>
                <a:cs typeface="Calibri" pitchFamily="34" charset="-120"/>
              </a:rPr>
              <a:t>Keluaran ber-confidence rendah diarahkan ke validasi manual.</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17</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METODE</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Lima Tahapan Penelitian dalam Proposal</a:t>
            </a:r>
            <a:endParaRPr lang="en-US" sz="2700" dirty="0"/>
          </a:p>
        </p:txBody>
      </p:sp>
      <p:sp>
        <p:nvSpPr>
          <p:cNvPr id="8" name="step number">
            <a:extLst>
              <a:ext uri="{C183D7F6-B498-43B3-948B-1728B52AA6E4}">
                <adec:decorative xmlns:adec="http://schemas.microsoft.com/office/drawing/2017/decorative" val="1"/>
              </a:ext>
            </a:extLst>
          </p:cNvPr>
          <p:cNvSpPr/>
          <p:nvPr/>
        </p:nvSpPr>
        <p:spPr>
          <a:xfrm>
            <a:off x="685800" y="1874520"/>
            <a:ext cx="566928" cy="566928"/>
          </a:xfrm>
          <a:prstGeom prst="ellipse">
            <a:avLst/>
          </a:prstGeom>
          <a:solidFill>
            <a:srgbClr val="0B3C6E"/>
          </a:solidFill>
          <a:ln/>
        </p:spPr>
        <p:txBody>
          <a:bodyPr/>
          <a:lstStyle/>
          <a:p>
            <a:endParaRPr lang="en-ID"/>
          </a:p>
        </p:txBody>
      </p:sp>
      <p:sp>
        <p:nvSpPr>
          <p:cNvPr id="9" name="Text 6"/>
          <p:cNvSpPr/>
          <p:nvPr/>
        </p:nvSpPr>
        <p:spPr>
          <a:xfrm>
            <a:off x="685800" y="1874520"/>
            <a:ext cx="566928" cy="566928"/>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10" name="step bar">
            <a:extLst>
              <a:ext uri="{C183D7F6-B498-43B3-948B-1728B52AA6E4}">
                <adec:decorative xmlns:adec="http://schemas.microsoft.com/office/drawing/2017/decorative" val="1"/>
              </a:ext>
            </a:extLst>
          </p:cNvPr>
          <p:cNvSpPr/>
          <p:nvPr/>
        </p:nvSpPr>
        <p:spPr>
          <a:xfrm>
            <a:off x="1463040" y="1874520"/>
            <a:ext cx="10058400" cy="566928"/>
          </a:xfrm>
          <a:prstGeom prst="roundRect">
            <a:avLst>
              <a:gd name="adj" fmla="val 8065"/>
            </a:avLst>
          </a:prstGeom>
          <a:solidFill>
            <a:srgbClr val="F1F5FA"/>
          </a:solidFill>
          <a:ln w="12700">
            <a:solidFill>
              <a:srgbClr val="D5E0EC"/>
            </a:solidFill>
            <a:prstDash val="solid"/>
          </a:ln>
        </p:spPr>
        <p:txBody>
          <a:bodyPr/>
          <a:lstStyle/>
          <a:p>
            <a:endParaRPr lang="en-ID"/>
          </a:p>
        </p:txBody>
      </p:sp>
      <p:sp>
        <p:nvSpPr>
          <p:cNvPr id="11" name="Text 8"/>
          <p:cNvSpPr/>
          <p:nvPr/>
        </p:nvSpPr>
        <p:spPr>
          <a:xfrm>
            <a:off x="1691640" y="1874520"/>
            <a:ext cx="9601200" cy="566928"/>
          </a:xfrm>
          <a:prstGeom prst="rect">
            <a:avLst/>
          </a:prstGeom>
          <a:noFill/>
          <a:ln/>
        </p:spPr>
        <p:txBody>
          <a:bodyPr wrap="square" rtlCol="0" anchor="ctr"/>
          <a:lstStyle/>
          <a:p>
            <a:pPr marL="0" indent="0">
              <a:buNone/>
            </a:pPr>
            <a:r>
              <a:rPr lang="en-US" sz="1500" b="1" dirty="0">
                <a:solidFill>
                  <a:srgbClr val="0B3C6E"/>
                </a:solidFill>
                <a:latin typeface="Calibri" pitchFamily="34" charset="0"/>
                <a:ea typeface="Calibri" pitchFamily="34" charset="-122"/>
                <a:cs typeface="Calibri" pitchFamily="34" charset="-120"/>
              </a:rPr>
              <a:t>Persiapan dan analisis</a:t>
            </a:r>
            <a:endParaRPr lang="en-US" sz="1500" dirty="0"/>
          </a:p>
        </p:txBody>
      </p:sp>
      <p:sp>
        <p:nvSpPr>
          <p:cNvPr id="12" name="step number">
            <a:extLst>
              <a:ext uri="{C183D7F6-B498-43B3-948B-1728B52AA6E4}">
                <adec:decorative xmlns:adec="http://schemas.microsoft.com/office/drawing/2017/decorative" val="1"/>
              </a:ext>
            </a:extLst>
          </p:cNvPr>
          <p:cNvSpPr/>
          <p:nvPr/>
        </p:nvSpPr>
        <p:spPr>
          <a:xfrm>
            <a:off x="685800" y="2624328"/>
            <a:ext cx="566928" cy="566928"/>
          </a:xfrm>
          <a:prstGeom prst="ellipse">
            <a:avLst/>
          </a:prstGeom>
          <a:solidFill>
            <a:srgbClr val="0B3C6E"/>
          </a:solidFill>
          <a:ln/>
        </p:spPr>
        <p:txBody>
          <a:bodyPr/>
          <a:lstStyle/>
          <a:p>
            <a:endParaRPr lang="en-ID"/>
          </a:p>
        </p:txBody>
      </p:sp>
      <p:sp>
        <p:nvSpPr>
          <p:cNvPr id="13" name="Text 10"/>
          <p:cNvSpPr/>
          <p:nvPr/>
        </p:nvSpPr>
        <p:spPr>
          <a:xfrm>
            <a:off x="685800" y="2624328"/>
            <a:ext cx="566928" cy="566928"/>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4" name="step bar">
            <a:extLst>
              <a:ext uri="{C183D7F6-B498-43B3-948B-1728B52AA6E4}">
                <adec:decorative xmlns:adec="http://schemas.microsoft.com/office/drawing/2017/decorative" val="1"/>
              </a:ext>
            </a:extLst>
          </p:cNvPr>
          <p:cNvSpPr/>
          <p:nvPr/>
        </p:nvSpPr>
        <p:spPr>
          <a:xfrm>
            <a:off x="1463040" y="2624328"/>
            <a:ext cx="10058400" cy="566928"/>
          </a:xfrm>
          <a:prstGeom prst="roundRect">
            <a:avLst>
              <a:gd name="adj" fmla="val 8065"/>
            </a:avLst>
          </a:prstGeom>
          <a:solidFill>
            <a:srgbClr val="F1F5FA"/>
          </a:solidFill>
          <a:ln w="12700">
            <a:solidFill>
              <a:srgbClr val="D5E0EC"/>
            </a:solidFill>
            <a:prstDash val="solid"/>
          </a:ln>
        </p:spPr>
        <p:txBody>
          <a:bodyPr/>
          <a:lstStyle/>
          <a:p>
            <a:endParaRPr lang="en-ID"/>
          </a:p>
        </p:txBody>
      </p:sp>
      <p:sp>
        <p:nvSpPr>
          <p:cNvPr id="15" name="Text 12"/>
          <p:cNvSpPr/>
          <p:nvPr/>
        </p:nvSpPr>
        <p:spPr>
          <a:xfrm>
            <a:off x="1691640" y="2624328"/>
            <a:ext cx="9601200" cy="566928"/>
          </a:xfrm>
          <a:prstGeom prst="rect">
            <a:avLst/>
          </a:prstGeom>
          <a:noFill/>
          <a:ln/>
        </p:spPr>
        <p:txBody>
          <a:bodyPr wrap="square" rtlCol="0" anchor="ctr"/>
          <a:lstStyle/>
          <a:p>
            <a:pPr marL="0" indent="0">
              <a:buNone/>
            </a:pPr>
            <a:r>
              <a:rPr lang="en-US" sz="1500" b="1" dirty="0">
                <a:solidFill>
                  <a:srgbClr val="0B3C6E"/>
                </a:solidFill>
                <a:latin typeface="Calibri" pitchFamily="34" charset="0"/>
                <a:ea typeface="Calibri" pitchFamily="34" charset="-122"/>
                <a:cs typeface="Calibri" pitchFamily="34" charset="-120"/>
              </a:rPr>
              <a:t>Perancangan dan pengembangan model</a:t>
            </a:r>
            <a:endParaRPr lang="en-US" sz="1500" dirty="0"/>
          </a:p>
        </p:txBody>
      </p:sp>
      <p:sp>
        <p:nvSpPr>
          <p:cNvPr id="16" name="step number">
            <a:extLst>
              <a:ext uri="{C183D7F6-B498-43B3-948B-1728B52AA6E4}">
                <adec:decorative xmlns:adec="http://schemas.microsoft.com/office/drawing/2017/decorative" val="1"/>
              </a:ext>
            </a:extLst>
          </p:cNvPr>
          <p:cNvSpPr/>
          <p:nvPr/>
        </p:nvSpPr>
        <p:spPr>
          <a:xfrm>
            <a:off x="685800" y="3374136"/>
            <a:ext cx="566928" cy="566928"/>
          </a:xfrm>
          <a:prstGeom prst="ellipse">
            <a:avLst/>
          </a:prstGeom>
          <a:solidFill>
            <a:srgbClr val="0B3C6E"/>
          </a:solidFill>
          <a:ln/>
        </p:spPr>
        <p:txBody>
          <a:bodyPr/>
          <a:lstStyle/>
          <a:p>
            <a:endParaRPr lang="en-ID"/>
          </a:p>
        </p:txBody>
      </p:sp>
      <p:sp>
        <p:nvSpPr>
          <p:cNvPr id="17" name="Text 14"/>
          <p:cNvSpPr/>
          <p:nvPr/>
        </p:nvSpPr>
        <p:spPr>
          <a:xfrm>
            <a:off x="685800" y="3374136"/>
            <a:ext cx="566928" cy="566928"/>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8" name="step bar">
            <a:extLst>
              <a:ext uri="{C183D7F6-B498-43B3-948B-1728B52AA6E4}">
                <adec:decorative xmlns:adec="http://schemas.microsoft.com/office/drawing/2017/decorative" val="1"/>
              </a:ext>
            </a:extLst>
          </p:cNvPr>
          <p:cNvSpPr/>
          <p:nvPr/>
        </p:nvSpPr>
        <p:spPr>
          <a:xfrm>
            <a:off x="1463040" y="3374136"/>
            <a:ext cx="10058400" cy="566928"/>
          </a:xfrm>
          <a:prstGeom prst="roundRect">
            <a:avLst>
              <a:gd name="adj" fmla="val 8065"/>
            </a:avLst>
          </a:prstGeom>
          <a:solidFill>
            <a:srgbClr val="F1F5FA"/>
          </a:solidFill>
          <a:ln w="12700">
            <a:solidFill>
              <a:srgbClr val="D5E0EC"/>
            </a:solidFill>
            <a:prstDash val="solid"/>
          </a:ln>
        </p:spPr>
        <p:txBody>
          <a:bodyPr/>
          <a:lstStyle/>
          <a:p>
            <a:endParaRPr lang="en-ID"/>
          </a:p>
        </p:txBody>
      </p:sp>
      <p:sp>
        <p:nvSpPr>
          <p:cNvPr id="19" name="Text 16"/>
          <p:cNvSpPr/>
          <p:nvPr/>
        </p:nvSpPr>
        <p:spPr>
          <a:xfrm>
            <a:off x="1691640" y="3374136"/>
            <a:ext cx="9601200" cy="566928"/>
          </a:xfrm>
          <a:prstGeom prst="rect">
            <a:avLst/>
          </a:prstGeom>
          <a:noFill/>
          <a:ln/>
        </p:spPr>
        <p:txBody>
          <a:bodyPr wrap="square" rtlCol="0" anchor="ctr"/>
          <a:lstStyle/>
          <a:p>
            <a:pPr marL="0" indent="0">
              <a:buNone/>
            </a:pPr>
            <a:r>
              <a:rPr lang="en-US" sz="1500" b="1" dirty="0">
                <a:solidFill>
                  <a:srgbClr val="0B3C6E"/>
                </a:solidFill>
                <a:latin typeface="Calibri" pitchFamily="34" charset="0"/>
                <a:ea typeface="Calibri" pitchFamily="34" charset="-122"/>
                <a:cs typeface="Calibri" pitchFamily="34" charset="-120"/>
              </a:rPr>
              <a:t>Implementasi inti model</a:t>
            </a:r>
            <a:endParaRPr lang="en-US" sz="1500" dirty="0"/>
          </a:p>
        </p:txBody>
      </p:sp>
      <p:sp>
        <p:nvSpPr>
          <p:cNvPr id="20" name="step number">
            <a:extLst>
              <a:ext uri="{C183D7F6-B498-43B3-948B-1728B52AA6E4}">
                <adec:decorative xmlns:adec="http://schemas.microsoft.com/office/drawing/2017/decorative" val="1"/>
              </a:ext>
            </a:extLst>
          </p:cNvPr>
          <p:cNvSpPr/>
          <p:nvPr/>
        </p:nvSpPr>
        <p:spPr>
          <a:xfrm>
            <a:off x="685800" y="4123944"/>
            <a:ext cx="566928" cy="566928"/>
          </a:xfrm>
          <a:prstGeom prst="ellipse">
            <a:avLst/>
          </a:prstGeom>
          <a:solidFill>
            <a:srgbClr val="0B3C6E"/>
          </a:solidFill>
          <a:ln/>
        </p:spPr>
        <p:txBody>
          <a:bodyPr/>
          <a:lstStyle/>
          <a:p>
            <a:endParaRPr lang="en-ID"/>
          </a:p>
        </p:txBody>
      </p:sp>
      <p:sp>
        <p:nvSpPr>
          <p:cNvPr id="21" name="Text 18"/>
          <p:cNvSpPr/>
          <p:nvPr/>
        </p:nvSpPr>
        <p:spPr>
          <a:xfrm>
            <a:off x="685800" y="4123944"/>
            <a:ext cx="566928" cy="566928"/>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4</a:t>
            </a:r>
            <a:endParaRPr lang="en-US" sz="2000" dirty="0"/>
          </a:p>
        </p:txBody>
      </p:sp>
      <p:sp>
        <p:nvSpPr>
          <p:cNvPr id="22" name="step bar">
            <a:extLst>
              <a:ext uri="{C183D7F6-B498-43B3-948B-1728B52AA6E4}">
                <adec:decorative xmlns:adec="http://schemas.microsoft.com/office/drawing/2017/decorative" val="1"/>
              </a:ext>
            </a:extLst>
          </p:cNvPr>
          <p:cNvSpPr/>
          <p:nvPr/>
        </p:nvSpPr>
        <p:spPr>
          <a:xfrm>
            <a:off x="1463040" y="4123944"/>
            <a:ext cx="10058400" cy="566928"/>
          </a:xfrm>
          <a:prstGeom prst="roundRect">
            <a:avLst>
              <a:gd name="adj" fmla="val 8065"/>
            </a:avLst>
          </a:prstGeom>
          <a:solidFill>
            <a:srgbClr val="F1F5FA"/>
          </a:solidFill>
          <a:ln w="12700">
            <a:solidFill>
              <a:srgbClr val="D5E0EC"/>
            </a:solidFill>
            <a:prstDash val="solid"/>
          </a:ln>
        </p:spPr>
        <p:txBody>
          <a:bodyPr/>
          <a:lstStyle/>
          <a:p>
            <a:endParaRPr lang="en-ID"/>
          </a:p>
        </p:txBody>
      </p:sp>
      <p:sp>
        <p:nvSpPr>
          <p:cNvPr id="23" name="Text 20"/>
          <p:cNvSpPr/>
          <p:nvPr/>
        </p:nvSpPr>
        <p:spPr>
          <a:xfrm>
            <a:off x="1691640" y="4123944"/>
            <a:ext cx="9601200" cy="566928"/>
          </a:xfrm>
          <a:prstGeom prst="rect">
            <a:avLst/>
          </a:prstGeom>
          <a:noFill/>
          <a:ln/>
        </p:spPr>
        <p:txBody>
          <a:bodyPr wrap="square" rtlCol="0" anchor="ctr"/>
          <a:lstStyle/>
          <a:p>
            <a:pPr marL="0" indent="0">
              <a:buNone/>
            </a:pPr>
            <a:r>
              <a:rPr lang="en-US" sz="1500" b="1" dirty="0">
                <a:solidFill>
                  <a:srgbClr val="0B3C6E"/>
                </a:solidFill>
                <a:latin typeface="Calibri" pitchFamily="34" charset="0"/>
                <a:ea typeface="Calibri" pitchFamily="34" charset="-122"/>
                <a:cs typeface="Calibri" pitchFamily="34" charset="-120"/>
              </a:rPr>
              <a:t>Evaluasi dan validasi</a:t>
            </a:r>
            <a:endParaRPr lang="en-US" sz="1500" dirty="0"/>
          </a:p>
        </p:txBody>
      </p:sp>
      <p:sp>
        <p:nvSpPr>
          <p:cNvPr id="24" name="step number">
            <a:extLst>
              <a:ext uri="{C183D7F6-B498-43B3-948B-1728B52AA6E4}">
                <adec:decorative xmlns:adec="http://schemas.microsoft.com/office/drawing/2017/decorative" val="1"/>
              </a:ext>
            </a:extLst>
          </p:cNvPr>
          <p:cNvSpPr/>
          <p:nvPr/>
        </p:nvSpPr>
        <p:spPr>
          <a:xfrm>
            <a:off x="685800" y="4873752"/>
            <a:ext cx="566928" cy="566928"/>
          </a:xfrm>
          <a:prstGeom prst="ellipse">
            <a:avLst/>
          </a:prstGeom>
          <a:solidFill>
            <a:srgbClr val="0B3C6E"/>
          </a:solidFill>
          <a:ln/>
        </p:spPr>
        <p:txBody>
          <a:bodyPr/>
          <a:lstStyle/>
          <a:p>
            <a:endParaRPr lang="en-ID"/>
          </a:p>
        </p:txBody>
      </p:sp>
      <p:sp>
        <p:nvSpPr>
          <p:cNvPr id="25" name="Text 22"/>
          <p:cNvSpPr/>
          <p:nvPr/>
        </p:nvSpPr>
        <p:spPr>
          <a:xfrm>
            <a:off x="685800" y="4873752"/>
            <a:ext cx="566928" cy="566928"/>
          </a:xfrm>
          <a:prstGeom prst="rect">
            <a:avLst/>
          </a:prstGeom>
          <a:noFill/>
          <a:ln/>
        </p:spPr>
        <p:txBody>
          <a:bodyPr wrap="square" rtlCol="0" anchor="ctr"/>
          <a:lstStyle/>
          <a:p>
            <a:pPr marL="0" indent="0" algn="ctr">
              <a:buNone/>
            </a:pPr>
            <a:r>
              <a:rPr lang="en-US" sz="2000" b="1" dirty="0">
                <a:solidFill>
                  <a:srgbClr val="FFFFFF"/>
                </a:solidFill>
                <a:latin typeface="Georgia" pitchFamily="34" charset="0"/>
                <a:ea typeface="Georgia" pitchFamily="34" charset="-122"/>
                <a:cs typeface="Georgia" pitchFamily="34" charset="-120"/>
              </a:rPr>
              <a:t>5</a:t>
            </a:r>
            <a:endParaRPr lang="en-US" sz="2000" dirty="0"/>
          </a:p>
        </p:txBody>
      </p:sp>
      <p:sp>
        <p:nvSpPr>
          <p:cNvPr id="26" name="step bar">
            <a:extLst>
              <a:ext uri="{C183D7F6-B498-43B3-948B-1728B52AA6E4}">
                <adec:decorative xmlns:adec="http://schemas.microsoft.com/office/drawing/2017/decorative" val="1"/>
              </a:ext>
            </a:extLst>
          </p:cNvPr>
          <p:cNvSpPr/>
          <p:nvPr/>
        </p:nvSpPr>
        <p:spPr>
          <a:xfrm>
            <a:off x="1463040" y="4873752"/>
            <a:ext cx="10058400" cy="566928"/>
          </a:xfrm>
          <a:prstGeom prst="roundRect">
            <a:avLst>
              <a:gd name="adj" fmla="val 8065"/>
            </a:avLst>
          </a:prstGeom>
          <a:solidFill>
            <a:srgbClr val="F1F5FA"/>
          </a:solidFill>
          <a:ln w="12700">
            <a:solidFill>
              <a:srgbClr val="D5E0EC"/>
            </a:solidFill>
            <a:prstDash val="solid"/>
          </a:ln>
        </p:spPr>
        <p:txBody>
          <a:bodyPr/>
          <a:lstStyle/>
          <a:p>
            <a:endParaRPr lang="en-ID"/>
          </a:p>
        </p:txBody>
      </p:sp>
      <p:sp>
        <p:nvSpPr>
          <p:cNvPr id="27" name="Text 24"/>
          <p:cNvSpPr/>
          <p:nvPr/>
        </p:nvSpPr>
        <p:spPr>
          <a:xfrm>
            <a:off x="1691640" y="4873752"/>
            <a:ext cx="9601200" cy="566928"/>
          </a:xfrm>
          <a:prstGeom prst="rect">
            <a:avLst/>
          </a:prstGeom>
          <a:noFill/>
          <a:ln/>
        </p:spPr>
        <p:txBody>
          <a:bodyPr wrap="square" rtlCol="0" anchor="ctr"/>
          <a:lstStyle/>
          <a:p>
            <a:pPr marL="0" indent="0">
              <a:buNone/>
            </a:pPr>
            <a:r>
              <a:rPr lang="en-US" sz="1500" b="1" dirty="0">
                <a:solidFill>
                  <a:srgbClr val="0B3C6E"/>
                </a:solidFill>
                <a:latin typeface="Calibri" pitchFamily="34" charset="0"/>
                <a:ea typeface="Calibri" pitchFamily="34" charset="-122"/>
                <a:cs typeface="Calibri" pitchFamily="34" charset="-120"/>
              </a:rPr>
              <a:t>Analisis dan dokumentasi</a:t>
            </a:r>
            <a:endParaRPr lang="en-US" sz="1500" dirty="0"/>
          </a:p>
        </p:txBody>
      </p:sp>
      <p:sp>
        <p:nvSpPr>
          <p:cNvPr id="28" name="callout background">
            <a:extLst>
              <a:ext uri="{C183D7F6-B498-43B3-948B-1728B52AA6E4}">
                <adec:decorative xmlns:adec="http://schemas.microsoft.com/office/drawing/2017/decorative" val="1"/>
              </a:ext>
            </a:extLst>
          </p:cNvPr>
          <p:cNvSpPr/>
          <p:nvPr/>
        </p:nvSpPr>
        <p:spPr>
          <a:xfrm>
            <a:off x="640080" y="5715000"/>
            <a:ext cx="10972800" cy="640080"/>
          </a:xfrm>
          <a:prstGeom prst="roundRect">
            <a:avLst>
              <a:gd name="adj" fmla="val 8571"/>
            </a:avLst>
          </a:prstGeom>
          <a:solidFill>
            <a:srgbClr val="F7EFD8"/>
          </a:solidFill>
          <a:ln/>
        </p:spPr>
        <p:txBody>
          <a:bodyPr/>
          <a:lstStyle/>
          <a:p>
            <a:endParaRPr lang="en-ID"/>
          </a:p>
        </p:txBody>
      </p:sp>
      <p:sp>
        <p:nvSpPr>
          <p:cNvPr id="29" name="Text 26"/>
          <p:cNvSpPr/>
          <p:nvPr/>
        </p:nvSpPr>
        <p:spPr>
          <a:xfrm>
            <a:off x="896112" y="5715000"/>
            <a:ext cx="10460736" cy="64008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Catatan:  </a:t>
            </a:r>
            <a:r>
              <a:rPr lang="en-US" sz="1350" dirty="0">
                <a:solidFill>
                  <a:srgbClr val="26313D"/>
                </a:solidFill>
                <a:latin typeface="Calibri" pitchFamily="34" charset="0"/>
                <a:ea typeface="Calibri" pitchFamily="34" charset="-122"/>
                <a:cs typeface="Calibri" pitchFamily="34" charset="-120"/>
              </a:rPr>
              <a:t>tahapan bersifat berurutan sekaligus iteratif.</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18</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ARSITEKTUR USULAN</a:t>
            </a:r>
            <a:endParaRPr lang="en-US" sz="1200" dirty="0"/>
          </a:p>
        </p:txBody>
      </p:sp>
      <p:sp>
        <p:nvSpPr>
          <p:cNvPr id="7" name="Text 0"/>
          <p:cNvSpPr>
            <a:spLocks noGrp="1"/>
          </p:cNvSpPr>
          <p:nvPr>
            <p:ph type="title" idx="100" hasCustomPrompt="1"/>
          </p:nvPr>
        </p:nvSpPr>
        <p:spPr>
          <a:xfrm>
            <a:off x="566928" y="786384"/>
            <a:ext cx="3469046" cy="2433828"/>
          </a:xfrm>
          <a:prstGeom prst="rect">
            <a:avLst/>
          </a:prstGeom>
          <a:noFill/>
          <a:ln/>
        </p:spPr>
        <p:txBody>
          <a:bodyPr wrap="square" lIns="0" tIns="0" rIns="0" bIns="0" rtlCol="0" anchor="t"/>
          <a:lstStyle/>
          <a:p>
            <a:pPr marL="0" indent="0" algn="l">
              <a:buNone/>
            </a:pPr>
            <a:r>
              <a:rPr lang="en-US" sz="2700" b="1" dirty="0" err="1">
                <a:solidFill>
                  <a:srgbClr val="0B3C6E"/>
                </a:solidFill>
                <a:latin typeface="Georgia" pitchFamily="34" charset="0"/>
                <a:ea typeface="Georgia" pitchFamily="34" charset="-122"/>
                <a:cs typeface="Georgia" pitchFamily="34" charset="-120"/>
              </a:rPr>
              <a:t>Usulan</a:t>
            </a:r>
            <a:r>
              <a:rPr lang="en-US" sz="2700" b="1" dirty="0">
                <a:solidFill>
                  <a:srgbClr val="0B3C6E"/>
                </a:solidFill>
                <a:latin typeface="Georgia" pitchFamily="34" charset="0"/>
                <a:ea typeface="Georgia" pitchFamily="34" charset="-122"/>
                <a:cs typeface="Georgia" pitchFamily="34" charset="-120"/>
              </a:rPr>
              <a:t> </a:t>
            </a:r>
            <a:r>
              <a:rPr lang="en-US" sz="2700" b="1" dirty="0" err="1">
                <a:solidFill>
                  <a:srgbClr val="0B3C6E"/>
                </a:solidFill>
                <a:latin typeface="Georgia" pitchFamily="34" charset="0"/>
                <a:ea typeface="Georgia" pitchFamily="34" charset="-122"/>
                <a:cs typeface="Georgia" pitchFamily="34" charset="-120"/>
              </a:rPr>
              <a:t>Penelitian</a:t>
            </a:r>
            <a:r>
              <a:rPr lang="en-US" sz="2700" b="1" dirty="0">
                <a:solidFill>
                  <a:srgbClr val="0B3C6E"/>
                </a:solidFill>
                <a:latin typeface="Georgia" pitchFamily="34" charset="0"/>
                <a:ea typeface="Georgia" pitchFamily="34" charset="-122"/>
                <a:cs typeface="Georgia" pitchFamily="34" charset="-120"/>
              </a:rPr>
              <a:t>: </a:t>
            </a:r>
            <a:r>
              <a:rPr lang="en-US" sz="2700" b="1" dirty="0" err="1">
                <a:solidFill>
                  <a:srgbClr val="0B3C6E"/>
                </a:solidFill>
                <a:latin typeface="Georgia" pitchFamily="34" charset="0"/>
                <a:ea typeface="Georgia" pitchFamily="34" charset="-122"/>
                <a:cs typeface="Georgia" pitchFamily="34" charset="-120"/>
              </a:rPr>
              <a:t>Arsitektur</a:t>
            </a:r>
            <a:r>
              <a:rPr lang="en-US" sz="2700" b="1" dirty="0">
                <a:solidFill>
                  <a:srgbClr val="0B3C6E"/>
                </a:solidFill>
                <a:latin typeface="Georgia" pitchFamily="34" charset="0"/>
                <a:ea typeface="Georgia" pitchFamily="34" charset="-122"/>
                <a:cs typeface="Georgia" pitchFamily="34" charset="-120"/>
              </a:rPr>
              <a:t> Baseline</a:t>
            </a:r>
            <a:endParaRPr lang="en-US" sz="2700" dirty="0"/>
          </a:p>
        </p:txBody>
      </p:sp>
      <p:pic>
        <p:nvPicPr>
          <p:cNvPr id="43" name="Picture 42">
            <a:extLst>
              <a:ext uri="{FF2B5EF4-FFF2-40B4-BE49-F238E27FC236}">
                <a16:creationId xmlns:a16="http://schemas.microsoft.com/office/drawing/2014/main" id="{1FE63D18-F7E2-7933-0719-D16703888F2C}"/>
              </a:ext>
            </a:extLst>
          </p:cNvPr>
          <p:cNvPicPr>
            <a:picLocks noChangeAspect="1"/>
          </p:cNvPicPr>
          <p:nvPr/>
        </p:nvPicPr>
        <p:blipFill>
          <a:blip r:embed="rId4"/>
          <a:stretch>
            <a:fillRect/>
          </a:stretch>
        </p:blipFill>
        <p:spPr>
          <a:xfrm>
            <a:off x="4380868" y="310896"/>
            <a:ext cx="7225916" cy="6071616"/>
          </a:xfrm>
          <a:prstGeom prst="rect">
            <a:avLst/>
          </a:prstGeom>
        </p:spPr>
      </p:pic>
      <p:sp>
        <p:nvSpPr>
          <p:cNvPr id="45" name="callout background">
            <a:extLst>
              <a:ext uri="{FF2B5EF4-FFF2-40B4-BE49-F238E27FC236}">
                <a16:creationId xmlns:a16="http://schemas.microsoft.com/office/drawing/2014/main" id="{C7EC6EB4-ACF8-DE17-875A-7E4A94A12EA2}"/>
              </a:ext>
              <a:ext uri="{C183D7F6-B498-43B3-948B-1728B52AA6E4}">
                <adec:decorative xmlns:adec="http://schemas.microsoft.com/office/drawing/2017/decorative" val="1"/>
              </a:ext>
            </a:extLst>
          </p:cNvPr>
          <p:cNvSpPr/>
          <p:nvPr/>
        </p:nvSpPr>
        <p:spPr>
          <a:xfrm>
            <a:off x="890016" y="3429000"/>
            <a:ext cx="1916684" cy="2433828"/>
          </a:xfrm>
          <a:prstGeom prst="roundRect">
            <a:avLst>
              <a:gd name="adj" fmla="val 6000"/>
            </a:avLst>
          </a:prstGeom>
          <a:solidFill>
            <a:srgbClr val="F7EFD8"/>
          </a:solidFill>
          <a:ln/>
        </p:spPr>
        <p:txBody>
          <a:bodyPr/>
          <a:lstStyle/>
          <a:p>
            <a:endParaRPr lang="en-ID"/>
          </a:p>
        </p:txBody>
      </p:sp>
      <p:sp>
        <p:nvSpPr>
          <p:cNvPr id="47" name="Text 7">
            <a:extLst>
              <a:ext uri="{FF2B5EF4-FFF2-40B4-BE49-F238E27FC236}">
                <a16:creationId xmlns:a16="http://schemas.microsoft.com/office/drawing/2014/main" id="{D4F02845-F376-61B0-86FB-8F7D8EF6CB61}"/>
              </a:ext>
            </a:extLst>
          </p:cNvPr>
          <p:cNvSpPr/>
          <p:nvPr/>
        </p:nvSpPr>
        <p:spPr>
          <a:xfrm>
            <a:off x="1146048" y="3429000"/>
            <a:ext cx="1827239" cy="2433828"/>
          </a:xfrm>
          <a:prstGeom prst="rect">
            <a:avLst/>
          </a:prstGeom>
          <a:noFill/>
          <a:ln/>
        </p:spPr>
        <p:txBody>
          <a:bodyPr wrap="square" rtlCol="0" anchor="ctr"/>
          <a:lstStyle/>
          <a:p>
            <a:r>
              <a:rPr lang="en-US" sz="1400" dirty="0"/>
              <a:t>Reff: </a:t>
            </a:r>
            <a:r>
              <a:rPr lang="en-ID" sz="1400" dirty="0"/>
              <a:t>Gilani, K., et al. (2025). CDE-Mapper: Using retrieval-augmented language models for linking clinical data elements to controlled vocabularies. </a:t>
            </a:r>
            <a:r>
              <a:rPr lang="en-ID" sz="1400" i="1" dirty="0"/>
              <a:t>Computers in Biology and Medicine, 196</a:t>
            </a:r>
            <a:r>
              <a:rPr lang="en-ID" sz="1400" dirty="0"/>
              <a:t>, 110745.</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6A142-8742-8080-F8E0-6160F1789420}"/>
            </a:ext>
          </a:extLst>
        </p:cNvPr>
        <p:cNvGrpSpPr/>
        <p:nvPr/>
      </p:nvGrpSpPr>
      <p:grpSpPr>
        <a:xfrm>
          <a:off x="0" y="0"/>
          <a:ext cx="0" cy="0"/>
          <a:chOff x="0" y="0"/>
          <a:chExt cx="0" cy="0"/>
        </a:xfrm>
      </p:grpSpPr>
      <p:pic>
        <p:nvPicPr>
          <p:cNvPr id="2" name="Image 0" descr="Logo Universitas Gadjah Mada">
            <a:extLst>
              <a:ext uri="{FF2B5EF4-FFF2-40B4-BE49-F238E27FC236}">
                <a16:creationId xmlns:a16="http://schemas.microsoft.com/office/drawing/2014/main" id="{581148D6-F201-3F23-AECE-58B03A93ADCC}"/>
              </a:ext>
            </a:extLst>
          </p:cNvPr>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FF2B5EF4-FFF2-40B4-BE49-F238E27FC236}">
                <a16:creationId xmlns:a16="http://schemas.microsoft.com/office/drawing/2014/main" id="{6DB59737-8710-8465-F72D-308C9CA7B008}"/>
              </a:ex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a:extLst>
              <a:ext uri="{FF2B5EF4-FFF2-40B4-BE49-F238E27FC236}">
                <a16:creationId xmlns:a16="http://schemas.microsoft.com/office/drawing/2014/main" id="{A1C5249F-1874-1A06-01AD-E70024BC85CF}"/>
              </a:ext>
            </a:extLst>
          </p:cNvPr>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a:extLst>
              <a:ext uri="{FF2B5EF4-FFF2-40B4-BE49-F238E27FC236}">
                <a16:creationId xmlns:a16="http://schemas.microsoft.com/office/drawing/2014/main" id="{66158630-D0F0-BF98-91A1-CA858DC77F3F}"/>
              </a:ext>
            </a:extLst>
          </p:cNvPr>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18</a:t>
            </a:r>
            <a:endParaRPr lang="en-US" sz="900" dirty="0"/>
          </a:p>
        </p:txBody>
      </p:sp>
      <p:sp>
        <p:nvSpPr>
          <p:cNvPr id="6" name="Text 3">
            <a:extLst>
              <a:ext uri="{FF2B5EF4-FFF2-40B4-BE49-F238E27FC236}">
                <a16:creationId xmlns:a16="http://schemas.microsoft.com/office/drawing/2014/main" id="{CE128CE6-54CF-F6F8-C863-10644FBA21FF}"/>
              </a:ext>
            </a:extLst>
          </p:cNvPr>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ARSITEKTUR USULAN</a:t>
            </a:r>
            <a:endParaRPr lang="en-US" sz="1200" dirty="0"/>
          </a:p>
        </p:txBody>
      </p:sp>
      <p:sp>
        <p:nvSpPr>
          <p:cNvPr id="7" name="Text 0">
            <a:extLst>
              <a:ext uri="{FF2B5EF4-FFF2-40B4-BE49-F238E27FC236}">
                <a16:creationId xmlns:a16="http://schemas.microsoft.com/office/drawing/2014/main" id="{4DE48288-1FD9-416D-0FAE-5BABB55A5F3F}"/>
              </a:ext>
            </a:extLst>
          </p:cNvPr>
          <p:cNvSpPr>
            <a:spLocks noGrp="1"/>
          </p:cNvSpPr>
          <p:nvPr>
            <p:ph type="title" idx="100" hasCustomPrompt="1"/>
          </p:nvPr>
        </p:nvSpPr>
        <p:spPr>
          <a:xfrm>
            <a:off x="566928" y="786384"/>
            <a:ext cx="3469046" cy="2433828"/>
          </a:xfrm>
          <a:prstGeom prst="rect">
            <a:avLst/>
          </a:prstGeom>
          <a:noFill/>
          <a:ln/>
        </p:spPr>
        <p:txBody>
          <a:bodyPr wrap="square" lIns="0" tIns="0" rIns="0" bIns="0" rtlCol="0" anchor="t"/>
          <a:lstStyle/>
          <a:p>
            <a:pPr marL="0" indent="0" algn="l">
              <a:buNone/>
            </a:pPr>
            <a:r>
              <a:rPr lang="en-US" sz="2700" b="1" dirty="0" err="1">
                <a:solidFill>
                  <a:srgbClr val="0B3C6E"/>
                </a:solidFill>
                <a:latin typeface="Georgia" pitchFamily="34" charset="0"/>
                <a:ea typeface="Georgia" pitchFamily="34" charset="-122"/>
                <a:cs typeface="Georgia" pitchFamily="34" charset="-120"/>
              </a:rPr>
              <a:t>Usulan</a:t>
            </a:r>
            <a:r>
              <a:rPr lang="en-US" sz="2700" b="1" dirty="0">
                <a:solidFill>
                  <a:srgbClr val="0B3C6E"/>
                </a:solidFill>
                <a:latin typeface="Georgia" pitchFamily="34" charset="0"/>
                <a:ea typeface="Georgia" pitchFamily="34" charset="-122"/>
                <a:cs typeface="Georgia" pitchFamily="34" charset="-120"/>
              </a:rPr>
              <a:t> </a:t>
            </a:r>
            <a:r>
              <a:rPr lang="en-US" sz="2700" b="1" dirty="0" err="1">
                <a:solidFill>
                  <a:srgbClr val="0B3C6E"/>
                </a:solidFill>
                <a:latin typeface="Georgia" pitchFamily="34" charset="0"/>
                <a:ea typeface="Georgia" pitchFamily="34" charset="-122"/>
                <a:cs typeface="Georgia" pitchFamily="34" charset="-120"/>
              </a:rPr>
              <a:t>Penelitian</a:t>
            </a:r>
            <a:r>
              <a:rPr lang="en-US" sz="2700" b="1" dirty="0">
                <a:solidFill>
                  <a:srgbClr val="0B3C6E"/>
                </a:solidFill>
                <a:latin typeface="Georgia" pitchFamily="34" charset="0"/>
                <a:ea typeface="Georgia" pitchFamily="34" charset="-122"/>
                <a:cs typeface="Georgia" pitchFamily="34" charset="-120"/>
              </a:rPr>
              <a:t>: </a:t>
            </a:r>
            <a:r>
              <a:rPr lang="en-US" sz="2700" b="1" dirty="0" err="1">
                <a:solidFill>
                  <a:srgbClr val="0B3C6E"/>
                </a:solidFill>
                <a:latin typeface="Georgia" pitchFamily="34" charset="0"/>
                <a:ea typeface="Georgia" pitchFamily="34" charset="-122"/>
                <a:cs typeface="Georgia" pitchFamily="34" charset="-120"/>
              </a:rPr>
              <a:t>Arsitektur</a:t>
            </a:r>
            <a:r>
              <a:rPr lang="en-US" sz="2700" b="1" dirty="0">
                <a:solidFill>
                  <a:srgbClr val="0B3C6E"/>
                </a:solidFill>
                <a:latin typeface="Georgia" pitchFamily="34" charset="0"/>
                <a:ea typeface="Georgia" pitchFamily="34" charset="-122"/>
                <a:cs typeface="Georgia" pitchFamily="34" charset="-120"/>
              </a:rPr>
              <a:t> </a:t>
            </a:r>
            <a:r>
              <a:rPr lang="en-US" sz="2700" b="1" dirty="0" err="1">
                <a:solidFill>
                  <a:srgbClr val="0B3C6E"/>
                </a:solidFill>
                <a:latin typeface="Georgia" pitchFamily="34" charset="0"/>
                <a:ea typeface="Georgia" pitchFamily="34" charset="-122"/>
                <a:cs typeface="Georgia" pitchFamily="34" charset="-120"/>
              </a:rPr>
              <a:t>Usulan</a:t>
            </a:r>
            <a:endParaRPr lang="en-US" sz="2700" dirty="0"/>
          </a:p>
        </p:txBody>
      </p:sp>
      <p:pic>
        <p:nvPicPr>
          <p:cNvPr id="9" name="Picture 8">
            <a:extLst>
              <a:ext uri="{FF2B5EF4-FFF2-40B4-BE49-F238E27FC236}">
                <a16:creationId xmlns:a16="http://schemas.microsoft.com/office/drawing/2014/main" id="{0C2A9676-7C5A-7277-C646-3F45A4229A4B}"/>
              </a:ext>
            </a:extLst>
          </p:cNvPr>
          <p:cNvPicPr>
            <a:picLocks noChangeAspect="1"/>
          </p:cNvPicPr>
          <p:nvPr/>
        </p:nvPicPr>
        <p:blipFill>
          <a:blip r:embed="rId4"/>
          <a:stretch>
            <a:fillRect/>
          </a:stretch>
        </p:blipFill>
        <p:spPr>
          <a:xfrm>
            <a:off x="4171871" y="192024"/>
            <a:ext cx="5488198" cy="6492240"/>
          </a:xfrm>
          <a:prstGeom prst="rect">
            <a:avLst/>
          </a:prstGeom>
        </p:spPr>
      </p:pic>
    </p:spTree>
    <p:extLst>
      <p:ext uri="{BB962C8B-B14F-4D97-AF65-F5344CB8AC3E}">
        <p14:creationId xmlns:p14="http://schemas.microsoft.com/office/powerpoint/2010/main" val="10069813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20</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ILUSTRASI</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Contoh Alur End-to-End</a:t>
            </a:r>
            <a:endParaRPr lang="en-US" sz="2700" dirty="0"/>
          </a:p>
        </p:txBody>
      </p:sp>
      <p:sp>
        <p:nvSpPr>
          <p:cNvPr id="8" name="stage tag bg">
            <a:extLst>
              <a:ext uri="{C183D7F6-B498-43B3-948B-1728B52AA6E4}">
                <adec:decorative xmlns:adec="http://schemas.microsoft.com/office/drawing/2017/decorative" val="1"/>
              </a:ext>
            </a:extLst>
          </p:cNvPr>
          <p:cNvSpPr/>
          <p:nvPr/>
        </p:nvSpPr>
        <p:spPr>
          <a:xfrm>
            <a:off x="640080" y="1828800"/>
            <a:ext cx="2194560" cy="841248"/>
          </a:xfrm>
          <a:prstGeom prst="rect">
            <a:avLst/>
          </a:prstGeom>
          <a:solidFill>
            <a:srgbClr val="0B3C6E"/>
          </a:solidFill>
          <a:ln/>
        </p:spPr>
        <p:txBody>
          <a:bodyPr/>
          <a:lstStyle/>
          <a:p>
            <a:endParaRPr lang="en-ID"/>
          </a:p>
        </p:txBody>
      </p:sp>
      <p:sp>
        <p:nvSpPr>
          <p:cNvPr id="9" name="Text 6"/>
          <p:cNvSpPr/>
          <p:nvPr/>
        </p:nvSpPr>
        <p:spPr>
          <a:xfrm>
            <a:off x="640080" y="1828800"/>
            <a:ext cx="2194560" cy="841248"/>
          </a:xfrm>
          <a:prstGeom prst="rect">
            <a:avLst/>
          </a:prstGeom>
          <a:noFill/>
          <a:ln/>
        </p:spPr>
        <p:txBody>
          <a:bodyPr wrap="square"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MASUKAN</a:t>
            </a:r>
            <a:endParaRPr lang="en-US" sz="1300" dirty="0"/>
          </a:p>
        </p:txBody>
      </p:sp>
      <p:sp>
        <p:nvSpPr>
          <p:cNvPr id="10" name="stage body bg">
            <a:extLst>
              <a:ext uri="{C183D7F6-B498-43B3-948B-1728B52AA6E4}">
                <adec:decorative xmlns:adec="http://schemas.microsoft.com/office/drawing/2017/decorative" val="1"/>
              </a:ext>
            </a:extLst>
          </p:cNvPr>
          <p:cNvSpPr/>
          <p:nvPr/>
        </p:nvSpPr>
        <p:spPr>
          <a:xfrm>
            <a:off x="2834640" y="1828800"/>
            <a:ext cx="8714232" cy="841248"/>
          </a:xfrm>
          <a:prstGeom prst="rect">
            <a:avLst/>
          </a:prstGeom>
          <a:solidFill>
            <a:srgbClr val="F1F5FA"/>
          </a:solidFill>
          <a:ln w="12700">
            <a:solidFill>
              <a:srgbClr val="D5E0EC"/>
            </a:solidFill>
            <a:prstDash val="solid"/>
          </a:ln>
        </p:spPr>
        <p:txBody>
          <a:bodyPr/>
          <a:lstStyle/>
          <a:p>
            <a:endParaRPr lang="en-ID"/>
          </a:p>
        </p:txBody>
      </p:sp>
      <p:sp>
        <p:nvSpPr>
          <p:cNvPr id="11" name="Text 8"/>
          <p:cNvSpPr/>
          <p:nvPr/>
        </p:nvSpPr>
        <p:spPr>
          <a:xfrm>
            <a:off x="3063240" y="1828800"/>
            <a:ext cx="8321040" cy="841248"/>
          </a:xfrm>
          <a:prstGeom prst="rect">
            <a:avLst/>
          </a:prstGeom>
          <a:noFill/>
          <a:ln/>
        </p:spPr>
        <p:txBody>
          <a:bodyPr wrap="square" rtlCol="0" anchor="ctr"/>
          <a:lstStyle/>
          <a:p>
            <a:pPr marL="0" indent="0">
              <a:lnSpc>
                <a:spcPct val="100000"/>
              </a:lnSpc>
              <a:buNone/>
            </a:pPr>
            <a:r>
              <a:rPr lang="en-US" sz="1350" dirty="0">
                <a:solidFill>
                  <a:srgbClr val="26313D"/>
                </a:solidFill>
                <a:latin typeface="Calibri" pitchFamily="34" charset="0"/>
                <a:ea typeface="Calibri" pitchFamily="34" charset="-122"/>
                <a:cs typeface="Calibri" pitchFamily="34" charset="-120"/>
              </a:rPr>
              <a:t>Px dgn DM tipe 2, GDP 126 mg/dL, TD 150/90</a:t>
            </a:r>
            <a:endParaRPr lang="en-US" sz="1350" dirty="0"/>
          </a:p>
        </p:txBody>
      </p:sp>
      <p:sp>
        <p:nvSpPr>
          <p:cNvPr id="12" name="Text 9"/>
          <p:cNvSpPr/>
          <p:nvPr/>
        </p:nvSpPr>
        <p:spPr>
          <a:xfrm>
            <a:off x="1463040" y="2642616"/>
            <a:ext cx="548640" cy="182880"/>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13" name="stage tag bg">
            <a:extLst>
              <a:ext uri="{C183D7F6-B498-43B3-948B-1728B52AA6E4}">
                <adec:decorative xmlns:adec="http://schemas.microsoft.com/office/drawing/2017/decorative" val="1"/>
              </a:ext>
            </a:extLst>
          </p:cNvPr>
          <p:cNvSpPr/>
          <p:nvPr/>
        </p:nvSpPr>
        <p:spPr>
          <a:xfrm>
            <a:off x="640080" y="2834640"/>
            <a:ext cx="2194560" cy="841248"/>
          </a:xfrm>
          <a:prstGeom prst="rect">
            <a:avLst/>
          </a:prstGeom>
          <a:solidFill>
            <a:srgbClr val="0B3C6E"/>
          </a:solidFill>
          <a:ln/>
        </p:spPr>
        <p:txBody>
          <a:bodyPr/>
          <a:lstStyle/>
          <a:p>
            <a:endParaRPr lang="en-ID"/>
          </a:p>
        </p:txBody>
      </p:sp>
      <p:sp>
        <p:nvSpPr>
          <p:cNvPr id="14" name="Text 11"/>
          <p:cNvSpPr/>
          <p:nvPr/>
        </p:nvSpPr>
        <p:spPr>
          <a:xfrm>
            <a:off x="640080" y="2834640"/>
            <a:ext cx="2194560" cy="841248"/>
          </a:xfrm>
          <a:prstGeom prst="rect">
            <a:avLst/>
          </a:prstGeom>
          <a:noFill/>
          <a:ln/>
        </p:spPr>
        <p:txBody>
          <a:bodyPr wrap="square"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NORMALISASI</a:t>
            </a:r>
            <a:endParaRPr lang="en-US" sz="1300" dirty="0"/>
          </a:p>
        </p:txBody>
      </p:sp>
      <p:sp>
        <p:nvSpPr>
          <p:cNvPr id="15" name="stage body bg">
            <a:extLst>
              <a:ext uri="{C183D7F6-B498-43B3-948B-1728B52AA6E4}">
                <adec:decorative xmlns:adec="http://schemas.microsoft.com/office/drawing/2017/decorative" val="1"/>
              </a:ext>
            </a:extLst>
          </p:cNvPr>
          <p:cNvSpPr/>
          <p:nvPr/>
        </p:nvSpPr>
        <p:spPr>
          <a:xfrm>
            <a:off x="2834640" y="2834640"/>
            <a:ext cx="8714232" cy="841248"/>
          </a:xfrm>
          <a:prstGeom prst="rect">
            <a:avLst/>
          </a:prstGeom>
          <a:solidFill>
            <a:srgbClr val="F1F5FA"/>
          </a:solidFill>
          <a:ln w="12700">
            <a:solidFill>
              <a:srgbClr val="D5E0EC"/>
            </a:solidFill>
            <a:prstDash val="solid"/>
          </a:ln>
        </p:spPr>
        <p:txBody>
          <a:bodyPr/>
          <a:lstStyle/>
          <a:p>
            <a:endParaRPr lang="en-ID"/>
          </a:p>
        </p:txBody>
      </p:sp>
      <p:sp>
        <p:nvSpPr>
          <p:cNvPr id="16" name="Text 13"/>
          <p:cNvSpPr/>
          <p:nvPr/>
        </p:nvSpPr>
        <p:spPr>
          <a:xfrm>
            <a:off x="3063240" y="2834640"/>
            <a:ext cx="8321040" cy="841248"/>
          </a:xfrm>
          <a:prstGeom prst="rect">
            <a:avLst/>
          </a:prstGeom>
          <a:noFill/>
          <a:ln/>
        </p:spPr>
        <p:txBody>
          <a:bodyPr wrap="square" rtlCol="0" anchor="ctr"/>
          <a:lstStyle/>
          <a:p>
            <a:pPr marL="0" indent="0">
              <a:lnSpc>
                <a:spcPct val="100000"/>
              </a:lnSpc>
              <a:buNone/>
            </a:pPr>
            <a:r>
              <a:rPr lang="en-US" sz="1350" dirty="0">
                <a:solidFill>
                  <a:srgbClr val="26313D"/>
                </a:solidFill>
                <a:latin typeface="Calibri" pitchFamily="34" charset="0"/>
                <a:ea typeface="Calibri" pitchFamily="34" charset="-122"/>
                <a:cs typeface="Calibri" pitchFamily="34" charset="-120"/>
              </a:rPr>
              <a:t>pasien dengan diabetes melitus tipe 2, gula darah puasa 126 mg/dL, tekanan darah 150/90</a:t>
            </a:r>
            <a:endParaRPr lang="en-US" sz="1350" dirty="0"/>
          </a:p>
        </p:txBody>
      </p:sp>
      <p:sp>
        <p:nvSpPr>
          <p:cNvPr id="17" name="Text 14"/>
          <p:cNvSpPr/>
          <p:nvPr/>
        </p:nvSpPr>
        <p:spPr>
          <a:xfrm>
            <a:off x="1463040" y="3648456"/>
            <a:ext cx="548640" cy="182880"/>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18" name="stage tag bg">
            <a:extLst>
              <a:ext uri="{C183D7F6-B498-43B3-948B-1728B52AA6E4}">
                <adec:decorative xmlns:adec="http://schemas.microsoft.com/office/drawing/2017/decorative" val="1"/>
              </a:ext>
            </a:extLst>
          </p:cNvPr>
          <p:cNvSpPr/>
          <p:nvPr/>
        </p:nvSpPr>
        <p:spPr>
          <a:xfrm>
            <a:off x="640080" y="3840480"/>
            <a:ext cx="2194560" cy="841248"/>
          </a:xfrm>
          <a:prstGeom prst="rect">
            <a:avLst/>
          </a:prstGeom>
          <a:solidFill>
            <a:srgbClr val="0B3C6E"/>
          </a:solidFill>
          <a:ln/>
        </p:spPr>
        <p:txBody>
          <a:bodyPr/>
          <a:lstStyle/>
          <a:p>
            <a:endParaRPr lang="en-ID"/>
          </a:p>
        </p:txBody>
      </p:sp>
      <p:sp>
        <p:nvSpPr>
          <p:cNvPr id="19" name="Text 16"/>
          <p:cNvSpPr/>
          <p:nvPr/>
        </p:nvSpPr>
        <p:spPr>
          <a:xfrm>
            <a:off x="640080" y="3840480"/>
            <a:ext cx="2194560" cy="841248"/>
          </a:xfrm>
          <a:prstGeom prst="rect">
            <a:avLst/>
          </a:prstGeom>
          <a:noFill/>
          <a:ln/>
        </p:spPr>
        <p:txBody>
          <a:bodyPr wrap="square"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ENTITAS</a:t>
            </a:r>
            <a:endParaRPr lang="en-US" sz="1300" dirty="0"/>
          </a:p>
        </p:txBody>
      </p:sp>
      <p:sp>
        <p:nvSpPr>
          <p:cNvPr id="20" name="stage body bg">
            <a:extLst>
              <a:ext uri="{C183D7F6-B498-43B3-948B-1728B52AA6E4}">
                <adec:decorative xmlns:adec="http://schemas.microsoft.com/office/drawing/2017/decorative" val="1"/>
              </a:ext>
            </a:extLst>
          </p:cNvPr>
          <p:cNvSpPr/>
          <p:nvPr/>
        </p:nvSpPr>
        <p:spPr>
          <a:xfrm>
            <a:off x="2834640" y="3840480"/>
            <a:ext cx="8714232" cy="841248"/>
          </a:xfrm>
          <a:prstGeom prst="rect">
            <a:avLst/>
          </a:prstGeom>
          <a:solidFill>
            <a:srgbClr val="F1F5FA"/>
          </a:solidFill>
          <a:ln w="12700">
            <a:solidFill>
              <a:srgbClr val="D5E0EC"/>
            </a:solidFill>
            <a:prstDash val="solid"/>
          </a:ln>
        </p:spPr>
        <p:txBody>
          <a:bodyPr/>
          <a:lstStyle/>
          <a:p>
            <a:endParaRPr lang="en-ID"/>
          </a:p>
        </p:txBody>
      </p:sp>
      <p:sp>
        <p:nvSpPr>
          <p:cNvPr id="21" name="Text 18"/>
          <p:cNvSpPr/>
          <p:nvPr/>
        </p:nvSpPr>
        <p:spPr>
          <a:xfrm>
            <a:off x="3063240" y="3840480"/>
            <a:ext cx="8321040" cy="841248"/>
          </a:xfrm>
          <a:prstGeom prst="rect">
            <a:avLst/>
          </a:prstGeom>
          <a:noFill/>
          <a:ln/>
        </p:spPr>
        <p:txBody>
          <a:bodyPr wrap="square" rtlCol="0" anchor="ctr"/>
          <a:lstStyle/>
          <a:p>
            <a:pPr marL="0" indent="0">
              <a:lnSpc>
                <a:spcPct val="100000"/>
              </a:lnSpc>
              <a:buNone/>
            </a:pPr>
            <a:r>
              <a:rPr lang="en-US" sz="1350" dirty="0">
                <a:solidFill>
                  <a:srgbClr val="26313D"/>
                </a:solidFill>
                <a:latin typeface="Calibri" pitchFamily="34" charset="0"/>
                <a:ea typeface="Calibri" pitchFamily="34" charset="-122"/>
                <a:cs typeface="Calibri" pitchFamily="34" charset="-120"/>
              </a:rPr>
              <a:t>diabetes melitus tipe 2  •  gula darah puasa 126 mg/dL  •  tekanan darah 150/90</a:t>
            </a:r>
            <a:endParaRPr lang="en-US" sz="1350" dirty="0"/>
          </a:p>
        </p:txBody>
      </p:sp>
      <p:sp>
        <p:nvSpPr>
          <p:cNvPr id="22" name="Text 19"/>
          <p:cNvSpPr/>
          <p:nvPr/>
        </p:nvSpPr>
        <p:spPr>
          <a:xfrm>
            <a:off x="1463040" y="4654296"/>
            <a:ext cx="548640" cy="182880"/>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23" name="stage tag bg">
            <a:extLst>
              <a:ext uri="{C183D7F6-B498-43B3-948B-1728B52AA6E4}">
                <adec:decorative xmlns:adec="http://schemas.microsoft.com/office/drawing/2017/decorative" val="1"/>
              </a:ext>
            </a:extLst>
          </p:cNvPr>
          <p:cNvSpPr/>
          <p:nvPr/>
        </p:nvSpPr>
        <p:spPr>
          <a:xfrm>
            <a:off x="640080" y="4846320"/>
            <a:ext cx="2194560" cy="841248"/>
          </a:xfrm>
          <a:prstGeom prst="rect">
            <a:avLst/>
          </a:prstGeom>
          <a:solidFill>
            <a:srgbClr val="0B3C6E"/>
          </a:solidFill>
          <a:ln/>
        </p:spPr>
        <p:txBody>
          <a:bodyPr/>
          <a:lstStyle/>
          <a:p>
            <a:endParaRPr lang="en-ID"/>
          </a:p>
        </p:txBody>
      </p:sp>
      <p:sp>
        <p:nvSpPr>
          <p:cNvPr id="24" name="Text 21"/>
          <p:cNvSpPr/>
          <p:nvPr/>
        </p:nvSpPr>
        <p:spPr>
          <a:xfrm>
            <a:off x="640080" y="4846320"/>
            <a:ext cx="2194560" cy="841248"/>
          </a:xfrm>
          <a:prstGeom prst="rect">
            <a:avLst/>
          </a:prstGeom>
          <a:noFill/>
          <a:ln/>
        </p:spPr>
        <p:txBody>
          <a:bodyPr wrap="square" rtlCol="0" anchor="ctr"/>
          <a:lstStyle/>
          <a:p>
            <a:pPr marL="0" indent="0" algn="ctr">
              <a:buNone/>
            </a:pPr>
            <a:r>
              <a:rPr lang="en-US" sz="1300" b="1" kern="0" spc="100" dirty="0">
                <a:solidFill>
                  <a:srgbClr val="FFFFFF"/>
                </a:solidFill>
                <a:latin typeface="Calibri" pitchFamily="34" charset="0"/>
                <a:ea typeface="Calibri" pitchFamily="34" charset="-122"/>
                <a:cs typeface="Calibri" pitchFamily="34" charset="-120"/>
              </a:rPr>
              <a:t>ROUTING</a:t>
            </a:r>
            <a:endParaRPr lang="en-US" sz="1300" dirty="0"/>
          </a:p>
        </p:txBody>
      </p:sp>
      <p:sp>
        <p:nvSpPr>
          <p:cNvPr id="25" name="stage body bg">
            <a:extLst>
              <a:ext uri="{C183D7F6-B498-43B3-948B-1728B52AA6E4}">
                <adec:decorative xmlns:adec="http://schemas.microsoft.com/office/drawing/2017/decorative" val="1"/>
              </a:ext>
            </a:extLst>
          </p:cNvPr>
          <p:cNvSpPr/>
          <p:nvPr/>
        </p:nvSpPr>
        <p:spPr>
          <a:xfrm>
            <a:off x="2834640" y="4846320"/>
            <a:ext cx="8714232" cy="841248"/>
          </a:xfrm>
          <a:prstGeom prst="rect">
            <a:avLst/>
          </a:prstGeom>
          <a:solidFill>
            <a:srgbClr val="F7EFD8"/>
          </a:solidFill>
          <a:ln w="12700">
            <a:solidFill>
              <a:srgbClr val="D5E0EC"/>
            </a:solidFill>
            <a:prstDash val="solid"/>
          </a:ln>
        </p:spPr>
        <p:txBody>
          <a:bodyPr/>
          <a:lstStyle/>
          <a:p>
            <a:endParaRPr lang="en-ID"/>
          </a:p>
        </p:txBody>
      </p:sp>
      <p:sp>
        <p:nvSpPr>
          <p:cNvPr id="26" name="Text 23"/>
          <p:cNvSpPr/>
          <p:nvPr/>
        </p:nvSpPr>
        <p:spPr>
          <a:xfrm>
            <a:off x="3063240" y="4846320"/>
            <a:ext cx="8321040" cy="841248"/>
          </a:xfrm>
          <a:prstGeom prst="rect">
            <a:avLst/>
          </a:prstGeom>
          <a:noFill/>
          <a:ln/>
        </p:spPr>
        <p:txBody>
          <a:bodyPr wrap="square" rtlCol="0" anchor="ctr"/>
          <a:lstStyle/>
          <a:p>
            <a:pPr marL="0" indent="0">
              <a:lnSpc>
                <a:spcPct val="100000"/>
              </a:lnSpc>
              <a:buNone/>
            </a:pPr>
            <a:r>
              <a:rPr lang="en-US" sz="1350" dirty="0">
                <a:solidFill>
                  <a:srgbClr val="26313D"/>
                </a:solidFill>
                <a:latin typeface="Calibri" pitchFamily="34" charset="0"/>
                <a:ea typeface="Calibri" pitchFamily="34" charset="-122"/>
                <a:cs typeface="Calibri" pitchFamily="34" charset="-120"/>
              </a:rPr>
              <a:t>diagnosis → SNOMED CT &amp; ICD-10   •   observasi → LOINC</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21</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DATA</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Sumber dan Peran Data</a:t>
            </a:r>
            <a:endParaRPr lang="en-US" sz="2700" dirty="0"/>
          </a:p>
        </p:txBody>
      </p:sp>
      <p:sp>
        <p:nvSpPr>
          <p:cNvPr id="8" name="Text 5"/>
          <p:cNvSpPr/>
          <p:nvPr/>
        </p:nvSpPr>
        <p:spPr>
          <a:xfrm>
            <a:off x="640080" y="1828800"/>
            <a:ext cx="10972800" cy="3108960"/>
          </a:xfrm>
          <a:prstGeom prst="rect">
            <a:avLst/>
          </a:prstGeom>
          <a:noFill/>
          <a:ln/>
        </p:spPr>
        <p:txBody>
          <a:bodyPr wrap="square" rtlCol="0" anchor="t"/>
          <a:lstStyle/>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Controlled vocabularies: SNOMED CT, LOINC, ICD-10.</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Dataset baseline CDE-Mapper: antara lain NCBI dan BC5CDR.</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Data lokal/RME yang telah dianonimkan.</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Konsultasi kesehatan daring untuk variasi bahasa pasien.</a:t>
            </a:r>
            <a:endParaRPr lang="en-US" sz="1500" dirty="0"/>
          </a:p>
          <a:p>
            <a:pPr marL="177800"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Korpus Alodokter yang digunakan dalam implementasi awal:</a:t>
            </a:r>
            <a:endParaRPr lang="en-US" sz="1500" dirty="0"/>
          </a:p>
          <a:p>
            <a:pPr marL="355600" lvl="1" indent="-177800">
              <a:lnSpc>
                <a:spcPct val="102000"/>
              </a:lnSpc>
              <a:spcAft>
                <a:spcPts val="300"/>
              </a:spcAft>
              <a:buSzPct val="100000"/>
              <a:buChar char="–"/>
            </a:pPr>
            <a:r>
              <a:rPr lang="en-US" sz="1500" dirty="0">
                <a:solidFill>
                  <a:srgbClr val="26313D"/>
                </a:solidFill>
                <a:latin typeface="Calibri" pitchFamily="34" charset="0"/>
                <a:ea typeface="Calibri" pitchFamily="34" charset="-122"/>
                <a:cs typeface="Calibri" pitchFamily="34" charset="-120"/>
              </a:rPr>
              <a:t>150 pasangan question–answer;</a:t>
            </a:r>
            <a:endParaRPr lang="en-US" sz="1500" dirty="0"/>
          </a:p>
          <a:p>
            <a:pPr marL="355600" lvl="1" indent="-177800">
              <a:lnSpc>
                <a:spcPct val="102000"/>
              </a:lnSpc>
              <a:spcAft>
                <a:spcPts val="700"/>
              </a:spcAft>
              <a:buSzPct val="100000"/>
              <a:buChar char="–"/>
            </a:pPr>
            <a:r>
              <a:rPr lang="en-US" sz="1500" dirty="0">
                <a:solidFill>
                  <a:srgbClr val="26313D"/>
                </a:solidFill>
                <a:latin typeface="Calibri" pitchFamily="34" charset="0"/>
                <a:ea typeface="Calibri" pitchFamily="34" charset="-122"/>
                <a:cs typeface="Calibri" pitchFamily="34" charset="-120"/>
              </a:rPr>
              <a:t>dipertahankan provenance dan field sumbernya.</a:t>
            </a:r>
            <a:endParaRPr lang="en-US" sz="1500" dirty="0"/>
          </a:p>
        </p:txBody>
      </p:sp>
      <p:sp>
        <p:nvSpPr>
          <p:cNvPr id="9" name="callout background">
            <a:extLst>
              <a:ext uri="{C183D7F6-B498-43B3-948B-1728B52AA6E4}">
                <adec:decorative xmlns:adec="http://schemas.microsoft.com/office/drawing/2017/decorative" val="1"/>
              </a:ext>
            </a:extLst>
          </p:cNvPr>
          <p:cNvSpPr/>
          <p:nvPr/>
        </p:nvSpPr>
        <p:spPr>
          <a:xfrm>
            <a:off x="640080" y="5257800"/>
            <a:ext cx="10972800" cy="868680"/>
          </a:xfrm>
          <a:prstGeom prst="roundRect">
            <a:avLst>
              <a:gd name="adj" fmla="val 6316"/>
            </a:avLst>
          </a:prstGeom>
          <a:solidFill>
            <a:srgbClr val="F7EFD8"/>
          </a:solidFill>
          <a:ln/>
        </p:spPr>
        <p:txBody>
          <a:bodyPr/>
          <a:lstStyle/>
          <a:p>
            <a:endParaRPr lang="en-ID"/>
          </a:p>
        </p:txBody>
      </p:sp>
      <p:sp>
        <p:nvSpPr>
          <p:cNvPr id="10" name="Text 7"/>
          <p:cNvSpPr/>
          <p:nvPr/>
        </p:nvSpPr>
        <p:spPr>
          <a:xfrm>
            <a:off x="896112" y="5257800"/>
            <a:ext cx="10460736" cy="86868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Prinsip:  </a:t>
            </a:r>
            <a:r>
              <a:rPr lang="en-US" sz="1350" dirty="0">
                <a:solidFill>
                  <a:srgbClr val="26313D"/>
                </a:solidFill>
                <a:latin typeface="Calibri" pitchFamily="34" charset="0"/>
                <a:ea typeface="Calibri" pitchFamily="34" charset="-122"/>
                <a:cs typeface="Calibri" pitchFamily="34" charset="-120"/>
              </a:rPr>
              <a:t>data pengembangan, few-shot, dan evaluasi harus dipisahkan.</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23</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PROGRES · TAHAP 0 (Riset </a:t>
            </a:r>
            <a:r>
              <a:rPr lang="en-US" sz="1200" b="1" kern="0" spc="200" dirty="0" err="1">
                <a:solidFill>
                  <a:srgbClr val="B98A1E"/>
                </a:solidFill>
                <a:latin typeface="Calibri" pitchFamily="34" charset="0"/>
                <a:ea typeface="Calibri" pitchFamily="34" charset="-122"/>
                <a:cs typeface="Calibri" pitchFamily="34" charset="-120"/>
              </a:rPr>
              <a:t>Pendahuluan</a:t>
            </a:r>
            <a:r>
              <a:rPr lang="en-US" sz="1200" b="1" kern="0" spc="200" dirty="0">
                <a:solidFill>
                  <a:srgbClr val="B98A1E"/>
                </a:solidFill>
                <a:latin typeface="Calibri" pitchFamily="34" charset="0"/>
                <a:ea typeface="Calibri" pitchFamily="34" charset="-122"/>
                <a:cs typeface="Calibri" pitchFamily="34" charset="-120"/>
              </a:rPr>
              <a:t>)</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Tahap 0: Audit Baseline</a:t>
            </a:r>
            <a:endParaRPr lang="en-US" sz="2700" dirty="0"/>
          </a:p>
        </p:txBody>
      </p:sp>
      <p:sp>
        <p:nvSpPr>
          <p:cNvPr id="8" name="Text 5"/>
          <p:cNvSpPr/>
          <p:nvPr/>
        </p:nvSpPr>
        <p:spPr>
          <a:xfrm>
            <a:off x="640080" y="1737360"/>
            <a:ext cx="10972800" cy="365760"/>
          </a:xfrm>
          <a:prstGeom prst="rect">
            <a:avLst/>
          </a:prstGeom>
          <a:noFill/>
          <a:ln/>
        </p:spPr>
        <p:txBody>
          <a:bodyPr wrap="square" rtlCol="0" anchor="ctr"/>
          <a:lstStyle/>
          <a:p>
            <a:pPr marL="0" indent="0">
              <a:buNone/>
            </a:pPr>
            <a:r>
              <a:rPr lang="en-US" sz="1400" i="1" dirty="0">
                <a:solidFill>
                  <a:srgbClr val="14568F"/>
                </a:solidFill>
                <a:latin typeface="Calibri" pitchFamily="34" charset="0"/>
                <a:ea typeface="Calibri" pitchFamily="34" charset="-122"/>
                <a:cs typeface="Calibri" pitchFamily="34" charset="-120"/>
              </a:rPr>
              <a:t>Tujuan: memastikan baseline berjalan konsisten sebelum adaptasi.</a:t>
            </a:r>
            <a:endParaRPr lang="en-US" sz="1400" dirty="0"/>
          </a:p>
        </p:txBody>
      </p:sp>
      <p:sp>
        <p:nvSpPr>
          <p:cNvPr id="9" name="section card">
            <a:extLst>
              <a:ext uri="{C183D7F6-B498-43B3-948B-1728B52AA6E4}">
                <adec:decorative xmlns:adec="http://schemas.microsoft.com/office/drawing/2017/decorative" val="1"/>
              </a:ext>
            </a:extLst>
          </p:cNvPr>
          <p:cNvSpPr/>
          <p:nvPr/>
        </p:nvSpPr>
        <p:spPr>
          <a:xfrm>
            <a:off x="640080" y="2240280"/>
            <a:ext cx="5330952" cy="3703320"/>
          </a:xfrm>
          <a:prstGeom prst="rect">
            <a:avLst/>
          </a:prstGeom>
          <a:solidFill>
            <a:srgbClr val="F1F5FA"/>
          </a:solidFill>
          <a:ln w="12700">
            <a:solidFill>
              <a:srgbClr val="D5E0EC"/>
            </a:solidFill>
            <a:prstDash val="solid"/>
          </a:ln>
        </p:spPr>
        <p:txBody>
          <a:bodyPr/>
          <a:lstStyle/>
          <a:p>
            <a:endParaRPr lang="en-ID"/>
          </a:p>
        </p:txBody>
      </p:sp>
      <p:sp>
        <p:nvSpPr>
          <p:cNvPr id="10" name="section accent">
            <a:extLst>
              <a:ext uri="{C183D7F6-B498-43B3-948B-1728B52AA6E4}">
                <adec:decorative xmlns:adec="http://schemas.microsoft.com/office/drawing/2017/decorative" val="1"/>
              </a:ext>
            </a:extLst>
          </p:cNvPr>
          <p:cNvSpPr/>
          <p:nvPr/>
        </p:nvSpPr>
        <p:spPr>
          <a:xfrm>
            <a:off x="640080" y="2240280"/>
            <a:ext cx="109728" cy="3703320"/>
          </a:xfrm>
          <a:prstGeom prst="rect">
            <a:avLst/>
          </a:prstGeom>
          <a:solidFill>
            <a:srgbClr val="0B3C6E"/>
          </a:solidFill>
          <a:ln/>
        </p:spPr>
        <p:txBody>
          <a:bodyPr/>
          <a:lstStyle/>
          <a:p>
            <a:endParaRPr lang="en-ID"/>
          </a:p>
        </p:txBody>
      </p:sp>
      <p:sp>
        <p:nvSpPr>
          <p:cNvPr id="11" name="Text 8"/>
          <p:cNvSpPr/>
          <p:nvPr/>
        </p:nvSpPr>
        <p:spPr>
          <a:xfrm>
            <a:off x="960120" y="2441448"/>
            <a:ext cx="4782312" cy="457200"/>
          </a:xfrm>
          <a:prstGeom prst="rect">
            <a:avLst/>
          </a:prstGeom>
          <a:noFill/>
          <a:ln/>
        </p:spPr>
        <p:txBody>
          <a:bodyPr wrap="square" rtlCol="0" anchor="ctr"/>
          <a:lstStyle/>
          <a:p>
            <a:pPr marL="0" indent="0">
              <a:buNone/>
            </a:pPr>
            <a:r>
              <a:rPr lang="en-US" sz="1600" b="1" dirty="0">
                <a:solidFill>
                  <a:srgbClr val="0B3C6E"/>
                </a:solidFill>
                <a:latin typeface="Georgia" pitchFamily="34" charset="0"/>
                <a:ea typeface="Georgia" pitchFamily="34" charset="-122"/>
                <a:cs typeface="Georgia" pitchFamily="34" charset="-120"/>
              </a:rPr>
              <a:t>Artefak yang tersedia</a:t>
            </a:r>
            <a:endParaRPr lang="en-US" sz="1600" dirty="0"/>
          </a:p>
        </p:txBody>
      </p:sp>
      <p:sp>
        <p:nvSpPr>
          <p:cNvPr id="12" name="Text 9"/>
          <p:cNvSpPr/>
          <p:nvPr/>
        </p:nvSpPr>
        <p:spPr>
          <a:xfrm>
            <a:off x="960120" y="2971800"/>
            <a:ext cx="4736592" cy="2788920"/>
          </a:xfrm>
          <a:prstGeom prst="rect">
            <a:avLst/>
          </a:prstGeom>
          <a:noFill/>
          <a:ln/>
        </p:spPr>
        <p:txBody>
          <a:bodyPr wrap="square" rtlCol="0" anchor="t"/>
          <a:lstStyle/>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konfigurasi baseline;</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smoke input dan smoke audit;</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snapshot dependency;</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runner hybrid retrieval;</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runner reranking Gemma;</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gold subset retrieval 10 query;</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evaluator Top-k; manifest &amp; laporan runtime.</a:t>
            </a:r>
            <a:endParaRPr lang="en-US" sz="1300" dirty="0"/>
          </a:p>
        </p:txBody>
      </p:sp>
      <p:sp>
        <p:nvSpPr>
          <p:cNvPr id="13" name="section card">
            <a:extLst>
              <a:ext uri="{C183D7F6-B498-43B3-948B-1728B52AA6E4}">
                <adec:decorative xmlns:adec="http://schemas.microsoft.com/office/drawing/2017/decorative" val="1"/>
              </a:ext>
            </a:extLst>
          </p:cNvPr>
          <p:cNvSpPr/>
          <p:nvPr/>
        </p:nvSpPr>
        <p:spPr>
          <a:xfrm>
            <a:off x="6281928" y="2240280"/>
            <a:ext cx="5330952" cy="3703320"/>
          </a:xfrm>
          <a:prstGeom prst="rect">
            <a:avLst/>
          </a:prstGeom>
          <a:solidFill>
            <a:srgbClr val="F1F5FA"/>
          </a:solidFill>
          <a:ln w="12700">
            <a:solidFill>
              <a:srgbClr val="D5E0EC"/>
            </a:solidFill>
            <a:prstDash val="solid"/>
          </a:ln>
        </p:spPr>
        <p:txBody>
          <a:bodyPr/>
          <a:lstStyle/>
          <a:p>
            <a:endParaRPr lang="en-ID"/>
          </a:p>
        </p:txBody>
      </p:sp>
      <p:sp>
        <p:nvSpPr>
          <p:cNvPr id="14" name="section accent">
            <a:extLst>
              <a:ext uri="{C183D7F6-B498-43B3-948B-1728B52AA6E4}">
                <adec:decorative xmlns:adec="http://schemas.microsoft.com/office/drawing/2017/decorative" val="1"/>
              </a:ext>
            </a:extLst>
          </p:cNvPr>
          <p:cNvSpPr/>
          <p:nvPr/>
        </p:nvSpPr>
        <p:spPr>
          <a:xfrm>
            <a:off x="6281928" y="2240280"/>
            <a:ext cx="109728" cy="3703320"/>
          </a:xfrm>
          <a:prstGeom prst="rect">
            <a:avLst/>
          </a:prstGeom>
          <a:solidFill>
            <a:srgbClr val="B98A1E"/>
          </a:solidFill>
          <a:ln/>
        </p:spPr>
        <p:txBody>
          <a:bodyPr/>
          <a:lstStyle/>
          <a:p>
            <a:endParaRPr lang="en-ID"/>
          </a:p>
        </p:txBody>
      </p:sp>
      <p:sp>
        <p:nvSpPr>
          <p:cNvPr id="15" name="Text 12"/>
          <p:cNvSpPr/>
          <p:nvPr/>
        </p:nvSpPr>
        <p:spPr>
          <a:xfrm>
            <a:off x="6601968" y="2441448"/>
            <a:ext cx="4782312" cy="457200"/>
          </a:xfrm>
          <a:prstGeom prst="rect">
            <a:avLst/>
          </a:prstGeom>
          <a:noFill/>
          <a:ln/>
        </p:spPr>
        <p:txBody>
          <a:bodyPr wrap="square" rtlCol="0" anchor="ctr"/>
          <a:lstStyle/>
          <a:p>
            <a:pPr marL="0" indent="0">
              <a:buNone/>
            </a:pPr>
            <a:r>
              <a:rPr lang="en-US" sz="1600" b="1" dirty="0">
                <a:solidFill>
                  <a:srgbClr val="0B3C6E"/>
                </a:solidFill>
                <a:latin typeface="Georgia" pitchFamily="34" charset="0"/>
                <a:ea typeface="Georgia" pitchFamily="34" charset="-122"/>
                <a:cs typeface="Georgia" pitchFamily="34" charset="-120"/>
              </a:rPr>
              <a:t>Temuan infrastruktur</a:t>
            </a:r>
            <a:endParaRPr lang="en-US" sz="1600" dirty="0"/>
          </a:p>
        </p:txBody>
      </p:sp>
      <p:sp>
        <p:nvSpPr>
          <p:cNvPr id="16" name="Text 13"/>
          <p:cNvSpPr/>
          <p:nvPr/>
        </p:nvSpPr>
        <p:spPr>
          <a:xfrm>
            <a:off x="6601968" y="2971800"/>
            <a:ext cx="4736592" cy="2788920"/>
          </a:xfrm>
          <a:prstGeom prst="rect">
            <a:avLst/>
          </a:prstGeom>
          <a:noFill/>
          <a:ln/>
        </p:spPr>
        <p:txBody>
          <a:bodyPr wrap="square" rtlCol="0" anchor="t"/>
          <a:lstStyle/>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fallback hybrid Qdrant dapat berjalan;</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akses Athena pernah mengembalikan HTTP 403 dan dicatat sebagai partial source error.</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24</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r>
              <a:rPr lang="en-US" sz="1200" b="1" kern="0" spc="200" dirty="0">
                <a:solidFill>
                  <a:srgbClr val="B98A1E"/>
                </a:solidFill>
                <a:latin typeface="Calibri" pitchFamily="34" charset="0"/>
                <a:ea typeface="Calibri" pitchFamily="34" charset="-122"/>
                <a:cs typeface="Calibri" pitchFamily="34" charset="-120"/>
              </a:rPr>
              <a:t>PROGRES · TAHAP 0 (Riset </a:t>
            </a:r>
            <a:r>
              <a:rPr lang="en-US" sz="1200" b="1" kern="0" spc="200" dirty="0" err="1">
                <a:solidFill>
                  <a:srgbClr val="B98A1E"/>
                </a:solidFill>
                <a:latin typeface="Calibri" pitchFamily="34" charset="0"/>
                <a:ea typeface="Calibri" pitchFamily="34" charset="-122"/>
                <a:cs typeface="Calibri" pitchFamily="34" charset="-120"/>
              </a:rPr>
              <a:t>Pendahuluan</a:t>
            </a:r>
            <a:r>
              <a:rPr lang="en-US" sz="1200" b="1" kern="0" spc="200" dirty="0">
                <a:solidFill>
                  <a:srgbClr val="B98A1E"/>
                </a:solidFill>
                <a:latin typeface="Calibri" pitchFamily="34" charset="0"/>
                <a:ea typeface="Calibri" pitchFamily="34" charset="-122"/>
                <a:cs typeface="Calibri" pitchFamily="34" charset="-120"/>
              </a:rPr>
              <a:t>)</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Hasil Awal Tahap 0 — Pilot Retrieval (10 query)</a:t>
            </a:r>
            <a:endParaRPr lang="en-US" sz="27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3200400"/>
        </p:xfrm>
        <a:graphic>
          <a:graphicData uri="http://schemas.openxmlformats.org/drawingml/2006/table">
            <a:tbl>
              <a:tblPr/>
              <a:tblGrid>
                <a:gridCol w="448056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45720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Metrik</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Hybrid</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Setelah reranking</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extLst>
                  <a:ext uri="{0D108BD9-81ED-4DB2-BD59-A6C34878D82A}">
                    <a16:rowId xmlns:a16="http://schemas.microsoft.com/office/drawing/2014/main" val="10000"/>
                  </a:ext>
                </a:extLst>
              </a:tr>
              <a:tr h="457200">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Coverage</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Accuracy@1</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0,60</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0,50</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2"/>
                  </a:ext>
                </a:extLst>
              </a:tr>
              <a:tr h="457200">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Accuracy@5</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0,70</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0,80</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Accuracy@10</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0,90</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0,90</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4"/>
                  </a:ext>
                </a:extLst>
              </a:tr>
              <a:tr h="457200">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MRR</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0,640</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0,634</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Mean latency</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1,47 detik</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4,22 detik</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6"/>
                  </a:ext>
                </a:extLst>
              </a:tr>
            </a:tbl>
          </a:graphicData>
        </a:graphic>
      </p:graphicFrame>
      <p:sp>
        <p:nvSpPr>
          <p:cNvPr id="9" name="callout background">
            <a:extLst>
              <a:ext uri="{C183D7F6-B498-43B3-948B-1728B52AA6E4}">
                <adec:decorative xmlns:adec="http://schemas.microsoft.com/office/drawing/2017/decorative" val="1"/>
              </a:ext>
            </a:extLst>
          </p:cNvPr>
          <p:cNvSpPr/>
          <p:nvPr/>
        </p:nvSpPr>
        <p:spPr>
          <a:xfrm>
            <a:off x="640080" y="5349240"/>
            <a:ext cx="10972800" cy="868680"/>
          </a:xfrm>
          <a:prstGeom prst="roundRect">
            <a:avLst>
              <a:gd name="adj" fmla="val 6316"/>
            </a:avLst>
          </a:prstGeom>
          <a:solidFill>
            <a:srgbClr val="F7EFD8"/>
          </a:solidFill>
          <a:ln/>
        </p:spPr>
        <p:txBody>
          <a:bodyPr/>
          <a:lstStyle/>
          <a:p>
            <a:endParaRPr lang="en-ID"/>
          </a:p>
        </p:txBody>
      </p:sp>
      <p:sp>
        <p:nvSpPr>
          <p:cNvPr id="10" name="Text 6"/>
          <p:cNvSpPr/>
          <p:nvPr/>
        </p:nvSpPr>
        <p:spPr>
          <a:xfrm>
            <a:off x="896112" y="5349240"/>
            <a:ext cx="10460736" cy="86868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Interpretasi awal:  </a:t>
            </a:r>
            <a:r>
              <a:rPr lang="en-US" sz="1350" dirty="0">
                <a:solidFill>
                  <a:srgbClr val="26313D"/>
                </a:solidFill>
                <a:latin typeface="Calibri" pitchFamily="34" charset="0"/>
                <a:ea typeface="Calibri" pitchFamily="34" charset="-122"/>
                <a:cs typeface="Calibri" pitchFamily="34" charset="-120"/>
              </a:rPr>
              <a:t>reranking memperbaiki cakupan peringkat menengah, tetapi belum meningkatkan Top-1 dan menambah latensi. Ini smoke/pilot 10 query, bukan hasil utama.</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25</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PROGRES · TAHAP 1</a:t>
            </a:r>
            <a:endParaRPr lang="en-US" sz="1200" dirty="0"/>
          </a:p>
        </p:txBody>
      </p:sp>
      <p:sp>
        <p:nvSpPr>
          <p:cNvPr id="7" name="Text 0"/>
          <p:cNvSpPr>
            <a:spLocks noGrp="1"/>
          </p:cNvSpPr>
          <p:nvPr>
            <p:ph type="title" idx="100" hasCustomPrompt="1"/>
          </p:nvPr>
        </p:nvSpPr>
        <p:spPr>
          <a:xfrm>
            <a:off x="566928" y="786384"/>
            <a:ext cx="9059672" cy="868680"/>
          </a:xfrm>
          <a:prstGeom prst="rect">
            <a:avLst/>
          </a:prstGeom>
          <a:noFill/>
          <a:ln/>
        </p:spPr>
        <p:txBody>
          <a:bodyPr wrap="square" lIns="0" tIns="0" rIns="0" bIns="0" rtlCol="0" anchor="t"/>
          <a:lstStyle/>
          <a:p>
            <a:pPr marL="0" indent="0" algn="l">
              <a:buNone/>
            </a:pPr>
            <a:r>
              <a:rPr lang="en-US" sz="2700" b="1" dirty="0">
                <a:solidFill>
                  <a:srgbClr val="0B3C6E"/>
                </a:solidFill>
                <a:highlight>
                  <a:srgbClr val="FF0000"/>
                </a:highlight>
                <a:latin typeface="Georgia" pitchFamily="34" charset="0"/>
                <a:ea typeface="Georgia" pitchFamily="34" charset="-122"/>
                <a:cs typeface="Georgia" pitchFamily="34" charset="-120"/>
              </a:rPr>
              <a:t>Tahap 1: </a:t>
            </a:r>
            <a:r>
              <a:rPr lang="en-US" sz="2700" b="1" dirty="0" err="1">
                <a:solidFill>
                  <a:srgbClr val="0B3C6E"/>
                </a:solidFill>
                <a:highlight>
                  <a:srgbClr val="FF0000"/>
                </a:highlight>
                <a:latin typeface="Georgia" pitchFamily="34" charset="0"/>
                <a:ea typeface="Georgia" pitchFamily="34" charset="-122"/>
                <a:cs typeface="Georgia" pitchFamily="34" charset="-120"/>
              </a:rPr>
              <a:t>Normalisasi</a:t>
            </a:r>
            <a:r>
              <a:rPr lang="en-US" sz="2700" b="1" dirty="0">
                <a:solidFill>
                  <a:srgbClr val="0B3C6E"/>
                </a:solidFill>
                <a:highlight>
                  <a:srgbClr val="FF0000"/>
                </a:highlight>
                <a:latin typeface="Georgia" pitchFamily="34" charset="0"/>
                <a:ea typeface="Georgia" pitchFamily="34" charset="-122"/>
                <a:cs typeface="Georgia" pitchFamily="34" charset="-120"/>
              </a:rPr>
              <a:t> </a:t>
            </a:r>
            <a:r>
              <a:rPr lang="en-US" sz="2700" b="1" dirty="0" err="1">
                <a:solidFill>
                  <a:srgbClr val="0B3C6E"/>
                </a:solidFill>
                <a:highlight>
                  <a:srgbClr val="FF0000"/>
                </a:highlight>
                <a:latin typeface="Georgia" pitchFamily="34" charset="0"/>
                <a:ea typeface="Georgia" pitchFamily="34" charset="-122"/>
                <a:cs typeface="Georgia" pitchFamily="34" charset="-120"/>
              </a:rPr>
              <a:t>Konservatif</a:t>
            </a:r>
            <a:r>
              <a:rPr lang="en-US" sz="2700" b="1" dirty="0">
                <a:solidFill>
                  <a:srgbClr val="0B3C6E"/>
                </a:solidFill>
                <a:highlight>
                  <a:srgbClr val="FF0000"/>
                </a:highlight>
                <a:latin typeface="Georgia" pitchFamily="34" charset="0"/>
                <a:ea typeface="Georgia" pitchFamily="34" charset="-122"/>
                <a:cs typeface="Georgia" pitchFamily="34" charset="-120"/>
              </a:rPr>
              <a:t> (2 slide </a:t>
            </a:r>
            <a:r>
              <a:rPr lang="en-US" sz="2700" b="1" dirty="0" err="1">
                <a:solidFill>
                  <a:srgbClr val="0B3C6E"/>
                </a:solidFill>
                <a:highlight>
                  <a:srgbClr val="FF0000"/>
                </a:highlight>
                <a:latin typeface="Georgia" pitchFamily="34" charset="0"/>
                <a:ea typeface="Georgia" pitchFamily="34" charset="-122"/>
                <a:cs typeface="Georgia" pitchFamily="34" charset="-120"/>
              </a:rPr>
              <a:t>saja</a:t>
            </a:r>
            <a:r>
              <a:rPr lang="en-US" sz="2700" b="1" dirty="0">
                <a:solidFill>
                  <a:srgbClr val="0B3C6E"/>
                </a:solidFill>
                <a:highlight>
                  <a:srgbClr val="FF0000"/>
                </a:highlight>
                <a:latin typeface="Georgia" pitchFamily="34" charset="0"/>
                <a:ea typeface="Georgia" pitchFamily="34" charset="-122"/>
                <a:cs typeface="Georgia" pitchFamily="34" charset="-120"/>
              </a:rPr>
              <a:t>: slide </a:t>
            </a:r>
            <a:r>
              <a:rPr lang="en-US" sz="2700" b="1" dirty="0" err="1">
                <a:solidFill>
                  <a:srgbClr val="0B3C6E"/>
                </a:solidFill>
                <a:highlight>
                  <a:srgbClr val="FF0000"/>
                </a:highlight>
                <a:latin typeface="Georgia" pitchFamily="34" charset="0"/>
                <a:ea typeface="Georgia" pitchFamily="34" charset="-122"/>
                <a:cs typeface="Georgia" pitchFamily="34" charset="-120"/>
              </a:rPr>
              <a:t>ini</a:t>
            </a:r>
            <a:r>
              <a:rPr lang="en-US" sz="2700" b="1" dirty="0">
                <a:solidFill>
                  <a:srgbClr val="0B3C6E"/>
                </a:solidFill>
                <a:highlight>
                  <a:srgbClr val="FF0000"/>
                </a:highlight>
                <a:latin typeface="Georgia" pitchFamily="34" charset="0"/>
                <a:ea typeface="Georgia" pitchFamily="34" charset="-122"/>
                <a:cs typeface="Georgia" pitchFamily="34" charset="-120"/>
              </a:rPr>
              <a:t> dan slide </a:t>
            </a:r>
            <a:r>
              <a:rPr lang="en-US" sz="2700" b="1" dirty="0" err="1">
                <a:solidFill>
                  <a:srgbClr val="0B3C6E"/>
                </a:solidFill>
                <a:highlight>
                  <a:srgbClr val="FF0000"/>
                </a:highlight>
                <a:latin typeface="Georgia" pitchFamily="34" charset="0"/>
                <a:ea typeface="Georgia" pitchFamily="34" charset="-122"/>
                <a:cs typeface="Georgia" pitchFamily="34" charset="-120"/>
              </a:rPr>
              <a:t>kedua</a:t>
            </a:r>
            <a:r>
              <a:rPr lang="en-US" sz="2700" b="1" dirty="0">
                <a:solidFill>
                  <a:srgbClr val="0B3C6E"/>
                </a:solidFill>
                <a:highlight>
                  <a:srgbClr val="FF0000"/>
                </a:highlight>
                <a:latin typeface="Georgia" pitchFamily="34" charset="0"/>
                <a:ea typeface="Georgia" pitchFamily="34" charset="-122"/>
                <a:cs typeface="Georgia" pitchFamily="34" charset="-120"/>
              </a:rPr>
              <a:t> </a:t>
            </a:r>
            <a:r>
              <a:rPr lang="en-US" sz="2700" b="1" dirty="0" err="1">
                <a:solidFill>
                  <a:srgbClr val="0B3C6E"/>
                </a:solidFill>
                <a:highlight>
                  <a:srgbClr val="FF0000"/>
                </a:highlight>
                <a:latin typeface="Georgia" pitchFamily="34" charset="0"/>
                <a:ea typeface="Georgia" pitchFamily="34" charset="-122"/>
                <a:cs typeface="Georgia" pitchFamily="34" charset="-120"/>
              </a:rPr>
              <a:t>berisi</a:t>
            </a:r>
            <a:r>
              <a:rPr lang="en-US" sz="2700" b="1" dirty="0">
                <a:solidFill>
                  <a:srgbClr val="0B3C6E"/>
                </a:solidFill>
                <a:highlight>
                  <a:srgbClr val="FF0000"/>
                </a:highlight>
                <a:latin typeface="Georgia" pitchFamily="34" charset="0"/>
                <a:ea typeface="Georgia" pitchFamily="34" charset="-122"/>
                <a:cs typeface="Georgia" pitchFamily="34" charset="-120"/>
              </a:rPr>
              <a:t> </a:t>
            </a:r>
            <a:r>
              <a:rPr lang="en-US" sz="2700" b="1" dirty="0" err="1">
                <a:solidFill>
                  <a:srgbClr val="0B3C6E"/>
                </a:solidFill>
                <a:highlight>
                  <a:srgbClr val="FF0000"/>
                </a:highlight>
                <a:latin typeface="Georgia" pitchFamily="34" charset="0"/>
                <a:ea typeface="Georgia" pitchFamily="34" charset="-122"/>
                <a:cs typeface="Georgia" pitchFamily="34" charset="-120"/>
              </a:rPr>
              <a:t>hasil</a:t>
            </a:r>
            <a:r>
              <a:rPr lang="en-US" sz="2700" b="1" dirty="0">
                <a:solidFill>
                  <a:srgbClr val="0B3C6E"/>
                </a:solidFill>
                <a:highlight>
                  <a:srgbClr val="FF0000"/>
                </a:highlight>
                <a:latin typeface="Georgia" pitchFamily="34" charset="0"/>
                <a:ea typeface="Georgia" pitchFamily="34" charset="-122"/>
                <a:cs typeface="Georgia" pitchFamily="34" charset="-120"/>
              </a:rPr>
              <a:t> </a:t>
            </a:r>
            <a:r>
              <a:rPr lang="en-US" sz="2700" b="1" dirty="0" err="1">
                <a:solidFill>
                  <a:srgbClr val="0B3C6E"/>
                </a:solidFill>
                <a:highlight>
                  <a:srgbClr val="FF0000"/>
                </a:highlight>
                <a:latin typeface="Georgia" pitchFamily="34" charset="0"/>
                <a:ea typeface="Georgia" pitchFamily="34" charset="-122"/>
                <a:cs typeface="Georgia" pitchFamily="34" charset="-120"/>
              </a:rPr>
              <a:t>dari</a:t>
            </a:r>
            <a:r>
              <a:rPr lang="en-US" sz="2700" b="1" dirty="0">
                <a:solidFill>
                  <a:srgbClr val="0B3C6E"/>
                </a:solidFill>
                <a:highlight>
                  <a:srgbClr val="FF0000"/>
                </a:highlight>
                <a:latin typeface="Georgia" pitchFamily="34" charset="0"/>
                <a:ea typeface="Georgia" pitchFamily="34" charset="-122"/>
                <a:cs typeface="Georgia" pitchFamily="34" charset="-120"/>
              </a:rPr>
              <a:t> </a:t>
            </a:r>
            <a:r>
              <a:rPr lang="en-US" sz="2700" b="1" dirty="0" err="1">
                <a:solidFill>
                  <a:srgbClr val="0B3C6E"/>
                </a:solidFill>
                <a:highlight>
                  <a:srgbClr val="FF0000"/>
                </a:highlight>
                <a:latin typeface="Georgia" pitchFamily="34" charset="0"/>
                <a:ea typeface="Georgia" pitchFamily="34" charset="-122"/>
                <a:cs typeface="Georgia" pitchFamily="34" charset="-120"/>
              </a:rPr>
              <a:t>tahap</a:t>
            </a:r>
            <a:r>
              <a:rPr lang="en-US" sz="2700" b="1" dirty="0">
                <a:solidFill>
                  <a:srgbClr val="0B3C6E"/>
                </a:solidFill>
                <a:highlight>
                  <a:srgbClr val="FF0000"/>
                </a:highlight>
                <a:latin typeface="Georgia" pitchFamily="34" charset="0"/>
                <a:ea typeface="Georgia" pitchFamily="34" charset="-122"/>
                <a:cs typeface="Georgia" pitchFamily="34" charset="-120"/>
              </a:rPr>
              <a:t> 1)</a:t>
            </a:r>
            <a:endParaRPr lang="en-US" sz="2700" dirty="0">
              <a:highlight>
                <a:srgbClr val="FF0000"/>
              </a:highlight>
            </a:endParaRPr>
          </a:p>
        </p:txBody>
      </p:sp>
      <p:sp>
        <p:nvSpPr>
          <p:cNvPr id="8" name="pipeline background">
            <a:extLst>
              <a:ext uri="{C183D7F6-B498-43B3-948B-1728B52AA6E4}">
                <adec:decorative xmlns:adec="http://schemas.microsoft.com/office/drawing/2017/decorative" val="1"/>
              </a:ext>
            </a:extLst>
          </p:cNvPr>
          <p:cNvSpPr/>
          <p:nvPr/>
        </p:nvSpPr>
        <p:spPr>
          <a:xfrm>
            <a:off x="640080" y="1828800"/>
            <a:ext cx="10972800" cy="2194560"/>
          </a:xfrm>
          <a:prstGeom prst="roundRect">
            <a:avLst>
              <a:gd name="adj" fmla="val 2083"/>
            </a:avLst>
          </a:prstGeom>
          <a:solidFill>
            <a:srgbClr val="F1F5FA"/>
          </a:solidFill>
          <a:ln w="12700">
            <a:solidFill>
              <a:srgbClr val="D5E0EC"/>
            </a:solidFill>
            <a:prstDash val="solid"/>
          </a:ln>
        </p:spPr>
        <p:txBody>
          <a:bodyPr/>
          <a:lstStyle/>
          <a:p>
            <a:endParaRPr lang="en-ID"/>
          </a:p>
        </p:txBody>
      </p:sp>
      <p:sp>
        <p:nvSpPr>
          <p:cNvPr id="9" name="Text 6"/>
          <p:cNvSpPr/>
          <p:nvPr/>
        </p:nvSpPr>
        <p:spPr>
          <a:xfrm>
            <a:off x="914400" y="1828800"/>
            <a:ext cx="10424160" cy="2194560"/>
          </a:xfrm>
          <a:prstGeom prst="rect">
            <a:avLst/>
          </a:prstGeom>
          <a:noFill/>
          <a:ln/>
        </p:spPr>
        <p:txBody>
          <a:bodyPr wrap="square" rtlCol="0" anchor="ctr"/>
          <a:lstStyle/>
          <a:p>
            <a:pPr marL="0" indent="0" algn="l">
              <a:lnSpc>
                <a:spcPct val="125000"/>
              </a:lnSpc>
              <a:buNone/>
            </a:pPr>
            <a:r>
              <a:rPr lang="en-US" sz="1400" b="1" dirty="0">
                <a:solidFill>
                  <a:srgbClr val="0B3C6E"/>
                </a:solidFill>
                <a:latin typeface="Calibri" pitchFamily="34" charset="0"/>
                <a:ea typeface="Calibri" pitchFamily="34" charset="-122"/>
                <a:cs typeface="Calibri" pitchFamily="34" charset="-120"/>
              </a:rPr>
              <a:t>raw_text</a:t>
            </a:r>
            <a:r>
              <a:rPr lang="en-US" sz="1400" b="1" dirty="0">
                <a:solidFill>
                  <a:srgbClr val="7A5C0F"/>
                </a:solidFill>
                <a:latin typeface="Calibri" pitchFamily="34" charset="0"/>
                <a:ea typeface="Calibri" pitchFamily="34" charset="-122"/>
                <a:cs typeface="Calibri" pitchFamily="34" charset="-120"/>
              </a:rPr>
              <a:t>   →   </a:t>
            </a:r>
            <a:r>
              <a:rPr lang="en-US" sz="1400" b="1" dirty="0">
                <a:solidFill>
                  <a:srgbClr val="0B3C6E"/>
                </a:solidFill>
                <a:latin typeface="Calibri" pitchFamily="34" charset="0"/>
                <a:ea typeface="Calibri" pitchFamily="34" charset="-122"/>
                <a:cs typeface="Calibri" pitchFamily="34" charset="-120"/>
              </a:rPr>
              <a:t>validasi &amp; Unicode</a:t>
            </a:r>
            <a:r>
              <a:rPr lang="en-US" sz="1400" b="1" dirty="0">
                <a:solidFill>
                  <a:srgbClr val="7A5C0F"/>
                </a:solidFill>
                <a:latin typeface="Calibri" pitchFamily="34" charset="0"/>
                <a:ea typeface="Calibri" pitchFamily="34" charset="-122"/>
                <a:cs typeface="Calibri" pitchFamily="34" charset="-120"/>
              </a:rPr>
              <a:t>   →   </a:t>
            </a:r>
            <a:r>
              <a:rPr lang="en-US" sz="1400" b="1" dirty="0">
                <a:solidFill>
                  <a:srgbClr val="0B3C6E"/>
                </a:solidFill>
                <a:latin typeface="Calibri" pitchFamily="34" charset="0"/>
                <a:ea typeface="Calibri" pitchFamily="34" charset="-122"/>
                <a:cs typeface="Calibri" pitchFamily="34" charset="-120"/>
              </a:rPr>
              <a:t>cleaning konservatif</a:t>
            </a:r>
            <a:r>
              <a:rPr lang="en-US" sz="1400" b="1" dirty="0">
                <a:solidFill>
                  <a:srgbClr val="7A5C0F"/>
                </a:solidFill>
                <a:latin typeface="Calibri" pitchFamily="34" charset="0"/>
                <a:ea typeface="Calibri" pitchFamily="34" charset="-122"/>
                <a:cs typeface="Calibri" pitchFamily="34" charset="-120"/>
              </a:rPr>
              <a:t>   →   </a:t>
            </a:r>
            <a:r>
              <a:rPr lang="en-US" sz="1400" b="1" dirty="0">
                <a:solidFill>
                  <a:srgbClr val="0B3C6E"/>
                </a:solidFill>
                <a:latin typeface="Calibri" pitchFamily="34" charset="0"/>
                <a:ea typeface="Calibri" pitchFamily="34" charset="-122"/>
                <a:cs typeface="Calibri" pitchFamily="34" charset="-120"/>
              </a:rPr>
              <a:t>token terlindungi</a:t>
            </a:r>
            <a:r>
              <a:rPr lang="en-US" sz="1400" b="1" dirty="0">
                <a:solidFill>
                  <a:srgbClr val="7A5C0F"/>
                </a:solidFill>
                <a:latin typeface="Calibri" pitchFamily="34" charset="0"/>
                <a:ea typeface="Calibri" pitchFamily="34" charset="-122"/>
                <a:cs typeface="Calibri" pitchFamily="34" charset="-120"/>
              </a:rPr>
              <a:t>   →   </a:t>
            </a:r>
            <a:r>
              <a:rPr lang="en-US" sz="1400" b="1" dirty="0">
                <a:solidFill>
                  <a:srgbClr val="0B3C6E"/>
                </a:solidFill>
                <a:latin typeface="Calibri" pitchFamily="34" charset="0"/>
                <a:ea typeface="Calibri" pitchFamily="34" charset="-122"/>
                <a:cs typeface="Calibri" pitchFamily="34" charset="-120"/>
              </a:rPr>
              <a:t>bentuk informal</a:t>
            </a:r>
            <a:r>
              <a:rPr lang="en-US" sz="1400" b="1" dirty="0">
                <a:solidFill>
                  <a:srgbClr val="7A5C0F"/>
                </a:solidFill>
                <a:latin typeface="Calibri" pitchFamily="34" charset="0"/>
                <a:ea typeface="Calibri" pitchFamily="34" charset="-122"/>
                <a:cs typeface="Calibri" pitchFamily="34" charset="-120"/>
              </a:rPr>
              <a:t>   →   </a:t>
            </a:r>
            <a:r>
              <a:rPr lang="en-US" sz="1400" b="1" dirty="0">
                <a:solidFill>
                  <a:srgbClr val="0B3C6E"/>
                </a:solidFill>
                <a:latin typeface="Calibri" pitchFamily="34" charset="0"/>
                <a:ea typeface="Calibri" pitchFamily="34" charset="-122"/>
                <a:cs typeface="Calibri" pitchFamily="34" charset="-120"/>
              </a:rPr>
              <a:t>ekspansi singkatan kontekstual</a:t>
            </a:r>
            <a:r>
              <a:rPr lang="en-US" sz="1400" b="1" dirty="0">
                <a:solidFill>
                  <a:srgbClr val="7A5C0F"/>
                </a:solidFill>
                <a:latin typeface="Calibri" pitchFamily="34" charset="0"/>
                <a:ea typeface="Calibri" pitchFamily="34" charset="-122"/>
                <a:cs typeface="Calibri" pitchFamily="34" charset="-120"/>
              </a:rPr>
              <a:t>   →   </a:t>
            </a:r>
            <a:r>
              <a:rPr lang="en-US" sz="1400" b="1" dirty="0">
                <a:solidFill>
                  <a:srgbClr val="0B3C6E"/>
                </a:solidFill>
                <a:latin typeface="Calibri" pitchFamily="34" charset="0"/>
                <a:ea typeface="Calibri" pitchFamily="34" charset="-122"/>
                <a:cs typeface="Calibri" pitchFamily="34" charset="-120"/>
              </a:rPr>
              <a:t>koreksi typo terbatas</a:t>
            </a:r>
            <a:r>
              <a:rPr lang="en-US" sz="1400" b="1" dirty="0">
                <a:solidFill>
                  <a:srgbClr val="7A5C0F"/>
                </a:solidFill>
                <a:latin typeface="Calibri" pitchFamily="34" charset="0"/>
                <a:ea typeface="Calibri" pitchFamily="34" charset="-122"/>
                <a:cs typeface="Calibri" pitchFamily="34" charset="-120"/>
              </a:rPr>
              <a:t>   →   </a:t>
            </a:r>
            <a:r>
              <a:rPr lang="en-US" sz="1400" b="1" dirty="0">
                <a:solidFill>
                  <a:srgbClr val="0B3C6E"/>
                </a:solidFill>
                <a:latin typeface="Calibri" pitchFamily="34" charset="0"/>
                <a:ea typeface="Calibri" pitchFamily="34" charset="-122"/>
                <a:cs typeface="Calibri" pitchFamily="34" charset="-120"/>
              </a:rPr>
              <a:t>angka &amp; satuan</a:t>
            </a:r>
            <a:r>
              <a:rPr lang="en-US" sz="1400" b="1" dirty="0">
                <a:solidFill>
                  <a:srgbClr val="7A5C0F"/>
                </a:solidFill>
                <a:latin typeface="Calibri" pitchFamily="34" charset="0"/>
                <a:ea typeface="Calibri" pitchFamily="34" charset="-122"/>
                <a:cs typeface="Calibri" pitchFamily="34" charset="-120"/>
              </a:rPr>
              <a:t>   →   </a:t>
            </a:r>
            <a:r>
              <a:rPr lang="en-US" sz="1400" b="1" dirty="0">
                <a:solidFill>
                  <a:srgbClr val="0B3C6E"/>
                </a:solidFill>
                <a:latin typeface="Calibri" pitchFamily="34" charset="0"/>
                <a:ea typeface="Calibri" pitchFamily="34" charset="-122"/>
                <a:cs typeface="Calibri" pitchFamily="34" charset="-120"/>
              </a:rPr>
              <a:t>segmentasi kalimat</a:t>
            </a:r>
            <a:r>
              <a:rPr lang="en-US" sz="1400" b="1" dirty="0">
                <a:solidFill>
                  <a:srgbClr val="7A5C0F"/>
                </a:solidFill>
                <a:latin typeface="Calibri" pitchFamily="34" charset="0"/>
                <a:ea typeface="Calibri" pitchFamily="34" charset="-122"/>
                <a:cs typeface="Calibri" pitchFamily="34" charset="-120"/>
              </a:rPr>
              <a:t>   →   </a:t>
            </a:r>
            <a:r>
              <a:rPr lang="en-US" sz="1400" b="1" dirty="0">
                <a:solidFill>
                  <a:srgbClr val="0B3C6E"/>
                </a:solidFill>
                <a:latin typeface="Calibri" pitchFamily="34" charset="0"/>
                <a:ea typeface="Calibri" pitchFamily="34" charset="-122"/>
                <a:cs typeface="Calibri" pitchFamily="34" charset="-120"/>
              </a:rPr>
              <a:t>boilerplate</a:t>
            </a:r>
            <a:r>
              <a:rPr lang="en-US" sz="1400" b="1" dirty="0">
                <a:solidFill>
                  <a:srgbClr val="7A5C0F"/>
                </a:solidFill>
                <a:latin typeface="Calibri" pitchFamily="34" charset="0"/>
                <a:ea typeface="Calibri" pitchFamily="34" charset="-122"/>
                <a:cs typeface="Calibri" pitchFamily="34" charset="-120"/>
              </a:rPr>
              <a:t>   →   </a:t>
            </a:r>
            <a:r>
              <a:rPr lang="en-US" sz="1400" b="1" dirty="0">
                <a:solidFill>
                  <a:srgbClr val="0B3C6E"/>
                </a:solidFill>
                <a:latin typeface="Calibri" pitchFamily="34" charset="0"/>
                <a:ea typeface="Calibri" pitchFamily="34" charset="-122"/>
                <a:cs typeface="Calibri" pitchFamily="34" charset="-120"/>
              </a:rPr>
              <a:t>normalized_text + audit trail</a:t>
            </a:r>
            <a:endParaRPr lang="en-US" sz="1400" dirty="0"/>
          </a:p>
        </p:txBody>
      </p:sp>
      <p:sp>
        <p:nvSpPr>
          <p:cNvPr id="10" name="callout background">
            <a:extLst>
              <a:ext uri="{C183D7F6-B498-43B3-948B-1728B52AA6E4}">
                <adec:decorative xmlns:adec="http://schemas.microsoft.com/office/drawing/2017/decorative" val="1"/>
              </a:ext>
            </a:extLst>
          </p:cNvPr>
          <p:cNvSpPr/>
          <p:nvPr/>
        </p:nvSpPr>
        <p:spPr>
          <a:xfrm>
            <a:off x="640080" y="4343400"/>
            <a:ext cx="10972800" cy="1005840"/>
          </a:xfrm>
          <a:prstGeom prst="roundRect">
            <a:avLst>
              <a:gd name="adj" fmla="val 5455"/>
            </a:avLst>
          </a:prstGeom>
          <a:solidFill>
            <a:srgbClr val="EAF1F8"/>
          </a:solidFill>
          <a:ln/>
        </p:spPr>
        <p:txBody>
          <a:bodyPr/>
          <a:lstStyle/>
          <a:p>
            <a:endParaRPr lang="en-ID"/>
          </a:p>
        </p:txBody>
      </p:sp>
      <p:sp>
        <p:nvSpPr>
          <p:cNvPr id="11" name="Text 8"/>
          <p:cNvSpPr/>
          <p:nvPr/>
        </p:nvSpPr>
        <p:spPr>
          <a:xfrm>
            <a:off x="896112" y="4343400"/>
            <a:ext cx="10460736" cy="1005840"/>
          </a:xfrm>
          <a:prstGeom prst="rect">
            <a:avLst/>
          </a:prstGeom>
          <a:noFill/>
          <a:ln/>
        </p:spPr>
        <p:txBody>
          <a:bodyPr wrap="square" rtlCol="0" anchor="ctr"/>
          <a:lstStyle/>
          <a:p>
            <a:pPr marL="0" indent="0">
              <a:lnSpc>
                <a:spcPct val="100000"/>
              </a:lnSpc>
              <a:buNone/>
            </a:pPr>
            <a:r>
              <a:rPr lang="en-US" sz="1350" b="1" dirty="0">
                <a:solidFill>
                  <a:srgbClr val="14568F"/>
                </a:solidFill>
                <a:latin typeface="Calibri" pitchFamily="34" charset="0"/>
                <a:ea typeface="Calibri" pitchFamily="34" charset="-122"/>
                <a:cs typeface="Calibri" pitchFamily="34" charset="-120"/>
              </a:rPr>
              <a:t>Prinsip utama:  </a:t>
            </a:r>
            <a:r>
              <a:rPr lang="en-US" sz="1350" dirty="0">
                <a:solidFill>
                  <a:srgbClr val="26313D"/>
                </a:solidFill>
                <a:latin typeface="Calibri" pitchFamily="34" charset="0"/>
                <a:ea typeface="Calibri" pitchFamily="34" charset="-122"/>
                <a:cs typeface="Calibri" pitchFamily="34" charset="-120"/>
              </a:rPr>
              <a:t>meningkatkan keterbacaan mesin tanpa menghilangkan makna klinis. Angka, dosis, unit, negasi, temporalitas, dan istilah campuran dipertahankan.</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27</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PROGRES · TAHAP 1</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Progres dan Audit Tahap 1</a:t>
            </a:r>
            <a:endParaRPr lang="en-US" sz="2700" dirty="0"/>
          </a:p>
        </p:txBody>
      </p:sp>
      <p:sp>
        <p:nvSpPr>
          <p:cNvPr id="8" name="section card">
            <a:extLst>
              <a:ext uri="{C183D7F6-B498-43B3-948B-1728B52AA6E4}">
                <adec:decorative xmlns:adec="http://schemas.microsoft.com/office/drawing/2017/decorative" val="1"/>
              </a:ext>
            </a:extLst>
          </p:cNvPr>
          <p:cNvSpPr/>
          <p:nvPr/>
        </p:nvSpPr>
        <p:spPr>
          <a:xfrm>
            <a:off x="640080" y="1828800"/>
            <a:ext cx="5330952" cy="3703320"/>
          </a:xfrm>
          <a:prstGeom prst="rect">
            <a:avLst/>
          </a:prstGeom>
          <a:solidFill>
            <a:srgbClr val="F1F5FA"/>
          </a:solidFill>
          <a:ln w="12700">
            <a:solidFill>
              <a:srgbClr val="D5E0EC"/>
            </a:solidFill>
            <a:prstDash val="solid"/>
          </a:ln>
        </p:spPr>
        <p:txBody>
          <a:bodyPr/>
          <a:lstStyle/>
          <a:p>
            <a:endParaRPr lang="en-ID"/>
          </a:p>
        </p:txBody>
      </p:sp>
      <p:sp>
        <p:nvSpPr>
          <p:cNvPr id="9" name="section accent">
            <a:extLst>
              <a:ext uri="{C183D7F6-B498-43B3-948B-1728B52AA6E4}">
                <adec:decorative xmlns:adec="http://schemas.microsoft.com/office/drawing/2017/decorative" val="1"/>
              </a:ext>
            </a:extLst>
          </p:cNvPr>
          <p:cNvSpPr/>
          <p:nvPr/>
        </p:nvSpPr>
        <p:spPr>
          <a:xfrm>
            <a:off x="640080" y="1828800"/>
            <a:ext cx="109728" cy="3703320"/>
          </a:xfrm>
          <a:prstGeom prst="rect">
            <a:avLst/>
          </a:prstGeom>
          <a:solidFill>
            <a:srgbClr val="0B3C6E"/>
          </a:solidFill>
          <a:ln/>
        </p:spPr>
        <p:txBody>
          <a:bodyPr/>
          <a:lstStyle/>
          <a:p>
            <a:endParaRPr lang="en-ID"/>
          </a:p>
        </p:txBody>
      </p:sp>
      <p:sp>
        <p:nvSpPr>
          <p:cNvPr id="10" name="Text 7"/>
          <p:cNvSpPr/>
          <p:nvPr/>
        </p:nvSpPr>
        <p:spPr>
          <a:xfrm>
            <a:off x="960120" y="2029968"/>
            <a:ext cx="4782312" cy="457200"/>
          </a:xfrm>
          <a:prstGeom prst="rect">
            <a:avLst/>
          </a:prstGeom>
          <a:noFill/>
          <a:ln/>
        </p:spPr>
        <p:txBody>
          <a:bodyPr wrap="square" rtlCol="0" anchor="ctr"/>
          <a:lstStyle/>
          <a:p>
            <a:pPr marL="0" indent="0">
              <a:buNone/>
            </a:pPr>
            <a:r>
              <a:rPr lang="en-US" sz="1600" b="1" dirty="0">
                <a:solidFill>
                  <a:srgbClr val="0B3C6E"/>
                </a:solidFill>
                <a:latin typeface="Georgia" pitchFamily="34" charset="0"/>
                <a:ea typeface="Georgia" pitchFamily="34" charset="-122"/>
                <a:cs typeface="Georgia" pitchFamily="34" charset="-120"/>
              </a:rPr>
              <a:t>Telah diimplementasikan</a:t>
            </a:r>
            <a:endParaRPr lang="en-US" sz="1600" dirty="0"/>
          </a:p>
        </p:txBody>
      </p:sp>
      <p:sp>
        <p:nvSpPr>
          <p:cNvPr id="11" name="Text 8"/>
          <p:cNvSpPr/>
          <p:nvPr/>
        </p:nvSpPr>
        <p:spPr>
          <a:xfrm>
            <a:off x="960120" y="2560320"/>
            <a:ext cx="4736592" cy="2788920"/>
          </a:xfrm>
          <a:prstGeom prst="rect">
            <a:avLst/>
          </a:prstGeom>
          <a:noFill/>
          <a:ln/>
        </p:spPr>
        <p:txBody>
          <a:bodyPr wrap="square" rtlCol="0" anchor="t"/>
          <a:lstStyle/>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profil clinical, question, dan answer;</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kamus singkatan, typo, dan unit;</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perlindungan token klinis;</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segmentasi deterministik;</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deteksi boilerplate tanpa menghapus teks;</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audit trail dan versioning;</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runner 150 pasangan Alodokter; tujuh unit test normalizer.</a:t>
            </a:r>
            <a:endParaRPr lang="en-US" sz="1300" dirty="0"/>
          </a:p>
        </p:txBody>
      </p:sp>
      <p:sp>
        <p:nvSpPr>
          <p:cNvPr id="12" name="section card">
            <a:extLst>
              <a:ext uri="{C183D7F6-B498-43B3-948B-1728B52AA6E4}">
                <adec:decorative xmlns:adec="http://schemas.microsoft.com/office/drawing/2017/decorative" val="1"/>
              </a:ext>
            </a:extLst>
          </p:cNvPr>
          <p:cNvSpPr/>
          <p:nvPr/>
        </p:nvSpPr>
        <p:spPr>
          <a:xfrm>
            <a:off x="6281928" y="1828800"/>
            <a:ext cx="5330952" cy="3703320"/>
          </a:xfrm>
          <a:prstGeom prst="rect">
            <a:avLst/>
          </a:prstGeom>
          <a:solidFill>
            <a:srgbClr val="F1F5FA"/>
          </a:solidFill>
          <a:ln w="12700">
            <a:solidFill>
              <a:srgbClr val="D5E0EC"/>
            </a:solidFill>
            <a:prstDash val="solid"/>
          </a:ln>
        </p:spPr>
        <p:txBody>
          <a:bodyPr/>
          <a:lstStyle/>
          <a:p>
            <a:endParaRPr lang="en-ID"/>
          </a:p>
        </p:txBody>
      </p:sp>
      <p:sp>
        <p:nvSpPr>
          <p:cNvPr id="13" name="section accent">
            <a:extLst>
              <a:ext uri="{C183D7F6-B498-43B3-948B-1728B52AA6E4}">
                <adec:decorative xmlns:adec="http://schemas.microsoft.com/office/drawing/2017/decorative" val="1"/>
              </a:ext>
            </a:extLst>
          </p:cNvPr>
          <p:cNvSpPr/>
          <p:nvPr/>
        </p:nvSpPr>
        <p:spPr>
          <a:xfrm>
            <a:off x="6281928" y="1828800"/>
            <a:ext cx="109728" cy="3703320"/>
          </a:xfrm>
          <a:prstGeom prst="rect">
            <a:avLst/>
          </a:prstGeom>
          <a:solidFill>
            <a:srgbClr val="B98A1E"/>
          </a:solidFill>
          <a:ln/>
        </p:spPr>
        <p:txBody>
          <a:bodyPr/>
          <a:lstStyle/>
          <a:p>
            <a:endParaRPr lang="en-ID"/>
          </a:p>
        </p:txBody>
      </p:sp>
      <p:sp>
        <p:nvSpPr>
          <p:cNvPr id="14" name="Text 11"/>
          <p:cNvSpPr/>
          <p:nvPr/>
        </p:nvSpPr>
        <p:spPr>
          <a:xfrm>
            <a:off x="6601968" y="2029968"/>
            <a:ext cx="4782312" cy="457200"/>
          </a:xfrm>
          <a:prstGeom prst="rect">
            <a:avLst/>
          </a:prstGeom>
          <a:noFill/>
          <a:ln/>
        </p:spPr>
        <p:txBody>
          <a:bodyPr wrap="square" rtlCol="0" anchor="ctr"/>
          <a:lstStyle/>
          <a:p>
            <a:pPr marL="0" indent="0">
              <a:buNone/>
            </a:pPr>
            <a:r>
              <a:rPr lang="en-US" sz="1600" b="1" dirty="0">
                <a:solidFill>
                  <a:srgbClr val="0B3C6E"/>
                </a:solidFill>
                <a:latin typeface="Georgia" pitchFamily="34" charset="0"/>
                <a:ea typeface="Georgia" pitchFamily="34" charset="-122"/>
                <a:cs typeface="Georgia" pitchFamily="34" charset="-120"/>
              </a:rPr>
              <a:t>Audit kecil</a:t>
            </a:r>
            <a:endParaRPr lang="en-US" sz="1600" dirty="0"/>
          </a:p>
        </p:txBody>
      </p:sp>
      <p:sp>
        <p:nvSpPr>
          <p:cNvPr id="15" name="Text 12"/>
          <p:cNvSpPr/>
          <p:nvPr/>
        </p:nvSpPr>
        <p:spPr>
          <a:xfrm>
            <a:off x="6601968" y="2560320"/>
            <a:ext cx="4736592" cy="2788920"/>
          </a:xfrm>
          <a:prstGeom prst="rect">
            <a:avLst/>
          </a:prstGeom>
          <a:noFill/>
          <a:ln/>
        </p:spPr>
        <p:txBody>
          <a:bodyPr wrap="square" rtlCol="0" anchor="t"/>
          <a:lstStyle/>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5/5 exact normalized match;</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14 ekspansi singkatan;</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3 koreksi typo;</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5 normalisasi unit.</a:t>
            </a:r>
            <a:endParaRPr lang="en-US" sz="1300" dirty="0"/>
          </a:p>
        </p:txBody>
      </p:sp>
      <p:sp>
        <p:nvSpPr>
          <p:cNvPr id="16" name="callout background">
            <a:extLst>
              <a:ext uri="{C183D7F6-B498-43B3-948B-1728B52AA6E4}">
                <adec:decorative xmlns:adec="http://schemas.microsoft.com/office/drawing/2017/decorative" val="1"/>
              </a:ext>
            </a:extLst>
          </p:cNvPr>
          <p:cNvSpPr/>
          <p:nvPr/>
        </p:nvSpPr>
        <p:spPr>
          <a:xfrm>
            <a:off x="640080" y="5669280"/>
            <a:ext cx="10972800" cy="640080"/>
          </a:xfrm>
          <a:prstGeom prst="roundRect">
            <a:avLst>
              <a:gd name="adj" fmla="val 8571"/>
            </a:avLst>
          </a:prstGeom>
          <a:solidFill>
            <a:srgbClr val="F7EFD8"/>
          </a:solidFill>
          <a:ln/>
        </p:spPr>
        <p:txBody>
          <a:bodyPr/>
          <a:lstStyle/>
          <a:p>
            <a:endParaRPr lang="en-ID"/>
          </a:p>
        </p:txBody>
      </p:sp>
      <p:sp>
        <p:nvSpPr>
          <p:cNvPr id="17" name="Text 14"/>
          <p:cNvSpPr/>
          <p:nvPr/>
        </p:nvSpPr>
        <p:spPr>
          <a:xfrm>
            <a:off x="896112" y="5669280"/>
            <a:ext cx="10460736" cy="64008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Keterbatasan:  </a:t>
            </a:r>
            <a:r>
              <a:rPr lang="en-US" sz="1350" dirty="0">
                <a:solidFill>
                  <a:srgbClr val="26313D"/>
                </a:solidFill>
                <a:latin typeface="Calibri" pitchFamily="34" charset="0"/>
                <a:ea typeface="Calibri" pitchFamily="34" charset="-122"/>
                <a:cs typeface="Calibri" pitchFamily="34" charset="-120"/>
              </a:rPr>
              <a:t>hasil 100% berasal dari lima kasus gold terkontrol; evaluasi lebih besar tetap diperlukan.</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28</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PROGRES · TAHAP 2</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highlight>
                  <a:srgbClr val="FFFF00"/>
                </a:highlight>
                <a:latin typeface="Georgia" pitchFamily="34" charset="0"/>
                <a:ea typeface="Georgia" pitchFamily="34" charset="-122"/>
                <a:cs typeface="Georgia" pitchFamily="34" charset="-120"/>
              </a:rPr>
              <a:t>Mengapa Tahap 2 Lebih dari NER </a:t>
            </a:r>
            <a:r>
              <a:rPr lang="en-US" sz="2700" b="1" dirty="0" err="1">
                <a:solidFill>
                  <a:srgbClr val="0B3C6E"/>
                </a:solidFill>
                <a:highlight>
                  <a:srgbClr val="FFFF00"/>
                </a:highlight>
                <a:latin typeface="Georgia" pitchFamily="34" charset="0"/>
                <a:ea typeface="Georgia" pitchFamily="34" charset="-122"/>
                <a:cs typeface="Georgia" pitchFamily="34" charset="-120"/>
              </a:rPr>
              <a:t>Biasa</a:t>
            </a:r>
            <a:r>
              <a:rPr lang="en-US" sz="2700" b="1" dirty="0">
                <a:solidFill>
                  <a:srgbClr val="0B3C6E"/>
                </a:solidFill>
                <a:highlight>
                  <a:srgbClr val="FFFF00"/>
                </a:highlight>
                <a:latin typeface="Georgia" pitchFamily="34" charset="0"/>
                <a:ea typeface="Georgia" pitchFamily="34" charset="-122"/>
                <a:cs typeface="Georgia" pitchFamily="34" charset="-120"/>
              </a:rPr>
              <a:t>? Belum </a:t>
            </a:r>
            <a:r>
              <a:rPr lang="en-US" sz="2700" b="1" dirty="0" err="1">
                <a:solidFill>
                  <a:srgbClr val="0B3C6E"/>
                </a:solidFill>
                <a:highlight>
                  <a:srgbClr val="FFFF00"/>
                </a:highlight>
                <a:latin typeface="Georgia" pitchFamily="34" charset="0"/>
                <a:ea typeface="Georgia" pitchFamily="34" charset="-122"/>
                <a:cs typeface="Georgia" pitchFamily="34" charset="-120"/>
              </a:rPr>
              <a:t>selesai</a:t>
            </a:r>
            <a:r>
              <a:rPr lang="en-US" sz="2700" b="1" dirty="0">
                <a:solidFill>
                  <a:srgbClr val="0B3C6E"/>
                </a:solidFill>
                <a:highlight>
                  <a:srgbClr val="FFFF00"/>
                </a:highlight>
                <a:latin typeface="Georgia" pitchFamily="34" charset="0"/>
                <a:ea typeface="Georgia" pitchFamily="34" charset="-122"/>
                <a:cs typeface="Georgia" pitchFamily="34" charset="-120"/>
              </a:rPr>
              <a:t> </a:t>
            </a:r>
            <a:r>
              <a:rPr lang="en-US" sz="2700" b="1" dirty="0" err="1">
                <a:solidFill>
                  <a:srgbClr val="0B3C6E"/>
                </a:solidFill>
                <a:highlight>
                  <a:srgbClr val="FFFF00"/>
                </a:highlight>
                <a:latin typeface="Georgia" pitchFamily="34" charset="0"/>
                <a:ea typeface="Georgia" pitchFamily="34" charset="-122"/>
                <a:cs typeface="Georgia" pitchFamily="34" charset="-120"/>
              </a:rPr>
              <a:t>dilakukan</a:t>
            </a:r>
            <a:endParaRPr lang="en-US" sz="2700" dirty="0">
              <a:highlight>
                <a:srgbClr val="FFFF00"/>
              </a:highlight>
            </a:endParaRPr>
          </a:p>
        </p:txBody>
      </p:sp>
      <p:sp>
        <p:nvSpPr>
          <p:cNvPr id="8" name="Text 5"/>
          <p:cNvSpPr/>
          <p:nvPr/>
        </p:nvSpPr>
        <p:spPr>
          <a:xfrm>
            <a:off x="640080" y="1737360"/>
            <a:ext cx="10972800" cy="365760"/>
          </a:xfrm>
          <a:prstGeom prst="rect">
            <a:avLst/>
          </a:prstGeom>
          <a:noFill/>
          <a:ln/>
        </p:spPr>
        <p:txBody>
          <a:bodyPr wrap="square" rtlCol="0" anchor="ctr"/>
          <a:lstStyle/>
          <a:p>
            <a:pPr marL="0" indent="0">
              <a:buNone/>
            </a:pPr>
            <a:r>
              <a:rPr lang="en-US" sz="1500" b="1" dirty="0">
                <a:solidFill>
                  <a:srgbClr val="0B3C6E"/>
                </a:solidFill>
                <a:latin typeface="Calibri" pitchFamily="34" charset="0"/>
                <a:ea typeface="Calibri" pitchFamily="34" charset="-122"/>
                <a:cs typeface="Calibri" pitchFamily="34" charset="-120"/>
              </a:rPr>
              <a:t>Entitas harus membawa konteks klinis:</a:t>
            </a:r>
            <a:endParaRPr lang="en-US" sz="1500" dirty="0"/>
          </a:p>
        </p:txBody>
      </p:sp>
      <p:sp>
        <p:nvSpPr>
          <p:cNvPr id="9" name="formula box">
            <a:extLst>
              <a:ext uri="{C183D7F6-B498-43B3-948B-1728B52AA6E4}">
                <adec:decorative xmlns:adec="http://schemas.microsoft.com/office/drawing/2017/decorative" val="1"/>
              </a:ext>
            </a:extLst>
          </p:cNvPr>
          <p:cNvSpPr/>
          <p:nvPr/>
        </p:nvSpPr>
        <p:spPr>
          <a:xfrm>
            <a:off x="640080" y="2148840"/>
            <a:ext cx="10972800" cy="1371600"/>
          </a:xfrm>
          <a:prstGeom prst="roundRect">
            <a:avLst>
              <a:gd name="adj" fmla="val 3333"/>
            </a:avLst>
          </a:prstGeom>
          <a:solidFill>
            <a:srgbClr val="F1F5FA"/>
          </a:solidFill>
          <a:ln w="12700">
            <a:solidFill>
              <a:srgbClr val="D5E0EC"/>
            </a:solidFill>
            <a:prstDash val="solid"/>
          </a:ln>
        </p:spPr>
        <p:txBody>
          <a:bodyPr/>
          <a:lstStyle/>
          <a:p>
            <a:endParaRPr lang="en-ID"/>
          </a:p>
        </p:txBody>
      </p:sp>
      <p:sp>
        <p:nvSpPr>
          <p:cNvPr id="10" name="Text 7"/>
          <p:cNvSpPr/>
          <p:nvPr/>
        </p:nvSpPr>
        <p:spPr>
          <a:xfrm>
            <a:off x="914400" y="2148840"/>
            <a:ext cx="10424160" cy="1371600"/>
          </a:xfrm>
          <a:prstGeom prst="rect">
            <a:avLst/>
          </a:prstGeom>
          <a:noFill/>
          <a:ln/>
        </p:spPr>
        <p:txBody>
          <a:bodyPr wrap="square" rtlCol="0" anchor="ctr"/>
          <a:lstStyle/>
          <a:p>
            <a:pPr marL="0" indent="0" algn="ctr">
              <a:lnSpc>
                <a:spcPct val="130000"/>
              </a:lnSpc>
              <a:buNone/>
            </a:pPr>
            <a:r>
              <a:rPr lang="en-US" sz="1500" dirty="0">
                <a:solidFill>
                  <a:srgbClr val="26313D"/>
                </a:solidFill>
                <a:latin typeface="Consolas" pitchFamily="34" charset="0"/>
                <a:ea typeface="Consolas" pitchFamily="34" charset="-122"/>
                <a:cs typeface="Consolas" pitchFamily="34" charset="-120"/>
              </a:rPr>
              <a:t>mention + entity_type + assertion + temporal + experiencer + epistemic status + value/unit/dose/frequency/route + evidence &amp; offset</a:t>
            </a:r>
            <a:endParaRPr lang="en-US" sz="1500" dirty="0"/>
          </a:p>
        </p:txBody>
      </p:sp>
      <p:sp>
        <p:nvSpPr>
          <p:cNvPr id="11" name="example box">
            <a:extLst>
              <a:ext uri="{C183D7F6-B498-43B3-948B-1728B52AA6E4}">
                <adec:decorative xmlns:adec="http://schemas.microsoft.com/office/drawing/2017/decorative" val="1"/>
              </a:ext>
            </a:extLst>
          </p:cNvPr>
          <p:cNvSpPr/>
          <p:nvPr/>
        </p:nvSpPr>
        <p:spPr>
          <a:xfrm>
            <a:off x="640080" y="3794760"/>
            <a:ext cx="10972800" cy="1417320"/>
          </a:xfrm>
          <a:prstGeom prst="roundRect">
            <a:avLst>
              <a:gd name="adj" fmla="val 3226"/>
            </a:avLst>
          </a:prstGeom>
          <a:solidFill>
            <a:srgbClr val="F7EFD8"/>
          </a:solidFill>
          <a:ln/>
        </p:spPr>
        <p:txBody>
          <a:bodyPr/>
          <a:lstStyle/>
          <a:p>
            <a:endParaRPr lang="en-ID"/>
          </a:p>
        </p:txBody>
      </p:sp>
      <p:sp>
        <p:nvSpPr>
          <p:cNvPr id="12" name="Text 9"/>
          <p:cNvSpPr/>
          <p:nvPr/>
        </p:nvSpPr>
        <p:spPr>
          <a:xfrm>
            <a:off x="914400" y="3794760"/>
            <a:ext cx="10424160" cy="1417320"/>
          </a:xfrm>
          <a:prstGeom prst="rect">
            <a:avLst/>
          </a:prstGeom>
          <a:noFill/>
          <a:ln/>
        </p:spPr>
        <p:txBody>
          <a:bodyPr wrap="square" rtlCol="0" anchor="ctr"/>
          <a:lstStyle/>
          <a:p>
            <a:pPr marL="0" indent="0">
              <a:lnSpc>
                <a:spcPct val="120000"/>
              </a:lnSpc>
              <a:buNone/>
            </a:pPr>
            <a:r>
              <a:rPr lang="en-US" sz="1450" b="1" dirty="0">
                <a:solidFill>
                  <a:srgbClr val="7A5C0F"/>
                </a:solidFill>
                <a:latin typeface="Calibri" pitchFamily="34" charset="0"/>
                <a:ea typeface="Calibri" pitchFamily="34" charset="-122"/>
                <a:cs typeface="Calibri" pitchFamily="34" charset="-120"/>
              </a:rPr>
              <a:t>Contoh:  </a:t>
            </a:r>
            <a:r>
              <a:rPr lang="en-US" sz="1450" i="1" dirty="0">
                <a:solidFill>
                  <a:srgbClr val="26313D"/>
                </a:solidFill>
                <a:latin typeface="Calibri" pitchFamily="34" charset="0"/>
                <a:ea typeface="Calibri" pitchFamily="34" charset="-122"/>
                <a:cs typeface="Calibri" pitchFamily="34" charset="-120"/>
              </a:rPr>
              <a:t>“ibu saya menderita diabetes”
</a:t>
            </a:r>
            <a:r>
              <a:rPr lang="en-US" sz="1450" dirty="0">
                <a:solidFill>
                  <a:srgbClr val="26313D"/>
                </a:solidFill>
                <a:latin typeface="Calibri" pitchFamily="34" charset="0"/>
                <a:ea typeface="Calibri" pitchFamily="34" charset="-122"/>
                <a:cs typeface="Calibri" pitchFamily="34" charset="-120"/>
              </a:rPr>
              <a:t>entitas: diabetes  ·  tipe: condition  ·  experiencer: family  ·  bukan kondisi penanya.</a:t>
            </a:r>
            <a:endParaRPr lang="en-US" sz="14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31</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TAHAP 2 ·</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err="1">
                <a:solidFill>
                  <a:srgbClr val="0B3C6E"/>
                </a:solidFill>
                <a:latin typeface="Georgia" pitchFamily="34" charset="0"/>
                <a:ea typeface="Georgia" pitchFamily="34" charset="-122"/>
                <a:cs typeface="Georgia" pitchFamily="34" charset="-120"/>
              </a:rPr>
              <a:t>Taksonomi</a:t>
            </a:r>
            <a:r>
              <a:rPr lang="en-US" sz="2700" b="1" dirty="0">
                <a:solidFill>
                  <a:srgbClr val="0B3C6E"/>
                </a:solidFill>
                <a:latin typeface="Georgia" pitchFamily="34" charset="0"/>
                <a:ea typeface="Georgia" pitchFamily="34" charset="-122"/>
                <a:cs typeface="Georgia" pitchFamily="34" charset="-120"/>
              </a:rPr>
              <a:t> Entitas</a:t>
            </a:r>
            <a:endParaRPr lang="en-US" sz="2700" dirty="0"/>
          </a:p>
        </p:txBody>
      </p:sp>
      <p:sp>
        <p:nvSpPr>
          <p:cNvPr id="8" name="chip">
            <a:extLst>
              <a:ext uri="{C183D7F6-B498-43B3-948B-1728B52AA6E4}">
                <adec:decorative xmlns:adec="http://schemas.microsoft.com/office/drawing/2017/decorative" val="1"/>
              </a:ext>
            </a:extLst>
          </p:cNvPr>
          <p:cNvSpPr/>
          <p:nvPr/>
        </p:nvSpPr>
        <p:spPr>
          <a:xfrm>
            <a:off x="640080" y="1828800"/>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9" name="Text 6"/>
          <p:cNvSpPr/>
          <p:nvPr/>
        </p:nvSpPr>
        <p:spPr>
          <a:xfrm>
            <a:off x="731520" y="1828800"/>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condition</a:t>
            </a:r>
            <a:endParaRPr lang="en-US" sz="1300" dirty="0"/>
          </a:p>
        </p:txBody>
      </p:sp>
      <p:sp>
        <p:nvSpPr>
          <p:cNvPr id="10" name="chip">
            <a:extLst>
              <a:ext uri="{C183D7F6-B498-43B3-948B-1728B52AA6E4}">
                <adec:decorative xmlns:adec="http://schemas.microsoft.com/office/drawing/2017/decorative" val="1"/>
              </a:ext>
            </a:extLst>
          </p:cNvPr>
          <p:cNvSpPr/>
          <p:nvPr/>
        </p:nvSpPr>
        <p:spPr>
          <a:xfrm>
            <a:off x="3438144" y="1828800"/>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11" name="Text 8"/>
          <p:cNvSpPr/>
          <p:nvPr/>
        </p:nvSpPr>
        <p:spPr>
          <a:xfrm>
            <a:off x="3529584" y="1828800"/>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symptom</a:t>
            </a:r>
            <a:endParaRPr lang="en-US" sz="1300" dirty="0"/>
          </a:p>
        </p:txBody>
      </p:sp>
      <p:sp>
        <p:nvSpPr>
          <p:cNvPr id="12" name="chip">
            <a:extLst>
              <a:ext uri="{C183D7F6-B498-43B3-948B-1728B52AA6E4}">
                <adec:decorative xmlns:adec="http://schemas.microsoft.com/office/drawing/2017/decorative" val="1"/>
              </a:ext>
            </a:extLst>
          </p:cNvPr>
          <p:cNvSpPr/>
          <p:nvPr/>
        </p:nvSpPr>
        <p:spPr>
          <a:xfrm>
            <a:off x="6236208" y="1828800"/>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13" name="Text 10"/>
          <p:cNvSpPr/>
          <p:nvPr/>
        </p:nvSpPr>
        <p:spPr>
          <a:xfrm>
            <a:off x="6327648" y="1828800"/>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clinical_finding</a:t>
            </a:r>
            <a:endParaRPr lang="en-US" sz="1300" dirty="0"/>
          </a:p>
        </p:txBody>
      </p:sp>
      <p:sp>
        <p:nvSpPr>
          <p:cNvPr id="14" name="chip">
            <a:extLst>
              <a:ext uri="{C183D7F6-B498-43B3-948B-1728B52AA6E4}">
                <adec:decorative xmlns:adec="http://schemas.microsoft.com/office/drawing/2017/decorative" val="1"/>
              </a:ext>
            </a:extLst>
          </p:cNvPr>
          <p:cNvSpPr/>
          <p:nvPr/>
        </p:nvSpPr>
        <p:spPr>
          <a:xfrm>
            <a:off x="9034272" y="1828800"/>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15" name="Text 12"/>
          <p:cNvSpPr/>
          <p:nvPr/>
        </p:nvSpPr>
        <p:spPr>
          <a:xfrm>
            <a:off x="9125712" y="1828800"/>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measurement</a:t>
            </a:r>
            <a:endParaRPr lang="en-US" sz="1300" dirty="0"/>
          </a:p>
        </p:txBody>
      </p:sp>
      <p:sp>
        <p:nvSpPr>
          <p:cNvPr id="16" name="chip">
            <a:extLst>
              <a:ext uri="{C183D7F6-B498-43B3-948B-1728B52AA6E4}">
                <adec:decorative xmlns:adec="http://schemas.microsoft.com/office/drawing/2017/decorative" val="1"/>
              </a:ext>
            </a:extLst>
          </p:cNvPr>
          <p:cNvSpPr/>
          <p:nvPr/>
        </p:nvSpPr>
        <p:spPr>
          <a:xfrm>
            <a:off x="640080" y="2615184"/>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17" name="Text 14"/>
          <p:cNvSpPr/>
          <p:nvPr/>
        </p:nvSpPr>
        <p:spPr>
          <a:xfrm>
            <a:off x="731520" y="2615184"/>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drug</a:t>
            </a:r>
            <a:endParaRPr lang="en-US" sz="1300" dirty="0"/>
          </a:p>
        </p:txBody>
      </p:sp>
      <p:sp>
        <p:nvSpPr>
          <p:cNvPr id="18" name="chip">
            <a:extLst>
              <a:ext uri="{C183D7F6-B498-43B3-948B-1728B52AA6E4}">
                <adec:decorative xmlns:adec="http://schemas.microsoft.com/office/drawing/2017/decorative" val="1"/>
              </a:ext>
            </a:extLst>
          </p:cNvPr>
          <p:cNvSpPr/>
          <p:nvPr/>
        </p:nvSpPr>
        <p:spPr>
          <a:xfrm>
            <a:off x="3438144" y="2615184"/>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19" name="Text 16"/>
          <p:cNvSpPr/>
          <p:nvPr/>
        </p:nvSpPr>
        <p:spPr>
          <a:xfrm>
            <a:off x="3529584" y="2615184"/>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procedure</a:t>
            </a:r>
            <a:endParaRPr lang="en-US" sz="1300" dirty="0"/>
          </a:p>
        </p:txBody>
      </p:sp>
      <p:sp>
        <p:nvSpPr>
          <p:cNvPr id="20" name="chip">
            <a:extLst>
              <a:ext uri="{C183D7F6-B498-43B3-948B-1728B52AA6E4}">
                <adec:decorative xmlns:adec="http://schemas.microsoft.com/office/drawing/2017/decorative" val="1"/>
              </a:ext>
            </a:extLst>
          </p:cNvPr>
          <p:cNvSpPr/>
          <p:nvPr/>
        </p:nvSpPr>
        <p:spPr>
          <a:xfrm>
            <a:off x="6236208" y="2615184"/>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21" name="Text 18"/>
          <p:cNvSpPr/>
          <p:nvPr/>
        </p:nvSpPr>
        <p:spPr>
          <a:xfrm>
            <a:off x="6327648" y="2615184"/>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anatomy</a:t>
            </a:r>
            <a:endParaRPr lang="en-US" sz="1300" dirty="0"/>
          </a:p>
        </p:txBody>
      </p:sp>
      <p:sp>
        <p:nvSpPr>
          <p:cNvPr id="22" name="chip">
            <a:extLst>
              <a:ext uri="{C183D7F6-B498-43B3-948B-1728B52AA6E4}">
                <adec:decorative xmlns:adec="http://schemas.microsoft.com/office/drawing/2017/decorative" val="1"/>
              </a:ext>
            </a:extLst>
          </p:cNvPr>
          <p:cNvSpPr/>
          <p:nvPr/>
        </p:nvSpPr>
        <p:spPr>
          <a:xfrm>
            <a:off x="9034272" y="2615184"/>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23" name="Text 20"/>
          <p:cNvSpPr/>
          <p:nvPr/>
        </p:nvSpPr>
        <p:spPr>
          <a:xfrm>
            <a:off x="9125712" y="2615184"/>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demographic</a:t>
            </a:r>
            <a:endParaRPr lang="en-US" sz="1300" dirty="0"/>
          </a:p>
        </p:txBody>
      </p:sp>
      <p:sp>
        <p:nvSpPr>
          <p:cNvPr id="24" name="chip">
            <a:extLst>
              <a:ext uri="{C183D7F6-B498-43B3-948B-1728B52AA6E4}">
                <adec:decorative xmlns:adec="http://schemas.microsoft.com/office/drawing/2017/decorative" val="1"/>
              </a:ext>
            </a:extLst>
          </p:cNvPr>
          <p:cNvSpPr/>
          <p:nvPr/>
        </p:nvSpPr>
        <p:spPr>
          <a:xfrm>
            <a:off x="640080" y="3401568"/>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25" name="Text 22"/>
          <p:cNvSpPr/>
          <p:nvPr/>
        </p:nvSpPr>
        <p:spPr>
          <a:xfrm>
            <a:off x="731520" y="3401568"/>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unit</a:t>
            </a:r>
            <a:endParaRPr lang="en-US" sz="1300" dirty="0"/>
          </a:p>
        </p:txBody>
      </p:sp>
      <p:sp>
        <p:nvSpPr>
          <p:cNvPr id="26" name="chip">
            <a:extLst>
              <a:ext uri="{C183D7F6-B498-43B3-948B-1728B52AA6E4}">
                <adec:decorative xmlns:adec="http://schemas.microsoft.com/office/drawing/2017/decorative" val="1"/>
              </a:ext>
            </a:extLst>
          </p:cNvPr>
          <p:cNvSpPr/>
          <p:nvPr/>
        </p:nvSpPr>
        <p:spPr>
          <a:xfrm>
            <a:off x="3438144" y="3401568"/>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27" name="Text 24"/>
          <p:cNvSpPr/>
          <p:nvPr/>
        </p:nvSpPr>
        <p:spPr>
          <a:xfrm>
            <a:off x="3529584" y="3401568"/>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visit</a:t>
            </a:r>
            <a:endParaRPr lang="en-US" sz="1300" dirty="0"/>
          </a:p>
        </p:txBody>
      </p:sp>
      <p:sp>
        <p:nvSpPr>
          <p:cNvPr id="28" name="chip">
            <a:extLst>
              <a:ext uri="{C183D7F6-B498-43B3-948B-1728B52AA6E4}">
                <adec:decorative xmlns:adec="http://schemas.microsoft.com/office/drawing/2017/decorative" val="1"/>
              </a:ext>
            </a:extLst>
          </p:cNvPr>
          <p:cNvSpPr/>
          <p:nvPr/>
        </p:nvSpPr>
        <p:spPr>
          <a:xfrm>
            <a:off x="6236208" y="3401568"/>
            <a:ext cx="2578608" cy="566928"/>
          </a:xfrm>
          <a:prstGeom prst="roundRect">
            <a:avLst>
              <a:gd name="adj" fmla="val 8065"/>
            </a:avLst>
          </a:prstGeom>
          <a:solidFill>
            <a:srgbClr val="EAF1F8"/>
          </a:solidFill>
          <a:ln w="12700">
            <a:solidFill>
              <a:srgbClr val="D5E0EC"/>
            </a:solidFill>
            <a:prstDash val="solid"/>
          </a:ln>
        </p:spPr>
        <p:txBody>
          <a:bodyPr/>
          <a:lstStyle/>
          <a:p>
            <a:endParaRPr lang="en-ID"/>
          </a:p>
        </p:txBody>
      </p:sp>
      <p:sp>
        <p:nvSpPr>
          <p:cNvPr id="29" name="Text 26"/>
          <p:cNvSpPr/>
          <p:nvPr/>
        </p:nvSpPr>
        <p:spPr>
          <a:xfrm>
            <a:off x="6327648" y="3401568"/>
            <a:ext cx="2395728" cy="566928"/>
          </a:xfrm>
          <a:prstGeom prst="rect">
            <a:avLst/>
          </a:prstGeom>
          <a:noFill/>
          <a:ln/>
        </p:spPr>
        <p:txBody>
          <a:bodyPr wrap="square" rtlCol="0" anchor="ctr"/>
          <a:lstStyle/>
          <a:p>
            <a:pPr marL="0" indent="0" algn="ctr">
              <a:buNone/>
            </a:pPr>
            <a:r>
              <a:rPr lang="en-US" sz="1300" b="1" dirty="0">
                <a:solidFill>
                  <a:srgbClr val="0B3C6E"/>
                </a:solidFill>
                <a:latin typeface="Calibri" pitchFamily="34" charset="0"/>
                <a:ea typeface="Calibri" pitchFamily="34" charset="-122"/>
                <a:cs typeface="Calibri" pitchFamily="34" charset="-120"/>
              </a:rPr>
              <a:t>other</a:t>
            </a:r>
            <a:endParaRPr lang="en-US" sz="1300" dirty="0"/>
          </a:p>
        </p:txBody>
      </p:sp>
      <p:sp>
        <p:nvSpPr>
          <p:cNvPr id="30" name="Text 27"/>
          <p:cNvSpPr/>
          <p:nvPr/>
        </p:nvSpPr>
        <p:spPr>
          <a:xfrm>
            <a:off x="640080" y="4434840"/>
            <a:ext cx="10972800" cy="1645920"/>
          </a:xfrm>
          <a:prstGeom prst="rect">
            <a:avLst/>
          </a:prstGeom>
          <a:noFill/>
          <a:ln/>
        </p:spPr>
        <p:txBody>
          <a:bodyPr wrap="square" rtlCol="0" anchor="t"/>
          <a:lstStyle/>
          <a:p>
            <a:pPr marL="177800" indent="-177800">
              <a:lnSpc>
                <a:spcPct val="102000"/>
              </a:lnSpc>
              <a:spcAft>
                <a:spcPts val="700"/>
              </a:spcAft>
              <a:buSzPct val="100000"/>
              <a:buChar char="•"/>
            </a:pPr>
            <a:r>
              <a:rPr lang="en-US" sz="1400" dirty="0">
                <a:solidFill>
                  <a:srgbClr val="26313D"/>
                </a:solidFill>
                <a:latin typeface="Calibri" pitchFamily="34" charset="0"/>
                <a:ea typeface="Calibri" pitchFamily="34" charset="-122"/>
                <a:cs typeface="Calibri" pitchFamily="34" charset="-120"/>
              </a:rPr>
              <a:t>Cukup luas untuk konsultasi klinis dan dapat diarahkan ke domain terminologi.</a:t>
            </a:r>
            <a:endParaRPr lang="en-US" sz="1400" dirty="0"/>
          </a:p>
          <a:p>
            <a:pPr marL="177800" indent="-177800">
              <a:lnSpc>
                <a:spcPct val="102000"/>
              </a:lnSpc>
              <a:spcAft>
                <a:spcPts val="700"/>
              </a:spcAft>
              <a:buSzPct val="100000"/>
              <a:buChar char="•"/>
            </a:pPr>
            <a:r>
              <a:rPr lang="en-US" sz="1400" dirty="0">
                <a:solidFill>
                  <a:srgbClr val="26313D"/>
                </a:solidFill>
                <a:latin typeface="Calibri" pitchFamily="34" charset="0"/>
                <a:ea typeface="Calibri" pitchFamily="34" charset="-122"/>
                <a:cs typeface="Calibri" pitchFamily="34" charset="-120"/>
              </a:rPr>
              <a:t>Stabil untuk anotasi awal, dapat diperluas melalui adjudikasi.</a:t>
            </a:r>
            <a:endParaRPr lang="en-US" sz="1400" dirty="0"/>
          </a:p>
          <a:p>
            <a:pPr marL="177800" indent="-177800">
              <a:lnSpc>
                <a:spcPct val="102000"/>
              </a:lnSpc>
              <a:spcAft>
                <a:spcPts val="700"/>
              </a:spcAft>
              <a:buSzPct val="100000"/>
              <a:buChar char="•"/>
            </a:pPr>
            <a:r>
              <a:rPr lang="en-US" sz="1400" dirty="0">
                <a:solidFill>
                  <a:srgbClr val="26313D"/>
                </a:solidFill>
                <a:latin typeface="Calibri" pitchFamily="34" charset="0"/>
                <a:ea typeface="Calibri" pitchFamily="34" charset="-122"/>
                <a:cs typeface="Calibri" pitchFamily="34" charset="-120"/>
              </a:rPr>
              <a:t>other hanya digunakan bila tipe lain tidak sesuai dan wajib ditinjau.</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32</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TAHAP 2</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err="1">
                <a:solidFill>
                  <a:srgbClr val="0B3C6E"/>
                </a:solidFill>
                <a:latin typeface="Georgia" pitchFamily="34" charset="0"/>
                <a:ea typeface="Georgia" pitchFamily="34" charset="-122"/>
                <a:cs typeface="Georgia" pitchFamily="34" charset="-120"/>
              </a:rPr>
              <a:t>Atribut</a:t>
            </a:r>
            <a:r>
              <a:rPr lang="en-US" sz="2700" b="1" dirty="0">
                <a:solidFill>
                  <a:srgbClr val="0B3C6E"/>
                </a:solidFill>
                <a:latin typeface="Georgia" pitchFamily="34" charset="0"/>
                <a:ea typeface="Georgia" pitchFamily="34" charset="-122"/>
                <a:cs typeface="Georgia" pitchFamily="34" charset="-120"/>
              </a:rPr>
              <a:t> Entitas</a:t>
            </a:r>
            <a:endParaRPr lang="en-US" sz="27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881360" cy="3401568"/>
        </p:xfrm>
        <a:graphic>
          <a:graphicData uri="http://schemas.openxmlformats.org/drawingml/2006/table">
            <a:tbl>
              <a:tblPr/>
              <a:tblGrid>
                <a:gridCol w="2377440">
                  <a:extLst>
                    <a:ext uri="{9D8B030D-6E8A-4147-A177-3AD203B41FA5}">
                      <a16:colId xmlns:a16="http://schemas.microsoft.com/office/drawing/2014/main" val="20000"/>
                    </a:ext>
                  </a:extLst>
                </a:gridCol>
                <a:gridCol w="8503920">
                  <a:extLst>
                    <a:ext uri="{9D8B030D-6E8A-4147-A177-3AD203B41FA5}">
                      <a16:colId xmlns:a16="http://schemas.microsoft.com/office/drawing/2014/main" val="20001"/>
                    </a:ext>
                  </a:extLst>
                </a:gridCol>
              </a:tblGrid>
              <a:tr h="566928">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Kelompok</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Atribut</a:t>
                      </a:r>
                      <a:endParaRPr lang="en-US" sz="13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extLst>
                  <a:ext uri="{0D108BD9-81ED-4DB2-BD59-A6C34878D82A}">
                    <a16:rowId xmlns:a16="http://schemas.microsoft.com/office/drawing/2014/main" val="10000"/>
                  </a:ext>
                </a:extLst>
              </a:tr>
              <a:tr h="566928">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Identitas</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mention, normalized mention, base entity, entity type</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Semantik</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domain, categories, associated entities</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2"/>
                  </a:ext>
                </a:extLst>
              </a:tr>
              <a:tr h="566928">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Nilai klinis</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value, unit, dose, frequency, route, method, visit</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Konteks</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assertion, temporal, experiencer, epistemic status</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4"/>
                  </a:ext>
                </a:extLst>
              </a:tr>
              <a:tr h="566928">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Audit</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D"/>
                          </a:solidFill>
                          <a:latin typeface="Calibri" pitchFamily="34" charset="0"/>
                          <a:ea typeface="Calibri" pitchFamily="34" charset="-122"/>
                          <a:cs typeface="Calibri" pitchFamily="34" charset="-120"/>
                        </a:rPr>
                        <a:t>source field, speaker, sentence ID, offsets, evidence, confidence</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callout background">
            <a:extLst>
              <a:ext uri="{C183D7F6-B498-43B3-948B-1728B52AA6E4}">
                <adec:decorative xmlns:adec="http://schemas.microsoft.com/office/drawing/2017/decorative" val="1"/>
              </a:ext>
            </a:extLst>
          </p:cNvPr>
          <p:cNvSpPr/>
          <p:nvPr/>
        </p:nvSpPr>
        <p:spPr>
          <a:xfrm>
            <a:off x="640080" y="5257800"/>
            <a:ext cx="10972800" cy="640080"/>
          </a:xfrm>
          <a:prstGeom prst="roundRect">
            <a:avLst>
              <a:gd name="adj" fmla="val 8571"/>
            </a:avLst>
          </a:prstGeom>
          <a:solidFill>
            <a:srgbClr val="EAF1F8"/>
          </a:solidFill>
          <a:ln/>
        </p:spPr>
        <p:txBody>
          <a:bodyPr/>
          <a:lstStyle/>
          <a:p>
            <a:endParaRPr lang="en-ID"/>
          </a:p>
        </p:txBody>
      </p:sp>
      <p:sp>
        <p:nvSpPr>
          <p:cNvPr id="10" name="Text 6"/>
          <p:cNvSpPr/>
          <p:nvPr/>
        </p:nvSpPr>
        <p:spPr>
          <a:xfrm>
            <a:off x="896112" y="5257800"/>
            <a:ext cx="10460736" cy="640080"/>
          </a:xfrm>
          <a:prstGeom prst="rect">
            <a:avLst/>
          </a:prstGeom>
          <a:noFill/>
          <a:ln/>
        </p:spPr>
        <p:txBody>
          <a:bodyPr wrap="square" rtlCol="0" anchor="ctr"/>
          <a:lstStyle/>
          <a:p>
            <a:pPr marL="0" indent="0">
              <a:lnSpc>
                <a:spcPct val="100000"/>
              </a:lnSpc>
              <a:buNone/>
            </a:pPr>
            <a:r>
              <a:rPr lang="en-US" sz="1350" b="1" dirty="0">
                <a:solidFill>
                  <a:srgbClr val="14568F"/>
                </a:solidFill>
                <a:latin typeface="Calibri" pitchFamily="34" charset="0"/>
                <a:ea typeface="Calibri" pitchFamily="34" charset="-122"/>
                <a:cs typeface="Calibri" pitchFamily="34" charset="-120"/>
              </a:rPr>
              <a:t>Validasi utama:  </a:t>
            </a:r>
            <a:r>
              <a:rPr lang="en-US" sz="1350" dirty="0">
                <a:solidFill>
                  <a:srgbClr val="26313D"/>
                </a:solidFill>
                <a:latin typeface="Calibri" pitchFamily="34" charset="0"/>
                <a:ea typeface="Calibri" pitchFamily="34" charset="-122"/>
                <a:cs typeface="Calibri" pitchFamily="34" charset="-120"/>
              </a:rPr>
              <a:t>normalized_text[start_char:end_char] == mention</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33</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TAHAP 2 </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Hasil </a:t>
            </a:r>
            <a:r>
              <a:rPr lang="en-US" sz="2700" b="1" dirty="0" err="1">
                <a:solidFill>
                  <a:srgbClr val="0B3C6E"/>
                </a:solidFill>
                <a:latin typeface="Georgia" pitchFamily="34" charset="0"/>
                <a:ea typeface="Georgia" pitchFamily="34" charset="-122"/>
                <a:cs typeface="Georgia" pitchFamily="34" charset="-120"/>
              </a:rPr>
              <a:t>eksperimen</a:t>
            </a:r>
            <a:r>
              <a:rPr lang="en-US" sz="2700" b="1" dirty="0">
                <a:solidFill>
                  <a:srgbClr val="0B3C6E"/>
                </a:solidFill>
                <a:latin typeface="Georgia" pitchFamily="34" charset="0"/>
                <a:ea typeface="Georgia" pitchFamily="34" charset="-122"/>
                <a:cs typeface="Georgia" pitchFamily="34" charset="-120"/>
              </a:rPr>
              <a:t> </a:t>
            </a:r>
            <a:r>
              <a:rPr lang="en-US" sz="2700" b="1" dirty="0" err="1">
                <a:solidFill>
                  <a:srgbClr val="0B3C6E"/>
                </a:solidFill>
                <a:latin typeface="Georgia" pitchFamily="34" charset="0"/>
                <a:ea typeface="Georgia" pitchFamily="34" charset="-122"/>
                <a:cs typeface="Georgia" pitchFamily="34" charset="-120"/>
              </a:rPr>
              <a:t>tahap</a:t>
            </a:r>
            <a:r>
              <a:rPr lang="en-US" sz="2700" b="1" dirty="0">
                <a:solidFill>
                  <a:srgbClr val="0B3C6E"/>
                </a:solidFill>
                <a:latin typeface="Georgia" pitchFamily="34" charset="0"/>
                <a:ea typeface="Georgia" pitchFamily="34" charset="-122"/>
                <a:cs typeface="Georgia" pitchFamily="34" charset="-120"/>
              </a:rPr>
              <a:t> 2</a:t>
            </a:r>
            <a:endParaRPr lang="en-US" sz="2700" dirty="0"/>
          </a:p>
        </p:txBody>
      </p:sp>
      <p:sp>
        <p:nvSpPr>
          <p:cNvPr id="8" name="Text 5"/>
          <p:cNvSpPr/>
          <p:nvPr/>
        </p:nvSpPr>
        <p:spPr>
          <a:xfrm>
            <a:off x="640080" y="1828800"/>
            <a:ext cx="10972800" cy="3474720"/>
          </a:xfrm>
          <a:prstGeom prst="rect">
            <a:avLst/>
          </a:prstGeom>
          <a:noFill/>
          <a:ln/>
        </p:spPr>
        <p:txBody>
          <a:bodyPr wrap="square" rtlCol="0" anchor="t"/>
          <a:lstStyle/>
          <a:p>
            <a:pPr marL="177800" indent="-177800">
              <a:lnSpc>
                <a:spcPct val="102000"/>
              </a:lnSpc>
              <a:spcAft>
                <a:spcPts val="800"/>
              </a:spcAft>
              <a:buSzPct val="100000"/>
              <a:buChar char="•"/>
            </a:pPr>
            <a:r>
              <a:rPr lang="en-US" sz="1450" dirty="0">
                <a:solidFill>
                  <a:srgbClr val="26313D"/>
                </a:solidFill>
                <a:latin typeface="Calibri" pitchFamily="34" charset="0"/>
                <a:ea typeface="Calibri" pitchFamily="34" charset="-122"/>
                <a:cs typeface="Calibri" pitchFamily="34" charset="-120"/>
              </a:rPr>
              <a:t>300 dokumen Checkpoint 1 tervalidasi.</a:t>
            </a:r>
            <a:endParaRPr lang="en-US" sz="1450" dirty="0"/>
          </a:p>
          <a:p>
            <a:pPr marL="177800" indent="-177800">
              <a:lnSpc>
                <a:spcPct val="102000"/>
              </a:lnSpc>
              <a:spcAft>
                <a:spcPts val="800"/>
              </a:spcAft>
              <a:buSzPct val="100000"/>
              <a:buChar char="•"/>
            </a:pPr>
            <a:r>
              <a:rPr lang="en-US" sz="1450" dirty="0">
                <a:solidFill>
                  <a:srgbClr val="26313D"/>
                </a:solidFill>
                <a:latin typeface="Calibri" pitchFamily="34" charset="0"/>
                <a:ea typeface="Calibri" pitchFamily="34" charset="-122"/>
                <a:cs typeface="Calibri" pitchFamily="34" charset="-120"/>
              </a:rPr>
              <a:t>9 contoh positif lolos skema.</a:t>
            </a:r>
            <a:endParaRPr lang="en-US" sz="1450" dirty="0"/>
          </a:p>
          <a:p>
            <a:pPr marL="177800" indent="-177800">
              <a:lnSpc>
                <a:spcPct val="102000"/>
              </a:lnSpc>
              <a:spcAft>
                <a:spcPts val="800"/>
              </a:spcAft>
              <a:buSzPct val="100000"/>
              <a:buChar char="•"/>
            </a:pPr>
            <a:r>
              <a:rPr lang="en-US" sz="1450" dirty="0">
                <a:solidFill>
                  <a:srgbClr val="26313D"/>
                </a:solidFill>
                <a:latin typeface="Calibri" pitchFamily="34" charset="0"/>
                <a:ea typeface="Calibri" pitchFamily="34" charset="-122"/>
                <a:cs typeface="Calibri" pitchFamily="34" charset="-120"/>
              </a:rPr>
              <a:t>6 contoh negatif ditolak sesuai harapan.</a:t>
            </a:r>
            <a:endParaRPr lang="en-US" sz="1450" dirty="0"/>
          </a:p>
          <a:p>
            <a:pPr marL="177800" indent="-177800">
              <a:lnSpc>
                <a:spcPct val="102000"/>
              </a:lnSpc>
              <a:spcAft>
                <a:spcPts val="800"/>
              </a:spcAft>
              <a:buSzPct val="100000"/>
              <a:buChar char="•"/>
            </a:pPr>
            <a:r>
              <a:rPr lang="en-US" sz="1450" dirty="0">
                <a:solidFill>
                  <a:srgbClr val="26313D"/>
                </a:solidFill>
                <a:latin typeface="Calibri" pitchFamily="34" charset="0"/>
                <a:ea typeface="Calibri" pitchFamily="34" charset="-122"/>
                <a:cs typeface="Calibri" pitchFamily="34" charset="-120"/>
              </a:rPr>
              <a:t>Semua tipe entitas inti tercakup.</a:t>
            </a:r>
            <a:endParaRPr lang="en-US" sz="1450" dirty="0"/>
          </a:p>
          <a:p>
            <a:pPr marL="177800" indent="-177800">
              <a:lnSpc>
                <a:spcPct val="102000"/>
              </a:lnSpc>
              <a:spcAft>
                <a:spcPts val="800"/>
              </a:spcAft>
              <a:buSzPct val="100000"/>
              <a:buChar char="•"/>
            </a:pPr>
            <a:r>
              <a:rPr lang="en-US" sz="1450" dirty="0">
                <a:solidFill>
                  <a:srgbClr val="26313D"/>
                </a:solidFill>
                <a:latin typeface="Calibri" pitchFamily="34" charset="0"/>
                <a:ea typeface="Calibri" pitchFamily="34" charset="-122"/>
                <a:cs typeface="Calibri" pitchFamily="34" charset="-120"/>
              </a:rPr>
              <a:t>Contoh mencakup question &amp; answer; assertion present, negated, uncertain, hypothetical; temporal; patient &amp; family experiencer; differential diagnosis dan recommendation.</a:t>
            </a:r>
            <a:endParaRPr lang="en-US" sz="1450" dirty="0"/>
          </a:p>
          <a:p>
            <a:pPr marL="177800" indent="-177800">
              <a:lnSpc>
                <a:spcPct val="102000"/>
              </a:lnSpc>
              <a:spcAft>
                <a:spcPts val="800"/>
              </a:spcAft>
              <a:buSzPct val="100000"/>
              <a:buChar char="•"/>
            </a:pPr>
            <a:r>
              <a:rPr lang="en-US" sz="1450" dirty="0">
                <a:solidFill>
                  <a:srgbClr val="26313D"/>
                </a:solidFill>
                <a:latin typeface="Calibri" pitchFamily="34" charset="0"/>
                <a:ea typeface="Calibri" pitchFamily="34" charset="-122"/>
                <a:cs typeface="Calibri" pitchFamily="34" charset="-120"/>
              </a:rPr>
              <a:t>JSON Schema serta pedoman anotasi tersedia.</a:t>
            </a:r>
            <a:endParaRPr lang="en-US" sz="1450" dirty="0"/>
          </a:p>
        </p:txBody>
      </p:sp>
      <p:sp>
        <p:nvSpPr>
          <p:cNvPr id="9" name="Text 6"/>
          <p:cNvSpPr/>
          <p:nvPr/>
        </p:nvSpPr>
        <p:spPr>
          <a:xfrm>
            <a:off x="640080" y="5532120"/>
            <a:ext cx="2926080" cy="384048"/>
          </a:xfrm>
          <a:prstGeom prst="roundRect">
            <a:avLst>
              <a:gd name="adj" fmla="val 23810"/>
            </a:avLst>
          </a:prstGeom>
          <a:solidFill>
            <a:srgbClr val="2E7D46"/>
          </a:solid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Status audit: pass</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35</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TAHAP 2 · CHECKPOINT 3</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algn="l"/>
            <a:r>
              <a:rPr lang="en-US" sz="2700" b="1" dirty="0">
                <a:solidFill>
                  <a:srgbClr val="0B3C6E"/>
                </a:solidFill>
                <a:latin typeface="Georgia" pitchFamily="34" charset="0"/>
                <a:ea typeface="Georgia" pitchFamily="34" charset="-122"/>
                <a:cs typeface="Georgia" pitchFamily="34" charset="-120"/>
              </a:rPr>
              <a:t>Workflow </a:t>
            </a:r>
            <a:r>
              <a:rPr lang="en-US" sz="2700" b="1" dirty="0" err="1">
                <a:solidFill>
                  <a:srgbClr val="0B3C6E"/>
                </a:solidFill>
                <a:latin typeface="Georgia" pitchFamily="34" charset="0"/>
                <a:ea typeface="Georgia" pitchFamily="34" charset="-122"/>
                <a:cs typeface="Georgia" pitchFamily="34" charset="-120"/>
              </a:rPr>
              <a:t>Anotasi</a:t>
            </a:r>
            <a:r>
              <a:rPr lang="en-US" sz="2700" b="1" dirty="0">
                <a:solidFill>
                  <a:srgbClr val="0B3C6E"/>
                </a:solidFill>
                <a:latin typeface="Georgia" pitchFamily="34" charset="0"/>
                <a:ea typeface="Georgia" pitchFamily="34" charset="-122"/>
                <a:cs typeface="Georgia" pitchFamily="34" charset="-120"/>
              </a:rPr>
              <a:t> Desain Gold Set</a:t>
            </a:r>
            <a:endParaRPr lang="en-US" sz="2700" dirty="0"/>
          </a:p>
        </p:txBody>
      </p:sp>
      <p:sp>
        <p:nvSpPr>
          <p:cNvPr id="8" name="step box">
            <a:extLst>
              <a:ext uri="{C183D7F6-B498-43B3-948B-1728B52AA6E4}">
                <adec:decorative xmlns:adec="http://schemas.microsoft.com/office/drawing/2017/decorative" val="1"/>
              </a:ext>
            </a:extLst>
          </p:cNvPr>
          <p:cNvSpPr/>
          <p:nvPr/>
        </p:nvSpPr>
        <p:spPr>
          <a:xfrm>
            <a:off x="640080" y="1828800"/>
            <a:ext cx="5486400" cy="548640"/>
          </a:xfrm>
          <a:prstGeom prst="roundRect">
            <a:avLst>
              <a:gd name="adj" fmla="val 8333"/>
            </a:avLst>
          </a:prstGeom>
          <a:solidFill>
            <a:srgbClr val="EAF1F8"/>
          </a:solidFill>
          <a:ln w="12700">
            <a:solidFill>
              <a:srgbClr val="D5E0EC"/>
            </a:solidFill>
            <a:prstDash val="solid"/>
          </a:ln>
        </p:spPr>
        <p:txBody>
          <a:bodyPr/>
          <a:lstStyle/>
          <a:p>
            <a:endParaRPr lang="en-ID"/>
          </a:p>
        </p:txBody>
      </p:sp>
      <p:sp>
        <p:nvSpPr>
          <p:cNvPr id="9" name="Text 6"/>
          <p:cNvSpPr/>
          <p:nvPr/>
        </p:nvSpPr>
        <p:spPr>
          <a:xfrm>
            <a:off x="822960" y="1828800"/>
            <a:ext cx="5120640" cy="548640"/>
          </a:xfrm>
          <a:prstGeom prst="rect">
            <a:avLst/>
          </a:prstGeom>
          <a:noFill/>
          <a:ln/>
        </p:spPr>
        <p:txBody>
          <a:bodyPr wrap="square" rtlCol="0" anchor="ctr"/>
          <a:lstStyle/>
          <a:p>
            <a:pPr marL="0" indent="0">
              <a:buNone/>
            </a:pPr>
            <a:r>
              <a:rPr lang="en-US" sz="1250" dirty="0">
                <a:solidFill>
                  <a:srgbClr val="0B3C6E"/>
                </a:solidFill>
                <a:latin typeface="Calibri" pitchFamily="34" charset="0"/>
                <a:ea typeface="Calibri" pitchFamily="34" charset="-122"/>
                <a:cs typeface="Calibri" pitchFamily="34" charset="-120"/>
              </a:rPr>
              <a:t>Paket tugas yang sama</a:t>
            </a:r>
            <a:endParaRPr lang="en-US" sz="1250" dirty="0"/>
          </a:p>
        </p:txBody>
      </p:sp>
      <p:sp>
        <p:nvSpPr>
          <p:cNvPr id="10" name="Text 7"/>
          <p:cNvSpPr/>
          <p:nvPr/>
        </p:nvSpPr>
        <p:spPr>
          <a:xfrm>
            <a:off x="640080" y="2359152"/>
            <a:ext cx="5486400" cy="292608"/>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11" name="step box">
            <a:extLst>
              <a:ext uri="{C183D7F6-B498-43B3-948B-1728B52AA6E4}">
                <adec:decorative xmlns:adec="http://schemas.microsoft.com/office/drawing/2017/decorative" val="1"/>
              </a:ext>
            </a:extLst>
          </p:cNvPr>
          <p:cNvSpPr/>
          <p:nvPr/>
        </p:nvSpPr>
        <p:spPr>
          <a:xfrm>
            <a:off x="640080" y="2633472"/>
            <a:ext cx="5486400" cy="548640"/>
          </a:xfrm>
          <a:prstGeom prst="roundRect">
            <a:avLst>
              <a:gd name="adj" fmla="val 8333"/>
            </a:avLst>
          </a:prstGeom>
          <a:solidFill>
            <a:srgbClr val="EAF1F8"/>
          </a:solidFill>
          <a:ln w="12700">
            <a:solidFill>
              <a:srgbClr val="D5E0EC"/>
            </a:solidFill>
            <a:prstDash val="solid"/>
          </a:ln>
        </p:spPr>
        <p:txBody>
          <a:bodyPr/>
          <a:lstStyle/>
          <a:p>
            <a:endParaRPr lang="en-ID"/>
          </a:p>
        </p:txBody>
      </p:sp>
      <p:sp>
        <p:nvSpPr>
          <p:cNvPr id="12" name="Text 9"/>
          <p:cNvSpPr/>
          <p:nvPr/>
        </p:nvSpPr>
        <p:spPr>
          <a:xfrm>
            <a:off x="822960" y="2633472"/>
            <a:ext cx="5120640" cy="548640"/>
          </a:xfrm>
          <a:prstGeom prst="rect">
            <a:avLst/>
          </a:prstGeom>
          <a:noFill/>
          <a:ln/>
        </p:spPr>
        <p:txBody>
          <a:bodyPr wrap="square" rtlCol="0" anchor="ctr"/>
          <a:lstStyle/>
          <a:p>
            <a:pPr marL="0" indent="0">
              <a:buNone/>
            </a:pPr>
            <a:r>
              <a:rPr lang="en-US" sz="1250" dirty="0">
                <a:solidFill>
                  <a:srgbClr val="0B3C6E"/>
                </a:solidFill>
                <a:latin typeface="Calibri" pitchFamily="34" charset="0"/>
                <a:ea typeface="Calibri" pitchFamily="34" charset="-122"/>
                <a:cs typeface="Calibri" pitchFamily="34" charset="-120"/>
              </a:rPr>
              <a:t>Annotator A  |  Annotator B</a:t>
            </a:r>
            <a:endParaRPr lang="en-US" sz="1250" dirty="0"/>
          </a:p>
        </p:txBody>
      </p:sp>
      <p:sp>
        <p:nvSpPr>
          <p:cNvPr id="13" name="Text 10"/>
          <p:cNvSpPr/>
          <p:nvPr/>
        </p:nvSpPr>
        <p:spPr>
          <a:xfrm>
            <a:off x="640080" y="3163824"/>
            <a:ext cx="5486400" cy="292608"/>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14" name="step box">
            <a:extLst>
              <a:ext uri="{C183D7F6-B498-43B3-948B-1728B52AA6E4}">
                <adec:decorative xmlns:adec="http://schemas.microsoft.com/office/drawing/2017/decorative" val="1"/>
              </a:ext>
            </a:extLst>
          </p:cNvPr>
          <p:cNvSpPr/>
          <p:nvPr/>
        </p:nvSpPr>
        <p:spPr>
          <a:xfrm>
            <a:off x="640080" y="3438144"/>
            <a:ext cx="5486400" cy="548640"/>
          </a:xfrm>
          <a:prstGeom prst="roundRect">
            <a:avLst>
              <a:gd name="adj" fmla="val 8333"/>
            </a:avLst>
          </a:prstGeom>
          <a:solidFill>
            <a:srgbClr val="EAF1F8"/>
          </a:solidFill>
          <a:ln w="12700">
            <a:solidFill>
              <a:srgbClr val="D5E0EC"/>
            </a:solidFill>
            <a:prstDash val="solid"/>
          </a:ln>
        </p:spPr>
        <p:txBody>
          <a:bodyPr/>
          <a:lstStyle/>
          <a:p>
            <a:endParaRPr lang="en-ID"/>
          </a:p>
        </p:txBody>
      </p:sp>
      <p:sp>
        <p:nvSpPr>
          <p:cNvPr id="15" name="Text 12"/>
          <p:cNvSpPr/>
          <p:nvPr/>
        </p:nvSpPr>
        <p:spPr>
          <a:xfrm>
            <a:off x="822960" y="3438144"/>
            <a:ext cx="5120640" cy="548640"/>
          </a:xfrm>
          <a:prstGeom prst="rect">
            <a:avLst/>
          </a:prstGeom>
          <a:noFill/>
          <a:ln/>
        </p:spPr>
        <p:txBody>
          <a:bodyPr wrap="square" rtlCol="0" anchor="ctr"/>
          <a:lstStyle/>
          <a:p>
            <a:pPr marL="0" indent="0">
              <a:buNone/>
            </a:pPr>
            <a:r>
              <a:rPr lang="en-US" sz="1250" dirty="0">
                <a:solidFill>
                  <a:srgbClr val="0B3C6E"/>
                </a:solidFill>
                <a:latin typeface="Calibri" pitchFamily="34" charset="0"/>
                <a:ea typeface="Calibri" pitchFamily="34" charset="-122"/>
                <a:cs typeface="Calibri" pitchFamily="34" charset="-120"/>
              </a:rPr>
              <a:t>Agreement &amp; disagreement</a:t>
            </a:r>
            <a:endParaRPr lang="en-US" sz="1250" dirty="0"/>
          </a:p>
        </p:txBody>
      </p:sp>
      <p:sp>
        <p:nvSpPr>
          <p:cNvPr id="16" name="Text 13"/>
          <p:cNvSpPr/>
          <p:nvPr/>
        </p:nvSpPr>
        <p:spPr>
          <a:xfrm>
            <a:off x="640080" y="3968496"/>
            <a:ext cx="5486400" cy="292608"/>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17" name="step box">
            <a:extLst>
              <a:ext uri="{C183D7F6-B498-43B3-948B-1728B52AA6E4}">
                <adec:decorative xmlns:adec="http://schemas.microsoft.com/office/drawing/2017/decorative" val="1"/>
              </a:ext>
            </a:extLst>
          </p:cNvPr>
          <p:cNvSpPr/>
          <p:nvPr/>
        </p:nvSpPr>
        <p:spPr>
          <a:xfrm>
            <a:off x="640080" y="4242816"/>
            <a:ext cx="5486400" cy="548640"/>
          </a:xfrm>
          <a:prstGeom prst="roundRect">
            <a:avLst>
              <a:gd name="adj" fmla="val 8333"/>
            </a:avLst>
          </a:prstGeom>
          <a:solidFill>
            <a:srgbClr val="EAF1F8"/>
          </a:solidFill>
          <a:ln w="12700">
            <a:solidFill>
              <a:srgbClr val="D5E0EC"/>
            </a:solidFill>
            <a:prstDash val="solid"/>
          </a:ln>
        </p:spPr>
        <p:txBody>
          <a:bodyPr/>
          <a:lstStyle/>
          <a:p>
            <a:endParaRPr lang="en-ID"/>
          </a:p>
        </p:txBody>
      </p:sp>
      <p:sp>
        <p:nvSpPr>
          <p:cNvPr id="18" name="Text 15"/>
          <p:cNvSpPr/>
          <p:nvPr/>
        </p:nvSpPr>
        <p:spPr>
          <a:xfrm>
            <a:off x="822960" y="4242816"/>
            <a:ext cx="5120640" cy="548640"/>
          </a:xfrm>
          <a:prstGeom prst="rect">
            <a:avLst/>
          </a:prstGeom>
          <a:noFill/>
          <a:ln/>
        </p:spPr>
        <p:txBody>
          <a:bodyPr wrap="square" rtlCol="0" anchor="ctr"/>
          <a:lstStyle/>
          <a:p>
            <a:pPr marL="0" indent="0">
              <a:buNone/>
            </a:pPr>
            <a:r>
              <a:rPr lang="en-US" sz="1250" dirty="0">
                <a:solidFill>
                  <a:srgbClr val="0B3C6E"/>
                </a:solidFill>
                <a:latin typeface="Calibri" pitchFamily="34" charset="0"/>
                <a:ea typeface="Calibri" pitchFamily="34" charset="-122"/>
                <a:cs typeface="Calibri" pitchFamily="34" charset="-120"/>
              </a:rPr>
              <a:t>Adjudikasi klinis</a:t>
            </a:r>
            <a:endParaRPr lang="en-US" sz="1250" dirty="0"/>
          </a:p>
        </p:txBody>
      </p:sp>
      <p:sp>
        <p:nvSpPr>
          <p:cNvPr id="19" name="Text 16"/>
          <p:cNvSpPr/>
          <p:nvPr/>
        </p:nvSpPr>
        <p:spPr>
          <a:xfrm>
            <a:off x="640080" y="4773168"/>
            <a:ext cx="5486400" cy="292608"/>
          </a:xfrm>
          <a:prstGeom prst="rect">
            <a:avLst/>
          </a:prstGeom>
          <a:noFill/>
          <a:ln/>
        </p:spPr>
        <p:txBody>
          <a:bodyPr wrap="square" rtlCol="0" anchor="ctr"/>
          <a:lstStyle/>
          <a:p>
            <a:pPr marL="0" indent="0" algn="ctr">
              <a:buNone/>
            </a:pPr>
            <a:r>
              <a:rPr lang="en-US" sz="1300" dirty="0">
                <a:solidFill>
                  <a:srgbClr val="B98A1E"/>
                </a:solidFill>
                <a:latin typeface="Calibri" pitchFamily="34" charset="0"/>
                <a:ea typeface="Calibri" pitchFamily="34" charset="-122"/>
                <a:cs typeface="Calibri" pitchFamily="34" charset="-120"/>
              </a:rPr>
              <a:t>↓</a:t>
            </a:r>
            <a:endParaRPr lang="en-US" sz="1300" dirty="0"/>
          </a:p>
        </p:txBody>
      </p:sp>
      <p:sp>
        <p:nvSpPr>
          <p:cNvPr id="20" name="step box">
            <a:extLst>
              <a:ext uri="{C183D7F6-B498-43B3-948B-1728B52AA6E4}">
                <adec:decorative xmlns:adec="http://schemas.microsoft.com/office/drawing/2017/decorative" val="1"/>
              </a:ext>
            </a:extLst>
          </p:cNvPr>
          <p:cNvSpPr/>
          <p:nvPr/>
        </p:nvSpPr>
        <p:spPr>
          <a:xfrm>
            <a:off x="640080" y="5047488"/>
            <a:ext cx="5486400" cy="548640"/>
          </a:xfrm>
          <a:prstGeom prst="roundRect">
            <a:avLst>
              <a:gd name="adj" fmla="val 8333"/>
            </a:avLst>
          </a:prstGeom>
          <a:solidFill>
            <a:srgbClr val="0B3C6E"/>
          </a:solidFill>
          <a:ln w="12700">
            <a:solidFill>
              <a:srgbClr val="0B3C6E"/>
            </a:solidFill>
            <a:prstDash val="solid"/>
          </a:ln>
        </p:spPr>
        <p:txBody>
          <a:bodyPr/>
          <a:lstStyle/>
          <a:p>
            <a:endParaRPr lang="en-ID"/>
          </a:p>
        </p:txBody>
      </p:sp>
      <p:sp>
        <p:nvSpPr>
          <p:cNvPr id="21" name="Text 18"/>
          <p:cNvSpPr/>
          <p:nvPr/>
        </p:nvSpPr>
        <p:spPr>
          <a:xfrm>
            <a:off x="822960" y="5047488"/>
            <a:ext cx="5120640" cy="54864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Gold set v1 + hash + versi</a:t>
            </a:r>
            <a:endParaRPr lang="en-US" sz="1250" dirty="0"/>
          </a:p>
        </p:txBody>
      </p:sp>
      <p:sp>
        <p:nvSpPr>
          <p:cNvPr id="22" name="Text 19"/>
          <p:cNvSpPr/>
          <p:nvPr/>
        </p:nvSpPr>
        <p:spPr>
          <a:xfrm>
            <a:off x="6675120" y="1783080"/>
            <a:ext cx="4846320" cy="32004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Status saat ini</a:t>
            </a:r>
            <a:endParaRPr lang="en-US" sz="1200" dirty="0"/>
          </a:p>
        </p:txBody>
      </p:sp>
      <p:sp>
        <p:nvSpPr>
          <p:cNvPr id="23" name="Text 20"/>
          <p:cNvSpPr/>
          <p:nvPr/>
        </p:nvSpPr>
        <p:spPr>
          <a:xfrm>
            <a:off x="6675120" y="2194560"/>
            <a:ext cx="4937760" cy="2743200"/>
          </a:xfrm>
          <a:prstGeom prst="rect">
            <a:avLst/>
          </a:prstGeom>
          <a:noFill/>
          <a:ln/>
        </p:spPr>
        <p:txBody>
          <a:bodyPr wrap="square" rtlCol="0" anchor="t"/>
          <a:lstStyle/>
          <a:p>
            <a:pPr marL="177800" indent="-177800">
              <a:lnSpc>
                <a:spcPct val="102000"/>
              </a:lnSpc>
              <a:spcAft>
                <a:spcPts val="700"/>
              </a:spcAft>
              <a:buSzPct val="100000"/>
              <a:buChar char="•"/>
            </a:pPr>
            <a:r>
              <a:rPr lang="en-US" sz="1400" dirty="0">
                <a:solidFill>
                  <a:srgbClr val="26313D"/>
                </a:solidFill>
                <a:latin typeface="Calibri" pitchFamily="34" charset="0"/>
                <a:ea typeface="Calibri" pitchFamily="34" charset="-122"/>
                <a:cs typeface="Calibri" pitchFamily="34" charset="-120"/>
              </a:rPr>
              <a:t>40 tugas untuk A dan B sudah tersedia;</a:t>
            </a:r>
            <a:endParaRPr lang="en-US" sz="1400" dirty="0"/>
          </a:p>
          <a:p>
            <a:pPr marL="177800" indent="-177800">
              <a:lnSpc>
                <a:spcPct val="102000"/>
              </a:lnSpc>
              <a:spcAft>
                <a:spcPts val="700"/>
              </a:spcAft>
              <a:buSzPct val="100000"/>
              <a:buChar char="•"/>
            </a:pPr>
            <a:r>
              <a:rPr lang="en-US" sz="1400" dirty="0">
                <a:solidFill>
                  <a:srgbClr val="26313D"/>
                </a:solidFill>
                <a:latin typeface="Calibri" pitchFamily="34" charset="0"/>
                <a:ea typeface="Calibri" pitchFamily="34" charset="-122"/>
                <a:cs typeface="Calibri" pitchFamily="34" charset="-120"/>
              </a:rPr>
              <a:t>struktur dan audit valid;</a:t>
            </a:r>
            <a:endParaRPr lang="en-US" sz="1400" dirty="0"/>
          </a:p>
          <a:p>
            <a:pPr marL="177800" indent="-177800">
              <a:lnSpc>
                <a:spcPct val="102000"/>
              </a:lnSpc>
              <a:spcAft>
                <a:spcPts val="700"/>
              </a:spcAft>
              <a:buSzPct val="100000"/>
              <a:buChar char="•"/>
            </a:pPr>
            <a:r>
              <a:rPr lang="en-US" sz="1400" dirty="0">
                <a:solidFill>
                  <a:srgbClr val="26313D"/>
                </a:solidFill>
                <a:latin typeface="Calibri" pitchFamily="34" charset="0"/>
                <a:ea typeface="Calibri" pitchFamily="34" charset="-122"/>
                <a:cs typeface="Calibri" pitchFamily="34" charset="-120"/>
              </a:rPr>
              <a:t>anotasi lengkap: 0/40;</a:t>
            </a:r>
            <a:endParaRPr lang="en-US" sz="1400" dirty="0"/>
          </a:p>
          <a:p>
            <a:pPr marL="177800" indent="-177800">
              <a:lnSpc>
                <a:spcPct val="102000"/>
              </a:lnSpc>
              <a:spcAft>
                <a:spcPts val="700"/>
              </a:spcAft>
              <a:buSzPct val="100000"/>
              <a:buChar char="•"/>
            </a:pPr>
            <a:r>
              <a:rPr lang="en-US" sz="1400" dirty="0">
                <a:solidFill>
                  <a:srgbClr val="26313D"/>
                </a:solidFill>
                <a:latin typeface="Calibri" pitchFamily="34" charset="0"/>
                <a:ea typeface="Calibri" pitchFamily="34" charset="-122"/>
                <a:cs typeface="Calibri" pitchFamily="34" charset="-120"/>
              </a:rPr>
              <a:t>status: pending_annotation;</a:t>
            </a:r>
            <a:endParaRPr lang="en-US" sz="1400" dirty="0"/>
          </a:p>
          <a:p>
            <a:pPr marL="177800" indent="-177800">
              <a:lnSpc>
                <a:spcPct val="102000"/>
              </a:lnSpc>
              <a:spcAft>
                <a:spcPts val="700"/>
              </a:spcAft>
              <a:buSzPct val="100000"/>
              <a:buChar char="•"/>
            </a:pPr>
            <a:r>
              <a:rPr lang="en-US" sz="1400" dirty="0">
                <a:solidFill>
                  <a:srgbClr val="26313D"/>
                </a:solidFill>
                <a:latin typeface="Calibri" pitchFamily="34" charset="0"/>
                <a:ea typeface="Calibri" pitchFamily="34" charset="-122"/>
                <a:cs typeface="Calibri" pitchFamily="34" charset="-120"/>
              </a:rPr>
              <a:t>gold v1 belum dibuat.</a:t>
            </a:r>
            <a:endParaRPr lang="en-US" sz="1400" dirty="0"/>
          </a:p>
        </p:txBody>
      </p:sp>
      <p:sp>
        <p:nvSpPr>
          <p:cNvPr id="24" name="Text 21"/>
          <p:cNvSpPr/>
          <p:nvPr/>
        </p:nvSpPr>
        <p:spPr>
          <a:xfrm>
            <a:off x="6675120" y="4892040"/>
            <a:ext cx="4023360" cy="384048"/>
          </a:xfrm>
          <a:prstGeom prst="roundRect">
            <a:avLst>
              <a:gd name="adj" fmla="val 23810"/>
            </a:avLst>
          </a:prstGeom>
          <a:solidFill>
            <a:srgbClr val="B26A00"/>
          </a:solid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Status: pending_annotation</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36</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RENCANA</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Rencana Tahap 3–8</a:t>
            </a:r>
            <a:endParaRPr lang="en-US" sz="2700" dirty="0"/>
          </a:p>
        </p:txBody>
      </p:sp>
      <p:sp>
        <p:nvSpPr>
          <p:cNvPr id="8" name="Text 5"/>
          <p:cNvSpPr/>
          <p:nvPr/>
        </p:nvSpPr>
        <p:spPr>
          <a:xfrm>
            <a:off x="640080" y="1783080"/>
            <a:ext cx="10972800" cy="4297680"/>
          </a:xfrm>
          <a:prstGeom prst="rect">
            <a:avLst/>
          </a:prstGeom>
          <a:noFill/>
          <a:ln/>
        </p:spPr>
        <p:txBody>
          <a:bodyPr wrap="square" rtlCol="0" anchor="t"/>
          <a:lstStyle/>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Routing:  </a:t>
            </a:r>
            <a:r>
              <a:rPr lang="en-US" sz="1450" dirty="0">
                <a:solidFill>
                  <a:srgbClr val="26313D"/>
                </a:solidFill>
                <a:latin typeface="Calibri" pitchFamily="34" charset="0"/>
                <a:ea typeface="Calibri" pitchFamily="34" charset="-122"/>
                <a:cs typeface="Calibri" pitchFamily="34" charset="-120"/>
              </a:rPr>
              <a:t>tipe entitas → terminologi target.</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Decomposition:  </a:t>
            </a:r>
            <a:r>
              <a:rPr lang="en-US" sz="1450" dirty="0">
                <a:solidFill>
                  <a:srgbClr val="26313D"/>
                </a:solidFill>
                <a:latin typeface="Calibri" pitchFamily="34" charset="0"/>
                <a:ea typeface="Calibri" pitchFamily="34" charset="-122"/>
                <a:cs typeface="Calibri" pitchFamily="34" charset="-120"/>
              </a:rPr>
              <a:t>base entity, domain, unit, category, visit, method.</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Retrieval:  </a:t>
            </a:r>
            <a:r>
              <a:rPr lang="en-US" sz="1450" dirty="0">
                <a:solidFill>
                  <a:srgbClr val="26313D"/>
                </a:solidFill>
                <a:latin typeface="Calibri" pitchFamily="34" charset="0"/>
                <a:ea typeface="Calibri" pitchFamily="34" charset="-122"/>
                <a:cs typeface="Calibri" pitchFamily="34" charset="-120"/>
              </a:rPr>
              <a:t>dense + sparse, Top-k kandidat.</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Filtering:  </a:t>
            </a:r>
            <a:r>
              <a:rPr lang="en-US" sz="1450" dirty="0">
                <a:solidFill>
                  <a:srgbClr val="26313D"/>
                </a:solidFill>
                <a:latin typeface="Calibri" pitchFamily="34" charset="0"/>
                <a:ea typeface="Calibri" pitchFamily="34" charset="-122"/>
                <a:cs typeface="Calibri" pitchFamily="34" charset="-120"/>
              </a:rPr>
              <a:t>domain, semantic type, threshold, constraint.</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Reranking:  </a:t>
            </a:r>
            <a:r>
              <a:rPr lang="en-US" sz="1450" dirty="0">
                <a:solidFill>
                  <a:srgbClr val="26313D"/>
                </a:solidFill>
                <a:latin typeface="Calibri" pitchFamily="34" charset="0"/>
                <a:ea typeface="Calibri" pitchFamily="34" charset="-122"/>
                <a:cs typeface="Calibri" pitchFamily="34" charset="-120"/>
              </a:rPr>
              <a:t>konteks, definisi, sinonim, keputusan relevansi.</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Human-in-the-loop:  </a:t>
            </a:r>
            <a:r>
              <a:rPr lang="en-US" sz="1450" dirty="0">
                <a:solidFill>
                  <a:srgbClr val="26313D"/>
                </a:solidFill>
                <a:latin typeface="Calibri" pitchFamily="34" charset="0"/>
                <a:ea typeface="Calibri" pitchFamily="34" charset="-122"/>
                <a:cs typeface="Calibri" pitchFamily="34" charset="-120"/>
              </a:rPr>
              <a:t>validasi ahli.</a:t>
            </a:r>
            <a:endParaRPr lang="en-US" sz="1450" dirty="0"/>
          </a:p>
          <a:p>
            <a:pPr marL="177800" indent="-177800">
              <a:lnSpc>
                <a:spcPct val="102000"/>
              </a:lnSpc>
              <a:buSzPct val="100000"/>
              <a:buChar char="•"/>
            </a:pPr>
            <a:r>
              <a:rPr lang="en-US" sz="1450" b="1" dirty="0">
                <a:solidFill>
                  <a:srgbClr val="0B3C6E"/>
                </a:solidFill>
                <a:latin typeface="Calibri" pitchFamily="34" charset="0"/>
                <a:ea typeface="Calibri" pitchFamily="34" charset="-122"/>
                <a:cs typeface="Calibri" pitchFamily="34" charset="-120"/>
              </a:rPr>
              <a:t>Knowledge reservoir:  </a:t>
            </a:r>
            <a:r>
              <a:rPr lang="en-US" sz="1450" dirty="0">
                <a:solidFill>
                  <a:srgbClr val="26313D"/>
                </a:solidFill>
                <a:latin typeface="Calibri" pitchFamily="34" charset="0"/>
                <a:ea typeface="Calibri" pitchFamily="34" charset="-122"/>
                <a:cs typeface="Calibri" pitchFamily="34" charset="-120"/>
              </a:rPr>
              <a:t>hanya menyimpan pemetaan tervalidasi.</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37</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EVALUASI</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Baseline dan Ablation Study</a:t>
            </a:r>
            <a:endParaRPr lang="en-US" sz="2700" dirty="0"/>
          </a:p>
        </p:txBody>
      </p:sp>
      <p:sp>
        <p:nvSpPr>
          <p:cNvPr id="8" name="section card">
            <a:extLst>
              <a:ext uri="{C183D7F6-B498-43B3-948B-1728B52AA6E4}">
                <adec:decorative xmlns:adec="http://schemas.microsoft.com/office/drawing/2017/decorative" val="1"/>
              </a:ext>
            </a:extLst>
          </p:cNvPr>
          <p:cNvSpPr/>
          <p:nvPr/>
        </p:nvSpPr>
        <p:spPr>
          <a:xfrm>
            <a:off x="640080" y="1828800"/>
            <a:ext cx="5330952" cy="3566160"/>
          </a:xfrm>
          <a:prstGeom prst="rect">
            <a:avLst/>
          </a:prstGeom>
          <a:solidFill>
            <a:srgbClr val="F1F5FA"/>
          </a:solidFill>
          <a:ln w="12700">
            <a:solidFill>
              <a:srgbClr val="D5E0EC"/>
            </a:solidFill>
            <a:prstDash val="solid"/>
          </a:ln>
        </p:spPr>
        <p:txBody>
          <a:bodyPr/>
          <a:lstStyle/>
          <a:p>
            <a:endParaRPr lang="en-ID"/>
          </a:p>
        </p:txBody>
      </p:sp>
      <p:sp>
        <p:nvSpPr>
          <p:cNvPr id="9" name="section accent">
            <a:extLst>
              <a:ext uri="{C183D7F6-B498-43B3-948B-1728B52AA6E4}">
                <adec:decorative xmlns:adec="http://schemas.microsoft.com/office/drawing/2017/decorative" val="1"/>
              </a:ext>
            </a:extLst>
          </p:cNvPr>
          <p:cNvSpPr/>
          <p:nvPr/>
        </p:nvSpPr>
        <p:spPr>
          <a:xfrm>
            <a:off x="640080" y="1828800"/>
            <a:ext cx="109728" cy="3566160"/>
          </a:xfrm>
          <a:prstGeom prst="rect">
            <a:avLst/>
          </a:prstGeom>
          <a:solidFill>
            <a:srgbClr val="0B3C6E"/>
          </a:solidFill>
          <a:ln/>
        </p:spPr>
        <p:txBody>
          <a:bodyPr/>
          <a:lstStyle/>
          <a:p>
            <a:endParaRPr lang="en-ID"/>
          </a:p>
        </p:txBody>
      </p:sp>
      <p:sp>
        <p:nvSpPr>
          <p:cNvPr id="10" name="Text 7"/>
          <p:cNvSpPr/>
          <p:nvPr/>
        </p:nvSpPr>
        <p:spPr>
          <a:xfrm>
            <a:off x="960120" y="2029968"/>
            <a:ext cx="4782312" cy="457200"/>
          </a:xfrm>
          <a:prstGeom prst="rect">
            <a:avLst/>
          </a:prstGeom>
          <a:noFill/>
          <a:ln/>
        </p:spPr>
        <p:txBody>
          <a:bodyPr wrap="square" rtlCol="0" anchor="ctr"/>
          <a:lstStyle/>
          <a:p>
            <a:pPr marL="0" indent="0">
              <a:buNone/>
            </a:pPr>
            <a:r>
              <a:rPr lang="en-US" sz="1600" b="1" dirty="0">
                <a:solidFill>
                  <a:srgbClr val="0B3C6E"/>
                </a:solidFill>
                <a:latin typeface="Georgia" pitchFamily="34" charset="0"/>
                <a:ea typeface="Georgia" pitchFamily="34" charset="-122"/>
                <a:cs typeface="Georgia" pitchFamily="34" charset="-120"/>
              </a:rPr>
              <a:t>Baseline</a:t>
            </a:r>
            <a:endParaRPr lang="en-US" sz="1600" dirty="0"/>
          </a:p>
        </p:txBody>
      </p:sp>
      <p:sp>
        <p:nvSpPr>
          <p:cNvPr id="11" name="Text 8"/>
          <p:cNvSpPr/>
          <p:nvPr/>
        </p:nvSpPr>
        <p:spPr>
          <a:xfrm>
            <a:off x="960120" y="2560320"/>
            <a:ext cx="4736592" cy="2651760"/>
          </a:xfrm>
          <a:prstGeom prst="rect">
            <a:avLst/>
          </a:prstGeom>
          <a:noFill/>
          <a:ln/>
        </p:spPr>
        <p:txBody>
          <a:bodyPr wrap="square" rtlCol="0" anchor="t"/>
          <a:lstStyle/>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lexical/exact/fuzzy matching;</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dense retrieval saja;</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sparse retrieval saja;</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LLM-only tanpa retrieval;</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CDE-Mapper original.</a:t>
            </a:r>
            <a:endParaRPr lang="en-US" sz="1300" dirty="0"/>
          </a:p>
        </p:txBody>
      </p:sp>
      <p:sp>
        <p:nvSpPr>
          <p:cNvPr id="12" name="section card">
            <a:extLst>
              <a:ext uri="{C183D7F6-B498-43B3-948B-1728B52AA6E4}">
                <adec:decorative xmlns:adec="http://schemas.microsoft.com/office/drawing/2017/decorative" val="1"/>
              </a:ext>
            </a:extLst>
          </p:cNvPr>
          <p:cNvSpPr/>
          <p:nvPr/>
        </p:nvSpPr>
        <p:spPr>
          <a:xfrm>
            <a:off x="6281928" y="1828800"/>
            <a:ext cx="5330952" cy="3566160"/>
          </a:xfrm>
          <a:prstGeom prst="rect">
            <a:avLst/>
          </a:prstGeom>
          <a:solidFill>
            <a:srgbClr val="F1F5FA"/>
          </a:solidFill>
          <a:ln w="12700">
            <a:solidFill>
              <a:srgbClr val="D5E0EC"/>
            </a:solidFill>
            <a:prstDash val="solid"/>
          </a:ln>
        </p:spPr>
        <p:txBody>
          <a:bodyPr/>
          <a:lstStyle/>
          <a:p>
            <a:endParaRPr lang="en-ID"/>
          </a:p>
        </p:txBody>
      </p:sp>
      <p:sp>
        <p:nvSpPr>
          <p:cNvPr id="13" name="section accent">
            <a:extLst>
              <a:ext uri="{C183D7F6-B498-43B3-948B-1728B52AA6E4}">
                <adec:decorative xmlns:adec="http://schemas.microsoft.com/office/drawing/2017/decorative" val="1"/>
              </a:ext>
            </a:extLst>
          </p:cNvPr>
          <p:cNvSpPr/>
          <p:nvPr/>
        </p:nvSpPr>
        <p:spPr>
          <a:xfrm>
            <a:off x="6281928" y="1828800"/>
            <a:ext cx="109728" cy="3566160"/>
          </a:xfrm>
          <a:prstGeom prst="rect">
            <a:avLst/>
          </a:prstGeom>
          <a:solidFill>
            <a:srgbClr val="B98A1E"/>
          </a:solidFill>
          <a:ln/>
        </p:spPr>
        <p:txBody>
          <a:bodyPr/>
          <a:lstStyle/>
          <a:p>
            <a:endParaRPr lang="en-ID"/>
          </a:p>
        </p:txBody>
      </p:sp>
      <p:sp>
        <p:nvSpPr>
          <p:cNvPr id="14" name="Text 11"/>
          <p:cNvSpPr/>
          <p:nvPr/>
        </p:nvSpPr>
        <p:spPr>
          <a:xfrm>
            <a:off x="6601968" y="2029968"/>
            <a:ext cx="4782312" cy="457200"/>
          </a:xfrm>
          <a:prstGeom prst="rect">
            <a:avLst/>
          </a:prstGeom>
          <a:noFill/>
          <a:ln/>
        </p:spPr>
        <p:txBody>
          <a:bodyPr wrap="square" rtlCol="0" anchor="ctr"/>
          <a:lstStyle/>
          <a:p>
            <a:pPr marL="0" indent="0">
              <a:buNone/>
            </a:pPr>
            <a:r>
              <a:rPr lang="en-US" sz="1600" b="1" dirty="0">
                <a:solidFill>
                  <a:srgbClr val="0B3C6E"/>
                </a:solidFill>
                <a:latin typeface="Georgia" pitchFamily="34" charset="0"/>
                <a:ea typeface="Georgia" pitchFamily="34" charset="-122"/>
                <a:cs typeface="Georgia" pitchFamily="34" charset="-120"/>
              </a:rPr>
              <a:t>Ablation</a:t>
            </a:r>
            <a:endParaRPr lang="en-US" sz="1600" dirty="0"/>
          </a:p>
        </p:txBody>
      </p:sp>
      <p:sp>
        <p:nvSpPr>
          <p:cNvPr id="15" name="Text 12"/>
          <p:cNvSpPr/>
          <p:nvPr/>
        </p:nvSpPr>
        <p:spPr>
          <a:xfrm>
            <a:off x="6601968" y="2560320"/>
            <a:ext cx="4736592" cy="2651760"/>
          </a:xfrm>
          <a:prstGeom prst="rect">
            <a:avLst/>
          </a:prstGeom>
          <a:noFill/>
          <a:ln/>
        </p:spPr>
        <p:txBody>
          <a:bodyPr wrap="square" rtlCol="0" anchor="t"/>
          <a:lstStyle/>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tanpa normalisasi lokal;</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tanpa long-text extraction;</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tanpa query decomposition;</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tanpa filtering;</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tanpa reranking;</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tanpa knowledge reservoir.</a:t>
            </a:r>
            <a:endParaRPr lang="en-US" sz="1300" dirty="0"/>
          </a:p>
        </p:txBody>
      </p:sp>
      <p:sp>
        <p:nvSpPr>
          <p:cNvPr id="16" name="callout background">
            <a:extLst>
              <a:ext uri="{C183D7F6-B498-43B3-948B-1728B52AA6E4}">
                <adec:decorative xmlns:adec="http://schemas.microsoft.com/office/drawing/2017/decorative" val="1"/>
              </a:ext>
            </a:extLst>
          </p:cNvPr>
          <p:cNvSpPr/>
          <p:nvPr/>
        </p:nvSpPr>
        <p:spPr>
          <a:xfrm>
            <a:off x="640080" y="5532120"/>
            <a:ext cx="10972800" cy="640080"/>
          </a:xfrm>
          <a:prstGeom prst="roundRect">
            <a:avLst>
              <a:gd name="adj" fmla="val 8571"/>
            </a:avLst>
          </a:prstGeom>
          <a:solidFill>
            <a:srgbClr val="F7EFD8"/>
          </a:solidFill>
          <a:ln/>
        </p:spPr>
        <p:txBody>
          <a:bodyPr/>
          <a:lstStyle/>
          <a:p>
            <a:endParaRPr lang="en-ID"/>
          </a:p>
        </p:txBody>
      </p:sp>
      <p:sp>
        <p:nvSpPr>
          <p:cNvPr id="17" name="Text 14"/>
          <p:cNvSpPr/>
          <p:nvPr/>
        </p:nvSpPr>
        <p:spPr>
          <a:xfrm>
            <a:off x="896112" y="5532120"/>
            <a:ext cx="10460736" cy="640080"/>
          </a:xfrm>
          <a:prstGeom prst="rect">
            <a:avLst/>
          </a:prstGeom>
          <a:noFill/>
          <a:ln/>
        </p:spPr>
        <p:txBody>
          <a:bodyPr wrap="square" rtlCol="0" anchor="ctr"/>
          <a:lstStyle/>
          <a:p>
            <a:pPr marL="0" indent="0">
              <a:lnSpc>
                <a:spcPct val="100000"/>
              </a:lnSpc>
              <a:buNone/>
            </a:pPr>
            <a:r>
              <a:rPr lang="en-US" sz="1350" b="1" dirty="0">
                <a:solidFill>
                  <a:srgbClr val="7A5C0F"/>
                </a:solidFill>
                <a:latin typeface="Calibri" pitchFamily="34" charset="0"/>
                <a:ea typeface="Calibri" pitchFamily="34" charset="-122"/>
                <a:cs typeface="Calibri" pitchFamily="34" charset="-120"/>
              </a:rPr>
              <a:t>Tujuan:  </a:t>
            </a:r>
            <a:r>
              <a:rPr lang="en-US" sz="1350" dirty="0">
                <a:solidFill>
                  <a:srgbClr val="26313D"/>
                </a:solidFill>
                <a:latin typeface="Calibri" pitchFamily="34" charset="0"/>
                <a:ea typeface="Calibri" pitchFamily="34" charset="-122"/>
                <a:cs typeface="Calibri" pitchFamily="34" charset="-120"/>
              </a:rPr>
              <a:t>mengukur kontribusi nyata setiap komponen — model paling kompleks belum tentu paling baik.</a:t>
            </a:r>
            <a:endParaRPr lang="en-US" sz="1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38</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EVALUASI</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Kerangka Evaluasi</a:t>
            </a:r>
            <a:endParaRPr lang="en-US" sz="27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4023360"/>
        </p:xfrm>
        <a:graphic>
          <a:graphicData uri="http://schemas.openxmlformats.org/drawingml/2006/table">
            <a:tbl>
              <a:tblPr/>
              <a:tblGrid>
                <a:gridCol w="2468880">
                  <a:extLst>
                    <a:ext uri="{9D8B030D-6E8A-4147-A177-3AD203B41FA5}">
                      <a16:colId xmlns:a16="http://schemas.microsoft.com/office/drawing/2014/main" val="20000"/>
                    </a:ext>
                  </a:extLst>
                </a:gridCol>
                <a:gridCol w="8412480">
                  <a:extLst>
                    <a:ext uri="{9D8B030D-6E8A-4147-A177-3AD203B41FA5}">
                      <a16:colId xmlns:a16="http://schemas.microsoft.com/office/drawing/2014/main" val="20001"/>
                    </a:ext>
                  </a:extLst>
                </a:gridCol>
              </a:tblGrid>
              <a:tr h="50292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Level</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Metrik</a:t>
                      </a:r>
                      <a:endParaRPr lang="en-US" sz="13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extLst>
                  <a:ext uri="{0D108BD9-81ED-4DB2-BD59-A6C34878D82A}">
                    <a16:rowId xmlns:a16="http://schemas.microsoft.com/office/drawing/2014/main" val="10000"/>
                  </a:ext>
                </a:extLst>
              </a:tr>
              <a:tr h="502920">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Normalisasi</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exact match, abbreviation accuracy, typo recovery, preservation</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Ekstraksi</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span precision/recall/F1, type F1</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2"/>
                  </a:ext>
                </a:extLst>
              </a:tr>
              <a:tr h="502920">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Konteks</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assertion, temporal, experiencer, epistemic accuracy</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Dekomposisi</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field-level precision/recall/F1</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4"/>
                  </a:ext>
                </a:extLst>
              </a:tr>
              <a:tr h="502920">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Retrieval</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Accuracy@k, Recall@k, Precision@k, MRR, NDCG</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Mapping akhir</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accuracy, precision, recall, F1, coverage</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6"/>
                  </a:ext>
                </a:extLst>
              </a:tr>
              <a:tr h="502920">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Operasional</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50" dirty="0">
                          <a:solidFill>
                            <a:srgbClr val="26313D"/>
                          </a:solidFill>
                          <a:latin typeface="Calibri" pitchFamily="34" charset="0"/>
                          <a:ea typeface="Calibri" pitchFamily="34" charset="-122"/>
                          <a:cs typeface="Calibri" pitchFamily="34" charset="-120"/>
                        </a:rPr>
                        <a:t>latency, failure rate, consistency, biaya</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39</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RISIKO &amp; ETIK</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Risiko, Etik, dan Mitigasi</a:t>
            </a:r>
            <a:endParaRPr lang="en-US" sz="27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881360" cy="4114800"/>
        </p:xfrm>
        <a:graphic>
          <a:graphicData uri="http://schemas.openxmlformats.org/drawingml/2006/table">
            <a:tbl>
              <a:tblPr/>
              <a:tblGrid>
                <a:gridCol w="402336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tblGrid>
              <a:tr h="457200">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Risiko</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Mitigasi</a:t>
                      </a:r>
                      <a:endParaRPr lang="en-US" sz="125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0B3C6E"/>
                    </a:solidFill>
                  </a:tcPr>
                </a:tc>
                <a:extLst>
                  <a:ext uri="{0D108BD9-81ED-4DB2-BD59-A6C34878D82A}">
                    <a16:rowId xmlns:a16="http://schemas.microsoft.com/office/drawing/2014/main" val="10000"/>
                  </a:ext>
                </a:extLst>
              </a:tr>
              <a:tr h="457200">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Variasi bahasa ekstrem</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normalisasi konservatif dan error analysis</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Singkatan ambigu</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aturan konteks, warning, review</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2"/>
                  </a:ext>
                </a:extLst>
              </a:tr>
              <a:tr h="457200">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Halusinasi LLM</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constrained output, retrieval, validator, fallback</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Kandidat benar hilang</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ensemble retrieval dan evaluasi Recall@k</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4"/>
                  </a:ext>
                </a:extLst>
              </a:tr>
              <a:tr h="457200">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Reservoir menyimpan error</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status validasi, provenance, approval ahli</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Bias/evaluasi bocor</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pemisahan development, few-shot, dan hold-out</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6"/>
                  </a:ext>
                </a:extLst>
              </a:tr>
              <a:tr h="457200">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Data sensitif</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anonimisasi, kontrol akses, tata kelola etik</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7200">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Ketergantungan layanan</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tc>
                  <a:txBody>
                    <a:bodyPr/>
                    <a:lstStyle/>
                    <a:p>
                      <a:pPr marL="0" indent="0" algn="l">
                        <a:buNone/>
                      </a:pPr>
                      <a:r>
                        <a:rPr lang="en-US" sz="1200" dirty="0">
                          <a:solidFill>
                            <a:srgbClr val="26313D"/>
                          </a:solidFill>
                          <a:latin typeface="Calibri" pitchFamily="34" charset="0"/>
                          <a:ea typeface="Calibri" pitchFamily="34" charset="-122"/>
                          <a:cs typeface="Calibri" pitchFamily="34" charset="-120"/>
                        </a:rPr>
                        <a:t>logging, retry, fallback, manifest</a:t>
                      </a:r>
                      <a:endParaRPr lang="en-US" sz="1200" dirty="0">
                        <a:latin typeface="Calibri" charset="0"/>
                        <a:ea typeface="Calibri" charset="0"/>
                        <a:cs typeface="Calibri" charset="0"/>
                      </a:endParaRPr>
                    </a:p>
                  </a:txBody>
                  <a:tcPr marL="88900" marR="88900" marT="38100" marB="38100" anchor="ctr">
                    <a:lnL w="12700" cap="flat" cmpd="sng" algn="ctr">
                      <a:solidFill>
                        <a:srgbClr val="D5E0EC"/>
                      </a:solidFill>
                      <a:prstDash val="solid"/>
                      <a:round/>
                      <a:headEnd type="none" w="med" len="med"/>
                      <a:tailEnd type="none" w="med" len="med"/>
                    </a:lnL>
                    <a:lnR w="12700" cap="flat" cmpd="sng" algn="ctr">
                      <a:solidFill>
                        <a:srgbClr val="D5E0EC"/>
                      </a:solidFill>
                      <a:prstDash val="solid"/>
                      <a:round/>
                      <a:headEnd type="none" w="med" len="med"/>
                      <a:tailEnd type="none" w="med" len="med"/>
                    </a:lnR>
                    <a:lnT w="12700" cap="flat" cmpd="sng" algn="ctr">
                      <a:solidFill>
                        <a:srgbClr val="D5E0EC"/>
                      </a:solidFill>
                      <a:prstDash val="solid"/>
                      <a:round/>
                      <a:headEnd type="none" w="med" len="med"/>
                      <a:tailEnd type="none" w="med" len="med"/>
                    </a:lnT>
                    <a:lnB w="12700" cap="flat" cmpd="sng" algn="ctr">
                      <a:solidFill>
                        <a:srgbClr val="D5E0EC"/>
                      </a:solidFill>
                      <a:prstDash val="solid"/>
                      <a:round/>
                      <a:headEnd type="none" w="med" len="med"/>
                      <a:tailEnd type="none" w="med" len="med"/>
                    </a:lnB>
                    <a:solidFill>
                      <a:srgbClr val="F1F5FA"/>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Logo Universitas Gadjah Mada"/>
          <p:cNvPicPr>
            <a:picLocks noChangeAspect="1"/>
          </p:cNvPicPr>
          <p:nvPr/>
        </p:nvPicPr>
        <p:blipFill>
          <a:blip r:embed="rId3"/>
          <a:stretch>
            <a:fillRect/>
          </a:stretch>
        </p:blipFill>
        <p:spPr>
          <a:xfrm>
            <a:off x="9795967" y="384048"/>
            <a:ext cx="1828800" cy="552011"/>
          </a:xfrm>
          <a:prstGeom prst="rect">
            <a:avLst/>
          </a:prstGeom>
        </p:spPr>
      </p:pic>
      <p:sp>
        <p:nvSpPr>
          <p:cNvPr id="3" name="footer rule">
            <a:extLst>
              <a:ext uri="{C183D7F6-B498-43B3-948B-1728B52AA6E4}">
                <adec:decorative xmlns:adec="http://schemas.microsoft.com/office/drawing/2017/decorative" val="1"/>
              </a:ext>
            </a:extLst>
          </p:cNvPr>
          <p:cNvSpPr/>
          <p:nvPr/>
        </p:nvSpPr>
        <p:spPr>
          <a:xfrm>
            <a:off x="0" y="6510528"/>
            <a:ext cx="12191695" cy="18288"/>
          </a:xfrm>
          <a:prstGeom prst="rect">
            <a:avLst/>
          </a:prstGeom>
          <a:solidFill>
            <a:srgbClr val="D5E0EC"/>
          </a:solidFill>
          <a:ln/>
        </p:spPr>
        <p:txBody>
          <a:bodyPr/>
          <a:lstStyle/>
          <a:p>
            <a:endParaRPr lang="en-ID"/>
          </a:p>
        </p:txBody>
      </p:sp>
      <p:sp>
        <p:nvSpPr>
          <p:cNvPr id="4" name="Text 1"/>
          <p:cNvSpPr/>
          <p:nvPr/>
        </p:nvSpPr>
        <p:spPr>
          <a:xfrm>
            <a:off x="566928" y="6547104"/>
            <a:ext cx="8229600" cy="274320"/>
          </a:xfrm>
          <a:prstGeom prst="rect">
            <a:avLst/>
          </a:prstGeom>
          <a:noFill/>
          <a:ln/>
        </p:spPr>
        <p:txBody>
          <a:bodyPr wrap="square" rtlCol="0" anchor="ctr"/>
          <a:lstStyle/>
          <a:p>
            <a:pPr marL="0" indent="0">
              <a:buNone/>
            </a:pPr>
            <a:r>
              <a:rPr lang="en-US" sz="900" dirty="0">
                <a:solidFill>
                  <a:srgbClr val="6A7A8A"/>
                </a:solidFill>
                <a:latin typeface="Calibri" pitchFamily="34" charset="0"/>
                <a:ea typeface="Calibri" pitchFamily="34" charset="-122"/>
                <a:cs typeface="Calibri" pitchFamily="34" charset="-120"/>
              </a:rPr>
              <a:t>Ujian Pre-Komprehensif  ·  Program Doktor Ilmu Komputer UGM</a:t>
            </a:r>
            <a:endParaRPr lang="en-US" sz="900" dirty="0"/>
          </a:p>
        </p:txBody>
      </p:sp>
      <p:sp>
        <p:nvSpPr>
          <p:cNvPr id="5" name="Text 2"/>
          <p:cNvSpPr/>
          <p:nvPr/>
        </p:nvSpPr>
        <p:spPr>
          <a:xfrm>
            <a:off x="11185855" y="6547104"/>
            <a:ext cx="457200" cy="274320"/>
          </a:xfrm>
          <a:prstGeom prst="rect">
            <a:avLst/>
          </a:prstGeom>
          <a:noFill/>
          <a:ln/>
        </p:spPr>
        <p:txBody>
          <a:bodyPr wrap="square" rtlCol="0" anchor="ctr"/>
          <a:lstStyle/>
          <a:p>
            <a:pPr marL="0" indent="0" algn="r">
              <a:buNone/>
            </a:pPr>
            <a:r>
              <a:rPr lang="en-US" sz="900" dirty="0">
                <a:solidFill>
                  <a:srgbClr val="6A7A8A"/>
                </a:solidFill>
                <a:latin typeface="Calibri" pitchFamily="34" charset="0"/>
                <a:ea typeface="Calibri" pitchFamily="34" charset="-122"/>
                <a:cs typeface="Calibri" pitchFamily="34" charset="-120"/>
              </a:rPr>
              <a:t>40</a:t>
            </a:r>
            <a:endParaRPr lang="en-US" sz="900" dirty="0"/>
          </a:p>
        </p:txBody>
      </p:sp>
      <p:sp>
        <p:nvSpPr>
          <p:cNvPr id="6" name="Text 3"/>
          <p:cNvSpPr/>
          <p:nvPr/>
        </p:nvSpPr>
        <p:spPr>
          <a:xfrm>
            <a:off x="585216" y="457200"/>
            <a:ext cx="8229600" cy="274320"/>
          </a:xfrm>
          <a:prstGeom prst="rect">
            <a:avLst/>
          </a:prstGeom>
          <a:noFill/>
          <a:ln/>
        </p:spPr>
        <p:txBody>
          <a:bodyPr wrap="square" rtlCol="0" anchor="ctr"/>
          <a:lstStyle/>
          <a:p>
            <a:pPr marL="0" indent="0">
              <a:buNone/>
            </a:pPr>
            <a:r>
              <a:rPr lang="en-US" sz="1200" b="1" kern="0" spc="200" dirty="0">
                <a:solidFill>
                  <a:srgbClr val="B98A1E"/>
                </a:solidFill>
                <a:latin typeface="Calibri" pitchFamily="34" charset="0"/>
                <a:ea typeface="Calibri" pitchFamily="34" charset="-122"/>
                <a:cs typeface="Calibri" pitchFamily="34" charset="-120"/>
              </a:rPr>
              <a:t>PENUTUP</a:t>
            </a:r>
            <a:endParaRPr lang="en-US" sz="1200" dirty="0"/>
          </a:p>
        </p:txBody>
      </p:sp>
      <p:sp>
        <p:nvSpPr>
          <p:cNvPr id="7" name="Text 0"/>
          <p:cNvSpPr>
            <a:spLocks noGrp="1"/>
          </p:cNvSpPr>
          <p:nvPr>
            <p:ph type="title" idx="100" hasCustomPrompt="1"/>
          </p:nvPr>
        </p:nvSpPr>
        <p:spPr>
          <a:xfrm>
            <a:off x="566928" y="786384"/>
            <a:ext cx="8595360" cy="868680"/>
          </a:xfrm>
          <a:prstGeom prst="rect">
            <a:avLst/>
          </a:prstGeom>
          <a:noFill/>
          <a:ln/>
        </p:spPr>
        <p:txBody>
          <a:bodyPr wrap="square" lIns="0" tIns="0" rIns="0" bIns="0" rtlCol="0" anchor="t"/>
          <a:lstStyle/>
          <a:p>
            <a:pPr marL="0" indent="0" algn="l">
              <a:buNone/>
            </a:pPr>
            <a:r>
              <a:rPr lang="en-US" sz="2700" b="1" dirty="0">
                <a:solidFill>
                  <a:srgbClr val="0B3C6E"/>
                </a:solidFill>
                <a:latin typeface="Georgia" pitchFamily="34" charset="0"/>
                <a:ea typeface="Georgia" pitchFamily="34" charset="-122"/>
                <a:cs typeface="Georgia" pitchFamily="34" charset="-120"/>
              </a:rPr>
              <a:t>Kesimpulan dan Rencana Terdekat</a:t>
            </a:r>
            <a:endParaRPr lang="en-US" sz="2700" dirty="0"/>
          </a:p>
        </p:txBody>
      </p:sp>
      <p:sp>
        <p:nvSpPr>
          <p:cNvPr id="8" name="section card">
            <a:extLst>
              <a:ext uri="{C183D7F6-B498-43B3-948B-1728B52AA6E4}">
                <adec:decorative xmlns:adec="http://schemas.microsoft.com/office/drawing/2017/decorative" val="1"/>
              </a:ext>
            </a:extLst>
          </p:cNvPr>
          <p:cNvSpPr/>
          <p:nvPr/>
        </p:nvSpPr>
        <p:spPr>
          <a:xfrm>
            <a:off x="640080" y="1828800"/>
            <a:ext cx="5330952" cy="4206240"/>
          </a:xfrm>
          <a:prstGeom prst="rect">
            <a:avLst/>
          </a:prstGeom>
          <a:solidFill>
            <a:srgbClr val="F1F5FA"/>
          </a:solidFill>
          <a:ln w="12700">
            <a:solidFill>
              <a:srgbClr val="D5E0EC"/>
            </a:solidFill>
            <a:prstDash val="solid"/>
          </a:ln>
        </p:spPr>
        <p:txBody>
          <a:bodyPr/>
          <a:lstStyle/>
          <a:p>
            <a:endParaRPr lang="en-ID"/>
          </a:p>
        </p:txBody>
      </p:sp>
      <p:sp>
        <p:nvSpPr>
          <p:cNvPr id="9" name="section accent">
            <a:extLst>
              <a:ext uri="{C183D7F6-B498-43B3-948B-1728B52AA6E4}">
                <adec:decorative xmlns:adec="http://schemas.microsoft.com/office/drawing/2017/decorative" val="1"/>
              </a:ext>
            </a:extLst>
          </p:cNvPr>
          <p:cNvSpPr/>
          <p:nvPr/>
        </p:nvSpPr>
        <p:spPr>
          <a:xfrm>
            <a:off x="640080" y="1828800"/>
            <a:ext cx="109728" cy="4206240"/>
          </a:xfrm>
          <a:prstGeom prst="rect">
            <a:avLst/>
          </a:prstGeom>
          <a:solidFill>
            <a:srgbClr val="0B3C6E"/>
          </a:solidFill>
          <a:ln/>
        </p:spPr>
        <p:txBody>
          <a:bodyPr/>
          <a:lstStyle/>
          <a:p>
            <a:endParaRPr lang="en-ID"/>
          </a:p>
        </p:txBody>
      </p:sp>
      <p:sp>
        <p:nvSpPr>
          <p:cNvPr id="10" name="Text 7"/>
          <p:cNvSpPr/>
          <p:nvPr/>
        </p:nvSpPr>
        <p:spPr>
          <a:xfrm>
            <a:off x="960120" y="2029968"/>
            <a:ext cx="4782312" cy="457200"/>
          </a:xfrm>
          <a:prstGeom prst="rect">
            <a:avLst/>
          </a:prstGeom>
          <a:noFill/>
          <a:ln/>
        </p:spPr>
        <p:txBody>
          <a:bodyPr wrap="square" rtlCol="0" anchor="ctr"/>
          <a:lstStyle/>
          <a:p>
            <a:pPr marL="0" indent="0">
              <a:buNone/>
            </a:pPr>
            <a:r>
              <a:rPr lang="en-US" sz="1600" b="1" dirty="0">
                <a:solidFill>
                  <a:srgbClr val="0B3C6E"/>
                </a:solidFill>
                <a:highlight>
                  <a:srgbClr val="FFFF00"/>
                </a:highlight>
                <a:latin typeface="Georgia" pitchFamily="34" charset="0"/>
                <a:ea typeface="Georgia" pitchFamily="34" charset="-122"/>
                <a:cs typeface="Georgia" pitchFamily="34" charset="-120"/>
              </a:rPr>
              <a:t>Kesimpulan</a:t>
            </a:r>
            <a:endParaRPr lang="en-US" sz="1600" dirty="0">
              <a:highlight>
                <a:srgbClr val="FFFF00"/>
              </a:highlight>
            </a:endParaRPr>
          </a:p>
        </p:txBody>
      </p:sp>
      <p:sp>
        <p:nvSpPr>
          <p:cNvPr id="11" name="Text 8"/>
          <p:cNvSpPr/>
          <p:nvPr/>
        </p:nvSpPr>
        <p:spPr>
          <a:xfrm>
            <a:off x="960120" y="2560320"/>
            <a:ext cx="4736592" cy="3291840"/>
          </a:xfrm>
          <a:prstGeom prst="rect">
            <a:avLst/>
          </a:prstGeom>
          <a:noFill/>
          <a:ln/>
        </p:spPr>
        <p:txBody>
          <a:bodyPr wrap="square" rtlCol="0" anchor="t"/>
          <a:lstStyle/>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Masalah utama adalah kesenjangan semantik pada teks klinis Indonesia.</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Solusi menggabungkan normalisasi, ekstraksi konteks, retrieval hybrid, constraint, reranking, dan validasi ahli.</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Tahap 0 dan Tahap 1 telah memiliki implementasi serta audit awal.</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Tahap 2 Checkpoint 1–2 lulus audit; Checkpoint 3 siap untuk anotasi &amp; adjudikasi.</a:t>
            </a:r>
            <a:endParaRPr lang="en-US" sz="1300" dirty="0"/>
          </a:p>
        </p:txBody>
      </p:sp>
      <p:sp>
        <p:nvSpPr>
          <p:cNvPr id="12" name="section card">
            <a:extLst>
              <a:ext uri="{C183D7F6-B498-43B3-948B-1728B52AA6E4}">
                <adec:decorative xmlns:adec="http://schemas.microsoft.com/office/drawing/2017/decorative" val="1"/>
              </a:ext>
            </a:extLst>
          </p:cNvPr>
          <p:cNvSpPr/>
          <p:nvPr/>
        </p:nvSpPr>
        <p:spPr>
          <a:xfrm>
            <a:off x="6281928" y="1828800"/>
            <a:ext cx="5330952" cy="4206240"/>
          </a:xfrm>
          <a:prstGeom prst="rect">
            <a:avLst/>
          </a:prstGeom>
          <a:solidFill>
            <a:srgbClr val="F1F5FA"/>
          </a:solidFill>
          <a:ln w="12700">
            <a:solidFill>
              <a:srgbClr val="D5E0EC"/>
            </a:solidFill>
            <a:prstDash val="solid"/>
          </a:ln>
        </p:spPr>
        <p:txBody>
          <a:bodyPr/>
          <a:lstStyle/>
          <a:p>
            <a:endParaRPr lang="en-ID"/>
          </a:p>
        </p:txBody>
      </p:sp>
      <p:sp>
        <p:nvSpPr>
          <p:cNvPr id="13" name="section accent">
            <a:extLst>
              <a:ext uri="{C183D7F6-B498-43B3-948B-1728B52AA6E4}">
                <adec:decorative xmlns:adec="http://schemas.microsoft.com/office/drawing/2017/decorative" val="1"/>
              </a:ext>
            </a:extLst>
          </p:cNvPr>
          <p:cNvSpPr/>
          <p:nvPr/>
        </p:nvSpPr>
        <p:spPr>
          <a:xfrm>
            <a:off x="6281928" y="1828800"/>
            <a:ext cx="109728" cy="4206240"/>
          </a:xfrm>
          <a:prstGeom prst="rect">
            <a:avLst/>
          </a:prstGeom>
          <a:solidFill>
            <a:srgbClr val="B98A1E"/>
          </a:solidFill>
          <a:ln/>
        </p:spPr>
        <p:txBody>
          <a:bodyPr/>
          <a:lstStyle/>
          <a:p>
            <a:endParaRPr lang="en-ID"/>
          </a:p>
        </p:txBody>
      </p:sp>
      <p:sp>
        <p:nvSpPr>
          <p:cNvPr id="14" name="Text 11"/>
          <p:cNvSpPr/>
          <p:nvPr/>
        </p:nvSpPr>
        <p:spPr>
          <a:xfrm>
            <a:off x="6601968" y="2029968"/>
            <a:ext cx="4782312" cy="457200"/>
          </a:xfrm>
          <a:prstGeom prst="rect">
            <a:avLst/>
          </a:prstGeom>
          <a:noFill/>
          <a:ln/>
        </p:spPr>
        <p:txBody>
          <a:bodyPr wrap="square" rtlCol="0" anchor="ctr"/>
          <a:lstStyle/>
          <a:p>
            <a:pPr marL="0" indent="0">
              <a:buNone/>
            </a:pPr>
            <a:r>
              <a:rPr lang="en-US" sz="1600" b="1" dirty="0">
                <a:solidFill>
                  <a:srgbClr val="0B3C6E"/>
                </a:solidFill>
                <a:latin typeface="Georgia" pitchFamily="34" charset="0"/>
                <a:ea typeface="Georgia" pitchFamily="34" charset="-122"/>
                <a:cs typeface="Georgia" pitchFamily="34" charset="-120"/>
              </a:rPr>
              <a:t>Rencana terdekat</a:t>
            </a:r>
            <a:endParaRPr lang="en-US" sz="1600" dirty="0"/>
          </a:p>
        </p:txBody>
      </p:sp>
      <p:sp>
        <p:nvSpPr>
          <p:cNvPr id="15" name="Text 12"/>
          <p:cNvSpPr/>
          <p:nvPr/>
        </p:nvSpPr>
        <p:spPr>
          <a:xfrm>
            <a:off x="6601968" y="2560320"/>
            <a:ext cx="4736592" cy="3291840"/>
          </a:xfrm>
          <a:prstGeom prst="rect">
            <a:avLst/>
          </a:prstGeom>
          <a:noFill/>
          <a:ln/>
        </p:spPr>
        <p:txBody>
          <a:bodyPr wrap="square" rtlCol="0" anchor="t"/>
          <a:lstStyle/>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Menyelesaikan gold set entitas.</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Membangun baseline entity-span</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Menyiapkan gold terminology mapping.</a:t>
            </a:r>
            <a:endParaRPr lang="en-US" sz="1300" dirty="0"/>
          </a:p>
          <a:p>
            <a:pPr marL="152400" indent="-152400">
              <a:lnSpc>
                <a:spcPct val="102000"/>
              </a:lnSpc>
              <a:spcAft>
                <a:spcPts val="600"/>
              </a:spcAft>
              <a:buSzPct val="100000"/>
              <a:buChar char="•"/>
            </a:pPr>
            <a:r>
              <a:rPr lang="en-US" sz="1300" dirty="0">
                <a:solidFill>
                  <a:srgbClr val="26313D"/>
                </a:solidFill>
                <a:latin typeface="Calibri" pitchFamily="34" charset="0"/>
                <a:ea typeface="Calibri" pitchFamily="34" charset="-122"/>
                <a:cs typeface="Calibri" pitchFamily="34" charset="-120"/>
              </a:rPr>
              <a:t>Melanjutkan routing, retrieval, dan evaluasi end-to-end.</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bottom band">
            <a:extLst>
              <a:ext uri="{C183D7F6-B498-43B3-948B-1728B52AA6E4}">
                <adec:decorative xmlns:adec="http://schemas.microsoft.com/office/drawing/2017/decorative" val="1"/>
              </a:ext>
            </a:extLst>
          </p:cNvPr>
          <p:cNvSpPr/>
          <p:nvPr/>
        </p:nvSpPr>
        <p:spPr>
          <a:xfrm>
            <a:off x="0" y="5989320"/>
            <a:ext cx="12191695" cy="868680"/>
          </a:xfrm>
          <a:prstGeom prst="rect">
            <a:avLst/>
          </a:prstGeom>
          <a:solidFill>
            <a:srgbClr val="0B3C6E"/>
          </a:solidFill>
          <a:ln/>
        </p:spPr>
        <p:txBody>
          <a:bodyPr/>
          <a:lstStyle/>
          <a:p>
            <a:endParaRPr lang="en-ID"/>
          </a:p>
        </p:txBody>
      </p:sp>
      <p:sp>
        <p:nvSpPr>
          <p:cNvPr id="3" name="left accent">
            <a:extLst>
              <a:ext uri="{C183D7F6-B498-43B3-948B-1728B52AA6E4}">
                <adec:decorative xmlns:adec="http://schemas.microsoft.com/office/drawing/2017/decorative" val="1"/>
              </a:ext>
            </a:extLst>
          </p:cNvPr>
          <p:cNvSpPr/>
          <p:nvPr/>
        </p:nvSpPr>
        <p:spPr>
          <a:xfrm>
            <a:off x="0" y="0"/>
            <a:ext cx="201168" cy="5989320"/>
          </a:xfrm>
          <a:prstGeom prst="rect">
            <a:avLst/>
          </a:prstGeom>
          <a:solidFill>
            <a:srgbClr val="B98A1E"/>
          </a:solidFill>
          <a:ln/>
        </p:spPr>
        <p:txBody>
          <a:bodyPr/>
          <a:lstStyle/>
          <a:p>
            <a:endParaRPr lang="en-ID"/>
          </a:p>
        </p:txBody>
      </p:sp>
      <p:pic>
        <p:nvPicPr>
          <p:cNvPr id="4" name="Image 0" descr="Logo Universitas Gadjah Mada"/>
          <p:cNvPicPr>
            <a:picLocks noChangeAspect="1"/>
          </p:cNvPicPr>
          <p:nvPr/>
        </p:nvPicPr>
        <p:blipFill>
          <a:blip r:embed="rId3"/>
          <a:stretch>
            <a:fillRect/>
          </a:stretch>
        </p:blipFill>
        <p:spPr>
          <a:xfrm>
            <a:off x="4175608" y="1005840"/>
            <a:ext cx="3840480" cy="1159223"/>
          </a:xfrm>
          <a:prstGeom prst="rect">
            <a:avLst/>
          </a:prstGeom>
        </p:spPr>
      </p:pic>
      <p:sp>
        <p:nvSpPr>
          <p:cNvPr id="5" name="Text 0"/>
          <p:cNvSpPr>
            <a:spLocks noGrp="1"/>
          </p:cNvSpPr>
          <p:nvPr>
            <p:ph type="title" idx="100" hasCustomPrompt="1"/>
          </p:nvPr>
        </p:nvSpPr>
        <p:spPr>
          <a:xfrm>
            <a:off x="1097280" y="2468880"/>
            <a:ext cx="9994392" cy="1554480"/>
          </a:xfrm>
          <a:prstGeom prst="rect">
            <a:avLst/>
          </a:prstGeom>
          <a:noFill/>
          <a:ln/>
        </p:spPr>
        <p:txBody>
          <a:bodyPr wrap="square" lIns="0" tIns="0" rIns="0" bIns="0" rtlCol="0" anchor="ctr"/>
          <a:lstStyle/>
          <a:p>
            <a:pPr marL="0" indent="0" algn="ctr">
              <a:buNone/>
            </a:pPr>
            <a:r>
              <a:rPr lang="en-US" sz="4400" b="1" dirty="0">
                <a:solidFill>
                  <a:srgbClr val="0B3C6E"/>
                </a:solidFill>
                <a:latin typeface="Georgia" pitchFamily="34" charset="0"/>
                <a:ea typeface="Georgia" pitchFamily="34" charset="-122"/>
                <a:cs typeface="Georgia" pitchFamily="34" charset="-120"/>
              </a:rPr>
              <a:t>Terima Kasih</a:t>
            </a:r>
            <a:endParaRPr lang="en-US" sz="4400" dirty="0"/>
          </a:p>
        </p:txBody>
      </p:sp>
      <p:sp>
        <p:nvSpPr>
          <p:cNvPr id="6" name="Text 3"/>
          <p:cNvSpPr/>
          <p:nvPr/>
        </p:nvSpPr>
        <p:spPr>
          <a:xfrm>
            <a:off x="1097280" y="4069080"/>
            <a:ext cx="9997135" cy="457200"/>
          </a:xfrm>
          <a:prstGeom prst="rect">
            <a:avLst/>
          </a:prstGeom>
          <a:noFill/>
          <a:ln/>
        </p:spPr>
        <p:txBody>
          <a:bodyPr wrap="square" rtlCol="0" anchor="ctr"/>
          <a:lstStyle/>
          <a:p>
            <a:pPr marL="0" indent="0" algn="ctr">
              <a:buNone/>
            </a:pPr>
            <a:r>
              <a:rPr lang="en-US" sz="2000" i="1" dirty="0">
                <a:solidFill>
                  <a:srgbClr val="14568F"/>
                </a:solidFill>
                <a:latin typeface="Georgia" pitchFamily="34" charset="0"/>
                <a:ea typeface="Georgia" pitchFamily="34" charset="-122"/>
                <a:cs typeface="Georgia" pitchFamily="34" charset="-120"/>
              </a:rPr>
              <a:t>Pertanyaan dan Masukan</a:t>
            </a:r>
            <a:endParaRPr lang="en-US" sz="2000" dirty="0"/>
          </a:p>
        </p:txBody>
      </p:sp>
      <p:sp>
        <p:nvSpPr>
          <p:cNvPr id="7" name="Text 4"/>
          <p:cNvSpPr/>
          <p:nvPr/>
        </p:nvSpPr>
        <p:spPr>
          <a:xfrm>
            <a:off x="1097280" y="4846320"/>
            <a:ext cx="9997135" cy="731520"/>
          </a:xfrm>
          <a:prstGeom prst="rect">
            <a:avLst/>
          </a:prstGeom>
          <a:noFill/>
          <a:ln/>
        </p:spPr>
        <p:txBody>
          <a:bodyPr wrap="square" rtlCol="0" anchor="ctr"/>
          <a:lstStyle/>
          <a:p>
            <a:pPr marL="0" indent="0" algn="ctr">
              <a:lnSpc>
                <a:spcPct val="110000"/>
              </a:lnSpc>
              <a:buNone/>
            </a:pPr>
            <a:r>
              <a:rPr lang="en-US" sz="1400" b="1" dirty="0">
                <a:solidFill>
                  <a:srgbClr val="26313D"/>
                </a:solidFill>
                <a:latin typeface="Calibri" pitchFamily="34" charset="0"/>
                <a:ea typeface="Calibri" pitchFamily="34" charset="-122"/>
                <a:cs typeface="Calibri" pitchFamily="34" charset="-120"/>
              </a:rPr>
              <a:t>Anie Rose Irawati</a:t>
            </a:r>
            <a:endParaRPr lang="en-US" sz="1400" dirty="0"/>
          </a:p>
          <a:p>
            <a:pPr marL="0" indent="0" algn="ctr">
              <a:lnSpc>
                <a:spcPct val="110000"/>
              </a:lnSpc>
              <a:buNone/>
            </a:pPr>
            <a:r>
              <a:rPr lang="en-US" sz="1200" dirty="0">
                <a:solidFill>
                  <a:srgbClr val="6A7A8A"/>
                </a:solidFill>
                <a:latin typeface="Calibri" pitchFamily="34" charset="0"/>
                <a:ea typeface="Calibri" pitchFamily="34" charset="-122"/>
                <a:cs typeface="Calibri" pitchFamily="34" charset="-120"/>
              </a:rPr>
              <a:t>Program Doktor Ilmu Komputer · Universitas Gadjah Mada</a:t>
            </a:r>
            <a:endParaRPr lang="en-US" sz="1400" dirty="0"/>
          </a:p>
        </p:txBody>
      </p:sp>
      <p:sp>
        <p:nvSpPr>
          <p:cNvPr id="8" name="Text 5"/>
          <p:cNvSpPr/>
          <p:nvPr/>
        </p:nvSpPr>
        <p:spPr>
          <a:xfrm>
            <a:off x="914400" y="5989320"/>
            <a:ext cx="10362895" cy="868680"/>
          </a:xfrm>
          <a:prstGeom prst="rect">
            <a:avLst/>
          </a:prstGeom>
          <a:noFill/>
          <a:ln/>
        </p:spPr>
        <p:txBody>
          <a:bodyPr wrap="square" rtlCol="0" anchor="ctr"/>
          <a:lstStyle/>
          <a:p>
            <a:pPr marL="0" indent="0" algn="ctr">
              <a:buNone/>
            </a:pPr>
            <a:r>
              <a:rPr lang="en-US" sz="1300" kern="0" spc="200" dirty="0">
                <a:solidFill>
                  <a:srgbClr val="D7E2F0"/>
                </a:solidFill>
                <a:latin typeface="Calibri" pitchFamily="34" charset="0"/>
                <a:ea typeface="Calibri" pitchFamily="34" charset="-122"/>
                <a:cs typeface="Calibri" pitchFamily="34" charset="-120"/>
              </a:rPr>
              <a:t>Ujian Pre-Komprehensif</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516</TotalTime>
  <Words>5098</Words>
  <Application>Microsoft Office PowerPoint</Application>
  <PresentationFormat>Widescreen</PresentationFormat>
  <Paragraphs>637</Paragraphs>
  <Slides>41</Slides>
  <Notes>41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41</vt:i4>
      </vt:variant>
    </vt:vector>
  </HeadingPairs>
  <TitlesOfParts>
    <vt:vector size="50" baseType="lpstr">
      <vt:lpstr>Gama-Sans-Regular</vt:lpstr>
      <vt:lpstr>Aptos Narrow</vt:lpstr>
      <vt:lpstr>Arial</vt:lpstr>
      <vt:lpstr>Calibri</vt:lpstr>
      <vt:lpstr>Consolas</vt:lpstr>
      <vt:lpstr>Georgia</vt:lpstr>
      <vt:lpstr>Times New Roman</vt:lpstr>
      <vt:lpstr>Wingdings</vt:lpstr>
      <vt:lpstr>Office Theme</vt:lpstr>
      <vt:lpstr>Adaptasi CDE-Mapper untuk Pemetaan Terminologi Klinis Bahasa Indonesia</vt:lpstr>
      <vt:lpstr>Alur Presentasi</vt:lpstr>
      <vt:lpstr>Transformasi Digital Membutuhkan Kesetaraan Makna</vt:lpstr>
      <vt:lpstr>Konteks Indonesia: SATUSEHAT</vt:lpstr>
      <vt:lpstr>Mengapa Memerlukan Multi-Terminologi?</vt:lpstr>
      <vt:lpstr>Realitas Teks Klinis Bahasa Indonesia</vt:lpstr>
      <vt:lpstr>Mengapa Clinical Mapping Sulit?</vt:lpstr>
      <vt:lpstr>Evolusi Pendekatan Pemetaan</vt:lpstr>
      <vt:lpstr>Evolusi Pendekatan Pemetaan</vt:lpstr>
      <vt:lpstr>PowerPoint Presentation</vt:lpstr>
      <vt:lpstr>NLP ke LLM</vt:lpstr>
      <vt:lpstr>Bagaimana RAG bekerja</vt:lpstr>
      <vt:lpstr>Evolusi RAG (Gao et al., 2024)</vt:lpstr>
      <vt:lpstr>Tiga Research Gap Utama</vt:lpstr>
      <vt:lpstr>Rumusan Masalah</vt:lpstr>
      <vt:lpstr>Tujuan Penelitian</vt:lpstr>
      <vt:lpstr>Titik Awal: CDE-Mapper</vt:lpstr>
      <vt:lpstr>CDE-Mapper</vt:lpstr>
      <vt:lpstr>Kebaruan yang Diusulkan</vt:lpstr>
      <vt:lpstr>Kontribusi Penelitian</vt:lpstr>
      <vt:lpstr>Batasan dan Ruang Lingkup</vt:lpstr>
      <vt:lpstr>Lima Tahapan Penelitian dalam Proposal</vt:lpstr>
      <vt:lpstr>Usulan Penelitian: Arsitektur Baseline</vt:lpstr>
      <vt:lpstr>Usulan Penelitian: Arsitektur Usulan</vt:lpstr>
      <vt:lpstr>Contoh Alur End-to-End</vt:lpstr>
      <vt:lpstr>Sumber dan Peran Data</vt:lpstr>
      <vt:lpstr>Tahap 0: Audit Baseline</vt:lpstr>
      <vt:lpstr>Hasil Awal Tahap 0 — Pilot Retrieval (10 query)</vt:lpstr>
      <vt:lpstr>Tahap 1: Normalisasi Konservatif (2 slide saja: slide ini dan slide kedua berisi hasil dari tahap 1)</vt:lpstr>
      <vt:lpstr>Progres dan Audit Tahap 1</vt:lpstr>
      <vt:lpstr>Mengapa Tahap 2 Lebih dari NER Biasa? Belum selesai dilakukan</vt:lpstr>
      <vt:lpstr>Taksonomi Entitas</vt:lpstr>
      <vt:lpstr>Atribut Entitas</vt:lpstr>
      <vt:lpstr>Hasil eksperimen tahap 2</vt:lpstr>
      <vt:lpstr>Workflow Anotasi Desain Gold Set</vt:lpstr>
      <vt:lpstr>Rencana Tahap 3–8</vt:lpstr>
      <vt:lpstr>Baseline dan Ablation Study</vt:lpstr>
      <vt:lpstr>Kerangka Evaluasi</vt:lpstr>
      <vt:lpstr>Risiko, Etik, dan Mitigasi</vt:lpstr>
      <vt:lpstr>Kesimpulan dan Rencana Terdekat</vt:lpstr>
      <vt:lpstr>Terima Kasih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Didik Kurniawan</dc:creator>
  <cp:lastModifiedBy>Rose Rose</cp:lastModifiedBy>
  <cp:revision>1</cp:revision>
  <dcterms:created xsi:type="dcterms:W3CDTF">2026-07-25T09:40:44Z</dcterms:created>
  <dcterms:modified xsi:type="dcterms:W3CDTF">2026-07-26T08:02:10Z</dcterms:modified>
</cp:coreProperties>
</file>