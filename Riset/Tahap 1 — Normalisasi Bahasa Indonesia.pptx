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4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3675888"/>
            <a:ext cx="78638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38528"/>
            <a:ext cx="4572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72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01568"/>
            <a:ext cx="9144000" cy="1741932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35295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PRA-PEMROSESAN TEKS KONSULTASI KLINIS ALODOKTER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367588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1 — Normalisasi Bahasa Indonesia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pasangan pertanyaan–jawaban Alodokter</a:t>
            </a:r>
            <a:r>
              <a:rPr lang="en-US" sz="12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Keluaran: teks terstandar · segmentasi kalimat · audit trail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POSISI DALAM PIPELINE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Posisi Tahap 1 dalam Pipeline Riset</a:t>
            </a:r>
            <a:endParaRPr lang="en-US" sz="2500" dirty="0"/>
          </a:p>
        </p:txBody>
      </p:sp>
      <p:sp>
        <p:nvSpPr>
          <p:cNvPr id="4" name="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8010144" cy="365760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384048" cy="365760"/>
          </a:xfrm>
          <a:prstGeom prst="rect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7278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klinis panjang</a:t>
            </a:r>
            <a:endParaRPr lang="en-US" sz="1250" dirty="0"/>
          </a:p>
        </p:txBody>
      </p:sp>
      <p:sp>
        <p:nvSpPr>
          <p:cNvPr id="8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1743761"/>
            <a:ext cx="27432" cy="54864"/>
          </a:xfrm>
          <a:prstGeom prst="rect">
            <a:avLst/>
          </a:prstGeom>
          <a:solidFill>
            <a:srgbClr val="3E8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805940"/>
            <a:ext cx="8010144" cy="36576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805940"/>
            <a:ext cx="384048" cy="365760"/>
          </a:xfrm>
          <a:prstGeom prst="rect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8059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1805940"/>
            <a:ext cx="7278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1 — Normalisasi Bahasa</a:t>
            </a:r>
            <a:endParaRPr lang="en-US" sz="1400" dirty="0"/>
          </a:p>
        </p:txBody>
      </p:sp>
      <p:sp>
        <p:nvSpPr>
          <p:cNvPr id="1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178101"/>
            <a:ext cx="27432" cy="54864"/>
          </a:xfrm>
          <a:prstGeom prst="rect">
            <a:avLst/>
          </a:prstGeom>
          <a:solidFill>
            <a:srgbClr val="3E8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240280"/>
            <a:ext cx="8010144" cy="365760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240280"/>
            <a:ext cx="384048" cy="365760"/>
          </a:xfrm>
          <a:prstGeom prst="rect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2402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2240280"/>
            <a:ext cx="7278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bersih dan terstandar</a:t>
            </a:r>
            <a:endParaRPr lang="en-US" sz="1250" dirty="0"/>
          </a:p>
        </p:txBody>
      </p:sp>
      <p:sp>
        <p:nvSpPr>
          <p:cNvPr id="18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612441"/>
            <a:ext cx="27432" cy="54864"/>
          </a:xfrm>
          <a:prstGeom prst="rect">
            <a:avLst/>
          </a:prstGeom>
          <a:solidFill>
            <a:srgbClr val="3E8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674620"/>
            <a:ext cx="8010144" cy="365760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674620"/>
            <a:ext cx="384048" cy="365760"/>
          </a:xfrm>
          <a:prstGeom prst="rect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267462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2674620"/>
            <a:ext cx="7278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2 — Ekstraksi Multi-Entitas</a:t>
            </a:r>
            <a:endParaRPr lang="en-US" sz="1250" dirty="0"/>
          </a:p>
        </p:txBody>
      </p:sp>
      <p:sp>
        <p:nvSpPr>
          <p:cNvPr id="2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046781"/>
            <a:ext cx="27432" cy="54864"/>
          </a:xfrm>
          <a:prstGeom prst="rect">
            <a:avLst/>
          </a:prstGeom>
          <a:solidFill>
            <a:srgbClr val="3E8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108960"/>
            <a:ext cx="8010144" cy="365760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108960"/>
            <a:ext cx="384048" cy="365760"/>
          </a:xfrm>
          <a:prstGeom prst="rect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" y="3108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5568" y="3108960"/>
            <a:ext cx="7278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rules  →  Query decomposition</a:t>
            </a:r>
            <a:endParaRPr lang="en-US" sz="1250" dirty="0"/>
          </a:p>
        </p:txBody>
      </p:sp>
      <p:sp>
        <p:nvSpPr>
          <p:cNvPr id="28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481121"/>
            <a:ext cx="27432" cy="54864"/>
          </a:xfrm>
          <a:prstGeom prst="rect">
            <a:avLst/>
          </a:prstGeom>
          <a:solidFill>
            <a:srgbClr val="3E8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543300"/>
            <a:ext cx="8010144" cy="365760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543300"/>
            <a:ext cx="384048" cy="365760"/>
          </a:xfrm>
          <a:prstGeom prst="rect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5433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15568" y="3543300"/>
            <a:ext cx="7278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 →  Filtering  →  Reranking</a:t>
            </a:r>
            <a:endParaRPr lang="en-US" sz="1250" dirty="0"/>
          </a:p>
        </p:txBody>
      </p:sp>
      <p:sp>
        <p:nvSpPr>
          <p:cNvPr id="33" name="conne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915461"/>
            <a:ext cx="27432" cy="54864"/>
          </a:xfrm>
          <a:prstGeom prst="rect">
            <a:avLst/>
          </a:prstGeom>
          <a:solidFill>
            <a:srgbClr val="3E8F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t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977640"/>
            <a:ext cx="8010144" cy="365760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ba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977640"/>
            <a:ext cx="384048" cy="365760"/>
          </a:xfrm>
          <a:prstGeom prst="rect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397764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15568" y="3977640"/>
            <a:ext cx="7278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ahli  →  Knowledge reservoir</a:t>
            </a:r>
            <a:endParaRPr lang="en-US" sz="1250" dirty="0"/>
          </a:p>
        </p:txBody>
      </p:sp>
      <p:sp>
        <p:nvSpPr>
          <p:cNvPr id="38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430268"/>
            <a:ext cx="8010144" cy="475488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7240" y="44302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   </a:t>
            </a: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memperbaiki bentuk teks, bukan membuat keputusan klinis.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MOTIVASI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Mengapa Normalisasi Diperlukan?</a:t>
            </a:r>
            <a:endParaRPr lang="en-US" sz="25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4709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1790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Pertanyaan pasien banyak mengandung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883664"/>
            <a:ext cx="4297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 informal: sy, yg, tp, skrg, dgn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 medis: ISK, DM, TD, GDP, USG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dan ejaan tidak baku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Huruf kapital dan spasi tidak konsisten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baca berulang atau tanpa spasi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Angka, dosis, durasi, dan satuan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Campuran Bahasa Indonesia dan Inggris</a:t>
            </a:r>
            <a:endParaRPr lang="en-US" sz="115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1371600"/>
            <a:ext cx="3136392" cy="3200400"/>
          </a:xfrm>
          <a:prstGeom prst="rect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50992" y="15179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Jawaban dokter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650992" y="1865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formal, tetapi mengandung: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87568" y="2212848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Sapaan dan penutup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obat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banding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Negasi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Ketidakpastian</a:t>
            </a:r>
            <a:endParaRPr lang="en-US" sz="1200" dirty="0"/>
          </a:p>
        </p:txBody>
      </p:sp>
      <p:sp>
        <p:nvSpPr>
          <p:cNvPr id="11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617720"/>
            <a:ext cx="8010144" cy="457200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617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   </a:t>
            </a: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dan jawaban memerlukan perlakuan normalisasi yang berbeda.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KARAKTERISTIK DATA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Data Alodokter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8010144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Karakteristik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Pertanyaan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Jawaban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tersedia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Rata-rata panjang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±53 kata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±200 kata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Gaya bahasa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Relatif formal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Singkatan lokal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Lebih rendah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Boilerplate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Sapaan kepada dokter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Sapaan dan penutup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Risiko klinis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Dosis, durasi, keluhan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Hipotesis, informasi umum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261104"/>
            <a:ext cx="8010144" cy="457200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426110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   </a:t>
            </a: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clean_text hasil crawler masih sama dengan raw_text, sehingga normalisasi perlu menjadi tahap tersendiri.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PRINSIP DESAIN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Enam Prinsip Desain Normalisasi</a:t>
            </a:r>
            <a:endParaRPr lang="en-US" sz="25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17320"/>
            <a:ext cx="25786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inde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1618488"/>
            <a:ext cx="310896" cy="310896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16002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03911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yang sama menghasilkan output yang sama.</a:t>
            </a:r>
            <a:endParaRPr lang="en-US" sz="110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1417320"/>
            <a:ext cx="25786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inde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5576" y="1618488"/>
            <a:ext cx="310896" cy="310896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65576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16002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Konservatif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65576" y="203911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menghapus angka, dosis, satuan, negasi, atau nama obat.</a:t>
            </a:r>
            <a:endParaRPr lang="en-US" sz="1100" dirty="0"/>
          </a:p>
        </p:txBody>
      </p:sp>
      <p:sp>
        <p:nvSpPr>
          <p:cNvPr id="1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1417320"/>
            <a:ext cx="25786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inde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81344" y="1618488"/>
            <a:ext cx="310896" cy="310896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81344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01968" y="160020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Dapat diaudit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81344" y="203911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perubahan dapat ditelusuri kembali.</a:t>
            </a:r>
            <a:endParaRPr lang="en-US" sz="110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935224"/>
            <a:ext cx="25786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inde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136392"/>
            <a:ext cx="310896" cy="310896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70432" y="311810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355701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berulang tidak mengubah hasil.</a:t>
            </a:r>
            <a:endParaRPr lang="en-US" sz="1100" dirty="0"/>
          </a:p>
        </p:txBody>
      </p:sp>
      <p:sp>
        <p:nvSpPr>
          <p:cNvPr id="2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2696" y="2935224"/>
            <a:ext cx="25786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inde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65576" y="3136392"/>
            <a:ext cx="310896" cy="310896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65576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86200" y="311810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Berbasis profil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465576" y="355701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dan jawaban diperlakukan berbeda.</a:t>
            </a:r>
            <a:endParaRPr lang="en-US" sz="1100" dirty="0"/>
          </a:p>
        </p:txBody>
      </p:sp>
      <p:sp>
        <p:nvSpPr>
          <p:cNvPr id="2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2935224"/>
            <a:ext cx="25786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inde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81344" y="3136392"/>
            <a:ext cx="310896" cy="310896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81344" y="3136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01968" y="3118104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Kompatibel baseline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181344" y="3557016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diaktifkan secara opsional.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ALUR IMPLEMENTASI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Alur Normalisasi yang Diimplementasikan</a:t>
            </a:r>
            <a:endParaRPr lang="en-US" sz="2500" dirty="0"/>
          </a:p>
        </p:txBody>
      </p:sp>
      <p:sp>
        <p:nvSpPr>
          <p:cNvPr id="4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417320"/>
            <a:ext cx="3959352" cy="475488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" y="1527048"/>
            <a:ext cx="256032" cy="256032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4944" y="1527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" y="1417320"/>
            <a:ext cx="3319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raw_text</a:t>
            </a:r>
            <a:endParaRPr lang="en-US" sz="1150" dirty="0"/>
          </a:p>
        </p:txBody>
      </p:sp>
      <p:sp>
        <p:nvSpPr>
          <p:cNvPr id="8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025396"/>
            <a:ext cx="3959352" cy="475488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" y="2135124"/>
            <a:ext cx="256032" cy="256032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4944" y="21351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2025396"/>
            <a:ext cx="3319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Unicode dan casing</a:t>
            </a:r>
            <a:endParaRPr lang="en-US" sz="1150" dirty="0"/>
          </a:p>
        </p:txBody>
      </p:sp>
      <p:sp>
        <p:nvSpPr>
          <p:cNvPr id="12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633472"/>
            <a:ext cx="3959352" cy="475488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" y="2743200"/>
            <a:ext cx="256032" cy="256032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4944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2633472"/>
            <a:ext cx="3319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karakter kontrol, spasi, tanda baca</a:t>
            </a:r>
            <a:endParaRPr lang="en-US" sz="1150" dirty="0"/>
          </a:p>
        </p:txBody>
      </p:sp>
      <p:sp>
        <p:nvSpPr>
          <p:cNvPr id="16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241548"/>
            <a:ext cx="3959352" cy="475488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" y="3351276"/>
            <a:ext cx="256032" cy="256032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" y="33512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3241548"/>
            <a:ext cx="3319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Koreksi typo berbasis kamus</a:t>
            </a:r>
            <a:endParaRPr lang="en-US" sz="1150" dirty="0"/>
          </a:p>
        </p:txBody>
      </p:sp>
      <p:sp>
        <p:nvSpPr>
          <p:cNvPr id="20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849624"/>
            <a:ext cx="3959352" cy="475488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" y="3959352"/>
            <a:ext cx="256032" cy="256032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849624"/>
            <a:ext cx="3319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informal &amp; ekspansi singkatan</a:t>
            </a:r>
            <a:endParaRPr lang="en-US" sz="1150" dirty="0"/>
          </a:p>
        </p:txBody>
      </p:sp>
      <p:sp>
        <p:nvSpPr>
          <p:cNvPr id="24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417320"/>
            <a:ext cx="3959352" cy="475488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1527048"/>
            <a:ext cx="256032" cy="256032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45736" y="1527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9784" y="1417320"/>
            <a:ext cx="3319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angka dan satuan</a:t>
            </a:r>
            <a:endParaRPr lang="en-US" sz="1150" dirty="0"/>
          </a:p>
        </p:txBody>
      </p:sp>
      <p:sp>
        <p:nvSpPr>
          <p:cNvPr id="28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2025396"/>
            <a:ext cx="3959352" cy="475488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2135124"/>
            <a:ext cx="256032" cy="256032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45736" y="21351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9784" y="2025396"/>
            <a:ext cx="3319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spacing</a:t>
            </a:r>
            <a:endParaRPr lang="en-US" sz="1150" dirty="0"/>
          </a:p>
        </p:txBody>
      </p:sp>
      <p:sp>
        <p:nvSpPr>
          <p:cNvPr id="32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2633472"/>
            <a:ext cx="3959352" cy="475488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2743200"/>
            <a:ext cx="256032" cy="256032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45736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9784" y="2633472"/>
            <a:ext cx="3319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kalimat</a:t>
            </a:r>
            <a:endParaRPr lang="en-US" sz="1150" dirty="0"/>
          </a:p>
        </p:txBody>
      </p:sp>
      <p:sp>
        <p:nvSpPr>
          <p:cNvPr id="36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3241548"/>
            <a:ext cx="3959352" cy="475488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3351276"/>
            <a:ext cx="256032" cy="256032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45736" y="33512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9784" y="3241548"/>
            <a:ext cx="3319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Penandaan boilerplate</a:t>
            </a:r>
            <a:endParaRPr lang="en-US" sz="1150" dirty="0"/>
          </a:p>
        </p:txBody>
      </p:sp>
      <p:sp>
        <p:nvSpPr>
          <p:cNvPr id="40" name="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3849624"/>
            <a:ext cx="3959352" cy="475488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45736" y="3959352"/>
            <a:ext cx="256032" cy="256032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45736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9784" y="3849624"/>
            <a:ext cx="3319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normalized_text + audit trail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LANGKAH 1–2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Normalisasi Unicode dan Cleaning</a:t>
            </a:r>
            <a:endParaRPr lang="en-US" sz="25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4297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99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Operasi utama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3886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normalization (NFKC)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 tanda kutip dan tanda hubung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Pemisahan pola camel-case tertentu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Penghapusan karakter kontrol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Perapian spasi, baris baru, tanda baca berulang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Spasi pada batas kalimat yang menempel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Preservasi desimal Indonesia (2,5 mg)</a:t>
            </a:r>
            <a:endParaRPr lang="en-US" sz="1150" dirty="0"/>
          </a:p>
        </p:txBody>
      </p:sp>
      <p:sp>
        <p:nvSpPr>
          <p:cNvPr id="7" name="examp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371600"/>
            <a:ext cx="3547872" cy="3246120"/>
          </a:xfrm>
          <a:prstGeom prst="rect">
            <a:avLst/>
          </a:prstGeom>
          <a:solidFill>
            <a:srgbClr val="0C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30368" y="1517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CONTOH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30368" y="19202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F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dktr.slmt mlm  Sy ... kambuh..dan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7FA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dokter. selamat malam  saya ... kambuh. dan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SUMBER DAYA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Kamus Singkatan Berlapis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Kamus master dibagi menjadi enam kategori</a:t>
            </a:r>
            <a:endParaRPr lang="en-US" sz="1300" dirty="0"/>
          </a:p>
        </p:txBody>
      </p:sp>
      <p:sp>
        <p:nvSpPr>
          <p:cNvPr id="5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737360"/>
            <a:ext cx="4206240" cy="402336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874520"/>
            <a:ext cx="128016" cy="12801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17373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medical_clinical</a:t>
            </a:r>
            <a:endParaRPr lang="en-US" sz="1150" dirty="0"/>
          </a:p>
        </p:txBody>
      </p:sp>
      <p:sp>
        <p:nvSpPr>
          <p:cNvPr id="8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212848"/>
            <a:ext cx="4206240" cy="402336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350008"/>
            <a:ext cx="128016" cy="12801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9264" y="22128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maternal_child_health</a:t>
            </a:r>
            <a:endParaRPr lang="en-US" sz="1150" dirty="0"/>
          </a:p>
        </p:txBody>
      </p:sp>
      <p:sp>
        <p:nvSpPr>
          <p:cNvPr id="11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688336"/>
            <a:ext cx="4206240" cy="402336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825496"/>
            <a:ext cx="128016" cy="12801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9264" y="268833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body_function_and_measurement</a:t>
            </a:r>
            <a:endParaRPr lang="en-US" sz="1150" dirty="0"/>
          </a:p>
        </p:txBody>
      </p:sp>
      <p:sp>
        <p:nvSpPr>
          <p:cNvPr id="14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163824"/>
            <a:ext cx="4206240" cy="402336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300984"/>
            <a:ext cx="128016" cy="12801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9264" y="316382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clinical_documentation</a:t>
            </a:r>
            <a:endParaRPr lang="en-US" sz="1150" dirty="0"/>
          </a:p>
        </p:txBody>
      </p:sp>
      <p:sp>
        <p:nvSpPr>
          <p:cNvPr id="17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639312"/>
            <a:ext cx="4206240" cy="402336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776472"/>
            <a:ext cx="128016" cy="12801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9264" y="36393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informal_conversation</a:t>
            </a:r>
            <a:endParaRPr lang="en-US" sz="1150" dirty="0"/>
          </a:p>
        </p:txBody>
      </p:sp>
      <p:sp>
        <p:nvSpPr>
          <p:cNvPr id="20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114800"/>
            <a:ext cx="4206240" cy="402336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251960"/>
            <a:ext cx="128016" cy="128016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9264" y="4114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ambiguous_not_automatic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0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setiap entri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737360"/>
          <a:ext cx="3547872" cy="9144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Perlakuan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A5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automatic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Langsung diperluas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A5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context_required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Diperluas jika konteks sesuai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2A5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review_required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Menunggu validasi ahli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KEAMANAN EKSPANSI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Ekspansi Berbasis Konteks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 tertentu tidak aman jika diperluas secara langsung.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00784"/>
          <a:ext cx="4892040" cy="9144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Singkatan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Kemungkinan Makna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A5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tinggi badan  /  tuberkulosis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A5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berat badan  /  konteks lain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A5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pasien  /  pemeriksaan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A5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  /  karakter biasa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A5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frekuensi napas  /  konteks lain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A5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miligram  /  minggu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2A5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3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dari  /  dokter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examp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3560" y="1700784"/>
            <a:ext cx="2953512" cy="2926080"/>
          </a:xfrm>
          <a:prstGeom prst="rect">
            <a:avLst/>
          </a:prstGeom>
          <a:solidFill>
            <a:srgbClr val="0C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24728" y="1865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PENERAPAN KONTEKS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24728" y="228600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 165 cm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tinggi badan 165 cm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riwayat TB keluarga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tetap "tb" + warning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5" name="Text 7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PERLAKUAN BERBEDA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Pertanyaan dan Jawaban</a:t>
            </a:r>
            <a:endParaRPr lang="en-US" sz="25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39776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3977640" cy="502920"/>
          </a:xfrm>
          <a:prstGeom prst="rect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 question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informal lebih aktif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singkatan percakapan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 istilah klinis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Mempertahankan keluhan, angka, negasi, dan temporalitas</a:t>
            </a:r>
            <a:endParaRPr lang="en-US" sz="115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9432" y="1371600"/>
            <a:ext cx="39776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he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9432" y="1371600"/>
            <a:ext cx="3977640" cy="502920"/>
          </a:xfrm>
          <a:prstGeom prst="rect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9744" y="1371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Profil  answer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konservatif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mengaktifkan seluruh normalisasi informal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Memisahkan sapaan dan penutup ke boilerplate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teks lengkap dan content_text</a:t>
            </a:r>
            <a:endParaRPr lang="en-US" sz="1150" dirty="0"/>
          </a:p>
        </p:txBody>
      </p:sp>
      <p:sp>
        <p:nvSpPr>
          <p:cNvPr id="12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572000"/>
            <a:ext cx="8010144" cy="457200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   </a:t>
            </a: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dan jawaban tidak digabung karena mempunyai peran semantik yang berbeda.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STUDI KASUS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Contoh Transformasi Pertanyaan</a:t>
            </a:r>
            <a:endParaRPr lang="en-US" sz="2500" dirty="0"/>
          </a:p>
        </p:txBody>
      </p:sp>
      <p:sp>
        <p:nvSpPr>
          <p:cNvPr id="4" name="inpu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3931920" cy="1572768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481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378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773936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 skrg ISK, tp blm minum obat 500mg. Dok, kira2 berbahaya ngga?</a:t>
            </a:r>
            <a:endParaRPr lang="en-US" sz="1300" dirty="0"/>
          </a:p>
        </p:txBody>
      </p:sp>
      <p:sp>
        <p:nvSpPr>
          <p:cNvPr id="7" name="outpu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3931920" cy="1572768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28032" y="1481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28032" y="1773936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saya sekarang infeksi saluran kemih, tetapi belum minum obat 500 mg. dokter, kira-kira berbahaya tidak?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3200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Perubahan yang tercatat</a:t>
            </a:r>
            <a:endParaRPr lang="en-US" sz="1300" dirty="0"/>
          </a:p>
        </p:txBody>
      </p:sp>
      <p:sp>
        <p:nvSpPr>
          <p:cNvPr id="11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611880"/>
            <a:ext cx="630936" cy="457200"/>
          </a:xfrm>
          <a:prstGeom prst="roundRect">
            <a:avLst>
              <a:gd name="adj" fmla="val 16000"/>
            </a:avLst>
          </a:prstGeom>
          <a:solidFill>
            <a:srgbClr val="E8F1F9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611880"/>
            <a:ext cx="630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</a:t>
            </a:r>
            <a:endParaRPr lang="en-US" sz="1200" dirty="0"/>
          </a:p>
        </p:txBody>
      </p:sp>
      <p:sp>
        <p:nvSpPr>
          <p:cNvPr id="13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44168" y="3611880"/>
            <a:ext cx="877824" cy="457200"/>
          </a:xfrm>
          <a:prstGeom prst="roundRect">
            <a:avLst>
              <a:gd name="adj" fmla="val 16000"/>
            </a:avLst>
          </a:prstGeom>
          <a:solidFill>
            <a:srgbClr val="E8F1F9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44168" y="36118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skrg</a:t>
            </a:r>
            <a:endParaRPr lang="en-US" sz="1200" dirty="0"/>
          </a:p>
        </p:txBody>
      </p:sp>
      <p:sp>
        <p:nvSpPr>
          <p:cNvPr id="15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8296" y="3611880"/>
            <a:ext cx="754380" cy="457200"/>
          </a:xfrm>
          <a:prstGeom prst="roundRect">
            <a:avLst>
              <a:gd name="adj" fmla="val 16000"/>
            </a:avLst>
          </a:prstGeom>
          <a:solidFill>
            <a:srgbClr val="E8F1F9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68296" y="3611880"/>
            <a:ext cx="75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ISK</a:t>
            </a:r>
            <a:endParaRPr lang="en-US" sz="1200" dirty="0"/>
          </a:p>
        </p:txBody>
      </p:sp>
      <p:sp>
        <p:nvSpPr>
          <p:cNvPr id="17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8980" y="3611880"/>
            <a:ext cx="630936" cy="457200"/>
          </a:xfrm>
          <a:prstGeom prst="roundRect">
            <a:avLst>
              <a:gd name="adj" fmla="val 16000"/>
            </a:avLst>
          </a:prstGeom>
          <a:solidFill>
            <a:srgbClr val="E8F1F9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68980" y="3611880"/>
            <a:ext cx="630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</a:t>
            </a:r>
            <a:endParaRPr lang="en-US" sz="1200" dirty="0"/>
          </a:p>
        </p:txBody>
      </p:sp>
      <p:sp>
        <p:nvSpPr>
          <p:cNvPr id="19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46220" y="3611880"/>
            <a:ext cx="754380" cy="457200"/>
          </a:xfrm>
          <a:prstGeom prst="roundRect">
            <a:avLst>
              <a:gd name="adj" fmla="val 16000"/>
            </a:avLst>
          </a:prstGeom>
          <a:solidFill>
            <a:srgbClr val="E8F1F9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46220" y="3611880"/>
            <a:ext cx="75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blm</a:t>
            </a:r>
            <a:endParaRPr lang="en-US" sz="1200" dirty="0"/>
          </a:p>
        </p:txBody>
      </p:sp>
      <p:sp>
        <p:nvSpPr>
          <p:cNvPr id="21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904" y="3611880"/>
            <a:ext cx="754380" cy="457200"/>
          </a:xfrm>
          <a:prstGeom prst="roundRect">
            <a:avLst>
              <a:gd name="adj" fmla="val 16000"/>
            </a:avLst>
          </a:prstGeom>
          <a:solidFill>
            <a:srgbClr val="E8F1F9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46904" y="3611880"/>
            <a:ext cx="75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dok</a:t>
            </a:r>
            <a:endParaRPr lang="en-US" sz="1200" dirty="0"/>
          </a:p>
        </p:txBody>
      </p:sp>
      <p:sp>
        <p:nvSpPr>
          <p:cNvPr id="23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47588" y="3611880"/>
            <a:ext cx="1001268" cy="457200"/>
          </a:xfrm>
          <a:prstGeom prst="roundRect">
            <a:avLst>
              <a:gd name="adj" fmla="val 16000"/>
            </a:avLst>
          </a:prstGeom>
          <a:solidFill>
            <a:srgbClr val="E8F1F9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47588" y="3611880"/>
            <a:ext cx="1001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kira2</a:t>
            </a:r>
            <a:endParaRPr lang="en-US" sz="1200" dirty="0"/>
          </a:p>
        </p:txBody>
      </p:sp>
      <p:sp>
        <p:nvSpPr>
          <p:cNvPr id="25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95160" y="3611880"/>
            <a:ext cx="877824" cy="457200"/>
          </a:xfrm>
          <a:prstGeom prst="roundRect">
            <a:avLst>
              <a:gd name="adj" fmla="val 16000"/>
            </a:avLst>
          </a:prstGeom>
          <a:solidFill>
            <a:srgbClr val="E8F1F9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95160" y="3611880"/>
            <a:ext cx="87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ngga</a:t>
            </a:r>
            <a:endParaRPr lang="en-US" sz="1200" dirty="0"/>
          </a:p>
        </p:txBody>
      </p:sp>
      <p:sp>
        <p:nvSpPr>
          <p:cNvPr id="27" name="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19288" y="3611880"/>
            <a:ext cx="1001268" cy="457200"/>
          </a:xfrm>
          <a:prstGeom prst="roundRect">
            <a:avLst>
              <a:gd name="adj" fmla="val 16000"/>
            </a:avLst>
          </a:prstGeom>
          <a:solidFill>
            <a:srgbClr val="E8F1F9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19288" y="3611880"/>
            <a:ext cx="1001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500mg</a:t>
            </a:r>
            <a:endParaRPr lang="en-US" sz="1200" dirty="0"/>
          </a:p>
        </p:txBody>
      </p:sp>
      <p:sp>
        <p:nvSpPr>
          <p:cNvPr id="2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315968"/>
            <a:ext cx="8010144" cy="457200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43159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   </a:t>
            </a: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perubahan disimpan sebagai audit trail agar dapat ditelusuri kembali.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STANDARDISASI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Penanganan Angka dan Satuan</a:t>
            </a:r>
            <a:endParaRPr lang="en-US" sz="2500" dirty="0"/>
          </a:p>
        </p:txBody>
      </p:sp>
      <p:sp>
        <p:nvSpPr>
          <p:cNvPr id="4" name="transform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4572000" cy="3246120"/>
          </a:xfrm>
          <a:prstGeom prst="rect">
            <a:avLst/>
          </a:prstGeom>
          <a:solidFill>
            <a:srgbClr val="0C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179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TRANSFORMASI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500mg       </a:t>
            </a:r>
            <a:r>
              <a:rPr lang="en-US" sz="1250" dirty="0">
                <a:solidFill>
                  <a:srgbClr val="7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mg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 mg / dl </a:t>
            </a:r>
            <a:r>
              <a:rPr lang="en-US" sz="1250" dirty="0">
                <a:solidFill>
                  <a:srgbClr val="7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 mg/dL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gr/dl    </a:t>
            </a:r>
            <a:r>
              <a:rPr lang="en-US" sz="1250" dirty="0">
                <a:solidFill>
                  <a:srgbClr val="7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g/dL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 / 100   </a:t>
            </a:r>
            <a:r>
              <a:rPr lang="en-US" sz="1250" dirty="0">
                <a:solidFill>
                  <a:srgbClr val="7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160/100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95 %        </a:t>
            </a:r>
            <a:r>
              <a:rPr lang="en-US" sz="1250" dirty="0">
                <a:solidFill>
                  <a:srgbClr val="7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95%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2,5mg       </a:t>
            </a:r>
            <a:r>
              <a:rPr lang="en-US" sz="1250" dirty="0">
                <a:solidFill>
                  <a:srgbClr val="7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2,5 mg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mmhg        </a:t>
            </a:r>
            <a:r>
              <a:rPr lang="en-US" sz="1250" dirty="0">
                <a:solidFill>
                  <a:srgbClr val="7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mmHg</a:t>
            </a:r>
            <a:endParaRPr lang="en-US" sz="125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1808" y="1371600"/>
            <a:ext cx="325526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532120" y="15179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Yang dipertahankan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901952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numerik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Desimal koma atau titik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Frekuensi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SEGMENTASI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Segmentasi Kalimat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350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saat ini menggunakan aturan deterministik.</a:t>
            </a:r>
            <a:endParaRPr lang="en-US" sz="1200" dirty="0"/>
          </a:p>
        </p:txBody>
      </p:sp>
      <p:sp>
        <p:nvSpPr>
          <p:cNvPr id="5" name="inpu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737360"/>
            <a:ext cx="3931920" cy="1371600"/>
          </a:xfrm>
          <a:prstGeom prst="rect">
            <a:avLst/>
          </a:prstGeom>
          <a:solidFill>
            <a:srgbClr val="F1F7FC"/>
          </a:solidFill>
          <a:ln w="12700">
            <a:solidFill>
              <a:srgbClr val="D3E2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378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212140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Saya demam.Dok, apakah berbahaya?Sudah 2 hari.</a:t>
            </a:r>
            <a:endParaRPr lang="en-US" sz="1250" dirty="0"/>
          </a:p>
        </p:txBody>
      </p:sp>
      <p:sp>
        <p:nvSpPr>
          <p:cNvPr id="8" name="outpu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737360"/>
            <a:ext cx="3931920" cy="1371600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847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 SEGMENTASI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28032" y="212140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Saya demam.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Dok, apakah berbahaya?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Sudah 2 hari.</a:t>
            </a:r>
            <a:endParaRPr lang="en-US" sz="1200" dirty="0"/>
          </a:p>
        </p:txBody>
      </p:sp>
      <p:sp>
        <p:nvSpPr>
          <p:cNvPr id="11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383280"/>
            <a:ext cx="8010144" cy="777240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3832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   </a:t>
            </a: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transformer (indo_text_segmentation) dapat dievaluasi sebagai semantic chunking untuk teks panjang — bukan pengganti langsung sentence splitter.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Penandaan Boilerplate</a:t>
            </a:r>
            <a:endParaRPr lang="en-US" sz="25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Jawaban dokter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Alo Ibu Anna,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43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[isi klinis]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Semoga bermanfaat.</a:t>
            </a:r>
            <a:endParaRPr lang="en-US" sz="1250" dirty="0"/>
          </a:p>
        </p:txBody>
      </p:sp>
      <p:sp>
        <p:nvSpPr>
          <p:cNvPr id="7" name="js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34840" y="1371600"/>
            <a:ext cx="4142232" cy="2286000"/>
          </a:xfrm>
          <a:prstGeom prst="rect">
            <a:avLst/>
          </a:prstGeom>
          <a:solidFill>
            <a:srgbClr val="0C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17720" y="1517904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"normalized_text": "teks lengkap",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"content_text": "isi klinis",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"boilerplate": [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"alo ibu anna,",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"semoga bermanfaat."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840480"/>
            <a:ext cx="8010144" cy="548640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   </a:t>
            </a: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ditandai, bukan dihapus permanen, agar provenance teks tetap terjaga.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SKEMA KELUARAN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Struktur Output Tahap 1</a:t>
            </a:r>
            <a:endParaRPr lang="en-US" sz="2500" dirty="0"/>
          </a:p>
        </p:txBody>
      </p:sp>
      <p:sp>
        <p:nvSpPr>
          <p:cNvPr id="4" name="js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5074920" cy="3200400"/>
          </a:xfrm>
          <a:prstGeom prst="rect">
            <a:avLst/>
          </a:prstGeom>
          <a:solidFill>
            <a:srgbClr val="0C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517904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"record_id": "stable-id",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"question": {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"raw_text": "...",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"normalized_text": "...",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"content_text": "...",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"sentences": [], "warnings": [],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"normalization_changes": [],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"boilerplate": [], "replacements": {},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"profile": "question",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"normalizer_version": "1.0.0",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9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"resource_version": "1.0.0"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1371600"/>
            <a:ext cx="272491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53328" y="1554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 JSONL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89904" y="20574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record per baris.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Memudahkan pemrosesan per record.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audit eksperimen.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Hasil Implementasi Tahap 1</a:t>
            </a:r>
            <a:endParaRPr lang="en-US" sz="25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1901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" y="149961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2066544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Pasangan konsultasi diproses</a:t>
            </a:r>
            <a:endParaRPr lang="en-US" sz="100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6896" y="1371600"/>
            <a:ext cx="1901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06624" y="149961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06624" y="2066544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record unik</a:t>
            </a:r>
            <a:endParaRPr lang="en-US" sz="100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6864" y="1371600"/>
            <a:ext cx="1901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149961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36592" y="2066544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perubahan pertanyaan</a:t>
            </a:r>
            <a:endParaRPr lang="en-US" sz="100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56832" y="1371600"/>
            <a:ext cx="190195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1499616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66560" y="2066544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perubahan jawaban</a:t>
            </a:r>
            <a:endParaRPr lang="en-US" sz="1000" dirty="0"/>
          </a:p>
        </p:txBody>
      </p:sp>
      <p:sp>
        <p:nvSpPr>
          <p:cNvPr id="1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688336"/>
            <a:ext cx="1901952" cy="1170432"/>
          </a:xfrm>
          <a:prstGeom prst="rect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" y="281635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76656" y="338328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konteks ambigu</a:t>
            </a:r>
            <a:endParaRPr lang="en-US" sz="100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6896" y="2688336"/>
            <a:ext cx="1901952" cy="1170432"/>
          </a:xfrm>
          <a:prstGeom prst="rect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06624" y="281635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7/7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2706624" y="338328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lulus</a:t>
            </a:r>
            <a:endParaRPr lang="en-US" sz="100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6864" y="2688336"/>
            <a:ext cx="1901952" cy="1170432"/>
          </a:xfrm>
          <a:prstGeom prst="rect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36592" y="281635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5/5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736592" y="338328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normalization</a:t>
            </a:r>
            <a:endParaRPr lang="en-US" sz="1000" dirty="0"/>
          </a:p>
        </p:txBody>
      </p:sp>
      <p:sp>
        <p:nvSpPr>
          <p:cNvPr id="2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56832" y="2688336"/>
            <a:ext cx="1901952" cy="1170432"/>
          </a:xfrm>
          <a:prstGeom prst="rect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281635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766560" y="338328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normalized match</a:t>
            </a:r>
            <a:endParaRPr lang="en-US" sz="1000" dirty="0"/>
          </a:p>
        </p:txBody>
      </p:sp>
      <p:sp>
        <p:nvSpPr>
          <p:cNvPr id="28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279392"/>
            <a:ext cx="8010144" cy="512064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427939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   </a:t>
            </a: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Artefak: Riset/crawler_alodokter/hasil_normalisasi_tahap_1.jsonl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INTEGRASI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Integrasi dengan Pipeline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Entry point</a:t>
            </a:r>
            <a:endParaRPr lang="en-US" sz="1200" dirty="0"/>
          </a:p>
        </p:txBody>
      </p:sp>
      <p:sp>
        <p:nvSpPr>
          <p:cNvPr id="5" name="c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664208"/>
            <a:ext cx="8010144" cy="859536"/>
          </a:xfrm>
          <a:prstGeom prst="rect">
            <a:avLst/>
          </a:prstGeom>
          <a:solidFill>
            <a:srgbClr val="0C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run.py ... \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--normalize_id \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--normalization_profile clinical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Alodokter</a:t>
            </a:r>
            <a:endParaRPr lang="en-US" sz="1200" dirty="0"/>
          </a:p>
        </p:txBody>
      </p:sp>
      <p:sp>
        <p:nvSpPr>
          <p:cNvPr id="8" name="c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926080"/>
            <a:ext cx="8010144" cy="457200"/>
          </a:xfrm>
          <a:prstGeom prst="rect">
            <a:avLst/>
          </a:prstGeom>
          <a:solidFill>
            <a:srgbClr val="0C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scripts/preprocess_alodokter.py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3511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 eksperimen</a:t>
            </a:r>
            <a:endParaRPr lang="en-US" sz="1200" dirty="0"/>
          </a:p>
        </p:txBody>
      </p:sp>
      <p:sp>
        <p:nvSpPr>
          <p:cNvPr id="11" name="c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785616"/>
            <a:ext cx="8010144" cy="457200"/>
          </a:xfrm>
          <a:prstGeom prst="rect">
            <a:avLst/>
          </a:prstGeom>
          <a:solidFill>
            <a:srgbClr val="0C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858768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Riset/Tahap_1_Normalisasi_Alodokter.ipynb</a:t>
            </a:r>
            <a:endParaRPr lang="en-US" sz="1250" dirty="0"/>
          </a:p>
        </p:txBody>
      </p:sp>
      <p:sp>
        <p:nvSpPr>
          <p:cNvPr id="13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352544"/>
            <a:ext cx="8010144" cy="402336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35254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   </a:t>
            </a: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tetap berjalan seperti sebelumnya jika flag normalisasi tidak diberikan.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KEPUTUSAN DESAIN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Apakah Stemming Diperlukan?</a:t>
            </a:r>
            <a:endParaRPr lang="en-US" sz="2500" dirty="0"/>
          </a:p>
        </p:txBody>
      </p:sp>
      <p:sp>
        <p:nvSpPr>
          <p:cNvPr id="4" name="answ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8010144" cy="621792"/>
          </a:xfrm>
          <a:prstGeom prst="rect">
            <a:avLst/>
          </a:prstGeom>
          <a:solidFill>
            <a:srgbClr val="0E2A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Tidak</a:t>
            </a:r>
            <a:r>
              <a:rPr lang="en-US" sz="17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sebagai transformasi default.</a:t>
            </a:r>
            <a:endParaRPr lang="en-US" sz="1700" dirty="0"/>
          </a:p>
        </p:txBody>
      </p:sp>
      <p:sp>
        <p:nvSpPr>
          <p:cNvPr id="6" name="risk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194560"/>
            <a:ext cx="3931920" cy="1874520"/>
          </a:xfrm>
          <a:prstGeom prst="rect">
            <a:avLst/>
          </a:prstGeom>
          <a:solidFill>
            <a:srgbClr val="0C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322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9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RISIKO PADA TEKS KLINIS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pemeriksaan  </a:t>
            </a:r>
            <a:r>
              <a:rPr lang="en-US" sz="1200" dirty="0">
                <a:solidFill>
                  <a:srgbClr val="7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0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periksa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pengobatan   </a:t>
            </a:r>
            <a:r>
              <a:rPr lang="en-US" sz="1200" dirty="0">
                <a:solidFill>
                  <a:srgbClr val="7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0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obat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pendarahan   </a:t>
            </a:r>
            <a:r>
              <a:rPr lang="en-US" sz="1200" dirty="0">
                <a:solidFill>
                  <a:srgbClr val="7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0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darah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menularkan   </a:t>
            </a:r>
            <a:r>
              <a:rPr lang="en-US" sz="1200" dirty="0">
                <a:solidFill>
                  <a:srgbClr val="7FA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1200" dirty="0">
                <a:solidFill>
                  <a:srgbClr val="F2C9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tular</a:t>
            </a:r>
            <a:endParaRPr lang="en-US" sz="1200" dirty="0"/>
          </a:p>
        </p:txBody>
      </p:sp>
      <p:sp>
        <p:nvSpPr>
          <p:cNvPr id="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194560"/>
            <a:ext cx="3931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23225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Rekomendasi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688336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0E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normalized_text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utuh → Tahap 2, LLM, dense retrieval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stemmed_text opsional → eksperimen lexical retrieval</a:t>
            </a:r>
            <a:endParaRPr lang="en-US" sz="1150" dirty="0"/>
          </a:p>
        </p:txBody>
      </p:sp>
      <p:sp>
        <p:nvSpPr>
          <p:cNvPr id="12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224528"/>
            <a:ext cx="8010144" cy="457200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   </a:t>
            </a: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Sastrawi dapat diuji pada ablation study, bukan menggantikan normalized_text.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MENUJU TAHAP 2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untuk Tahap 2</a:t>
            </a:r>
            <a:endParaRPr lang="en-US" sz="2500" dirty="0"/>
          </a:p>
        </p:txBody>
      </p:sp>
      <p:sp>
        <p:nvSpPr>
          <p:cNvPr id="4" name="pati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3977640" cy="2286000"/>
          </a:xfrm>
          <a:prstGeom prst="rect">
            <a:avLst/>
          </a:prstGeom>
          <a:solidFill>
            <a:srgbClr val="0C24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17904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PERTANYAAN  ·  speaker: patient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document_id = record_id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       = question.normalized_text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sentences   = question.sentences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   = patient</a:t>
            </a:r>
            <a:endParaRPr lang="en-US" sz="1100" dirty="0"/>
          </a:p>
        </p:txBody>
      </p:sp>
      <p:sp>
        <p:nvSpPr>
          <p:cNvPr id="6" name="doct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9432" y="1371600"/>
            <a:ext cx="3977640" cy="2286000"/>
          </a:xfrm>
          <a:prstGeom prst="rect">
            <a:avLst/>
          </a:prstGeom>
          <a:solidFill>
            <a:srgbClr val="1332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09744" y="1517904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2C9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JAWABAN  ·  speaker: doctor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    = answer.content_text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E0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= doctor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Diproses secara terpisah dari pertanyaan.</a:t>
            </a:r>
            <a:endParaRPr lang="en-US" sz="1100" dirty="0"/>
          </a:p>
        </p:txBody>
      </p:sp>
      <p:sp>
        <p:nvSpPr>
          <p:cNvPr id="8" name="note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840480"/>
            <a:ext cx="8010144" cy="777240"/>
          </a:xfrm>
          <a:prstGeom prst="rect">
            <a:avLst/>
          </a:prstGeom>
          <a:solidFill>
            <a:srgbClr val="E8F1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Catatan   </a:t>
            </a: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dokter tidak boleh langsung dianggap fakta pasien — dapat mengandung diagnosis banding, contoh hipotetis, dan informasi umum.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KETERBATASAN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Keterbatasan Saat Ini</a:t>
            </a:r>
            <a:endParaRPr lang="en-US" sz="25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1655064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9848" y="1371600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Protected-token mechanism belum eksplisit.</a:t>
            </a:r>
            <a:endParaRPr lang="en-US" sz="115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8032" y="1655064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48072" y="1371600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obat dan kode klinis belum memiliki registry perlindungan khusus.</a:t>
            </a:r>
            <a:endParaRPr lang="en-US" sz="11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249424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532888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9848" y="2249424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bentuk informal masih dapat tertinggal.</a:t>
            </a:r>
            <a:endParaRPr lang="en-US" sz="115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249424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8032" y="2532888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48072" y="2249424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Segmentasi kalimat masih rule-based.</a:t>
            </a:r>
            <a:endParaRPr lang="en-US" sz="1150" dirty="0"/>
          </a:p>
        </p:txBody>
      </p:sp>
      <p:sp>
        <p:nvSpPr>
          <p:cNvPr id="1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127248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410712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69848" y="3127248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menggunakan pola terbatas.</a:t>
            </a:r>
            <a:endParaRPr lang="en-US" sz="115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127248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8032" y="3410712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48072" y="3127248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konteks singkatan belum mencakup semua kasus.</a:t>
            </a:r>
            <a:endParaRPr lang="en-US" sz="115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005072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4288536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69848" y="4005072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set masih kecil.</a:t>
            </a:r>
            <a:endParaRPr lang="en-US" sz="1150" dirty="0"/>
          </a:p>
        </p:txBody>
      </p:sp>
      <p:sp>
        <p:nvSpPr>
          <p:cNvPr id="2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4005072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8032" y="4288536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48072" y="4005072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ada validasi kamus menyeluruh oleh klinisi.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Rencana Penguatan</a:t>
            </a:r>
            <a:endParaRPr lang="en-US" sz="25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47548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996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Prioritas penguatan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protected-token detection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 kamus berdasarkan error analysis korpus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singkatan bersama tenaga klinis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gold set terstratifikasi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sentence-boundary precision, recall, F1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preservation rate angka, unit, obat, negasi, temporalitas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semantic segmentation untuk teks panjang</a:t>
            </a:r>
            <a:endParaRPr lang="en-US" sz="115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1371600"/>
            <a:ext cx="3108960" cy="3246120"/>
          </a:xfrm>
          <a:prstGeom prst="rect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0" y="1499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 study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05856" y="192024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normalisasi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dasar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Kamus informal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 kontekstual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KESIMPULAN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Kesimpulan</a:t>
            </a:r>
            <a:endParaRPr lang="en-US" sz="250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1371600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1673352"/>
            <a:ext cx="182880" cy="182880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9848" y="1389888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mengubah teks konsultasi yang tidak baku menjadi teks yang lebih stabil dan dapat diaudit.</a:t>
            </a:r>
            <a:endParaRPr lang="en-US" sz="110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71600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8032" y="1673352"/>
            <a:ext cx="182880" cy="182880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48072" y="1389888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pertanyaan dan jawaban dipisahkan sesuai peran semantiknya.</a:t>
            </a:r>
            <a:endParaRPr lang="en-US" sz="110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2276856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578608"/>
            <a:ext cx="182880" cy="182880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9848" y="2295144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Singkatan ambigu ditangani menggunakan aturan konteks dan warning.</a:t>
            </a:r>
            <a:endParaRPr lang="en-US" sz="110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276856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8032" y="2578608"/>
            <a:ext cx="182880" cy="182880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48072" y="2295144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 klinis — angka, dosis, satuan, negasi, dan teks asli — dipertahankan.</a:t>
            </a:r>
            <a:endParaRPr lang="en-US" sz="1100" dirty="0"/>
          </a:p>
        </p:txBody>
      </p:sp>
      <p:sp>
        <p:nvSpPr>
          <p:cNvPr id="1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3182112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483864"/>
            <a:ext cx="182880" cy="182880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69848" y="3200400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tidak digunakan sebagai transformasi default.</a:t>
            </a:r>
            <a:endParaRPr lang="en-US" sz="110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182112"/>
            <a:ext cx="39319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8032" y="3483864"/>
            <a:ext cx="182880" cy="182880"/>
          </a:xfrm>
          <a:prstGeom prst="ellipse">
            <a:avLst/>
          </a:prstGeom>
          <a:solidFill>
            <a:srgbClr val="1D6F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48072" y="3200400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sudah dapat menjadi input eksperimen Tahap 2.</a:t>
            </a:r>
            <a:endParaRPr lang="en-US" sz="110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" y="4087368"/>
            <a:ext cx="8010144" cy="603504"/>
          </a:xfrm>
          <a:prstGeom prst="rect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297680"/>
            <a:ext cx="182880" cy="182880"/>
          </a:xfrm>
          <a:prstGeom prst="ellipse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78992" y="408736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Penguatan berikutnya: protected-token mechanism dan gold set yang lebih besar.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· Normalisasi Bahasa Indonesia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68096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71600"/>
            <a:ext cx="5029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2F0"/>
            </a:solidFill>
            <a:prstDash val="solid"/>
          </a:ln>
          <a:effectLst>
            <a:outerShdw blurRad="88900" dist="38100" dir="5400000" algn="bl" rotWithShape="0">
              <a:srgbClr val="0E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5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PENUTUP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93852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6F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Tahap berikutnya
</a:t>
            </a:r>
            <a:r>
              <a:rPr lang="en-US" sz="1300" dirty="0">
                <a:solidFill>
                  <a:srgbClr val="24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 multi-entitas klinis, assertion, dan temporalitas dari teks hasil normalisasi.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1690</Words>
  <Application>Microsoft Office PowerPoint</Application>
  <PresentationFormat>On-screen Show (16:9)</PresentationFormat>
  <Paragraphs>419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Trebuchet MS</vt:lpstr>
      <vt:lpstr>Office Theme</vt:lpstr>
      <vt:lpstr>Tahap 1 — Normalisasi Bahasa Indonesia</vt:lpstr>
      <vt:lpstr>Posisi Tahap 1 dalam Pipeline Riset</vt:lpstr>
      <vt:lpstr>Mengapa Normalisasi Diperlukan?</vt:lpstr>
      <vt:lpstr>Profil Data Alodokter</vt:lpstr>
      <vt:lpstr>Enam Prinsip Desain Normalisasi</vt:lpstr>
      <vt:lpstr>Alur Normalisasi yang Diimplementasikan</vt:lpstr>
      <vt:lpstr>Normalisasi Unicode dan Cleaning</vt:lpstr>
      <vt:lpstr>Kamus Singkatan Berlapis</vt:lpstr>
      <vt:lpstr>Ekspansi Berbasis Konteks</vt:lpstr>
      <vt:lpstr>Profil Pertanyaan dan Jawaban</vt:lpstr>
      <vt:lpstr>Contoh Transformasi Pertanyaan</vt:lpstr>
      <vt:lpstr>Penanganan Angka dan Satuan</vt:lpstr>
      <vt:lpstr>Segmentasi Kalimat</vt:lpstr>
      <vt:lpstr>Penandaan Boilerplate</vt:lpstr>
      <vt:lpstr>Struktur Output Tahap 1</vt:lpstr>
      <vt:lpstr>Hasil Implementasi Tahap 1</vt:lpstr>
      <vt:lpstr>Integrasi dengan Pipeline</vt:lpstr>
      <vt:lpstr>Apakah Stemming Diperlukan?</vt:lpstr>
      <vt:lpstr>Input untuk Tahap 2</vt:lpstr>
      <vt:lpstr>Keterbatasan Saat Ini</vt:lpstr>
      <vt:lpstr>Rencana Penguatan</vt:lpstr>
      <vt:lpstr>Kesimpulan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Didik Kurniawan</dc:creator>
  <cp:lastModifiedBy>Didik Kurniawan</cp:lastModifiedBy>
  <cp:revision>1</cp:revision>
  <dcterms:created xsi:type="dcterms:W3CDTF">2026-07-23T07:12:55Z</dcterms:created>
  <dcterms:modified xsi:type="dcterms:W3CDTF">2026-07-23T07:13:42Z</dcterms:modified>
</cp:coreProperties>
</file>