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424" autoAdjust="0"/>
  </p:normalViewPr>
  <p:slideViewPr>
    <p:cSldViewPr snapToGrid="0">
      <p:cViewPr varScale="1">
        <p:scale>
          <a:sx n="80" d="100"/>
          <a:sy n="80" d="100"/>
        </p:scale>
        <p:origin x="74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2760CD-B293-4CAC-9F6B-B0A2FB98012F}" type="datetimeFigureOut">
              <a:rPr lang="en-ID" smtClean="0"/>
              <a:t>25/07/2026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044812-4245-4BCE-A50F-88DAEE629767}" type="slidenum">
              <a:rPr lang="en-ID" smtClean="0"/>
              <a:t>‹#›</a:t>
            </a:fld>
            <a:endParaRPr lang="en-ID"/>
          </a:p>
        </p:txBody>
      </p:sp>
    </p:spTree>
    <p:extLst>
      <p:ext uri="{BB962C8B-B14F-4D97-AF65-F5344CB8AC3E}">
        <p14:creationId xmlns:p14="http://schemas.microsoft.com/office/powerpoint/2010/main" val="4282930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dengan satu kalimat inti: penelitian ini mengembangkan pipeline end-to-end yang mengubah teks klinis panjang Bahasa Indonesia menjadi entitas terstruktur dan kandidat kode SNOMED CT, LOINC, serta ICD-10. Tekankan bahwa presentasi mencakup usulan ilmiah sekaligus progres implementasi sampai Tahap 2 Checkpoint 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bahwa alur bergerak dari “mengapa penelitian diperlukan” menuju “bagaimana solusi dibangun dan dibuktikan”. Batasi pengantar agar bagian progres implementasi memperoleh waktu cukup.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perbedaan sederhana: FHIR membantu struktur pertukaran, sedangkan terminologi klinis membantu kesamaan arti. Gunakan analogi “wadah dan isi”: format pertukaran adalah wadah, terminologi standar memastikan isi dipahami sama.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Hindari menyatakan bahwa satu terminologi menggantikan terminologi lain. Tekankan pembagian fungsi: SNOMED CT untuk representasi konsep klinis yang kaya, LOINC untuk observasi/laboratorium, dan ICD untuk klasifikasi pelaporan/statistik.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contoh diabetes: konsep penyakit dapat direpresentasikan di SNOMED CT, pemeriksaan glukosanya di LOINC, dan klasifikasi diagnosisnya di ICD-10. Ini menjelaskan mengapa routing multi-terminologi menjadi bagian ilmiah penelitian.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masalah bukan sekadar menerjemahkan kata. Sistem harus menjaga angka dan satuan, membedakan singkatan ambigu, serta memahami apakah kondisi terjadi pada pasien, keluarga, atau hanya merupakan informasi umum dari dokter.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bahwa tugas ini lebih kompleks daripada fuzzy matching biasa. Kandidat yang secara leksikal mirip belum tentu sesuai domain, spesimen, waktu, metode, atau tujuan penggunaan.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Jangan menggambarkan evolusi sebagai penggantian total. Aturan tetap diperlukan untuk constraint, sparse retrieval tetap penting untuk kecocokan istilah, dan ahli tetap dibutuhkan untuk kasus berisiko.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kontribusi penelitian adalah adaptasi substantif terhadap batas arsitektur dan konteks penggunaan, bukan hanya mengganti bahasa input. Fondasi baseline dipertahankan agar peningkatan dapat dibandingkan secara terukur.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Hubungkan setiap gap dengan modul solusi: routing multi-terminologi untuk gap pertama, long-text entity extraction untuk gap kedua, serta normalisasi dan retrieval adaptif Bahasa Indonesia untuk gap ketiga.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pertanyaan pertama mengikuti rumusan proposal. Pertanyaan evaluatif menjembatani rumusan masalah dengan desain eksperimen dan metrik yang akan digunakan.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Bedakan tujuan ilmiah dari artefak teknis. Framework dan evaluasinya adalah tujuan penelitian; kode, skema JSON, notebook, kamus, dan audit trail adalah sarana untuk membuktikannya.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Tegaskan bahwa kebaruan merupakan kombinasi terintegrasi. Hindari mengklaim setiap algoritma komponennya baru; kontribusinya terletak pada adaptasi arsitektur, kontrak antar-modul, konteks Bahasa Indonesia, dan pembuktian end-to-end.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kontribusi data, sampaikan bahwa gold set masih dalam proses. Yang sudah tersedia saat ini adalah rancangan, sampel terstratifikasi, template dua anotator, validator, dan mekanisme disagreement.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sistem tidak melakukan diagnosis dan tidak mengambil keputusan klinis final. Ia mengekstraksi dan merekomendasikan kandidat terminologi dengan jejak audit.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proses iteratif tidak berarti data uji terus dipakai untuk tuning. Development set digunakan untuk perbaikan, sedangkan hold-out evaluation set harus tetap dikunci.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adalah struktur metodologi makro pada proposal. Setelah slide ini, jelaskan bahwa implementasi teknis memecahnya menjadi checkpoint yang lebih kecil agar setiap keluaran dapat diverifikasi sebelum menjadi input tahap berikutnya.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pemisahan komponen memungkinkan error localization. Bila kode akhir salah, penelitian dapat menentukan apakah penyebabnya ekstraksi, routing, retrieval, filtering, atau reranking.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adalah operasionalisasi dari metode proposal. Tahap 0 ditambahkan untuk memastikan baseline benar-benar reproducible sebelum modifikasi.</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ini menunjukkan mengapa satu input menghasilkan beberapa entitas dan beberapa target. Hindari menjanjikan kode LOINC tertentu sebelum seluruh konteks, seperti spesimen dan metode, tersedia.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bahwa penggunaan data daring harus memperhatikan ketentuan sumber, anonimisasi, dan persetujuan etik bila diperlukan. Angka 150 pasangan merujuk pada artefak implementasi saat ini, bukan ukuran akhir seluruh disertasi.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3 saat ini menyiapkan gold untuk entity extraction, sedangkan proposal juga membutuhkan gold pemetaan kode. Ukuran akhir dapat diperluas setelah pilot dan perhitungan kebutuhan sampel.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Tegaskan bahwa kegagalan Athena tidak disembunyikan. Sistem tetap menghasilkan keluaran melalui fallback, tetapi eksperimen ini belum merepresentasikan kondisi semua sumber tersedia.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 penekanan kuat bahwa ini smoke/pilot berukuran 10 query, bukan hasil utama disertasi. partial_source_error_rate=1.0 karena gangguan salah satu sumber juga membatasi interpretasi. Temuan ini berguna untuk merancang eksperimen, bukan untuk generalisasi.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kata “konservatif”. Angka, dosis, unit, negasi, temporalitas, nama obat, dan istilah campuran harus dipertahankan. Stemming tidak digunakan sebagai transformasi default karena dapat merusak istilah klinis.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kamus bukan sekadar pasangan key–value. Keputusan ekspansi harus mempertimbangkan konteks; jika konteks tidak cukup, token dipertahankan dan warning dicatat.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keterbatasan: hasil 100% berasal dari lima kasus gold terkontrol dan hanya memverifikasi implementasi awal. Evaluasi yang lebih besar tetap diperlukan untuk abbreviation accuracy, typo recovery, sentence-boundary F1, dan preservation rate.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kesalahan experiencer atau negasi dapat mengubah makna secara fundamental. Karena itu, evaluasi span saja tidak cukup untuk jawaban dokter dan konsultasi pasien.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checkpoint mencegah kompleksitas ditumpuk sekaligus. Entity span harus stabil sebelum atribut kompleks; question diuji sebelum konteks jawaban dokter yang lebih sulit.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pemisahan question dan answer diperlukan karena speaker dan epistemic status berbeda. Audit memastikan seluruh pasangan lengkap, ID unik, teks tidak kosong, dan setiap kalimat dapat ditelusuri kembali.</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Berikan contoh singkat: diabetes sebagai condition, demam sebagai symptom, tekanan darah sebagai measurement, parasetamol sebagai drug, ultrasonografi sebagai procedure, dan mmHg sebagai unit.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manfaat tiap kelompok: identitas untuk konsep, nilai klinis untuk dekomposisi, konteks untuk mencegah salah tafsir, dan audit untuk reproducibility.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negatif digunakan untuk membuktikan validator menolak offset salah, speaker tidak sesuai, sentence ID invalid, confidence di luar rentang, ID duplikat, dan evidence yang tidak memuat mention.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contoh drug_or_dose, negation, atau long_answer. Label tersebut hanya membantu memilih kasus yang beragam. Label gold sebenarnya berupa span, entity type, dan atribut yang diberikan anotator.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integritas ilmiah: sistem tidak menghasilkan gold otomatis. Tools yang direkomendasikan adalah INCEpTION untuk fitur per-span dan curation, atau doccano untuk span/type yang dilanjutkan lembar atribut terstruktur.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bahwa implementasi Checkpoint 4 dapat dimulai sambil anotasi berjalan, tetapi tidak boleh dinyatakan selesai secara ilmiah tanpa gold set final.</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model paling kompleks belum tentu paling baik. Ablation dibutuhkan untuk membuktikan apakah setiap modul meningkatkan kualitas atau hanya menambah latensi dan biaya.</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metrik dipisahkan per komponen untuk menghindari kesimpulan keliru. End-to-end error dapat berasal dari entitas yang tidak ditemukan, kandidat yang tidak diretrieval, atau kandidat benar yang gagal dipilih.</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auditability adalah bagian desain, bukan tambahan administratif. Setiap transformasi penting menyimpan versi, hash, warning, dan evidence.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posisi yang jujur: fondasi teknis dan audit sudah tersedia, tetapi evaluasi ilmiah utama menunggu gold set dan eksperimen skala memadai. Undang masukan penguji terutama terkait desain gold standard, target terminologi, dan strategi evaluasi.</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097280" y="2468880"/>
            <a:ext cx="9994392" cy="155448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786384"/>
            <a:ext cx="8595360" cy="86868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25079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ottom band">
            <a:extLst>
              <a:ext uri="{C183D7F6-B498-43B3-948B-1728B52AA6E4}">
                <adec:decorative xmlns:adec="http://schemas.microsoft.com/office/drawing/2017/decorative" val="1"/>
              </a:ext>
            </a:extLst>
          </p:cNvPr>
          <p:cNvSpPr/>
          <p:nvPr/>
        </p:nvSpPr>
        <p:spPr>
          <a:xfrm>
            <a:off x="0" y="5989320"/>
            <a:ext cx="12191695" cy="868680"/>
          </a:xfrm>
          <a:prstGeom prst="rect">
            <a:avLst/>
          </a:prstGeom>
          <a:solidFill>
            <a:srgbClr val="0B3C6E"/>
          </a:solidFill>
          <a:ln/>
        </p:spPr>
        <p:txBody>
          <a:bodyPr/>
          <a:lstStyle/>
          <a:p>
            <a:endParaRPr lang="en-ID"/>
          </a:p>
        </p:txBody>
      </p:sp>
      <p:sp>
        <p:nvSpPr>
          <p:cNvPr id="3" name="left accent">
            <a:extLst>
              <a:ext uri="{C183D7F6-B498-43B3-948B-1728B52AA6E4}">
                <adec:decorative xmlns:adec="http://schemas.microsoft.com/office/drawing/2017/decorative" val="1"/>
              </a:ext>
            </a:extLst>
          </p:cNvPr>
          <p:cNvSpPr/>
          <p:nvPr/>
        </p:nvSpPr>
        <p:spPr>
          <a:xfrm>
            <a:off x="0" y="0"/>
            <a:ext cx="201168" cy="5989320"/>
          </a:xfrm>
          <a:prstGeom prst="rect">
            <a:avLst/>
          </a:prstGeom>
          <a:solidFill>
            <a:srgbClr val="B98A1E"/>
          </a:solidFill>
          <a:ln/>
        </p:spPr>
        <p:txBody>
          <a:bodyPr/>
          <a:lstStyle/>
          <a:p>
            <a:endParaRPr lang="en-ID"/>
          </a:p>
        </p:txBody>
      </p:sp>
      <p:pic>
        <p:nvPicPr>
          <p:cNvPr id="4" name="Image 0" descr="Logo Universitas Gadjah Mada"/>
          <p:cNvPicPr>
            <a:picLocks noChangeAspect="1"/>
          </p:cNvPicPr>
          <p:nvPr/>
        </p:nvPicPr>
        <p:blipFill>
          <a:blip r:embed="rId3"/>
          <a:stretch>
            <a:fillRect/>
          </a:stretch>
        </p:blipFill>
        <p:spPr>
          <a:xfrm>
            <a:off x="4175608" y="640080"/>
            <a:ext cx="3840480" cy="1159223"/>
          </a:xfrm>
          <a:prstGeom prst="rect">
            <a:avLst/>
          </a:prstGeom>
        </p:spPr>
      </p:pic>
      <p:sp>
        <p:nvSpPr>
          <p:cNvPr id="5" name="Text 2"/>
          <p:cNvSpPr/>
          <p:nvPr/>
        </p:nvSpPr>
        <p:spPr>
          <a:xfrm>
            <a:off x="914400" y="1965960"/>
            <a:ext cx="10362895" cy="365760"/>
          </a:xfrm>
          <a:prstGeom prst="rect">
            <a:avLst/>
          </a:prstGeom>
          <a:noFill/>
          <a:ln/>
        </p:spPr>
        <p:txBody>
          <a:bodyPr wrap="square" rtlCol="0" anchor="ctr"/>
          <a:lstStyle/>
          <a:p>
            <a:pPr marL="0" indent="0" algn="ctr">
              <a:buNone/>
            </a:pPr>
            <a:r>
              <a:rPr lang="en-US" sz="1500" b="1" kern="0" spc="300" dirty="0">
                <a:solidFill>
                  <a:srgbClr val="B98A1E"/>
                </a:solidFill>
                <a:latin typeface="Calibri" pitchFamily="34" charset="0"/>
                <a:ea typeface="Calibri" pitchFamily="34" charset="-122"/>
                <a:cs typeface="Calibri" pitchFamily="34" charset="-120"/>
              </a:rPr>
              <a:t>UJIAN PRE-KOMPREHENSIF</a:t>
            </a:r>
            <a:endParaRPr lang="en-US" sz="1500" dirty="0"/>
          </a:p>
        </p:txBody>
      </p:sp>
      <p:sp>
        <p:nvSpPr>
          <p:cNvPr id="6" name="Text 0"/>
          <p:cNvSpPr>
            <a:spLocks noGrp="1"/>
          </p:cNvSpPr>
          <p:nvPr>
            <p:ph type="title" idx="100" hasCustomPrompt="1"/>
          </p:nvPr>
        </p:nvSpPr>
        <p:spPr>
          <a:xfrm>
            <a:off x="1097280" y="2468880"/>
            <a:ext cx="9994392" cy="1554480"/>
          </a:xfrm>
          <a:prstGeom prst="rect">
            <a:avLst/>
          </a:prstGeom>
          <a:noFill/>
          <a:ln/>
        </p:spPr>
        <p:txBody>
          <a:bodyPr wrap="square" lIns="0" tIns="0" rIns="0" bIns="0" rtlCol="0" anchor="ctr"/>
          <a:lstStyle/>
          <a:p>
            <a:pPr marL="0" indent="0" algn="ctr">
              <a:buNone/>
            </a:pPr>
            <a:r>
              <a:rPr lang="en-US" sz="3000" b="1" dirty="0">
                <a:solidFill>
                  <a:srgbClr val="0B3C6E"/>
                </a:solidFill>
                <a:latin typeface="Georgia" pitchFamily="34" charset="0"/>
                <a:ea typeface="Georgia" pitchFamily="34" charset="-122"/>
                <a:cs typeface="Georgia" pitchFamily="34" charset="-120"/>
              </a:rPr>
              <a:t>Adaptasi CDE-Mapper untuk Pemetaan Terminologi Klinis Bahasa Indonesia</a:t>
            </a:r>
            <a:endParaRPr lang="en-US" sz="3000" dirty="0"/>
          </a:p>
        </p:txBody>
      </p:sp>
      <p:sp>
        <p:nvSpPr>
          <p:cNvPr id="7" name="Text 4"/>
          <p:cNvSpPr/>
          <p:nvPr/>
        </p:nvSpPr>
        <p:spPr>
          <a:xfrm>
            <a:off x="1097280" y="4114800"/>
            <a:ext cx="9997135" cy="457200"/>
          </a:xfrm>
          <a:prstGeom prst="rect">
            <a:avLst/>
          </a:prstGeom>
          <a:noFill/>
          <a:ln/>
        </p:spPr>
        <p:txBody>
          <a:bodyPr wrap="square" rtlCol="0" anchor="ctr"/>
          <a:lstStyle/>
          <a:p>
            <a:pPr marL="0" indent="0" algn="ctr">
              <a:buNone/>
            </a:pPr>
            <a:r>
              <a:rPr lang="en-US" sz="1700" i="1" dirty="0">
                <a:solidFill>
                  <a:srgbClr val="14568F"/>
                </a:solidFill>
                <a:latin typeface="Georgia" pitchFamily="34" charset="0"/>
                <a:ea typeface="Georgia" pitchFamily="34" charset="-122"/>
                <a:cs typeface="Georgia" pitchFamily="34" charset="-120"/>
              </a:rPr>
              <a:t>Pendekatan Hybrid Berbasis LLM dan Semantic Retrieval</a:t>
            </a:r>
            <a:endParaRPr lang="en-US" sz="1700" dirty="0"/>
          </a:p>
        </p:txBody>
      </p:sp>
      <p:sp>
        <p:nvSpPr>
          <p:cNvPr id="8" name="Text 5"/>
          <p:cNvSpPr/>
          <p:nvPr/>
        </p:nvSpPr>
        <p:spPr>
          <a:xfrm>
            <a:off x="1097280" y="4754880"/>
            <a:ext cx="9997135" cy="731520"/>
          </a:xfrm>
          <a:prstGeom prst="rect">
            <a:avLst/>
          </a:prstGeom>
          <a:noFill/>
          <a:ln/>
        </p:spPr>
        <p:txBody>
          <a:bodyPr wrap="square" rtlCol="0" anchor="ctr"/>
          <a:lstStyle/>
          <a:p>
            <a:pPr marL="0" indent="0" algn="ctr">
              <a:lnSpc>
                <a:spcPct val="110000"/>
              </a:lnSpc>
              <a:buNone/>
            </a:pPr>
            <a:r>
              <a:rPr lang="en-US" sz="1500" b="1" dirty="0">
                <a:solidFill>
                  <a:srgbClr val="26313D"/>
                </a:solidFill>
                <a:latin typeface="Calibri" pitchFamily="34" charset="0"/>
                <a:ea typeface="Calibri" pitchFamily="34" charset="-122"/>
                <a:cs typeface="Calibri" pitchFamily="34" charset="-120"/>
              </a:rPr>
              <a:t>Anie Rose Irawati</a:t>
            </a:r>
            <a:endParaRPr lang="en-US" sz="1500" dirty="0"/>
          </a:p>
          <a:p>
            <a:pPr marL="0" indent="0" algn="ctr">
              <a:lnSpc>
                <a:spcPct val="110000"/>
              </a:lnSpc>
              <a:buNone/>
            </a:pPr>
            <a:r>
              <a:rPr lang="en-US" sz="1250" dirty="0">
                <a:solidFill>
                  <a:srgbClr val="6A7A8A"/>
                </a:solidFill>
                <a:latin typeface="Calibri" pitchFamily="34" charset="0"/>
                <a:ea typeface="Calibri" pitchFamily="34" charset="-122"/>
                <a:cs typeface="Calibri" pitchFamily="34" charset="-120"/>
              </a:rPr>
              <a:t>Program Doktor Ilmu Komputer · Universitas Gadjah Mada</a:t>
            </a:r>
            <a:endParaRPr lang="en-US" sz="1500" dirty="0"/>
          </a:p>
        </p:txBody>
      </p:sp>
      <p:sp>
        <p:nvSpPr>
          <p:cNvPr id="9" name="Text 6"/>
          <p:cNvSpPr/>
          <p:nvPr/>
        </p:nvSpPr>
        <p:spPr>
          <a:xfrm>
            <a:off x="914400" y="5989320"/>
            <a:ext cx="10362895" cy="8686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Promotor: </a:t>
            </a:r>
            <a:r>
              <a:rPr lang="en-US" sz="1250" dirty="0">
                <a:solidFill>
                  <a:srgbClr val="D7E2F0"/>
                </a:solidFill>
                <a:latin typeface="Calibri" pitchFamily="34" charset="0"/>
                <a:ea typeface="Calibri" pitchFamily="34" charset="-122"/>
                <a:cs typeface="Calibri" pitchFamily="34" charset="-120"/>
              </a:rPr>
              <a:t>Afiahayati, S.Kom., M.Cs., Ph.D.      </a:t>
            </a:r>
            <a:r>
              <a:rPr lang="en-US" sz="1250" b="1" dirty="0">
                <a:solidFill>
                  <a:srgbClr val="FFFFFF"/>
                </a:solidFill>
                <a:latin typeface="Calibri" pitchFamily="34" charset="0"/>
                <a:ea typeface="Calibri" pitchFamily="34" charset="-122"/>
                <a:cs typeface="Calibri" pitchFamily="34" charset="-120"/>
              </a:rPr>
              <a:t>Ko-Promotor: </a:t>
            </a:r>
            <a:r>
              <a:rPr lang="en-US" sz="1250" dirty="0">
                <a:solidFill>
                  <a:srgbClr val="D7E2F0"/>
                </a:solidFill>
                <a:latin typeface="Calibri" pitchFamily="34" charset="0"/>
                <a:ea typeface="Calibri" pitchFamily="34" charset="-122"/>
                <a:cs typeface="Calibri" pitchFamily="34" charset="-120"/>
              </a:rPr>
              <a:t>Dr. Lukman Heryawan, S.T., M.T.</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PENGANTAR</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Alur Presentasi</a:t>
            </a:r>
            <a:endParaRPr lang="en-US" sz="2700" dirty="0"/>
          </a:p>
        </p:txBody>
      </p:sp>
      <p:sp>
        <p:nvSpPr>
          <p:cNvPr id="8" name="Text 5"/>
          <p:cNvSpPr/>
          <p:nvPr/>
        </p:nvSpPr>
        <p:spPr>
          <a:xfrm>
            <a:off x="640080" y="1920240"/>
            <a:ext cx="10972800" cy="3108960"/>
          </a:xfrm>
          <a:prstGeom prst="rect">
            <a:avLst/>
          </a:prstGeom>
          <a:noFill/>
          <a:ln/>
        </p:spPr>
        <p:txBody>
          <a:bodyPr wrap="square" rtlCol="0" anchor="t"/>
          <a:lstStyle/>
          <a:p>
            <a:pPr marL="177800" indent="-177800">
              <a:lnSpc>
                <a:spcPct val="102000"/>
              </a:lnSpc>
              <a:spcAft>
                <a:spcPts val="1200"/>
              </a:spcAft>
              <a:buSzPct val="100000"/>
              <a:buChar char="•"/>
            </a:pPr>
            <a:r>
              <a:rPr lang="en-US" sz="1700" dirty="0">
                <a:solidFill>
                  <a:srgbClr val="26313D"/>
                </a:solidFill>
                <a:latin typeface="Calibri" pitchFamily="34" charset="0"/>
                <a:ea typeface="Calibri" pitchFamily="34" charset="-122"/>
                <a:cs typeface="Calibri" pitchFamily="34" charset="-120"/>
              </a:rPr>
              <a:t>Konteks dan urgensi</a:t>
            </a:r>
            <a:endParaRPr lang="en-US" sz="1700" dirty="0"/>
          </a:p>
          <a:p>
            <a:pPr marL="177800" indent="-177800">
              <a:lnSpc>
                <a:spcPct val="102000"/>
              </a:lnSpc>
              <a:spcAft>
                <a:spcPts val="1200"/>
              </a:spcAft>
              <a:buSzPct val="100000"/>
              <a:buChar char="•"/>
            </a:pPr>
            <a:r>
              <a:rPr lang="en-US" sz="1700" dirty="0">
                <a:solidFill>
                  <a:srgbClr val="26313D"/>
                </a:solidFill>
                <a:latin typeface="Calibri" pitchFamily="34" charset="0"/>
                <a:ea typeface="Calibri" pitchFamily="34" charset="-122"/>
                <a:cs typeface="Calibri" pitchFamily="34" charset="-120"/>
              </a:rPr>
              <a:t>Research gap dan posisi penelitian</a:t>
            </a:r>
            <a:endParaRPr lang="en-US" sz="1700" dirty="0"/>
          </a:p>
          <a:p>
            <a:pPr marL="177800" indent="-177800">
              <a:lnSpc>
                <a:spcPct val="102000"/>
              </a:lnSpc>
              <a:spcAft>
                <a:spcPts val="1200"/>
              </a:spcAft>
              <a:buSzPct val="100000"/>
              <a:buChar char="•"/>
            </a:pPr>
            <a:r>
              <a:rPr lang="en-US" sz="1700" dirty="0">
                <a:solidFill>
                  <a:srgbClr val="26313D"/>
                </a:solidFill>
                <a:latin typeface="Calibri" pitchFamily="34" charset="0"/>
                <a:ea typeface="Calibri" pitchFamily="34" charset="-122"/>
                <a:cs typeface="Calibri" pitchFamily="34" charset="-120"/>
              </a:rPr>
              <a:t>Tujuan, kebaruan, dan kontribusi</a:t>
            </a:r>
            <a:endParaRPr lang="en-US" sz="1700" dirty="0"/>
          </a:p>
          <a:p>
            <a:pPr marL="177800" indent="-177800">
              <a:lnSpc>
                <a:spcPct val="102000"/>
              </a:lnSpc>
              <a:spcAft>
                <a:spcPts val="1200"/>
              </a:spcAft>
              <a:buSzPct val="100000"/>
              <a:buChar char="•"/>
            </a:pPr>
            <a:r>
              <a:rPr lang="en-US" sz="1700" dirty="0">
                <a:solidFill>
                  <a:srgbClr val="26313D"/>
                </a:solidFill>
                <a:latin typeface="Calibri" pitchFamily="34" charset="0"/>
                <a:ea typeface="Calibri" pitchFamily="34" charset="-122"/>
                <a:cs typeface="Calibri" pitchFamily="34" charset="-120"/>
              </a:rPr>
              <a:t>Metode dan arsitektur usulan</a:t>
            </a:r>
            <a:endParaRPr lang="en-US" sz="1700" dirty="0"/>
          </a:p>
          <a:p>
            <a:pPr marL="177800" indent="-177800">
              <a:lnSpc>
                <a:spcPct val="102000"/>
              </a:lnSpc>
              <a:spcAft>
                <a:spcPts val="1200"/>
              </a:spcAft>
              <a:buSzPct val="100000"/>
              <a:buChar char="•"/>
            </a:pPr>
            <a:r>
              <a:rPr lang="en-US" sz="1700" dirty="0">
                <a:solidFill>
                  <a:srgbClr val="26313D"/>
                </a:solidFill>
                <a:latin typeface="Calibri" pitchFamily="34" charset="0"/>
                <a:ea typeface="Calibri" pitchFamily="34" charset="-122"/>
                <a:cs typeface="Calibri" pitchFamily="34" charset="-120"/>
              </a:rPr>
              <a:t>Progres implementasi Tahap 0–2</a:t>
            </a:r>
            <a:endParaRPr lang="en-US" sz="1700" dirty="0"/>
          </a:p>
          <a:p>
            <a:pPr marL="177800" indent="-177800">
              <a:lnSpc>
                <a:spcPct val="102000"/>
              </a:lnSpc>
              <a:spcAft>
                <a:spcPts val="1200"/>
              </a:spcAft>
              <a:buSzPct val="100000"/>
              <a:buChar char="•"/>
            </a:pPr>
            <a:r>
              <a:rPr lang="en-US" sz="1700" dirty="0">
                <a:solidFill>
                  <a:srgbClr val="26313D"/>
                </a:solidFill>
                <a:latin typeface="Calibri" pitchFamily="34" charset="0"/>
                <a:ea typeface="Calibri" pitchFamily="34" charset="-122"/>
                <a:cs typeface="Calibri" pitchFamily="34" charset="-120"/>
              </a:rPr>
              <a:t>Rancangan evaluasi, risiko, dan rencana lanjutan</a:t>
            </a:r>
            <a:endParaRPr lang="en-US" sz="1700" dirty="0"/>
          </a:p>
        </p:txBody>
      </p:sp>
      <p:sp>
        <p:nvSpPr>
          <p:cNvPr id="9" name="callout background">
            <a:extLst>
              <a:ext uri="{C183D7F6-B498-43B3-948B-1728B52AA6E4}">
                <adec:decorative xmlns:adec="http://schemas.microsoft.com/office/drawing/2017/decorative" val="1"/>
              </a:ext>
            </a:extLst>
          </p:cNvPr>
          <p:cNvSpPr/>
          <p:nvPr/>
        </p:nvSpPr>
        <p:spPr>
          <a:xfrm>
            <a:off x="640080" y="5257800"/>
            <a:ext cx="10972800" cy="868680"/>
          </a:xfrm>
          <a:prstGeom prst="roundRect">
            <a:avLst>
              <a:gd name="adj" fmla="val 6316"/>
            </a:avLst>
          </a:prstGeom>
          <a:solidFill>
            <a:srgbClr val="F7EFD8"/>
          </a:solidFill>
          <a:ln/>
        </p:spPr>
        <p:txBody>
          <a:bodyPr/>
          <a:lstStyle/>
          <a:p>
            <a:endParaRPr lang="en-ID"/>
          </a:p>
        </p:txBody>
      </p:sp>
      <p:sp>
        <p:nvSpPr>
          <p:cNvPr id="10" name="Text 7"/>
          <p:cNvSpPr/>
          <p:nvPr/>
        </p:nvSpPr>
        <p:spPr>
          <a:xfrm>
            <a:off x="896112" y="5257800"/>
            <a:ext cx="10460736" cy="8686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Alur:  </a:t>
            </a:r>
            <a:r>
              <a:rPr lang="en-US" sz="1350" dirty="0">
                <a:solidFill>
                  <a:srgbClr val="26313D"/>
                </a:solidFill>
                <a:latin typeface="Calibri" pitchFamily="34" charset="0"/>
                <a:ea typeface="Calibri" pitchFamily="34" charset="-122"/>
                <a:cs typeface="Calibri" pitchFamily="34" charset="-120"/>
              </a:rPr>
              <a:t>bergerak dari “mengapa penelitian diperlukan” menuju “bagaimana solusi dibangun dan dibuktikan”.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KONTEKS &amp; URGENSI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Transformasi Digital Membutuhkan Kesetaraan Makna</a:t>
            </a:r>
            <a:endParaRPr lang="en-US" sz="2700" dirty="0"/>
          </a:p>
        </p:txBody>
      </p:sp>
      <p:sp>
        <p:nvSpPr>
          <p:cNvPr id="8" name="Text 5"/>
          <p:cNvSpPr/>
          <p:nvPr/>
        </p:nvSpPr>
        <p:spPr>
          <a:xfrm>
            <a:off x="640080" y="1828800"/>
            <a:ext cx="10972800" cy="3200400"/>
          </a:xfrm>
          <a:prstGeom prst="rect">
            <a:avLst/>
          </a:prstGeom>
          <a:noFill/>
          <a:ln/>
        </p:spPr>
        <p:txBody>
          <a:bodyPr wrap="square" rtlCol="0" anchor="t"/>
          <a:lstStyle/>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Pertukaran data belum menjamin interoperabilitas.</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Sistem berbeda harus memahami konsep klinis dengan makna yang sama.</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Data yang secara tekstual mirip dapat ditafsirkan berbeda tanpa terminologi standar.</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Konsistensi semantik menentukan kualitas:</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integrasi data;</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analisis klinis;</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pengambilan keputusan;</a:t>
            </a:r>
            <a:endParaRPr lang="en-US" sz="1500" dirty="0"/>
          </a:p>
          <a:p>
            <a:pPr marL="355600" lvl="1"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penelitian kesehatan.</a:t>
            </a:r>
            <a:endParaRPr lang="en-US" sz="1500" dirty="0"/>
          </a:p>
        </p:txBody>
      </p:sp>
      <p:sp>
        <p:nvSpPr>
          <p:cNvPr id="9" name="callout background">
            <a:extLst>
              <a:ext uri="{C183D7F6-B498-43B3-948B-1728B52AA6E4}">
                <adec:decorative xmlns:adec="http://schemas.microsoft.com/office/drawing/2017/decorative" val="1"/>
              </a:ext>
            </a:extLst>
          </p:cNvPr>
          <p:cNvSpPr/>
          <p:nvPr/>
        </p:nvSpPr>
        <p:spPr>
          <a:xfrm>
            <a:off x="640080" y="5257800"/>
            <a:ext cx="10972800" cy="868680"/>
          </a:xfrm>
          <a:prstGeom prst="roundRect">
            <a:avLst>
              <a:gd name="adj" fmla="val 6316"/>
            </a:avLst>
          </a:prstGeom>
          <a:solidFill>
            <a:srgbClr val="F7EFD8"/>
          </a:solidFill>
          <a:ln/>
        </p:spPr>
        <p:txBody>
          <a:bodyPr/>
          <a:lstStyle/>
          <a:p>
            <a:endParaRPr lang="en-ID"/>
          </a:p>
        </p:txBody>
      </p:sp>
      <p:sp>
        <p:nvSpPr>
          <p:cNvPr id="10" name="Text 7"/>
          <p:cNvSpPr/>
          <p:nvPr/>
        </p:nvSpPr>
        <p:spPr>
          <a:xfrm>
            <a:off x="896112" y="5257800"/>
            <a:ext cx="10460736" cy="8686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Pesan utama:  </a:t>
            </a:r>
            <a:r>
              <a:rPr lang="en-US" sz="1350" dirty="0">
                <a:solidFill>
                  <a:srgbClr val="26313D"/>
                </a:solidFill>
                <a:latin typeface="Calibri" pitchFamily="34" charset="0"/>
                <a:ea typeface="Calibri" pitchFamily="34" charset="-122"/>
                <a:cs typeface="Calibri" pitchFamily="34" charset="-120"/>
              </a:rPr>
              <a:t>interoperabilitas sintaksis tanpa interoperabilitas semantik masih menyisakan risiko salah makna.</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4</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KONTEKS INDONESIA</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Konteks Indonesia: SATUSEHAT</a:t>
            </a:r>
            <a:endParaRPr lang="en-US" sz="2700" dirty="0"/>
          </a:p>
        </p:txBody>
      </p:sp>
      <p:sp>
        <p:nvSpPr>
          <p:cNvPr id="8" name="Text 5"/>
          <p:cNvSpPr/>
          <p:nvPr/>
        </p:nvSpPr>
        <p:spPr>
          <a:xfrm>
            <a:off x="640080" y="1828800"/>
            <a:ext cx="10972800" cy="3200400"/>
          </a:xfrm>
          <a:prstGeom prst="rect">
            <a:avLst/>
          </a:prstGeom>
          <a:noFill/>
          <a:ln/>
        </p:spPr>
        <p:txBody>
          <a:bodyPr wrap="square" rtlCol="0" anchor="t"/>
          <a:lstStyle/>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SATUSEHAT dibangun dalam kerangka interoperabilitas berbasis FHIR.</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Ekosistem nasional memerlukan terminologi standar untuk mengisi resource FHIR.</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Terminologi yang relevan meliputi:</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SNOMED CT;</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LOINC;</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keluarga ICD;</a:t>
            </a:r>
            <a:endParaRPr lang="en-US" sz="1500" dirty="0"/>
          </a:p>
          <a:p>
            <a:pPr marL="355600" lvl="1"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terminologi nasional seperti KPTL.</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Pemetaan terminologi menjadi salah satu titik kritis implementasi.</a:t>
            </a:r>
            <a:endParaRPr lang="en-US" sz="1500" dirty="0"/>
          </a:p>
        </p:txBody>
      </p:sp>
      <p:sp>
        <p:nvSpPr>
          <p:cNvPr id="9" name="callout background">
            <a:extLst>
              <a:ext uri="{C183D7F6-B498-43B3-948B-1728B52AA6E4}">
                <adec:decorative xmlns:adec="http://schemas.microsoft.com/office/drawing/2017/decorative" val="1"/>
              </a:ext>
            </a:extLst>
          </p:cNvPr>
          <p:cNvSpPr/>
          <p:nvPr/>
        </p:nvSpPr>
        <p:spPr>
          <a:xfrm>
            <a:off x="640080" y="5257800"/>
            <a:ext cx="10972800" cy="868680"/>
          </a:xfrm>
          <a:prstGeom prst="roundRect">
            <a:avLst>
              <a:gd name="adj" fmla="val 6316"/>
            </a:avLst>
          </a:prstGeom>
          <a:solidFill>
            <a:srgbClr val="F7EFD8"/>
          </a:solidFill>
          <a:ln/>
        </p:spPr>
        <p:txBody>
          <a:bodyPr/>
          <a:lstStyle/>
          <a:p>
            <a:endParaRPr lang="en-ID"/>
          </a:p>
        </p:txBody>
      </p:sp>
      <p:sp>
        <p:nvSpPr>
          <p:cNvPr id="10" name="Text 7"/>
          <p:cNvSpPr/>
          <p:nvPr/>
        </p:nvSpPr>
        <p:spPr>
          <a:xfrm>
            <a:off x="896112" y="5257800"/>
            <a:ext cx="10460736" cy="8686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Tantangan:  </a:t>
            </a:r>
            <a:r>
              <a:rPr lang="en-US" sz="1350" dirty="0">
                <a:solidFill>
                  <a:srgbClr val="26313D"/>
                </a:solidFill>
                <a:latin typeface="Calibri" pitchFamily="34" charset="0"/>
                <a:ea typeface="Calibri" pitchFamily="34" charset="-122"/>
                <a:cs typeface="Calibri" pitchFamily="34" charset="-120"/>
              </a:rPr>
              <a:t>data sumber masih heterogen, lokal, dan sering tidak terstruktur.</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5</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KONTEKS &amp; URGENSI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Mengapa Memerlukan Multi-Terminologi?</a:t>
            </a:r>
            <a:endParaRPr lang="en-US" sz="2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881360" cy="2011680"/>
        </p:xfrm>
        <a:graphic>
          <a:graphicData uri="http://schemas.openxmlformats.org/drawingml/2006/table">
            <a:tbl>
              <a:tblPr/>
              <a:tblGrid>
                <a:gridCol w="49377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50292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Kebutuhan</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Terminologi utama</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Contoh</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extLst>
                  <a:ext uri="{0D108BD9-81ED-4DB2-BD59-A6C34878D82A}">
                    <a16:rowId xmlns:a16="http://schemas.microsoft.com/office/drawing/2014/main" val="10000"/>
                  </a:ext>
                </a:extLst>
              </a:tr>
              <a:tr h="502920">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Diagnosis, gejala, temuan, prosedur</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SNOMED CT</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Diabetes melitus tipe 2</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Pertanyaan observasi atau tes</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LOINC</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Glukosa darah puasa</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r h="502920">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Klasifikasi diagnosis</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ICD-10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E11.9</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5"/>
          <p:cNvSpPr/>
          <p:nvPr/>
        </p:nvSpPr>
        <p:spPr>
          <a:xfrm>
            <a:off x="640080" y="3886200"/>
            <a:ext cx="10972800" cy="2194560"/>
          </a:xfrm>
          <a:prstGeom prst="rect">
            <a:avLst/>
          </a:prstGeom>
          <a:noFill/>
          <a:ln/>
        </p:spPr>
        <p:txBody>
          <a:bodyPr wrap="square" rtlCol="0" anchor="t"/>
          <a:lstStyle/>
          <a:p>
            <a:pPr marL="177800" indent="-177800">
              <a:lnSpc>
                <a:spcPct val="102000"/>
              </a:lnSpc>
              <a:spcAft>
                <a:spcPts val="600"/>
              </a:spcAft>
              <a:buSzPct val="100000"/>
              <a:buChar char="•"/>
            </a:pPr>
            <a:r>
              <a:rPr lang="en-US" sz="1400" dirty="0">
                <a:solidFill>
                  <a:srgbClr val="26313D"/>
                </a:solidFill>
                <a:latin typeface="Calibri" pitchFamily="34" charset="0"/>
                <a:ea typeface="Calibri" pitchFamily="34" charset="-122"/>
                <a:cs typeface="Calibri" pitchFamily="34" charset="-120"/>
              </a:rPr>
              <a:t>Satu episode klinis dapat membutuhkan lebih dari satu representasi.</a:t>
            </a:r>
            <a:endParaRPr lang="en-US" sz="1400" dirty="0"/>
          </a:p>
          <a:p>
            <a:pPr marL="177800" indent="-177800">
              <a:lnSpc>
                <a:spcPct val="102000"/>
              </a:lnSpc>
              <a:spcAft>
                <a:spcPts val="600"/>
              </a:spcAft>
              <a:buSzPct val="100000"/>
              <a:buChar char="•"/>
            </a:pPr>
            <a:r>
              <a:rPr lang="en-US" sz="1400" dirty="0">
                <a:solidFill>
                  <a:srgbClr val="26313D"/>
                </a:solidFill>
                <a:latin typeface="Calibri" pitchFamily="34" charset="0"/>
                <a:ea typeface="Calibri" pitchFamily="34" charset="-122"/>
                <a:cs typeface="Calibri" pitchFamily="34" charset="-120"/>
              </a:rPr>
              <a:t>Pemilihan target harus mengikuti tipe entitas dan tujuan penggunaan.</a:t>
            </a:r>
            <a:endParaRPr lang="en-US" sz="1400" dirty="0"/>
          </a:p>
          <a:p>
            <a:pPr marL="177800" indent="-177800">
              <a:lnSpc>
                <a:spcPct val="102000"/>
              </a:lnSpc>
              <a:spcAft>
                <a:spcPts val="600"/>
              </a:spcAft>
              <a:buSzPct val="100000"/>
              <a:buChar char="•"/>
            </a:pPr>
            <a:r>
              <a:rPr lang="en-US" sz="1400" dirty="0">
                <a:solidFill>
                  <a:srgbClr val="26313D"/>
                </a:solidFill>
                <a:latin typeface="Calibri" pitchFamily="34" charset="0"/>
                <a:ea typeface="Calibri" pitchFamily="34" charset="-122"/>
                <a:cs typeface="Calibri" pitchFamily="34" charset="-120"/>
              </a:rPr>
              <a:t>Pipeline tidak cukup hanya melakukan pencarian pada satu vocabulary.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6</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KONTEKS &amp; URGENSI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Realitas Teks Klinis Bahasa Indonesia</a:t>
            </a:r>
            <a:endParaRPr lang="en-US" sz="2700" dirty="0"/>
          </a:p>
        </p:txBody>
      </p:sp>
      <p:sp>
        <p:nvSpPr>
          <p:cNvPr id="8" name="Text 5"/>
          <p:cNvSpPr/>
          <p:nvPr/>
        </p:nvSpPr>
        <p:spPr>
          <a:xfrm>
            <a:off x="640080" y="1828800"/>
            <a:ext cx="10972800" cy="3017520"/>
          </a:xfrm>
          <a:prstGeom prst="rect">
            <a:avLst/>
          </a:prstGeom>
          <a:noFill/>
          <a:ln/>
        </p:spPr>
        <p:txBody>
          <a:bodyPr wrap="square" rtlCol="0" anchor="t"/>
          <a:lstStyle/>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Istilah baku dan istilah sehari-hari bercampur.</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Singkatan dapat ambigu: DM, TD, TB, BB, Px.</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Terdapat typo, code-mixing, variasi satuan, dan tanda baca tidak konsisten.</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Informasi klinis hadir pada teks panjang dan lintas kalimat.</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Negasi, waktu, experiencer, dan ketidakpastian mengubah makna.</a:t>
            </a:r>
            <a:endParaRPr lang="en-US" sz="1500" dirty="0"/>
          </a:p>
        </p:txBody>
      </p:sp>
      <p:sp>
        <p:nvSpPr>
          <p:cNvPr id="9" name="callout background">
            <a:extLst>
              <a:ext uri="{C183D7F6-B498-43B3-948B-1728B52AA6E4}">
                <adec:decorative xmlns:adec="http://schemas.microsoft.com/office/drawing/2017/decorative" val="1"/>
              </a:ext>
            </a:extLst>
          </p:cNvPr>
          <p:cNvSpPr/>
          <p:nvPr/>
        </p:nvSpPr>
        <p:spPr>
          <a:xfrm>
            <a:off x="640080" y="5257800"/>
            <a:ext cx="10972800" cy="868680"/>
          </a:xfrm>
          <a:prstGeom prst="roundRect">
            <a:avLst>
              <a:gd name="adj" fmla="val 6316"/>
            </a:avLst>
          </a:prstGeom>
          <a:solidFill>
            <a:srgbClr val="EAF1F8"/>
          </a:solidFill>
          <a:ln/>
        </p:spPr>
        <p:txBody>
          <a:bodyPr/>
          <a:lstStyle/>
          <a:p>
            <a:endParaRPr lang="en-ID"/>
          </a:p>
        </p:txBody>
      </p:sp>
      <p:sp>
        <p:nvSpPr>
          <p:cNvPr id="10" name="Text 7"/>
          <p:cNvSpPr/>
          <p:nvPr/>
        </p:nvSpPr>
        <p:spPr>
          <a:xfrm>
            <a:off x="896112" y="5257800"/>
            <a:ext cx="10460736" cy="868680"/>
          </a:xfrm>
          <a:prstGeom prst="rect">
            <a:avLst/>
          </a:prstGeom>
          <a:noFill/>
          <a:ln/>
        </p:spPr>
        <p:txBody>
          <a:bodyPr wrap="square" rtlCol="0" anchor="ctr"/>
          <a:lstStyle/>
          <a:p>
            <a:pPr marL="0" indent="0">
              <a:lnSpc>
                <a:spcPct val="100000"/>
              </a:lnSpc>
              <a:buNone/>
            </a:pPr>
            <a:r>
              <a:rPr lang="en-US" sz="1350" b="1" dirty="0">
                <a:solidFill>
                  <a:srgbClr val="14568F"/>
                </a:solidFill>
                <a:latin typeface="Calibri" pitchFamily="34" charset="0"/>
                <a:ea typeface="Calibri" pitchFamily="34" charset="-122"/>
                <a:cs typeface="Calibri" pitchFamily="34" charset="-120"/>
              </a:rPr>
              <a:t>Contoh masukan:  </a:t>
            </a:r>
            <a:r>
              <a:rPr lang="en-US" sz="1350" dirty="0">
                <a:solidFill>
                  <a:srgbClr val="26313D"/>
                </a:solidFill>
                <a:latin typeface="Calibri" pitchFamily="34" charset="0"/>
                <a:ea typeface="Calibri" pitchFamily="34" charset="-122"/>
                <a:cs typeface="Calibri" pitchFamily="34" charset="-120"/>
              </a:rPr>
              <a:t>Px dgn DM tipe 2, GDP 126 mg/dL, TD 150/90</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7</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KONTEKS &amp; URGENSI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Mengapa Clinical Mapping Sulit?</a:t>
            </a:r>
            <a:endParaRPr lang="en-US" sz="2700" dirty="0"/>
          </a:p>
        </p:txBody>
      </p:sp>
      <p:sp>
        <p:nvSpPr>
          <p:cNvPr id="8" name="Text 5"/>
          <p:cNvSpPr/>
          <p:nvPr/>
        </p:nvSpPr>
        <p:spPr>
          <a:xfrm>
            <a:off x="640080" y="1828800"/>
            <a:ext cx="10972800" cy="4206240"/>
          </a:xfrm>
          <a:prstGeom prst="rect">
            <a:avLst/>
          </a:prstGeom>
          <a:noFill/>
          <a:ln/>
        </p:spPr>
        <p:txBody>
          <a:bodyPr wrap="square" rtlCol="0" anchor="t"/>
          <a:lstStyle/>
          <a:p>
            <a:pPr marL="177800" indent="-177800">
              <a:lnSpc>
                <a:spcPct val="102000"/>
              </a:lnSpc>
              <a:spcAft>
                <a:spcPts val="900"/>
              </a:spcAft>
              <a:buSzPct val="100000"/>
              <a:buChar char="•"/>
            </a:pPr>
            <a:r>
              <a:rPr lang="en-US" sz="1550" dirty="0">
                <a:solidFill>
                  <a:srgbClr val="26313D"/>
                </a:solidFill>
                <a:latin typeface="Calibri" pitchFamily="34" charset="0"/>
                <a:ea typeface="Calibri" pitchFamily="34" charset="-122"/>
                <a:cs typeface="Calibri" pitchFamily="34" charset="-120"/>
              </a:rPr>
              <a:t>Memerlukan pemahaman hierarki dan relasi ontologi.</a:t>
            </a:r>
            <a:endParaRPr lang="en-US" sz="1550" dirty="0"/>
          </a:p>
          <a:p>
            <a:pPr marL="177800" indent="-177800">
              <a:lnSpc>
                <a:spcPct val="102000"/>
              </a:lnSpc>
              <a:spcAft>
                <a:spcPts val="900"/>
              </a:spcAft>
              <a:buSzPct val="100000"/>
              <a:buChar char="•"/>
            </a:pPr>
            <a:r>
              <a:rPr lang="en-US" sz="1550" dirty="0">
                <a:solidFill>
                  <a:srgbClr val="26313D"/>
                </a:solidFill>
                <a:latin typeface="Calibri" pitchFamily="34" charset="0"/>
                <a:ea typeface="Calibri" pitchFamily="34" charset="-122"/>
                <a:cs typeface="Calibri" pitchFamily="34" charset="-120"/>
              </a:rPr>
              <a:t>Entitas komposit harus didekomposisi.</a:t>
            </a:r>
            <a:endParaRPr lang="en-US" sz="1550" dirty="0"/>
          </a:p>
          <a:p>
            <a:pPr marL="177800" indent="-177800">
              <a:lnSpc>
                <a:spcPct val="102000"/>
              </a:lnSpc>
              <a:spcAft>
                <a:spcPts val="900"/>
              </a:spcAft>
              <a:buSzPct val="100000"/>
              <a:buChar char="•"/>
            </a:pPr>
            <a:r>
              <a:rPr lang="en-US" sz="1550" dirty="0">
                <a:solidFill>
                  <a:srgbClr val="26313D"/>
                </a:solidFill>
                <a:latin typeface="Calibri" pitchFamily="34" charset="0"/>
                <a:ea typeface="Calibri" pitchFamily="34" charset="-122"/>
                <a:cs typeface="Calibri" pitchFamily="34" charset="-120"/>
              </a:rPr>
              <a:t>Teks panjang mengandung banyak mention klinis.</a:t>
            </a:r>
            <a:endParaRPr lang="en-US" sz="1550" dirty="0"/>
          </a:p>
          <a:p>
            <a:pPr marL="177800" indent="-177800">
              <a:lnSpc>
                <a:spcPct val="102000"/>
              </a:lnSpc>
              <a:spcAft>
                <a:spcPts val="900"/>
              </a:spcAft>
              <a:buSzPct val="100000"/>
              <a:buChar char="•"/>
            </a:pPr>
            <a:r>
              <a:rPr lang="en-US" sz="1550" dirty="0">
                <a:solidFill>
                  <a:srgbClr val="26313D"/>
                </a:solidFill>
                <a:latin typeface="Calibri" pitchFamily="34" charset="0"/>
                <a:ea typeface="Calibri" pitchFamily="34" charset="-122"/>
                <a:cs typeface="Calibri" pitchFamily="34" charset="-120"/>
              </a:rPr>
              <a:t>Variasi bahasa dan istilah lokal sangat tinggi.</a:t>
            </a:r>
            <a:endParaRPr lang="en-US" sz="1550" dirty="0"/>
          </a:p>
          <a:p>
            <a:pPr marL="177800" indent="-177800">
              <a:lnSpc>
                <a:spcPct val="102000"/>
              </a:lnSpc>
              <a:spcAft>
                <a:spcPts val="900"/>
              </a:spcAft>
              <a:buSzPct val="100000"/>
              <a:buChar char="•"/>
            </a:pPr>
            <a:r>
              <a:rPr lang="en-US" sz="1550" dirty="0">
                <a:solidFill>
                  <a:srgbClr val="26313D"/>
                </a:solidFill>
                <a:latin typeface="Calibri" pitchFamily="34" charset="0"/>
                <a:ea typeface="Calibri" pitchFamily="34" charset="-122"/>
                <a:cs typeface="Calibri" pitchFamily="34" charset="-120"/>
              </a:rPr>
              <a:t>Kesalahan berpotensi memengaruhi keselamatan pasien.</a:t>
            </a:r>
            <a:endParaRPr lang="en-US" sz="1550" dirty="0"/>
          </a:p>
          <a:p>
            <a:pPr marL="177800" indent="-177800">
              <a:lnSpc>
                <a:spcPct val="102000"/>
              </a:lnSpc>
              <a:spcAft>
                <a:spcPts val="900"/>
              </a:spcAft>
              <a:buSzPct val="100000"/>
              <a:buChar char="•"/>
            </a:pPr>
            <a:r>
              <a:rPr lang="en-US" sz="1550" dirty="0">
                <a:solidFill>
                  <a:srgbClr val="26313D"/>
                </a:solidFill>
                <a:latin typeface="Calibri" pitchFamily="34" charset="0"/>
                <a:ea typeface="Calibri" pitchFamily="34" charset="-122"/>
                <a:cs typeface="Calibri" pitchFamily="34" charset="-120"/>
              </a:rPr>
              <a:t>Keluaran harus sesuai standar dan dapat diaudit.</a:t>
            </a:r>
            <a:endParaRPr lang="en-US" sz="1550" dirty="0"/>
          </a:p>
          <a:p>
            <a:pPr marL="177800" indent="-177800">
              <a:lnSpc>
                <a:spcPct val="102000"/>
              </a:lnSpc>
              <a:spcAft>
                <a:spcPts val="900"/>
              </a:spcAft>
              <a:buSzPct val="100000"/>
              <a:buChar char="•"/>
            </a:pPr>
            <a:r>
              <a:rPr lang="en-US" sz="1550" dirty="0">
                <a:solidFill>
                  <a:srgbClr val="26313D"/>
                </a:solidFill>
                <a:latin typeface="Calibri" pitchFamily="34" charset="0"/>
                <a:ea typeface="Calibri" pitchFamily="34" charset="-122"/>
                <a:cs typeface="Calibri" pitchFamily="34" charset="-120"/>
              </a:rPr>
              <a:t>Gold standard membutuhkan validasi ahli klinis.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8</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LANDASAN</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Evolusi Pendekatan Pemetaan</a:t>
            </a:r>
            <a:endParaRPr lang="en-US" sz="2700" dirty="0"/>
          </a:p>
        </p:txBody>
      </p:sp>
      <p:sp>
        <p:nvSpPr>
          <p:cNvPr id="8" name="step box">
            <a:extLst>
              <a:ext uri="{C183D7F6-B498-43B3-948B-1728B52AA6E4}">
                <adec:decorative xmlns:adec="http://schemas.microsoft.com/office/drawing/2017/decorative" val="1"/>
              </a:ext>
            </a:extLst>
          </p:cNvPr>
          <p:cNvSpPr/>
          <p:nvPr/>
        </p:nvSpPr>
        <p:spPr>
          <a:xfrm>
            <a:off x="640080" y="1783080"/>
            <a:ext cx="5486400" cy="475488"/>
          </a:xfrm>
          <a:prstGeom prst="roundRect">
            <a:avLst>
              <a:gd name="adj" fmla="val 9615"/>
            </a:avLst>
          </a:prstGeom>
          <a:solidFill>
            <a:srgbClr val="EAF1F8"/>
          </a:solidFill>
          <a:ln w="12700">
            <a:solidFill>
              <a:srgbClr val="D5E0EC"/>
            </a:solidFill>
            <a:prstDash val="solid"/>
          </a:ln>
        </p:spPr>
        <p:txBody>
          <a:bodyPr/>
          <a:lstStyle/>
          <a:p>
            <a:endParaRPr lang="en-ID"/>
          </a:p>
        </p:txBody>
      </p:sp>
      <p:sp>
        <p:nvSpPr>
          <p:cNvPr id="9" name="Text 6"/>
          <p:cNvSpPr/>
          <p:nvPr/>
        </p:nvSpPr>
        <p:spPr>
          <a:xfrm>
            <a:off x="822960" y="1783080"/>
            <a:ext cx="5120640" cy="475488"/>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Rule-based / lexical</a:t>
            </a:r>
            <a:endParaRPr lang="en-US" sz="1250" dirty="0"/>
          </a:p>
        </p:txBody>
      </p:sp>
      <p:sp>
        <p:nvSpPr>
          <p:cNvPr id="10" name="Text 7"/>
          <p:cNvSpPr/>
          <p:nvPr/>
        </p:nvSpPr>
        <p:spPr>
          <a:xfrm>
            <a:off x="640080" y="2240280"/>
            <a:ext cx="5486400" cy="219456"/>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1" name="step box">
            <a:extLst>
              <a:ext uri="{C183D7F6-B498-43B3-948B-1728B52AA6E4}">
                <adec:decorative xmlns:adec="http://schemas.microsoft.com/office/drawing/2017/decorative" val="1"/>
              </a:ext>
            </a:extLst>
          </p:cNvPr>
          <p:cNvSpPr/>
          <p:nvPr/>
        </p:nvSpPr>
        <p:spPr>
          <a:xfrm>
            <a:off x="640080" y="2441448"/>
            <a:ext cx="5486400" cy="475488"/>
          </a:xfrm>
          <a:prstGeom prst="roundRect">
            <a:avLst>
              <a:gd name="adj" fmla="val 9615"/>
            </a:avLst>
          </a:prstGeom>
          <a:solidFill>
            <a:srgbClr val="EAF1F8"/>
          </a:solidFill>
          <a:ln w="12700">
            <a:solidFill>
              <a:srgbClr val="D5E0EC"/>
            </a:solidFill>
            <a:prstDash val="solid"/>
          </a:ln>
        </p:spPr>
        <p:txBody>
          <a:bodyPr/>
          <a:lstStyle/>
          <a:p>
            <a:endParaRPr lang="en-ID"/>
          </a:p>
        </p:txBody>
      </p:sp>
      <p:sp>
        <p:nvSpPr>
          <p:cNvPr id="12" name="Text 9"/>
          <p:cNvSpPr/>
          <p:nvPr/>
        </p:nvSpPr>
        <p:spPr>
          <a:xfrm>
            <a:off x="822960" y="2441448"/>
            <a:ext cx="5120640" cy="475488"/>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Machine learning</a:t>
            </a:r>
            <a:endParaRPr lang="en-US" sz="1250" dirty="0"/>
          </a:p>
        </p:txBody>
      </p:sp>
      <p:sp>
        <p:nvSpPr>
          <p:cNvPr id="13" name="Text 10"/>
          <p:cNvSpPr/>
          <p:nvPr/>
        </p:nvSpPr>
        <p:spPr>
          <a:xfrm>
            <a:off x="640080" y="2898648"/>
            <a:ext cx="5486400" cy="219456"/>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4" name="step box">
            <a:extLst>
              <a:ext uri="{C183D7F6-B498-43B3-948B-1728B52AA6E4}">
                <adec:decorative xmlns:adec="http://schemas.microsoft.com/office/drawing/2017/decorative" val="1"/>
              </a:ext>
            </a:extLst>
          </p:cNvPr>
          <p:cNvSpPr/>
          <p:nvPr/>
        </p:nvSpPr>
        <p:spPr>
          <a:xfrm>
            <a:off x="640080" y="3099816"/>
            <a:ext cx="5486400" cy="475488"/>
          </a:xfrm>
          <a:prstGeom prst="roundRect">
            <a:avLst>
              <a:gd name="adj" fmla="val 9615"/>
            </a:avLst>
          </a:prstGeom>
          <a:solidFill>
            <a:srgbClr val="EAF1F8"/>
          </a:solidFill>
          <a:ln w="12700">
            <a:solidFill>
              <a:srgbClr val="D5E0EC"/>
            </a:solidFill>
            <a:prstDash val="solid"/>
          </a:ln>
        </p:spPr>
        <p:txBody>
          <a:bodyPr/>
          <a:lstStyle/>
          <a:p>
            <a:endParaRPr lang="en-ID"/>
          </a:p>
        </p:txBody>
      </p:sp>
      <p:sp>
        <p:nvSpPr>
          <p:cNvPr id="15" name="Text 12"/>
          <p:cNvSpPr/>
          <p:nvPr/>
        </p:nvSpPr>
        <p:spPr>
          <a:xfrm>
            <a:off x="822960" y="3099816"/>
            <a:ext cx="5120640" cy="475488"/>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Deep learning &amp; contextual embedding</a:t>
            </a:r>
            <a:endParaRPr lang="en-US" sz="1250" dirty="0"/>
          </a:p>
        </p:txBody>
      </p:sp>
      <p:sp>
        <p:nvSpPr>
          <p:cNvPr id="16" name="Text 13"/>
          <p:cNvSpPr/>
          <p:nvPr/>
        </p:nvSpPr>
        <p:spPr>
          <a:xfrm>
            <a:off x="640080" y="3557016"/>
            <a:ext cx="5486400" cy="219456"/>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7" name="step box">
            <a:extLst>
              <a:ext uri="{C183D7F6-B498-43B3-948B-1728B52AA6E4}">
                <adec:decorative xmlns:adec="http://schemas.microsoft.com/office/drawing/2017/decorative" val="1"/>
              </a:ext>
            </a:extLst>
          </p:cNvPr>
          <p:cNvSpPr/>
          <p:nvPr/>
        </p:nvSpPr>
        <p:spPr>
          <a:xfrm>
            <a:off x="640080" y="3758184"/>
            <a:ext cx="5486400" cy="475488"/>
          </a:xfrm>
          <a:prstGeom prst="roundRect">
            <a:avLst>
              <a:gd name="adj" fmla="val 9615"/>
            </a:avLst>
          </a:prstGeom>
          <a:solidFill>
            <a:srgbClr val="EAF1F8"/>
          </a:solidFill>
          <a:ln w="12700">
            <a:solidFill>
              <a:srgbClr val="D5E0EC"/>
            </a:solidFill>
            <a:prstDash val="solid"/>
          </a:ln>
        </p:spPr>
        <p:txBody>
          <a:bodyPr/>
          <a:lstStyle/>
          <a:p>
            <a:endParaRPr lang="en-ID"/>
          </a:p>
        </p:txBody>
      </p:sp>
      <p:sp>
        <p:nvSpPr>
          <p:cNvPr id="18" name="Text 15"/>
          <p:cNvSpPr/>
          <p:nvPr/>
        </p:nvSpPr>
        <p:spPr>
          <a:xfrm>
            <a:off x="822960" y="3758184"/>
            <a:ext cx="5120640" cy="475488"/>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Knowledge graph &amp; semantic retrieval</a:t>
            </a:r>
            <a:endParaRPr lang="en-US" sz="1250" dirty="0"/>
          </a:p>
        </p:txBody>
      </p:sp>
      <p:sp>
        <p:nvSpPr>
          <p:cNvPr id="19" name="Text 16"/>
          <p:cNvSpPr/>
          <p:nvPr/>
        </p:nvSpPr>
        <p:spPr>
          <a:xfrm>
            <a:off x="640080" y="4215384"/>
            <a:ext cx="5486400" cy="219456"/>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20" name="step box">
            <a:extLst>
              <a:ext uri="{C183D7F6-B498-43B3-948B-1728B52AA6E4}">
                <adec:decorative xmlns:adec="http://schemas.microsoft.com/office/drawing/2017/decorative" val="1"/>
              </a:ext>
            </a:extLst>
          </p:cNvPr>
          <p:cNvSpPr/>
          <p:nvPr/>
        </p:nvSpPr>
        <p:spPr>
          <a:xfrm>
            <a:off x="640080" y="4416552"/>
            <a:ext cx="5486400" cy="475488"/>
          </a:xfrm>
          <a:prstGeom prst="roundRect">
            <a:avLst>
              <a:gd name="adj" fmla="val 9615"/>
            </a:avLst>
          </a:prstGeom>
          <a:solidFill>
            <a:srgbClr val="EAF1F8"/>
          </a:solidFill>
          <a:ln w="12700">
            <a:solidFill>
              <a:srgbClr val="D5E0EC"/>
            </a:solidFill>
            <a:prstDash val="solid"/>
          </a:ln>
        </p:spPr>
        <p:txBody>
          <a:bodyPr/>
          <a:lstStyle/>
          <a:p>
            <a:endParaRPr lang="en-ID"/>
          </a:p>
        </p:txBody>
      </p:sp>
      <p:sp>
        <p:nvSpPr>
          <p:cNvPr id="21" name="Text 18"/>
          <p:cNvSpPr/>
          <p:nvPr/>
        </p:nvSpPr>
        <p:spPr>
          <a:xfrm>
            <a:off x="822960" y="4416552"/>
            <a:ext cx="5120640" cy="475488"/>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LLM + Retrieval-Augmented Generation</a:t>
            </a:r>
            <a:endParaRPr lang="en-US" sz="1250" dirty="0"/>
          </a:p>
        </p:txBody>
      </p:sp>
      <p:sp>
        <p:nvSpPr>
          <p:cNvPr id="22" name="Text 19"/>
          <p:cNvSpPr/>
          <p:nvPr/>
        </p:nvSpPr>
        <p:spPr>
          <a:xfrm>
            <a:off x="640080" y="4873752"/>
            <a:ext cx="5486400" cy="219456"/>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23" name="step box">
            <a:extLst>
              <a:ext uri="{C183D7F6-B498-43B3-948B-1728B52AA6E4}">
                <adec:decorative xmlns:adec="http://schemas.microsoft.com/office/drawing/2017/decorative" val="1"/>
              </a:ext>
            </a:extLst>
          </p:cNvPr>
          <p:cNvSpPr/>
          <p:nvPr/>
        </p:nvSpPr>
        <p:spPr>
          <a:xfrm>
            <a:off x="640080" y="5074920"/>
            <a:ext cx="5486400" cy="475488"/>
          </a:xfrm>
          <a:prstGeom prst="roundRect">
            <a:avLst>
              <a:gd name="adj" fmla="val 9615"/>
            </a:avLst>
          </a:prstGeom>
          <a:solidFill>
            <a:srgbClr val="0B3C6E"/>
          </a:solidFill>
          <a:ln w="12700">
            <a:solidFill>
              <a:srgbClr val="0B3C6E"/>
            </a:solidFill>
            <a:prstDash val="solid"/>
          </a:ln>
        </p:spPr>
        <p:txBody>
          <a:bodyPr/>
          <a:lstStyle/>
          <a:p>
            <a:endParaRPr lang="en-ID"/>
          </a:p>
        </p:txBody>
      </p:sp>
      <p:sp>
        <p:nvSpPr>
          <p:cNvPr id="24" name="Text 21"/>
          <p:cNvSpPr/>
          <p:nvPr/>
        </p:nvSpPr>
        <p:spPr>
          <a:xfrm>
            <a:off x="822960" y="5074920"/>
            <a:ext cx="5120640" cy="47548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Hybrid, constrained, human-in-the-loop</a:t>
            </a:r>
            <a:endParaRPr lang="en-US" sz="1250" dirty="0"/>
          </a:p>
        </p:txBody>
      </p:sp>
      <p:sp>
        <p:nvSpPr>
          <p:cNvPr id="25" name="Text 22"/>
          <p:cNvSpPr/>
          <p:nvPr/>
        </p:nvSpPr>
        <p:spPr>
          <a:xfrm>
            <a:off x="6583680" y="2011680"/>
            <a:ext cx="5029200" cy="3840480"/>
          </a:xfrm>
          <a:prstGeom prst="rect">
            <a:avLst/>
          </a:prstGeom>
          <a:noFill/>
          <a:ln/>
        </p:spPr>
        <p:txBody>
          <a:bodyPr wrap="square" rtlCol="0" anchor="t"/>
          <a:lstStyle/>
          <a:p>
            <a:pPr marL="177800" indent="-177800">
              <a:lnSpc>
                <a:spcPct val="102000"/>
              </a:lnSpc>
              <a:buSzPct val="100000"/>
              <a:buChar char="•"/>
            </a:pPr>
            <a:r>
              <a:rPr lang="en-US" sz="1400" b="1" dirty="0">
                <a:solidFill>
                  <a:srgbClr val="0B3C6E"/>
                </a:solidFill>
                <a:latin typeface="Calibri" pitchFamily="34" charset="0"/>
                <a:ea typeface="Calibri" pitchFamily="34" charset="-122"/>
                <a:cs typeface="Calibri" pitchFamily="34" charset="-120"/>
              </a:rPr>
              <a:t>Rule-based:  </a:t>
            </a:r>
            <a:r>
              <a:rPr lang="en-US" sz="1400" dirty="0">
                <a:solidFill>
                  <a:srgbClr val="26313D"/>
                </a:solidFill>
                <a:latin typeface="Calibri" pitchFamily="34" charset="0"/>
                <a:ea typeface="Calibri" pitchFamily="34" charset="-122"/>
                <a:cs typeface="Calibri" pitchFamily="34" charset="-120"/>
              </a:rPr>
              <a:t>transparan, tetapi sulit diskalakan.</a:t>
            </a:r>
            <a:endParaRPr lang="en-US" sz="1400" dirty="0"/>
          </a:p>
          <a:p>
            <a:pPr marL="177800" indent="-177800">
              <a:lnSpc>
                <a:spcPct val="102000"/>
              </a:lnSpc>
              <a:buSzPct val="100000"/>
              <a:buChar char="•"/>
            </a:pPr>
            <a:r>
              <a:rPr lang="en-US" sz="1400" b="1" dirty="0">
                <a:solidFill>
                  <a:srgbClr val="0B3C6E"/>
                </a:solidFill>
                <a:latin typeface="Calibri" pitchFamily="34" charset="0"/>
                <a:ea typeface="Calibri" pitchFamily="34" charset="-122"/>
                <a:cs typeface="Calibri" pitchFamily="34" charset="-120"/>
              </a:rPr>
              <a:t>Embedding:  </a:t>
            </a:r>
            <a:r>
              <a:rPr lang="en-US" sz="1400" dirty="0">
                <a:solidFill>
                  <a:srgbClr val="26313D"/>
                </a:solidFill>
                <a:latin typeface="Calibri" pitchFamily="34" charset="0"/>
                <a:ea typeface="Calibri" pitchFamily="34" charset="-122"/>
                <a:cs typeface="Calibri" pitchFamily="34" charset="-120"/>
              </a:rPr>
              <a:t>menangkap semantik, tetapi dapat kehilangan kecocokan istilah spesifik.</a:t>
            </a:r>
            <a:endParaRPr lang="en-US" sz="1400" dirty="0"/>
          </a:p>
          <a:p>
            <a:pPr marL="177800" indent="-177800">
              <a:lnSpc>
                <a:spcPct val="102000"/>
              </a:lnSpc>
              <a:buSzPct val="100000"/>
              <a:buChar char="•"/>
            </a:pPr>
            <a:r>
              <a:rPr lang="en-US" sz="1400" b="1" dirty="0">
                <a:solidFill>
                  <a:srgbClr val="0B3C6E"/>
                </a:solidFill>
                <a:latin typeface="Calibri" pitchFamily="34" charset="0"/>
                <a:ea typeface="Calibri" pitchFamily="34" charset="-122"/>
                <a:cs typeface="Calibri" pitchFamily="34" charset="-120"/>
              </a:rPr>
              <a:t>LLM:  </a:t>
            </a:r>
            <a:r>
              <a:rPr lang="en-US" sz="1400" dirty="0">
                <a:solidFill>
                  <a:srgbClr val="26313D"/>
                </a:solidFill>
                <a:latin typeface="Calibri" pitchFamily="34" charset="0"/>
                <a:ea typeface="Calibri" pitchFamily="34" charset="-122"/>
                <a:cs typeface="Calibri" pitchFamily="34" charset="-120"/>
              </a:rPr>
              <a:t>kuat memahami konteks, tetapi berisiko halusinasi.</a:t>
            </a:r>
            <a:endParaRPr lang="en-US" sz="1400" dirty="0"/>
          </a:p>
          <a:p>
            <a:pPr marL="177800" indent="-177800">
              <a:lnSpc>
                <a:spcPct val="102000"/>
              </a:lnSpc>
              <a:buSzPct val="100000"/>
              <a:buChar char="•"/>
            </a:pPr>
            <a:r>
              <a:rPr lang="en-US" sz="1400" b="1" dirty="0">
                <a:solidFill>
                  <a:srgbClr val="0B3C6E"/>
                </a:solidFill>
                <a:latin typeface="Calibri" pitchFamily="34" charset="0"/>
                <a:ea typeface="Calibri" pitchFamily="34" charset="-122"/>
                <a:cs typeface="Calibri" pitchFamily="34" charset="-120"/>
              </a:rPr>
              <a:t>Hybrid:  </a:t>
            </a:r>
            <a:r>
              <a:rPr lang="en-US" sz="1400" dirty="0">
                <a:solidFill>
                  <a:srgbClr val="26313D"/>
                </a:solidFill>
                <a:latin typeface="Calibri" pitchFamily="34" charset="0"/>
                <a:ea typeface="Calibri" pitchFamily="34" charset="-122"/>
                <a:cs typeface="Calibri" pitchFamily="34" charset="-120"/>
              </a:rPr>
              <a:t>menggabungkan kekuatan dan mengendalikan kelemahannya.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9</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LANDASAN</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Titik Awal: CDE-Mapper</a:t>
            </a:r>
            <a:endParaRPr lang="en-US" sz="2700" dirty="0"/>
          </a:p>
        </p:txBody>
      </p:sp>
      <p:sp>
        <p:nvSpPr>
          <p:cNvPr id="8" name="Text 5"/>
          <p:cNvSpPr/>
          <p:nvPr/>
        </p:nvSpPr>
        <p:spPr>
          <a:xfrm>
            <a:off x="640080" y="1828800"/>
            <a:ext cx="10972800" cy="3108960"/>
          </a:xfrm>
          <a:prstGeom prst="rect">
            <a:avLst/>
          </a:prstGeom>
          <a:noFill/>
          <a:ln/>
        </p:spPr>
        <p:txBody>
          <a:bodyPr wrap="square" rtlCol="0" anchor="t"/>
          <a:lstStyle/>
          <a:p>
            <a:pPr marL="0" indent="0">
              <a:lnSpc>
                <a:spcPct val="102000"/>
              </a:lnSpc>
              <a:spcAft>
                <a:spcPts val="700"/>
              </a:spcAft>
              <a:buNone/>
            </a:pPr>
            <a:r>
              <a:rPr lang="en-US" sz="1500" b="1" dirty="0">
                <a:solidFill>
                  <a:srgbClr val="0B3C6E"/>
                </a:solidFill>
                <a:latin typeface="Calibri" pitchFamily="34" charset="0"/>
                <a:ea typeface="Calibri" pitchFamily="34" charset="-122"/>
                <a:cs typeface="Calibri" pitchFamily="34" charset="-120"/>
              </a:rPr>
              <a:t>CDE-Mapper menyediakan fondasi:</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dekomposisi Clinical Data Element;</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hybrid retrieval;</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metadata filtering;</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multi-stage ranking;</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pemetaan ke controlled vocabularies;</a:t>
            </a:r>
            <a:endParaRPr lang="en-US" sz="1500" dirty="0"/>
          </a:p>
          <a:p>
            <a:pPr marL="355600" lvl="1"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knowledge reservoir untuk hasil berulang.</a:t>
            </a:r>
            <a:endParaRPr lang="en-US" sz="1500" dirty="0"/>
          </a:p>
        </p:txBody>
      </p:sp>
      <p:sp>
        <p:nvSpPr>
          <p:cNvPr id="9" name="callout background">
            <a:extLst>
              <a:ext uri="{C183D7F6-B498-43B3-948B-1728B52AA6E4}">
                <adec:decorative xmlns:adec="http://schemas.microsoft.com/office/drawing/2017/decorative" val="1"/>
              </a:ext>
            </a:extLst>
          </p:cNvPr>
          <p:cNvSpPr/>
          <p:nvPr/>
        </p:nvSpPr>
        <p:spPr>
          <a:xfrm>
            <a:off x="640080" y="5166360"/>
            <a:ext cx="10972800" cy="914400"/>
          </a:xfrm>
          <a:prstGeom prst="roundRect">
            <a:avLst>
              <a:gd name="adj" fmla="val 6000"/>
            </a:avLst>
          </a:prstGeom>
          <a:solidFill>
            <a:srgbClr val="F7EFD8"/>
          </a:solidFill>
          <a:ln/>
        </p:spPr>
        <p:txBody>
          <a:bodyPr/>
          <a:lstStyle/>
          <a:p>
            <a:endParaRPr lang="en-ID"/>
          </a:p>
        </p:txBody>
      </p:sp>
      <p:sp>
        <p:nvSpPr>
          <p:cNvPr id="10" name="Text 7"/>
          <p:cNvSpPr/>
          <p:nvPr/>
        </p:nvSpPr>
        <p:spPr>
          <a:xfrm>
            <a:off x="896112" y="5166360"/>
            <a:ext cx="10460736" cy="91440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Kekuatan:  </a:t>
            </a:r>
            <a:r>
              <a:rPr lang="en-US" sz="1350" dirty="0">
                <a:solidFill>
                  <a:srgbClr val="26313D"/>
                </a:solidFill>
                <a:latin typeface="Calibri" pitchFamily="34" charset="0"/>
                <a:ea typeface="Calibri" pitchFamily="34" charset="-122"/>
                <a:cs typeface="Calibri" pitchFamily="34" charset="-120"/>
              </a:rPr>
              <a:t>efektif untuk CDE komposit dan kandidat multi-vocabulary. Posisi penelitian — mengadaptasi, bukan membangun seluruh sistem dari nol.</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10</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RESEARCH GAP</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Tiga Research Gap Utama</a:t>
            </a:r>
            <a:endParaRPr lang="en-US" sz="2700" dirty="0"/>
          </a:p>
        </p:txBody>
      </p:sp>
      <p:sp>
        <p:nvSpPr>
          <p:cNvPr id="8" name="card 1">
            <a:extLst>
              <a:ext uri="{C183D7F6-B498-43B3-948B-1728B52AA6E4}">
                <adec:decorative xmlns:adec="http://schemas.microsoft.com/office/drawing/2017/decorative" val="1"/>
              </a:ext>
            </a:extLst>
          </p:cNvPr>
          <p:cNvSpPr/>
          <p:nvPr/>
        </p:nvSpPr>
        <p:spPr>
          <a:xfrm>
            <a:off x="640080" y="1828800"/>
            <a:ext cx="3422904" cy="4023360"/>
          </a:xfrm>
          <a:prstGeom prst="rect">
            <a:avLst/>
          </a:prstGeom>
          <a:solidFill>
            <a:srgbClr val="F1F5FA"/>
          </a:solidFill>
          <a:ln w="12700">
            <a:solidFill>
              <a:srgbClr val="D5E0EC"/>
            </a:solidFill>
            <a:prstDash val="solid"/>
          </a:ln>
          <a:effectLst>
            <a:outerShdw blurRad="88900" dist="25400" dir="5400000" algn="bl" rotWithShape="0">
              <a:srgbClr val="9AA7B4">
                <a:alpha val="22000"/>
              </a:srgbClr>
            </a:outerShdw>
          </a:effectLst>
        </p:spPr>
        <p:txBody>
          <a:bodyPr/>
          <a:lstStyle/>
          <a:p>
            <a:endParaRPr lang="en-ID"/>
          </a:p>
        </p:txBody>
      </p:sp>
      <p:sp>
        <p:nvSpPr>
          <p:cNvPr id="9" name="card top accent">
            <a:extLst>
              <a:ext uri="{C183D7F6-B498-43B3-948B-1728B52AA6E4}">
                <adec:decorative xmlns:adec="http://schemas.microsoft.com/office/drawing/2017/decorative" val="1"/>
              </a:ext>
            </a:extLst>
          </p:cNvPr>
          <p:cNvSpPr/>
          <p:nvPr/>
        </p:nvSpPr>
        <p:spPr>
          <a:xfrm>
            <a:off x="640080" y="1828800"/>
            <a:ext cx="3422904" cy="109728"/>
          </a:xfrm>
          <a:prstGeom prst="rect">
            <a:avLst/>
          </a:prstGeom>
          <a:solidFill>
            <a:srgbClr val="B98A1E"/>
          </a:solidFill>
          <a:ln/>
        </p:spPr>
        <p:txBody>
          <a:bodyPr/>
          <a:lstStyle/>
          <a:p>
            <a:endParaRPr lang="en-ID"/>
          </a:p>
        </p:txBody>
      </p:sp>
      <p:sp>
        <p:nvSpPr>
          <p:cNvPr id="10" name="number disc">
            <a:extLst>
              <a:ext uri="{C183D7F6-B498-43B3-948B-1728B52AA6E4}">
                <adec:decorative xmlns:adec="http://schemas.microsoft.com/office/drawing/2017/decorative" val="1"/>
              </a:ext>
            </a:extLst>
          </p:cNvPr>
          <p:cNvSpPr/>
          <p:nvPr/>
        </p:nvSpPr>
        <p:spPr>
          <a:xfrm>
            <a:off x="896112" y="2103120"/>
            <a:ext cx="566928" cy="566928"/>
          </a:xfrm>
          <a:prstGeom prst="ellipse">
            <a:avLst/>
          </a:prstGeom>
          <a:solidFill>
            <a:srgbClr val="0B3C6E"/>
          </a:solidFill>
          <a:ln/>
        </p:spPr>
        <p:txBody>
          <a:bodyPr/>
          <a:lstStyle/>
          <a:p>
            <a:endParaRPr lang="en-ID"/>
          </a:p>
        </p:txBody>
      </p:sp>
      <p:sp>
        <p:nvSpPr>
          <p:cNvPr id="11" name="Text 8"/>
          <p:cNvSpPr/>
          <p:nvPr/>
        </p:nvSpPr>
        <p:spPr>
          <a:xfrm>
            <a:off x="896112" y="2103120"/>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12" name="Text 9"/>
          <p:cNvSpPr/>
          <p:nvPr/>
        </p:nvSpPr>
        <p:spPr>
          <a:xfrm>
            <a:off x="896112" y="2880360"/>
            <a:ext cx="2910840" cy="685800"/>
          </a:xfrm>
          <a:prstGeom prst="rect">
            <a:avLst/>
          </a:prstGeom>
          <a:noFill/>
          <a:ln/>
        </p:spPr>
        <p:txBody>
          <a:bodyPr wrap="square" rtlCol="0" anchor="t"/>
          <a:lstStyle/>
          <a:p>
            <a:pPr marL="0" indent="0">
              <a:buNone/>
            </a:pPr>
            <a:r>
              <a:rPr lang="en-US" sz="1550" b="1" dirty="0">
                <a:solidFill>
                  <a:srgbClr val="0B3C6E"/>
                </a:solidFill>
                <a:latin typeface="Georgia" pitchFamily="34" charset="0"/>
                <a:ea typeface="Georgia" pitchFamily="34" charset="-122"/>
                <a:cs typeface="Georgia" pitchFamily="34" charset="-120"/>
              </a:rPr>
              <a:t>Multi-standar</a:t>
            </a:r>
            <a:endParaRPr lang="en-US" sz="1550" dirty="0"/>
          </a:p>
        </p:txBody>
      </p:sp>
      <p:sp>
        <p:nvSpPr>
          <p:cNvPr id="13" name="Text 10"/>
          <p:cNvSpPr/>
          <p:nvPr/>
        </p:nvSpPr>
        <p:spPr>
          <a:xfrm>
            <a:off x="896112" y="3538728"/>
            <a:ext cx="2910840" cy="2084832"/>
          </a:xfrm>
          <a:prstGeom prst="rect">
            <a:avLst/>
          </a:prstGeom>
          <a:noFill/>
          <a:ln/>
        </p:spPr>
        <p:txBody>
          <a:bodyPr wrap="square" rtlCol="0" anchor="t"/>
          <a:lstStyle/>
          <a:p>
            <a:pPr marL="0" indent="0">
              <a:lnSpc>
                <a:spcPct val="102000"/>
              </a:lnSpc>
              <a:spcAft>
                <a:spcPts val="500"/>
              </a:spcAft>
              <a:buNone/>
            </a:pPr>
            <a:r>
              <a:rPr lang="en-US" sz="1250" dirty="0">
                <a:solidFill>
                  <a:srgbClr val="26313D"/>
                </a:solidFill>
                <a:latin typeface="Calibri" pitchFamily="34" charset="0"/>
                <a:ea typeface="Calibri" pitchFamily="34" charset="-122"/>
                <a:cs typeface="Calibri" pitchFamily="34" charset="-120"/>
              </a:rPr>
              <a:t>Mayoritas penelitian fokus pada satu terminologi, sedangkan kebutuhan nasional bersifat multi-terminologi.</a:t>
            </a:r>
            <a:endParaRPr lang="en-US" sz="1250" dirty="0"/>
          </a:p>
        </p:txBody>
      </p:sp>
      <p:sp>
        <p:nvSpPr>
          <p:cNvPr id="14" name="card 2">
            <a:extLst>
              <a:ext uri="{C183D7F6-B498-43B3-948B-1728B52AA6E4}">
                <adec:decorative xmlns:adec="http://schemas.microsoft.com/office/drawing/2017/decorative" val="1"/>
              </a:ext>
            </a:extLst>
          </p:cNvPr>
          <p:cNvSpPr/>
          <p:nvPr/>
        </p:nvSpPr>
        <p:spPr>
          <a:xfrm>
            <a:off x="4383024" y="1828800"/>
            <a:ext cx="3422904" cy="4023360"/>
          </a:xfrm>
          <a:prstGeom prst="rect">
            <a:avLst/>
          </a:prstGeom>
          <a:solidFill>
            <a:srgbClr val="F1F5FA"/>
          </a:solidFill>
          <a:ln w="12700">
            <a:solidFill>
              <a:srgbClr val="D5E0EC"/>
            </a:solidFill>
            <a:prstDash val="solid"/>
          </a:ln>
          <a:effectLst>
            <a:outerShdw blurRad="88900" dist="25400" dir="5400000" algn="bl" rotWithShape="0">
              <a:srgbClr val="9AA7B4">
                <a:alpha val="22000"/>
              </a:srgbClr>
            </a:outerShdw>
          </a:effectLst>
        </p:spPr>
        <p:txBody>
          <a:bodyPr/>
          <a:lstStyle/>
          <a:p>
            <a:endParaRPr lang="en-ID"/>
          </a:p>
        </p:txBody>
      </p:sp>
      <p:sp>
        <p:nvSpPr>
          <p:cNvPr id="15" name="card top accent">
            <a:extLst>
              <a:ext uri="{C183D7F6-B498-43B3-948B-1728B52AA6E4}">
                <adec:decorative xmlns:adec="http://schemas.microsoft.com/office/drawing/2017/decorative" val="1"/>
              </a:ext>
            </a:extLst>
          </p:cNvPr>
          <p:cNvSpPr/>
          <p:nvPr/>
        </p:nvSpPr>
        <p:spPr>
          <a:xfrm>
            <a:off x="4383024" y="1828800"/>
            <a:ext cx="3422904" cy="109728"/>
          </a:xfrm>
          <a:prstGeom prst="rect">
            <a:avLst/>
          </a:prstGeom>
          <a:solidFill>
            <a:srgbClr val="B98A1E"/>
          </a:solidFill>
          <a:ln/>
        </p:spPr>
        <p:txBody>
          <a:bodyPr/>
          <a:lstStyle/>
          <a:p>
            <a:endParaRPr lang="en-ID"/>
          </a:p>
        </p:txBody>
      </p:sp>
      <p:sp>
        <p:nvSpPr>
          <p:cNvPr id="16" name="number disc">
            <a:extLst>
              <a:ext uri="{C183D7F6-B498-43B3-948B-1728B52AA6E4}">
                <adec:decorative xmlns:adec="http://schemas.microsoft.com/office/drawing/2017/decorative" val="1"/>
              </a:ext>
            </a:extLst>
          </p:cNvPr>
          <p:cNvSpPr/>
          <p:nvPr/>
        </p:nvSpPr>
        <p:spPr>
          <a:xfrm>
            <a:off x="4639056" y="2103120"/>
            <a:ext cx="566928" cy="566928"/>
          </a:xfrm>
          <a:prstGeom prst="ellipse">
            <a:avLst/>
          </a:prstGeom>
          <a:solidFill>
            <a:srgbClr val="0B3C6E"/>
          </a:solidFill>
          <a:ln/>
        </p:spPr>
        <p:txBody>
          <a:bodyPr/>
          <a:lstStyle/>
          <a:p>
            <a:endParaRPr lang="en-ID"/>
          </a:p>
        </p:txBody>
      </p:sp>
      <p:sp>
        <p:nvSpPr>
          <p:cNvPr id="17" name="Text 14"/>
          <p:cNvSpPr/>
          <p:nvPr/>
        </p:nvSpPr>
        <p:spPr>
          <a:xfrm>
            <a:off x="4639056" y="2103120"/>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8" name="Text 15"/>
          <p:cNvSpPr/>
          <p:nvPr/>
        </p:nvSpPr>
        <p:spPr>
          <a:xfrm>
            <a:off x="4639056" y="2880360"/>
            <a:ext cx="2910840" cy="685800"/>
          </a:xfrm>
          <a:prstGeom prst="rect">
            <a:avLst/>
          </a:prstGeom>
          <a:noFill/>
          <a:ln/>
        </p:spPr>
        <p:txBody>
          <a:bodyPr wrap="square" rtlCol="0" anchor="t"/>
          <a:lstStyle/>
          <a:p>
            <a:pPr marL="0" indent="0">
              <a:buNone/>
            </a:pPr>
            <a:r>
              <a:rPr lang="en-US" sz="1550" b="1" dirty="0">
                <a:solidFill>
                  <a:srgbClr val="0B3C6E"/>
                </a:solidFill>
                <a:latin typeface="Georgia" pitchFamily="34" charset="0"/>
                <a:ea typeface="Georgia" pitchFamily="34" charset="-122"/>
                <a:cs typeface="Georgia" pitchFamily="34" charset="-120"/>
              </a:rPr>
              <a:t>Teks panjang</a:t>
            </a:r>
            <a:endParaRPr lang="en-US" sz="1550" dirty="0"/>
          </a:p>
        </p:txBody>
      </p:sp>
      <p:sp>
        <p:nvSpPr>
          <p:cNvPr id="19" name="Text 16"/>
          <p:cNvSpPr/>
          <p:nvPr/>
        </p:nvSpPr>
        <p:spPr>
          <a:xfrm>
            <a:off x="4639056" y="3538728"/>
            <a:ext cx="2910840" cy="2084832"/>
          </a:xfrm>
          <a:prstGeom prst="rect">
            <a:avLst/>
          </a:prstGeom>
          <a:noFill/>
          <a:ln/>
        </p:spPr>
        <p:txBody>
          <a:bodyPr wrap="square" rtlCol="0" anchor="t"/>
          <a:lstStyle/>
          <a:p>
            <a:pPr marL="0" indent="0">
              <a:lnSpc>
                <a:spcPct val="102000"/>
              </a:lnSpc>
              <a:spcAft>
                <a:spcPts val="500"/>
              </a:spcAft>
              <a:buNone/>
            </a:pPr>
            <a:r>
              <a:rPr lang="en-US" sz="1250" dirty="0">
                <a:solidFill>
                  <a:srgbClr val="26313D"/>
                </a:solidFill>
                <a:latin typeface="Calibri" pitchFamily="34" charset="0"/>
                <a:ea typeface="Calibri" pitchFamily="34" charset="-122"/>
                <a:cs typeface="Calibri" pitchFamily="34" charset="-120"/>
              </a:rPr>
              <a:t>CDE-Mapper berfokus pada item CDE; dokumen klinis panjang dapat memuat banyak entitas dan konteks.</a:t>
            </a:r>
            <a:endParaRPr lang="en-US" sz="1250" dirty="0"/>
          </a:p>
        </p:txBody>
      </p:sp>
      <p:sp>
        <p:nvSpPr>
          <p:cNvPr id="20" name="card 3">
            <a:extLst>
              <a:ext uri="{C183D7F6-B498-43B3-948B-1728B52AA6E4}">
                <adec:decorative xmlns:adec="http://schemas.microsoft.com/office/drawing/2017/decorative" val="1"/>
              </a:ext>
            </a:extLst>
          </p:cNvPr>
          <p:cNvSpPr/>
          <p:nvPr/>
        </p:nvSpPr>
        <p:spPr>
          <a:xfrm>
            <a:off x="8125968" y="1828800"/>
            <a:ext cx="3422904" cy="4023360"/>
          </a:xfrm>
          <a:prstGeom prst="rect">
            <a:avLst/>
          </a:prstGeom>
          <a:solidFill>
            <a:srgbClr val="F1F5FA"/>
          </a:solidFill>
          <a:ln w="12700">
            <a:solidFill>
              <a:srgbClr val="D5E0EC"/>
            </a:solidFill>
            <a:prstDash val="solid"/>
          </a:ln>
          <a:effectLst>
            <a:outerShdw blurRad="88900" dist="25400" dir="5400000" algn="bl" rotWithShape="0">
              <a:srgbClr val="9AA7B4">
                <a:alpha val="22000"/>
              </a:srgbClr>
            </a:outerShdw>
          </a:effectLst>
        </p:spPr>
        <p:txBody>
          <a:bodyPr/>
          <a:lstStyle/>
          <a:p>
            <a:endParaRPr lang="en-ID"/>
          </a:p>
        </p:txBody>
      </p:sp>
      <p:sp>
        <p:nvSpPr>
          <p:cNvPr id="21" name="card top accent">
            <a:extLst>
              <a:ext uri="{C183D7F6-B498-43B3-948B-1728B52AA6E4}">
                <adec:decorative xmlns:adec="http://schemas.microsoft.com/office/drawing/2017/decorative" val="1"/>
              </a:ext>
            </a:extLst>
          </p:cNvPr>
          <p:cNvSpPr/>
          <p:nvPr/>
        </p:nvSpPr>
        <p:spPr>
          <a:xfrm>
            <a:off x="8125968" y="1828800"/>
            <a:ext cx="3422904" cy="109728"/>
          </a:xfrm>
          <a:prstGeom prst="rect">
            <a:avLst/>
          </a:prstGeom>
          <a:solidFill>
            <a:srgbClr val="B98A1E"/>
          </a:solidFill>
          <a:ln/>
        </p:spPr>
        <p:txBody>
          <a:bodyPr/>
          <a:lstStyle/>
          <a:p>
            <a:endParaRPr lang="en-ID"/>
          </a:p>
        </p:txBody>
      </p:sp>
      <p:sp>
        <p:nvSpPr>
          <p:cNvPr id="22" name="number disc">
            <a:extLst>
              <a:ext uri="{C183D7F6-B498-43B3-948B-1728B52AA6E4}">
                <adec:decorative xmlns:adec="http://schemas.microsoft.com/office/drawing/2017/decorative" val="1"/>
              </a:ext>
            </a:extLst>
          </p:cNvPr>
          <p:cNvSpPr/>
          <p:nvPr/>
        </p:nvSpPr>
        <p:spPr>
          <a:xfrm>
            <a:off x="8382000" y="2103120"/>
            <a:ext cx="566928" cy="566928"/>
          </a:xfrm>
          <a:prstGeom prst="ellipse">
            <a:avLst/>
          </a:prstGeom>
          <a:solidFill>
            <a:srgbClr val="0B3C6E"/>
          </a:solidFill>
          <a:ln/>
        </p:spPr>
        <p:txBody>
          <a:bodyPr/>
          <a:lstStyle/>
          <a:p>
            <a:endParaRPr lang="en-ID"/>
          </a:p>
        </p:txBody>
      </p:sp>
      <p:sp>
        <p:nvSpPr>
          <p:cNvPr id="23" name="Text 20"/>
          <p:cNvSpPr/>
          <p:nvPr/>
        </p:nvSpPr>
        <p:spPr>
          <a:xfrm>
            <a:off x="8382000" y="2103120"/>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24" name="Text 21"/>
          <p:cNvSpPr/>
          <p:nvPr/>
        </p:nvSpPr>
        <p:spPr>
          <a:xfrm>
            <a:off x="8382000" y="2880360"/>
            <a:ext cx="2910840" cy="685800"/>
          </a:xfrm>
          <a:prstGeom prst="rect">
            <a:avLst/>
          </a:prstGeom>
          <a:noFill/>
          <a:ln/>
        </p:spPr>
        <p:txBody>
          <a:bodyPr wrap="square" rtlCol="0" anchor="t"/>
          <a:lstStyle/>
          <a:p>
            <a:pPr marL="0" indent="0">
              <a:buNone/>
            </a:pPr>
            <a:r>
              <a:rPr lang="en-US" sz="1550" b="1" dirty="0">
                <a:solidFill>
                  <a:srgbClr val="0B3C6E"/>
                </a:solidFill>
                <a:latin typeface="Georgia" pitchFamily="34" charset="0"/>
                <a:ea typeface="Georgia" pitchFamily="34" charset="-122"/>
                <a:cs typeface="Georgia" pitchFamily="34" charset="-120"/>
              </a:rPr>
              <a:t>Bahasa Indonesia</a:t>
            </a:r>
            <a:endParaRPr lang="en-US" sz="1550" dirty="0"/>
          </a:p>
        </p:txBody>
      </p:sp>
      <p:sp>
        <p:nvSpPr>
          <p:cNvPr id="25" name="Text 22"/>
          <p:cNvSpPr/>
          <p:nvPr/>
        </p:nvSpPr>
        <p:spPr>
          <a:xfrm>
            <a:off x="8382000" y="3538728"/>
            <a:ext cx="2910840" cy="2084832"/>
          </a:xfrm>
          <a:prstGeom prst="rect">
            <a:avLst/>
          </a:prstGeom>
          <a:noFill/>
          <a:ln/>
        </p:spPr>
        <p:txBody>
          <a:bodyPr wrap="square" rtlCol="0" anchor="t"/>
          <a:lstStyle/>
          <a:p>
            <a:pPr marL="0" indent="0">
              <a:lnSpc>
                <a:spcPct val="102000"/>
              </a:lnSpc>
              <a:spcAft>
                <a:spcPts val="500"/>
              </a:spcAft>
              <a:buNone/>
            </a:pPr>
            <a:r>
              <a:rPr lang="en-US" sz="1250" dirty="0">
                <a:solidFill>
                  <a:srgbClr val="26313D"/>
                </a:solidFill>
                <a:latin typeface="Calibri" pitchFamily="34" charset="0"/>
                <a:ea typeface="Calibri" pitchFamily="34" charset="-122"/>
                <a:cs typeface="Calibri" pitchFamily="34" charset="-120"/>
              </a:rPr>
              <a:t>Baseline diuji pada bahasa Inggris; Bahasa Indonesia memiliki singkatan, morfologi, istilah lokal, dan sumber daya klinis yang berbeda.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RUMUSAN MASALAH</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Rumusan Masalah</a:t>
            </a:r>
            <a:endParaRPr lang="en-US" sz="2700" dirty="0"/>
          </a:p>
        </p:txBody>
      </p:sp>
      <p:sp>
        <p:nvSpPr>
          <p:cNvPr id="8" name="Text 5"/>
          <p:cNvSpPr/>
          <p:nvPr/>
        </p:nvSpPr>
        <p:spPr>
          <a:xfrm>
            <a:off x="640080" y="1874520"/>
            <a:ext cx="10972800" cy="2926080"/>
          </a:xfrm>
          <a:prstGeom prst="rect">
            <a:avLst/>
          </a:prstGeom>
          <a:noFill/>
          <a:ln/>
        </p:spPr>
        <p:txBody>
          <a:bodyPr wrap="square" rtlCol="0" anchor="t"/>
          <a:lstStyle/>
          <a:p>
            <a:pPr marL="177800" indent="-177800">
              <a:lnSpc>
                <a:spcPct val="102000"/>
              </a:lnSpc>
              <a:spcAft>
                <a:spcPts val="1200"/>
              </a:spcAft>
              <a:buSzPct val="100000"/>
              <a:buChar char="•"/>
            </a:pPr>
            <a:r>
              <a:rPr lang="en-US" sz="1600" dirty="0">
                <a:solidFill>
                  <a:srgbClr val="26313D"/>
                </a:solidFill>
                <a:latin typeface="Calibri" pitchFamily="34" charset="0"/>
                <a:ea typeface="Calibri" pitchFamily="34" charset="-122"/>
                <a:cs typeface="Calibri" pitchFamily="34" charset="-120"/>
              </a:rPr>
              <a:t>Bagaimana memetakan istilah klinis Bahasa Indonesia secara simultan ke SNOMED CT, LOINC, dan ICD-10?</a:t>
            </a:r>
            <a:endParaRPr lang="en-US" sz="1600" dirty="0"/>
          </a:p>
          <a:p>
            <a:pPr marL="177800" indent="-177800">
              <a:lnSpc>
                <a:spcPct val="102000"/>
              </a:lnSpc>
              <a:spcAft>
                <a:spcPts val="1200"/>
              </a:spcAft>
              <a:buSzPct val="100000"/>
              <a:buChar char="•"/>
            </a:pPr>
            <a:r>
              <a:rPr lang="en-US" sz="1600" dirty="0">
                <a:solidFill>
                  <a:srgbClr val="26313D"/>
                </a:solidFill>
                <a:latin typeface="Calibri" pitchFamily="34" charset="0"/>
                <a:ea typeface="Calibri" pitchFamily="34" charset="-122"/>
                <a:cs typeface="Calibri" pitchFamily="34" charset="-120"/>
              </a:rPr>
              <a:t>Bagaimana memperluas CDE-Mapper agar mampu mengekstraksi banyak entitas dari teks klinis panjang?</a:t>
            </a:r>
            <a:endParaRPr lang="en-US" sz="1600" dirty="0"/>
          </a:p>
          <a:p>
            <a:pPr marL="177800" indent="-177800">
              <a:lnSpc>
                <a:spcPct val="102000"/>
              </a:lnSpc>
              <a:spcAft>
                <a:spcPts val="1200"/>
              </a:spcAft>
              <a:buSzPct val="100000"/>
              <a:buChar char="•"/>
            </a:pPr>
            <a:r>
              <a:rPr lang="en-US" sz="1600" dirty="0">
                <a:solidFill>
                  <a:srgbClr val="26313D"/>
                </a:solidFill>
                <a:latin typeface="Calibri" pitchFamily="34" charset="0"/>
                <a:ea typeface="Calibri" pitchFamily="34" charset="-122"/>
                <a:cs typeface="Calibri" pitchFamily="34" charset="-120"/>
              </a:rPr>
              <a:t>Bagaimana mengadaptasi retrieval ensemble terhadap variasi linguistik dan keterbatasan sumber daya Bahasa Indonesia?</a:t>
            </a:r>
            <a:endParaRPr lang="en-US" sz="1600" dirty="0"/>
          </a:p>
        </p:txBody>
      </p:sp>
      <p:sp>
        <p:nvSpPr>
          <p:cNvPr id="9" name="callout background">
            <a:extLst>
              <a:ext uri="{C183D7F6-B498-43B3-948B-1728B52AA6E4}">
                <adec:decorative xmlns:adec="http://schemas.microsoft.com/office/drawing/2017/decorative" val="1"/>
              </a:ext>
            </a:extLst>
          </p:cNvPr>
          <p:cNvSpPr/>
          <p:nvPr/>
        </p:nvSpPr>
        <p:spPr>
          <a:xfrm>
            <a:off x="640080" y="5120640"/>
            <a:ext cx="10972800" cy="914400"/>
          </a:xfrm>
          <a:prstGeom prst="roundRect">
            <a:avLst>
              <a:gd name="adj" fmla="val 6000"/>
            </a:avLst>
          </a:prstGeom>
          <a:solidFill>
            <a:srgbClr val="F7EFD8"/>
          </a:solidFill>
          <a:ln/>
        </p:spPr>
        <p:txBody>
          <a:bodyPr/>
          <a:lstStyle/>
          <a:p>
            <a:endParaRPr lang="en-ID"/>
          </a:p>
        </p:txBody>
      </p:sp>
      <p:sp>
        <p:nvSpPr>
          <p:cNvPr id="10" name="Text 7"/>
          <p:cNvSpPr/>
          <p:nvPr/>
        </p:nvSpPr>
        <p:spPr>
          <a:xfrm>
            <a:off x="896112" y="5120640"/>
            <a:ext cx="10460736" cy="91440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Pertanyaan evaluatif:  </a:t>
            </a:r>
            <a:r>
              <a:rPr lang="en-US" sz="1350" dirty="0">
                <a:solidFill>
                  <a:srgbClr val="26313D"/>
                </a:solidFill>
                <a:latin typeface="Calibri" pitchFamily="34" charset="0"/>
                <a:ea typeface="Calibri" pitchFamily="34" charset="-122"/>
                <a:cs typeface="Calibri" pitchFamily="34" charset="-120"/>
              </a:rPr>
              <a:t>apakah adaptasi tersebut meningkatkan akurasi, coverage, robustness, dan efisiensi dibanding baseline?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12</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TUJUAN</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Tujuan Penelitian</a:t>
            </a:r>
            <a:endParaRPr lang="en-US" sz="2700" dirty="0"/>
          </a:p>
        </p:txBody>
      </p:sp>
      <p:sp>
        <p:nvSpPr>
          <p:cNvPr id="8" name="tujuan umum band">
            <a:extLst>
              <a:ext uri="{C183D7F6-B498-43B3-948B-1728B52AA6E4}">
                <adec:decorative xmlns:adec="http://schemas.microsoft.com/office/drawing/2017/decorative" val="1"/>
              </a:ext>
            </a:extLst>
          </p:cNvPr>
          <p:cNvSpPr/>
          <p:nvPr/>
        </p:nvSpPr>
        <p:spPr>
          <a:xfrm>
            <a:off x="640080" y="1828800"/>
            <a:ext cx="10908792" cy="1051560"/>
          </a:xfrm>
          <a:prstGeom prst="rect">
            <a:avLst/>
          </a:prstGeom>
          <a:solidFill>
            <a:srgbClr val="0B3C6E"/>
          </a:solidFill>
          <a:ln/>
        </p:spPr>
        <p:txBody>
          <a:bodyPr/>
          <a:lstStyle/>
          <a:p>
            <a:endParaRPr lang="en-ID"/>
          </a:p>
        </p:txBody>
      </p:sp>
      <p:sp>
        <p:nvSpPr>
          <p:cNvPr id="9" name="Text 6"/>
          <p:cNvSpPr/>
          <p:nvPr/>
        </p:nvSpPr>
        <p:spPr>
          <a:xfrm>
            <a:off x="914400" y="1828800"/>
            <a:ext cx="10332720" cy="1051560"/>
          </a:xfrm>
          <a:prstGeom prst="rect">
            <a:avLst/>
          </a:prstGeom>
          <a:noFill/>
          <a:ln/>
        </p:spPr>
        <p:txBody>
          <a:bodyPr wrap="square" rtlCol="0" anchor="ctr"/>
          <a:lstStyle/>
          <a:p>
            <a:pPr marL="0" indent="0">
              <a:lnSpc>
                <a:spcPct val="105000"/>
              </a:lnSpc>
              <a:buNone/>
            </a:pPr>
            <a:r>
              <a:rPr lang="en-US" sz="1200" b="1" kern="0" spc="200" dirty="0">
                <a:solidFill>
                  <a:srgbClr val="F7EFD8"/>
                </a:solidFill>
                <a:latin typeface="Calibri" pitchFamily="34" charset="0"/>
                <a:ea typeface="Calibri" pitchFamily="34" charset="-122"/>
                <a:cs typeface="Calibri" pitchFamily="34" charset="-120"/>
              </a:rPr>
              <a:t>TUJUAN UMUM
</a:t>
            </a:r>
            <a:r>
              <a:rPr lang="en-US" sz="1500" dirty="0">
                <a:solidFill>
                  <a:srgbClr val="FFFFFF"/>
                </a:solidFill>
                <a:latin typeface="Calibri" pitchFamily="34" charset="0"/>
                <a:ea typeface="Calibri" pitchFamily="34" charset="-122"/>
                <a:cs typeface="Calibri" pitchFamily="34" charset="-120"/>
              </a:rPr>
              <a:t>Mengembangkan dan mengevaluasi framework adaptif untuk pemetaan terminologi klinis Bahasa Indonesia.</a:t>
            </a:r>
            <a:endParaRPr lang="en-US" sz="1200" dirty="0"/>
          </a:p>
        </p:txBody>
      </p:sp>
      <p:sp>
        <p:nvSpPr>
          <p:cNvPr id="10" name="Text 7"/>
          <p:cNvSpPr/>
          <p:nvPr/>
        </p:nvSpPr>
        <p:spPr>
          <a:xfrm>
            <a:off x="640080" y="3063240"/>
            <a:ext cx="7315200" cy="36576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Tujuan khusus</a:t>
            </a:r>
            <a:endParaRPr lang="en-US" sz="1600" dirty="0"/>
          </a:p>
        </p:txBody>
      </p:sp>
      <p:sp>
        <p:nvSpPr>
          <p:cNvPr id="11" name="Text 8"/>
          <p:cNvSpPr/>
          <p:nvPr/>
        </p:nvSpPr>
        <p:spPr>
          <a:xfrm>
            <a:off x="640080" y="3474720"/>
            <a:ext cx="10972800" cy="2560320"/>
          </a:xfrm>
          <a:prstGeom prst="rect">
            <a:avLst/>
          </a:prstGeom>
          <a:noFill/>
          <a:ln/>
        </p:spPr>
        <p:txBody>
          <a:bodyPr wrap="square" rtlCol="0" anchor="t"/>
          <a:lstStyle/>
          <a:p>
            <a:pPr marL="177800" indent="-177800">
              <a:lnSpc>
                <a:spcPct val="102000"/>
              </a:lnSpc>
              <a:spcAft>
                <a:spcPts val="900"/>
              </a:spcAft>
              <a:buSzPct val="100000"/>
              <a:buChar char="•"/>
            </a:pPr>
            <a:r>
              <a:rPr lang="en-US" sz="1500" dirty="0">
                <a:solidFill>
                  <a:srgbClr val="26313D"/>
                </a:solidFill>
                <a:latin typeface="Calibri" pitchFamily="34" charset="0"/>
                <a:ea typeface="Calibri" pitchFamily="34" charset="-122"/>
                <a:cs typeface="Calibri" pitchFamily="34" charset="-120"/>
              </a:rPr>
              <a:t>Memodifikasi CDE-Mapper untuk pemetaan simultan ke tiga terminologi.</a:t>
            </a:r>
            <a:endParaRPr lang="en-US" sz="1500" dirty="0"/>
          </a:p>
          <a:p>
            <a:pPr marL="177800" indent="-177800">
              <a:lnSpc>
                <a:spcPct val="102000"/>
              </a:lnSpc>
              <a:spcAft>
                <a:spcPts val="900"/>
              </a:spcAft>
              <a:buSzPct val="100000"/>
              <a:buChar char="•"/>
            </a:pPr>
            <a:r>
              <a:rPr lang="en-US" sz="1500" dirty="0">
                <a:solidFill>
                  <a:srgbClr val="26313D"/>
                </a:solidFill>
                <a:latin typeface="Calibri" pitchFamily="34" charset="0"/>
                <a:ea typeface="Calibri" pitchFamily="34" charset="-122"/>
                <a:cs typeface="Calibri" pitchFamily="34" charset="-120"/>
              </a:rPr>
              <a:t>Mengintegrasikan long-text clinical entity extraction.</a:t>
            </a:r>
            <a:endParaRPr lang="en-US" sz="1500" dirty="0"/>
          </a:p>
          <a:p>
            <a:pPr marL="177800" indent="-177800">
              <a:lnSpc>
                <a:spcPct val="102000"/>
              </a:lnSpc>
              <a:spcAft>
                <a:spcPts val="900"/>
              </a:spcAft>
              <a:buSzPct val="100000"/>
              <a:buChar char="•"/>
            </a:pPr>
            <a:r>
              <a:rPr lang="en-US" sz="1500" dirty="0">
                <a:solidFill>
                  <a:srgbClr val="26313D"/>
                </a:solidFill>
                <a:latin typeface="Calibri" pitchFamily="34" charset="0"/>
                <a:ea typeface="Calibri" pitchFamily="34" charset="-122"/>
                <a:cs typeface="Calibri" pitchFamily="34" charset="-120"/>
              </a:rPr>
              <a:t>Membangun retrieval ensemble yang sesuai dengan Bahasa Indonesia.</a:t>
            </a:r>
            <a:endParaRPr lang="en-US" sz="1500" dirty="0"/>
          </a:p>
          <a:p>
            <a:pPr marL="177800" indent="-177800">
              <a:lnSpc>
                <a:spcPct val="102000"/>
              </a:lnSpc>
              <a:spcAft>
                <a:spcPts val="900"/>
              </a:spcAft>
              <a:buSzPct val="100000"/>
              <a:buChar char="•"/>
            </a:pPr>
            <a:r>
              <a:rPr lang="en-US" sz="1500" dirty="0">
                <a:solidFill>
                  <a:srgbClr val="26313D"/>
                </a:solidFill>
                <a:latin typeface="Calibri" pitchFamily="34" charset="0"/>
                <a:ea typeface="Calibri" pitchFamily="34" charset="-122"/>
                <a:cs typeface="Calibri" pitchFamily="34" charset="-120"/>
              </a:rPr>
              <a:t>Menyediakan pipeline yang reproducible, auditable, dan human-in-the-loop.</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13</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KEBARUAN</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Kebaruan yang Diusulkan</a:t>
            </a:r>
            <a:endParaRPr lang="en-US" sz="2700" dirty="0"/>
          </a:p>
        </p:txBody>
      </p:sp>
      <p:sp>
        <p:nvSpPr>
          <p:cNvPr id="8" name="Text 5"/>
          <p:cNvSpPr/>
          <p:nvPr/>
        </p:nvSpPr>
        <p:spPr>
          <a:xfrm>
            <a:off x="640080" y="1783080"/>
            <a:ext cx="10972800" cy="4297680"/>
          </a:xfrm>
          <a:prstGeom prst="rect">
            <a:avLst/>
          </a:prstGeom>
          <a:noFill/>
          <a:ln/>
        </p:spPr>
        <p:txBody>
          <a:bodyPr wrap="square" rtlCol="0" anchor="t"/>
          <a:lstStyle/>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Long-text first:  </a:t>
            </a:r>
            <a:r>
              <a:rPr lang="en-US" sz="1450" dirty="0">
                <a:solidFill>
                  <a:srgbClr val="26313D"/>
                </a:solidFill>
                <a:latin typeface="Calibri" pitchFamily="34" charset="0"/>
                <a:ea typeface="Calibri" pitchFamily="34" charset="-122"/>
                <a:cs typeface="Calibri" pitchFamily="34" charset="-120"/>
              </a:rPr>
              <a:t>banyak entitas diekstraksi sebelum mapping.</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Language-adaptive:  </a:t>
            </a:r>
            <a:r>
              <a:rPr lang="en-US" sz="1450" dirty="0">
                <a:solidFill>
                  <a:srgbClr val="26313D"/>
                </a:solidFill>
                <a:latin typeface="Calibri" pitchFamily="34" charset="0"/>
                <a:ea typeface="Calibri" pitchFamily="34" charset="-122"/>
                <a:cs typeface="Calibri" pitchFamily="34" charset="-120"/>
              </a:rPr>
              <a:t>normalisasi konservatif dan sumber daya lokal Bahasa Indonesia.</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Multi-terminology routing:  </a:t>
            </a:r>
            <a:r>
              <a:rPr lang="en-US" sz="1450" dirty="0">
                <a:solidFill>
                  <a:srgbClr val="26313D"/>
                </a:solidFill>
                <a:latin typeface="Calibri" pitchFamily="34" charset="0"/>
                <a:ea typeface="Calibri" pitchFamily="34" charset="-122"/>
                <a:cs typeface="Calibri" pitchFamily="34" charset="-120"/>
              </a:rPr>
              <a:t>target dipilih berdasarkan tipe dan konteks entitas.</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Hybrid retrieval:  </a:t>
            </a:r>
            <a:r>
              <a:rPr lang="en-US" sz="1450" dirty="0">
                <a:solidFill>
                  <a:srgbClr val="26313D"/>
                </a:solidFill>
                <a:latin typeface="Calibri" pitchFamily="34" charset="0"/>
                <a:ea typeface="Calibri" pitchFamily="34" charset="-122"/>
                <a:cs typeface="Calibri" pitchFamily="34" charset="-120"/>
              </a:rPr>
              <a:t>dense + sparse + filtering + reranking.</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Context-aware entities:  </a:t>
            </a:r>
            <a:r>
              <a:rPr lang="en-US" sz="1450" dirty="0">
                <a:solidFill>
                  <a:srgbClr val="26313D"/>
                </a:solidFill>
                <a:latin typeface="Calibri" pitchFamily="34" charset="0"/>
                <a:ea typeface="Calibri" pitchFamily="34" charset="-122"/>
                <a:cs typeface="Calibri" pitchFamily="34" charset="-120"/>
              </a:rPr>
              <a:t>assertion, temporal, experiencer, dan epistemic status.</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Validated reservoir:  </a:t>
            </a:r>
            <a:r>
              <a:rPr lang="en-US" sz="1450" dirty="0">
                <a:solidFill>
                  <a:srgbClr val="26313D"/>
                </a:solidFill>
                <a:latin typeface="Calibri" pitchFamily="34" charset="0"/>
                <a:ea typeface="Calibri" pitchFamily="34" charset="-122"/>
                <a:cs typeface="Calibri" pitchFamily="34" charset="-120"/>
              </a:rPr>
              <a:t>pengetahuan disimpan bersama status validasi dan provenance.</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End-to-end evaluation:  </a:t>
            </a:r>
            <a:r>
              <a:rPr lang="en-US" sz="1450" dirty="0">
                <a:solidFill>
                  <a:srgbClr val="26313D"/>
                </a:solidFill>
                <a:latin typeface="Calibri" pitchFamily="34" charset="0"/>
                <a:ea typeface="Calibri" pitchFamily="34" charset="-122"/>
                <a:cs typeface="Calibri" pitchFamily="34" charset="-120"/>
              </a:rPr>
              <a:t>menelusuri error dari ekstraksi sampai kode akhir.</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14</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KONTRIBUSI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Kontribusi Penelitian</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881360" cy="3840480"/>
        </p:xfrm>
        <a:graphic>
          <a:graphicData uri="http://schemas.openxmlformats.org/drawingml/2006/table">
            <a:tbl>
              <a:tblPr/>
              <a:tblGrid>
                <a:gridCol w="274320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64008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Dimensi</a:t>
                      </a:r>
                      <a:endParaRPr lang="en-US" sz="14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Kontribusi</a:t>
                      </a:r>
                      <a:endParaRPr lang="en-US" sz="14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extLst>
                  <a:ext uri="{0D108BD9-81ED-4DB2-BD59-A6C34878D82A}">
                    <a16:rowId xmlns:a16="http://schemas.microsoft.com/office/drawing/2014/main" val="10000"/>
                  </a:ext>
                </a:extLst>
              </a:tr>
              <a:tr h="640080">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Metodologis</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Framework hybrid LLM–semantic retrieval untuk teks klinis Indonesia</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Teknis</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Pipeline modular, tervalidasi skema, dan memiliki audit trail</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r h="640080">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Data</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Korpus normalisasi, pedoman anotasi, dan gold set bertahap</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Evaluatif</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Baseline, ablation, metrik komponen dan end-to-end</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4"/>
                  </a:ext>
                </a:extLst>
              </a:tr>
              <a:tr h="640080">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Praktis</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Prototipe pendukung standardisasi dan interoperabilitas</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15</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RUANG LINGKUP</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Batasan dan Ruang Lingkup</a:t>
            </a:r>
            <a:endParaRPr lang="en-US" sz="2700" dirty="0"/>
          </a:p>
        </p:txBody>
      </p:sp>
      <p:sp>
        <p:nvSpPr>
          <p:cNvPr id="8" name="Text 5"/>
          <p:cNvSpPr/>
          <p:nvPr/>
        </p:nvSpPr>
        <p:spPr>
          <a:xfrm>
            <a:off x="640080" y="1783080"/>
            <a:ext cx="10972800" cy="4297680"/>
          </a:xfrm>
          <a:prstGeom prst="rect">
            <a:avLst/>
          </a:prstGeom>
          <a:noFill/>
          <a:ln/>
        </p:spPr>
        <p:txBody>
          <a:bodyPr wrap="square" rtlCol="0" anchor="t"/>
          <a:lstStyle/>
          <a:p>
            <a:pPr marL="177800" indent="-177800">
              <a:lnSpc>
                <a:spcPct val="102000"/>
              </a:lnSpc>
              <a:spcAft>
                <a:spcPts val="600"/>
              </a:spcAft>
              <a:buSzPct val="100000"/>
              <a:buChar char="•"/>
            </a:pPr>
            <a:r>
              <a:rPr lang="en-US" sz="1450" dirty="0">
                <a:solidFill>
                  <a:srgbClr val="26313D"/>
                </a:solidFill>
                <a:latin typeface="Calibri" pitchFamily="34" charset="0"/>
                <a:ea typeface="Calibri" pitchFamily="34" charset="-122"/>
                <a:cs typeface="Calibri" pitchFamily="34" charset="-120"/>
              </a:rPr>
              <a:t>Bahasa utama: Bahasa Indonesia klinis dengan kemungkinan code-mixing.</a:t>
            </a:r>
            <a:endParaRPr lang="en-US" sz="1450" dirty="0"/>
          </a:p>
          <a:p>
            <a:pPr marL="177800" indent="-177800">
              <a:lnSpc>
                <a:spcPct val="102000"/>
              </a:lnSpc>
              <a:spcAft>
                <a:spcPts val="600"/>
              </a:spcAft>
              <a:buSzPct val="100000"/>
              <a:buChar char="•"/>
            </a:pPr>
            <a:r>
              <a:rPr lang="en-US" sz="1450" dirty="0">
                <a:solidFill>
                  <a:srgbClr val="26313D"/>
                </a:solidFill>
                <a:latin typeface="Calibri" pitchFamily="34" charset="0"/>
                <a:ea typeface="Calibri" pitchFamily="34" charset="-122"/>
                <a:cs typeface="Calibri" pitchFamily="34" charset="-120"/>
              </a:rPr>
              <a:t>Input:</a:t>
            </a:r>
            <a:endParaRPr lang="en-US" sz="1450" dirty="0"/>
          </a:p>
          <a:p>
            <a:pPr marL="355600" lvl="1" indent="-177800">
              <a:lnSpc>
                <a:spcPct val="102000"/>
              </a:lnSpc>
              <a:spcAft>
                <a:spcPts val="300"/>
              </a:spcAft>
              <a:buSzPct val="100000"/>
              <a:buChar char="–"/>
            </a:pPr>
            <a:r>
              <a:rPr lang="en-US" sz="1450" dirty="0">
                <a:solidFill>
                  <a:srgbClr val="26313D"/>
                </a:solidFill>
                <a:latin typeface="Calibri" pitchFamily="34" charset="0"/>
                <a:ea typeface="Calibri" pitchFamily="34" charset="-122"/>
                <a:cs typeface="Calibri" pitchFamily="34" charset="-120"/>
              </a:rPr>
              <a:t>teks konsultasi kesehatan;</a:t>
            </a:r>
            <a:endParaRPr lang="en-US" sz="1450" dirty="0"/>
          </a:p>
          <a:p>
            <a:pPr marL="355600" lvl="1" indent="-177800">
              <a:lnSpc>
                <a:spcPct val="102000"/>
              </a:lnSpc>
              <a:spcAft>
                <a:spcPts val="300"/>
              </a:spcAft>
              <a:buSzPct val="100000"/>
              <a:buChar char="–"/>
            </a:pPr>
            <a:r>
              <a:rPr lang="en-US" sz="1450" dirty="0">
                <a:solidFill>
                  <a:srgbClr val="26313D"/>
                </a:solidFill>
                <a:latin typeface="Calibri" pitchFamily="34" charset="0"/>
                <a:ea typeface="Calibri" pitchFamily="34" charset="-122"/>
                <a:cs typeface="Calibri" pitchFamily="34" charset="-120"/>
              </a:rPr>
              <a:t>teks klinis panjang;</a:t>
            </a:r>
            <a:endParaRPr lang="en-US" sz="1450" dirty="0"/>
          </a:p>
          <a:p>
            <a:pPr marL="355600" lvl="1" indent="-177800">
              <a:lnSpc>
                <a:spcPct val="102000"/>
              </a:lnSpc>
              <a:spcAft>
                <a:spcPts val="600"/>
              </a:spcAft>
              <a:buSzPct val="100000"/>
              <a:buChar char="–"/>
            </a:pPr>
            <a:r>
              <a:rPr lang="en-US" sz="1450" dirty="0">
                <a:solidFill>
                  <a:srgbClr val="26313D"/>
                </a:solidFill>
                <a:latin typeface="Calibri" pitchFamily="34" charset="0"/>
                <a:ea typeface="Calibri" pitchFamily="34" charset="-122"/>
                <a:cs typeface="Calibri" pitchFamily="34" charset="-120"/>
              </a:rPr>
              <a:t>istilah atau field RME.</a:t>
            </a:r>
            <a:endParaRPr lang="en-US" sz="1450" dirty="0"/>
          </a:p>
          <a:p>
            <a:pPr marL="177800" indent="-177800">
              <a:lnSpc>
                <a:spcPct val="102000"/>
              </a:lnSpc>
              <a:spcAft>
                <a:spcPts val="600"/>
              </a:spcAft>
              <a:buSzPct val="100000"/>
              <a:buChar char="•"/>
            </a:pPr>
            <a:r>
              <a:rPr lang="en-US" sz="1450" dirty="0">
                <a:solidFill>
                  <a:srgbClr val="26313D"/>
                </a:solidFill>
                <a:latin typeface="Calibri" pitchFamily="34" charset="0"/>
                <a:ea typeface="Calibri" pitchFamily="34" charset="-122"/>
                <a:cs typeface="Calibri" pitchFamily="34" charset="-120"/>
              </a:rPr>
              <a:t>Target utama: SNOMED CT, LOINC, dan ICD-10.</a:t>
            </a:r>
            <a:endParaRPr lang="en-US" sz="1450" dirty="0"/>
          </a:p>
          <a:p>
            <a:pPr marL="177800" indent="-177800">
              <a:lnSpc>
                <a:spcPct val="102000"/>
              </a:lnSpc>
              <a:spcAft>
                <a:spcPts val="600"/>
              </a:spcAft>
              <a:buSzPct val="100000"/>
              <a:buChar char="•"/>
            </a:pPr>
            <a:r>
              <a:rPr lang="en-US" sz="1450" dirty="0">
                <a:solidFill>
                  <a:srgbClr val="26313D"/>
                </a:solidFill>
                <a:latin typeface="Calibri" pitchFamily="34" charset="0"/>
                <a:ea typeface="Calibri" pitchFamily="34" charset="-122"/>
                <a:cs typeface="Calibri" pitchFamily="34" charset="-120"/>
              </a:rPr>
              <a:t>Fokus penelitian: dukungan keputusan mapping, bukan pengganti ahli.</a:t>
            </a:r>
            <a:endParaRPr lang="en-US" sz="1450" dirty="0"/>
          </a:p>
          <a:p>
            <a:pPr marL="177800" indent="-177800">
              <a:lnSpc>
                <a:spcPct val="102000"/>
              </a:lnSpc>
              <a:spcAft>
                <a:spcPts val="600"/>
              </a:spcAft>
              <a:buSzPct val="100000"/>
              <a:buChar char="•"/>
            </a:pPr>
            <a:r>
              <a:rPr lang="en-US" sz="1450" dirty="0">
                <a:solidFill>
                  <a:srgbClr val="26313D"/>
                </a:solidFill>
                <a:latin typeface="Calibri" pitchFamily="34" charset="0"/>
                <a:ea typeface="Calibri" pitchFamily="34" charset="-122"/>
                <a:cs typeface="Calibri" pitchFamily="34" charset="-120"/>
              </a:rPr>
              <a:t>Data sensitif harus dianonimkan dan dikelola sesuai tata kelola penelitian.</a:t>
            </a:r>
            <a:endParaRPr lang="en-US" sz="1450" dirty="0"/>
          </a:p>
          <a:p>
            <a:pPr marL="177800" indent="-177800">
              <a:lnSpc>
                <a:spcPct val="102000"/>
              </a:lnSpc>
              <a:spcAft>
                <a:spcPts val="600"/>
              </a:spcAft>
              <a:buSzPct val="100000"/>
              <a:buChar char="•"/>
            </a:pPr>
            <a:r>
              <a:rPr lang="en-US" sz="1450" dirty="0">
                <a:solidFill>
                  <a:srgbClr val="26313D"/>
                </a:solidFill>
                <a:latin typeface="Calibri" pitchFamily="34" charset="0"/>
                <a:ea typeface="Calibri" pitchFamily="34" charset="-122"/>
                <a:cs typeface="Calibri" pitchFamily="34" charset="-120"/>
              </a:rPr>
              <a:t>Keluaran ber-confidence rendah diarahkan ke validasi manual.</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16</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METODE</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Paradigma Penelitian</a:t>
            </a:r>
            <a:endParaRPr lang="en-US" sz="2700" dirty="0"/>
          </a:p>
        </p:txBody>
      </p:sp>
      <p:sp>
        <p:nvSpPr>
          <p:cNvPr id="8" name="Text 5"/>
          <p:cNvSpPr/>
          <p:nvPr/>
        </p:nvSpPr>
        <p:spPr>
          <a:xfrm>
            <a:off x="640080" y="1828800"/>
            <a:ext cx="10972800" cy="1828800"/>
          </a:xfrm>
          <a:prstGeom prst="rect">
            <a:avLst/>
          </a:prstGeom>
          <a:noFill/>
          <a:ln/>
        </p:spPr>
        <p:txBody>
          <a:bodyPr wrap="square" rtlCol="0" anchor="t"/>
          <a:lstStyle/>
          <a:p>
            <a:pPr marL="177800" indent="-177800">
              <a:lnSpc>
                <a:spcPct val="102000"/>
              </a:lnSpc>
              <a:buSzPct val="100000"/>
              <a:buChar char="•"/>
            </a:pPr>
            <a:r>
              <a:rPr lang="en-US" sz="1500" b="1" dirty="0">
                <a:solidFill>
                  <a:srgbClr val="0B3C6E"/>
                </a:solidFill>
                <a:latin typeface="Calibri" pitchFamily="34" charset="0"/>
                <a:ea typeface="Calibri" pitchFamily="34" charset="-122"/>
                <a:cs typeface="Calibri" pitchFamily="34" charset="-120"/>
              </a:rPr>
              <a:t>Jenis:  </a:t>
            </a:r>
            <a:r>
              <a:rPr lang="en-US" sz="1500" dirty="0">
                <a:solidFill>
                  <a:srgbClr val="26313D"/>
                </a:solidFill>
                <a:latin typeface="Calibri" pitchFamily="34" charset="0"/>
                <a:ea typeface="Calibri" pitchFamily="34" charset="-122"/>
                <a:cs typeface="Calibri" pitchFamily="34" charset="-120"/>
              </a:rPr>
              <a:t>penelitian pengembangan.</a:t>
            </a:r>
            <a:endParaRPr lang="en-US" sz="1500" dirty="0"/>
          </a:p>
          <a:p>
            <a:pPr marL="177800" indent="-177800">
              <a:lnSpc>
                <a:spcPct val="102000"/>
              </a:lnSpc>
              <a:buSzPct val="100000"/>
              <a:buChar char="•"/>
            </a:pPr>
            <a:r>
              <a:rPr lang="en-US" sz="1500" b="1" dirty="0">
                <a:solidFill>
                  <a:srgbClr val="0B3C6E"/>
                </a:solidFill>
                <a:latin typeface="Calibri" pitchFamily="34" charset="0"/>
                <a:ea typeface="Calibri" pitchFamily="34" charset="-122"/>
                <a:cs typeface="Calibri" pitchFamily="34" charset="-120"/>
              </a:rPr>
              <a:t>Pendekatan:  </a:t>
            </a:r>
            <a:r>
              <a:rPr lang="en-US" sz="1500" dirty="0">
                <a:solidFill>
                  <a:srgbClr val="26313D"/>
                </a:solidFill>
                <a:latin typeface="Calibri" pitchFamily="34" charset="0"/>
                <a:ea typeface="Calibri" pitchFamily="34" charset="-122"/>
                <a:cs typeface="Calibri" pitchFamily="34" charset="-120"/>
              </a:rPr>
              <a:t>kuantitatif-eksperimental.</a:t>
            </a:r>
            <a:endParaRPr lang="en-US" sz="1500" dirty="0"/>
          </a:p>
          <a:p>
            <a:pPr marL="177800" indent="-177800">
              <a:lnSpc>
                <a:spcPct val="102000"/>
              </a:lnSpc>
              <a:spcAft>
                <a:spcPts val="800"/>
              </a:spcAft>
              <a:buSzPct val="100000"/>
              <a:buChar char="•"/>
            </a:pPr>
            <a:r>
              <a:rPr lang="en-US" sz="1500" dirty="0">
                <a:solidFill>
                  <a:srgbClr val="26313D"/>
                </a:solidFill>
                <a:latin typeface="Calibri" pitchFamily="34" charset="0"/>
                <a:ea typeface="Calibri" pitchFamily="34" charset="-122"/>
                <a:cs typeface="Calibri" pitchFamily="34" charset="-120"/>
              </a:rPr>
              <a:t>Pembandingan: baseline; model usulan; ablation study.</a:t>
            </a:r>
            <a:endParaRPr lang="en-US" sz="1500" dirty="0"/>
          </a:p>
          <a:p>
            <a:pPr marL="177800" indent="-177800">
              <a:lnSpc>
                <a:spcPct val="102000"/>
              </a:lnSpc>
              <a:spcAft>
                <a:spcPts val="800"/>
              </a:spcAft>
              <a:buSzPct val="100000"/>
              <a:buChar char="•"/>
            </a:pPr>
            <a:r>
              <a:rPr lang="en-US" sz="1500" dirty="0">
                <a:solidFill>
                  <a:srgbClr val="26313D"/>
                </a:solidFill>
                <a:latin typeface="Calibri" pitchFamily="34" charset="0"/>
                <a:ea typeface="Calibri" pitchFamily="34" charset="-122"/>
                <a:cs typeface="Calibri" pitchFamily="34" charset="-120"/>
              </a:rPr>
              <a:t>Validasi data acuan melibatkan minimal dua anotator dan adjudikator klinis.</a:t>
            </a:r>
            <a:endParaRPr lang="en-US" sz="1500" dirty="0"/>
          </a:p>
        </p:txBody>
      </p:sp>
      <p:sp>
        <p:nvSpPr>
          <p:cNvPr id="9" name="Text 6"/>
          <p:cNvSpPr/>
          <p:nvPr/>
        </p:nvSpPr>
        <p:spPr>
          <a:xfrm>
            <a:off x="640080" y="3794760"/>
            <a:ext cx="7315200" cy="32004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Siklus penelitian</a:t>
            </a:r>
            <a:endParaRPr lang="en-US" sz="1200" dirty="0"/>
          </a:p>
        </p:txBody>
      </p:sp>
      <p:sp>
        <p:nvSpPr>
          <p:cNvPr id="10" name="cycle chip">
            <a:extLst>
              <a:ext uri="{C183D7F6-B498-43B3-948B-1728B52AA6E4}">
                <adec:decorative xmlns:adec="http://schemas.microsoft.com/office/drawing/2017/decorative" val="1"/>
              </a:ext>
            </a:extLst>
          </p:cNvPr>
          <p:cNvSpPr/>
          <p:nvPr/>
        </p:nvSpPr>
        <p:spPr>
          <a:xfrm>
            <a:off x="640080" y="4160520"/>
            <a:ext cx="1700784" cy="658368"/>
          </a:xfrm>
          <a:prstGeom prst="roundRect">
            <a:avLst>
              <a:gd name="adj" fmla="val 6944"/>
            </a:avLst>
          </a:prstGeom>
          <a:solidFill>
            <a:srgbClr val="EAF1F8"/>
          </a:solidFill>
          <a:ln w="12700">
            <a:solidFill>
              <a:srgbClr val="0B3C6E"/>
            </a:solidFill>
            <a:prstDash val="solid"/>
          </a:ln>
        </p:spPr>
        <p:txBody>
          <a:bodyPr/>
          <a:lstStyle/>
          <a:p>
            <a:endParaRPr lang="en-ID"/>
          </a:p>
        </p:txBody>
      </p:sp>
      <p:sp>
        <p:nvSpPr>
          <p:cNvPr id="11" name="Text 8"/>
          <p:cNvSpPr/>
          <p:nvPr/>
        </p:nvSpPr>
        <p:spPr>
          <a:xfrm>
            <a:off x="685800" y="4160520"/>
            <a:ext cx="1609344" cy="658368"/>
          </a:xfrm>
          <a:prstGeom prst="rect">
            <a:avLst/>
          </a:prstGeom>
          <a:noFill/>
          <a:ln/>
        </p:spPr>
        <p:txBody>
          <a:bodyPr wrap="square" rtlCol="0" anchor="ctr"/>
          <a:lstStyle/>
          <a:p>
            <a:pPr marL="0" indent="0" algn="ctr">
              <a:buNone/>
            </a:pPr>
            <a:r>
              <a:rPr lang="en-US" sz="1150" b="1" dirty="0">
                <a:solidFill>
                  <a:srgbClr val="0B3C6E"/>
                </a:solidFill>
                <a:latin typeface="Calibri" pitchFamily="34" charset="0"/>
                <a:ea typeface="Calibri" pitchFamily="34" charset="-122"/>
                <a:cs typeface="Calibri" pitchFamily="34" charset="-120"/>
              </a:rPr>
              <a:t>Desain</a:t>
            </a:r>
            <a:endParaRPr lang="en-US" sz="1150" dirty="0"/>
          </a:p>
        </p:txBody>
      </p:sp>
      <p:sp>
        <p:nvSpPr>
          <p:cNvPr id="12" name="Text 9"/>
          <p:cNvSpPr/>
          <p:nvPr/>
        </p:nvSpPr>
        <p:spPr>
          <a:xfrm>
            <a:off x="2322576" y="4160520"/>
            <a:ext cx="155448" cy="658368"/>
          </a:xfrm>
          <a:prstGeom prst="rect">
            <a:avLst/>
          </a:prstGeom>
          <a:noFill/>
          <a:ln/>
        </p:spPr>
        <p:txBody>
          <a:bodyPr wrap="square" rtlCol="0" anchor="ctr"/>
          <a:lstStyle/>
          <a:p>
            <a:pPr marL="0" indent="0" algn="ctr">
              <a:buNone/>
            </a:pPr>
            <a:r>
              <a:rPr lang="en-US" sz="1200" dirty="0">
                <a:solidFill>
                  <a:srgbClr val="B98A1E"/>
                </a:solidFill>
                <a:latin typeface="Calibri" pitchFamily="34" charset="0"/>
                <a:ea typeface="Calibri" pitchFamily="34" charset="-122"/>
                <a:cs typeface="Calibri" pitchFamily="34" charset="-120"/>
              </a:rPr>
              <a:t>→</a:t>
            </a:r>
            <a:endParaRPr lang="en-US" sz="1200" dirty="0"/>
          </a:p>
        </p:txBody>
      </p:sp>
      <p:sp>
        <p:nvSpPr>
          <p:cNvPr id="13" name="cycle chip">
            <a:extLst>
              <a:ext uri="{C183D7F6-B498-43B3-948B-1728B52AA6E4}">
                <adec:decorative xmlns:adec="http://schemas.microsoft.com/office/drawing/2017/decorative" val="1"/>
              </a:ext>
            </a:extLst>
          </p:cNvPr>
          <p:cNvSpPr/>
          <p:nvPr/>
        </p:nvSpPr>
        <p:spPr>
          <a:xfrm>
            <a:off x="2459736" y="4160520"/>
            <a:ext cx="1700784" cy="658368"/>
          </a:xfrm>
          <a:prstGeom prst="roundRect">
            <a:avLst>
              <a:gd name="adj" fmla="val 6944"/>
            </a:avLst>
          </a:prstGeom>
          <a:solidFill>
            <a:srgbClr val="EAF1F8"/>
          </a:solidFill>
          <a:ln w="12700">
            <a:solidFill>
              <a:srgbClr val="0B3C6E"/>
            </a:solidFill>
            <a:prstDash val="solid"/>
          </a:ln>
        </p:spPr>
        <p:txBody>
          <a:bodyPr/>
          <a:lstStyle/>
          <a:p>
            <a:endParaRPr lang="en-ID"/>
          </a:p>
        </p:txBody>
      </p:sp>
      <p:sp>
        <p:nvSpPr>
          <p:cNvPr id="14" name="Text 11"/>
          <p:cNvSpPr/>
          <p:nvPr/>
        </p:nvSpPr>
        <p:spPr>
          <a:xfrm>
            <a:off x="2505456" y="4160520"/>
            <a:ext cx="1609344" cy="658368"/>
          </a:xfrm>
          <a:prstGeom prst="rect">
            <a:avLst/>
          </a:prstGeom>
          <a:noFill/>
          <a:ln/>
        </p:spPr>
        <p:txBody>
          <a:bodyPr wrap="square" rtlCol="0" anchor="ctr"/>
          <a:lstStyle/>
          <a:p>
            <a:pPr marL="0" indent="0" algn="ctr">
              <a:buNone/>
            </a:pPr>
            <a:r>
              <a:rPr lang="en-US" sz="1150" b="1" dirty="0">
                <a:solidFill>
                  <a:srgbClr val="0B3C6E"/>
                </a:solidFill>
                <a:latin typeface="Calibri" pitchFamily="34" charset="0"/>
                <a:ea typeface="Calibri" pitchFamily="34" charset="-122"/>
                <a:cs typeface="Calibri" pitchFamily="34" charset="-120"/>
              </a:rPr>
              <a:t>Implementasi</a:t>
            </a:r>
            <a:endParaRPr lang="en-US" sz="1150" dirty="0"/>
          </a:p>
        </p:txBody>
      </p:sp>
      <p:sp>
        <p:nvSpPr>
          <p:cNvPr id="15" name="Text 12"/>
          <p:cNvSpPr/>
          <p:nvPr/>
        </p:nvSpPr>
        <p:spPr>
          <a:xfrm>
            <a:off x="4142232" y="4160520"/>
            <a:ext cx="155448" cy="658368"/>
          </a:xfrm>
          <a:prstGeom prst="rect">
            <a:avLst/>
          </a:prstGeom>
          <a:noFill/>
          <a:ln/>
        </p:spPr>
        <p:txBody>
          <a:bodyPr wrap="square" rtlCol="0" anchor="ctr"/>
          <a:lstStyle/>
          <a:p>
            <a:pPr marL="0" indent="0" algn="ctr">
              <a:buNone/>
            </a:pPr>
            <a:r>
              <a:rPr lang="en-US" sz="1200" dirty="0">
                <a:solidFill>
                  <a:srgbClr val="B98A1E"/>
                </a:solidFill>
                <a:latin typeface="Calibri" pitchFamily="34" charset="0"/>
                <a:ea typeface="Calibri" pitchFamily="34" charset="-122"/>
                <a:cs typeface="Calibri" pitchFamily="34" charset="-120"/>
              </a:rPr>
              <a:t>→</a:t>
            </a:r>
            <a:endParaRPr lang="en-US" sz="1200" dirty="0"/>
          </a:p>
        </p:txBody>
      </p:sp>
      <p:sp>
        <p:nvSpPr>
          <p:cNvPr id="16" name="cycle chip">
            <a:extLst>
              <a:ext uri="{C183D7F6-B498-43B3-948B-1728B52AA6E4}">
                <adec:decorative xmlns:adec="http://schemas.microsoft.com/office/drawing/2017/decorative" val="1"/>
              </a:ext>
            </a:extLst>
          </p:cNvPr>
          <p:cNvSpPr/>
          <p:nvPr/>
        </p:nvSpPr>
        <p:spPr>
          <a:xfrm>
            <a:off x="4279392" y="4160520"/>
            <a:ext cx="1700784" cy="658368"/>
          </a:xfrm>
          <a:prstGeom prst="roundRect">
            <a:avLst>
              <a:gd name="adj" fmla="val 6944"/>
            </a:avLst>
          </a:prstGeom>
          <a:solidFill>
            <a:srgbClr val="EAF1F8"/>
          </a:solidFill>
          <a:ln w="12700">
            <a:solidFill>
              <a:srgbClr val="0B3C6E"/>
            </a:solidFill>
            <a:prstDash val="solid"/>
          </a:ln>
        </p:spPr>
        <p:txBody>
          <a:bodyPr/>
          <a:lstStyle/>
          <a:p>
            <a:endParaRPr lang="en-ID"/>
          </a:p>
        </p:txBody>
      </p:sp>
      <p:sp>
        <p:nvSpPr>
          <p:cNvPr id="17" name="Text 14"/>
          <p:cNvSpPr/>
          <p:nvPr/>
        </p:nvSpPr>
        <p:spPr>
          <a:xfrm>
            <a:off x="4325112" y="4160520"/>
            <a:ext cx="1609344" cy="658368"/>
          </a:xfrm>
          <a:prstGeom prst="rect">
            <a:avLst/>
          </a:prstGeom>
          <a:noFill/>
          <a:ln/>
        </p:spPr>
        <p:txBody>
          <a:bodyPr wrap="square" rtlCol="0" anchor="ctr"/>
          <a:lstStyle/>
          <a:p>
            <a:pPr marL="0" indent="0" algn="ctr">
              <a:buNone/>
            </a:pPr>
            <a:r>
              <a:rPr lang="en-US" sz="1150" b="1" dirty="0">
                <a:solidFill>
                  <a:srgbClr val="0B3C6E"/>
                </a:solidFill>
                <a:latin typeface="Calibri" pitchFamily="34" charset="0"/>
                <a:ea typeface="Calibri" pitchFamily="34" charset="-122"/>
                <a:cs typeface="Calibri" pitchFamily="34" charset="-120"/>
              </a:rPr>
              <a:t>Verifikasi</a:t>
            </a:r>
            <a:endParaRPr lang="en-US" sz="1150" dirty="0"/>
          </a:p>
        </p:txBody>
      </p:sp>
      <p:sp>
        <p:nvSpPr>
          <p:cNvPr id="18" name="Text 15"/>
          <p:cNvSpPr/>
          <p:nvPr/>
        </p:nvSpPr>
        <p:spPr>
          <a:xfrm>
            <a:off x="5961888" y="4160520"/>
            <a:ext cx="155448" cy="658368"/>
          </a:xfrm>
          <a:prstGeom prst="rect">
            <a:avLst/>
          </a:prstGeom>
          <a:noFill/>
          <a:ln/>
        </p:spPr>
        <p:txBody>
          <a:bodyPr wrap="square" rtlCol="0" anchor="ctr"/>
          <a:lstStyle/>
          <a:p>
            <a:pPr marL="0" indent="0" algn="ctr">
              <a:buNone/>
            </a:pPr>
            <a:r>
              <a:rPr lang="en-US" sz="1200" dirty="0">
                <a:solidFill>
                  <a:srgbClr val="B98A1E"/>
                </a:solidFill>
                <a:latin typeface="Calibri" pitchFamily="34" charset="0"/>
                <a:ea typeface="Calibri" pitchFamily="34" charset="-122"/>
                <a:cs typeface="Calibri" pitchFamily="34" charset="-120"/>
              </a:rPr>
              <a:t>→</a:t>
            </a:r>
            <a:endParaRPr lang="en-US" sz="1200" dirty="0"/>
          </a:p>
        </p:txBody>
      </p:sp>
      <p:sp>
        <p:nvSpPr>
          <p:cNvPr id="19" name="cycle chip">
            <a:extLst>
              <a:ext uri="{C183D7F6-B498-43B3-948B-1728B52AA6E4}">
                <adec:decorative xmlns:adec="http://schemas.microsoft.com/office/drawing/2017/decorative" val="1"/>
              </a:ext>
            </a:extLst>
          </p:cNvPr>
          <p:cNvSpPr/>
          <p:nvPr/>
        </p:nvSpPr>
        <p:spPr>
          <a:xfrm>
            <a:off x="6099048" y="4160520"/>
            <a:ext cx="1700784" cy="658368"/>
          </a:xfrm>
          <a:prstGeom prst="roundRect">
            <a:avLst>
              <a:gd name="adj" fmla="val 6944"/>
            </a:avLst>
          </a:prstGeom>
          <a:solidFill>
            <a:srgbClr val="EAF1F8"/>
          </a:solidFill>
          <a:ln w="12700">
            <a:solidFill>
              <a:srgbClr val="0B3C6E"/>
            </a:solidFill>
            <a:prstDash val="solid"/>
          </a:ln>
        </p:spPr>
        <p:txBody>
          <a:bodyPr/>
          <a:lstStyle/>
          <a:p>
            <a:endParaRPr lang="en-ID"/>
          </a:p>
        </p:txBody>
      </p:sp>
      <p:sp>
        <p:nvSpPr>
          <p:cNvPr id="20" name="Text 17"/>
          <p:cNvSpPr/>
          <p:nvPr/>
        </p:nvSpPr>
        <p:spPr>
          <a:xfrm>
            <a:off x="6144768" y="4160520"/>
            <a:ext cx="1609344" cy="658368"/>
          </a:xfrm>
          <a:prstGeom prst="rect">
            <a:avLst/>
          </a:prstGeom>
          <a:noFill/>
          <a:ln/>
        </p:spPr>
        <p:txBody>
          <a:bodyPr wrap="square" rtlCol="0" anchor="ctr"/>
          <a:lstStyle/>
          <a:p>
            <a:pPr marL="0" indent="0" algn="ctr">
              <a:buNone/>
            </a:pPr>
            <a:r>
              <a:rPr lang="en-US" sz="1150" b="1" dirty="0">
                <a:solidFill>
                  <a:srgbClr val="0B3C6E"/>
                </a:solidFill>
                <a:latin typeface="Calibri" pitchFamily="34" charset="0"/>
                <a:ea typeface="Calibri" pitchFamily="34" charset="-122"/>
                <a:cs typeface="Calibri" pitchFamily="34" charset="-120"/>
              </a:rPr>
              <a:t>Evaluasi</a:t>
            </a:r>
            <a:endParaRPr lang="en-US" sz="1150" dirty="0"/>
          </a:p>
        </p:txBody>
      </p:sp>
      <p:sp>
        <p:nvSpPr>
          <p:cNvPr id="21" name="Text 18"/>
          <p:cNvSpPr/>
          <p:nvPr/>
        </p:nvSpPr>
        <p:spPr>
          <a:xfrm>
            <a:off x="7781544" y="4160520"/>
            <a:ext cx="155448" cy="658368"/>
          </a:xfrm>
          <a:prstGeom prst="rect">
            <a:avLst/>
          </a:prstGeom>
          <a:noFill/>
          <a:ln/>
        </p:spPr>
        <p:txBody>
          <a:bodyPr wrap="square" rtlCol="0" anchor="ctr"/>
          <a:lstStyle/>
          <a:p>
            <a:pPr marL="0" indent="0" algn="ctr">
              <a:buNone/>
            </a:pPr>
            <a:r>
              <a:rPr lang="en-US" sz="1200" dirty="0">
                <a:solidFill>
                  <a:srgbClr val="B98A1E"/>
                </a:solidFill>
                <a:latin typeface="Calibri" pitchFamily="34" charset="0"/>
                <a:ea typeface="Calibri" pitchFamily="34" charset="-122"/>
                <a:cs typeface="Calibri" pitchFamily="34" charset="-120"/>
              </a:rPr>
              <a:t>→</a:t>
            </a:r>
            <a:endParaRPr lang="en-US" sz="1200" dirty="0"/>
          </a:p>
        </p:txBody>
      </p:sp>
      <p:sp>
        <p:nvSpPr>
          <p:cNvPr id="22" name="cycle chip">
            <a:extLst>
              <a:ext uri="{C183D7F6-B498-43B3-948B-1728B52AA6E4}">
                <adec:decorative xmlns:adec="http://schemas.microsoft.com/office/drawing/2017/decorative" val="1"/>
              </a:ext>
            </a:extLst>
          </p:cNvPr>
          <p:cNvSpPr/>
          <p:nvPr/>
        </p:nvSpPr>
        <p:spPr>
          <a:xfrm>
            <a:off x="7918704" y="4160520"/>
            <a:ext cx="1700784" cy="658368"/>
          </a:xfrm>
          <a:prstGeom prst="roundRect">
            <a:avLst>
              <a:gd name="adj" fmla="val 6944"/>
            </a:avLst>
          </a:prstGeom>
          <a:solidFill>
            <a:srgbClr val="EAF1F8"/>
          </a:solidFill>
          <a:ln w="12700">
            <a:solidFill>
              <a:srgbClr val="0B3C6E"/>
            </a:solidFill>
            <a:prstDash val="solid"/>
          </a:ln>
        </p:spPr>
        <p:txBody>
          <a:bodyPr/>
          <a:lstStyle/>
          <a:p>
            <a:endParaRPr lang="en-ID"/>
          </a:p>
        </p:txBody>
      </p:sp>
      <p:sp>
        <p:nvSpPr>
          <p:cNvPr id="23" name="Text 20"/>
          <p:cNvSpPr/>
          <p:nvPr/>
        </p:nvSpPr>
        <p:spPr>
          <a:xfrm>
            <a:off x="7964424" y="4160520"/>
            <a:ext cx="1609344" cy="658368"/>
          </a:xfrm>
          <a:prstGeom prst="rect">
            <a:avLst/>
          </a:prstGeom>
          <a:noFill/>
          <a:ln/>
        </p:spPr>
        <p:txBody>
          <a:bodyPr wrap="square" rtlCol="0" anchor="ctr"/>
          <a:lstStyle/>
          <a:p>
            <a:pPr marL="0" indent="0" algn="ctr">
              <a:buNone/>
            </a:pPr>
            <a:r>
              <a:rPr lang="en-US" sz="1150" b="1" dirty="0">
                <a:solidFill>
                  <a:srgbClr val="0B3C6E"/>
                </a:solidFill>
                <a:latin typeface="Calibri" pitchFamily="34" charset="0"/>
                <a:ea typeface="Calibri" pitchFamily="34" charset="-122"/>
                <a:cs typeface="Calibri" pitchFamily="34" charset="-120"/>
              </a:rPr>
              <a:t>Error analysis</a:t>
            </a:r>
            <a:endParaRPr lang="en-US" sz="1150" dirty="0"/>
          </a:p>
        </p:txBody>
      </p:sp>
      <p:sp>
        <p:nvSpPr>
          <p:cNvPr id="24" name="Text 21"/>
          <p:cNvSpPr/>
          <p:nvPr/>
        </p:nvSpPr>
        <p:spPr>
          <a:xfrm>
            <a:off x="9601200" y="4160520"/>
            <a:ext cx="155448" cy="658368"/>
          </a:xfrm>
          <a:prstGeom prst="rect">
            <a:avLst/>
          </a:prstGeom>
          <a:noFill/>
          <a:ln/>
        </p:spPr>
        <p:txBody>
          <a:bodyPr wrap="square" rtlCol="0" anchor="ctr"/>
          <a:lstStyle/>
          <a:p>
            <a:pPr marL="0" indent="0" algn="ctr">
              <a:buNone/>
            </a:pPr>
            <a:r>
              <a:rPr lang="en-US" sz="1200" dirty="0">
                <a:solidFill>
                  <a:srgbClr val="B98A1E"/>
                </a:solidFill>
                <a:latin typeface="Calibri" pitchFamily="34" charset="0"/>
                <a:ea typeface="Calibri" pitchFamily="34" charset="-122"/>
                <a:cs typeface="Calibri" pitchFamily="34" charset="-120"/>
              </a:rPr>
              <a:t>→</a:t>
            </a:r>
            <a:endParaRPr lang="en-US" sz="1200" dirty="0"/>
          </a:p>
        </p:txBody>
      </p:sp>
      <p:sp>
        <p:nvSpPr>
          <p:cNvPr id="25" name="cycle chip">
            <a:extLst>
              <a:ext uri="{C183D7F6-B498-43B3-948B-1728B52AA6E4}">
                <adec:decorative xmlns:adec="http://schemas.microsoft.com/office/drawing/2017/decorative" val="1"/>
              </a:ext>
            </a:extLst>
          </p:cNvPr>
          <p:cNvSpPr/>
          <p:nvPr/>
        </p:nvSpPr>
        <p:spPr>
          <a:xfrm>
            <a:off x="9738360" y="4160520"/>
            <a:ext cx="1700784" cy="658368"/>
          </a:xfrm>
          <a:prstGeom prst="roundRect">
            <a:avLst>
              <a:gd name="adj" fmla="val 6944"/>
            </a:avLst>
          </a:prstGeom>
          <a:solidFill>
            <a:srgbClr val="EAF1F8"/>
          </a:solidFill>
          <a:ln w="12700">
            <a:solidFill>
              <a:srgbClr val="0B3C6E"/>
            </a:solidFill>
            <a:prstDash val="solid"/>
          </a:ln>
        </p:spPr>
        <p:txBody>
          <a:bodyPr/>
          <a:lstStyle/>
          <a:p>
            <a:endParaRPr lang="en-ID"/>
          </a:p>
        </p:txBody>
      </p:sp>
      <p:sp>
        <p:nvSpPr>
          <p:cNvPr id="26" name="Text 23"/>
          <p:cNvSpPr/>
          <p:nvPr/>
        </p:nvSpPr>
        <p:spPr>
          <a:xfrm>
            <a:off x="9784080" y="4160520"/>
            <a:ext cx="1609344" cy="658368"/>
          </a:xfrm>
          <a:prstGeom prst="rect">
            <a:avLst/>
          </a:prstGeom>
          <a:noFill/>
          <a:ln/>
        </p:spPr>
        <p:txBody>
          <a:bodyPr wrap="square" rtlCol="0" anchor="ctr"/>
          <a:lstStyle/>
          <a:p>
            <a:pPr marL="0" indent="0" algn="ctr">
              <a:buNone/>
            </a:pPr>
            <a:r>
              <a:rPr lang="en-US" sz="1150" b="1" dirty="0">
                <a:solidFill>
                  <a:srgbClr val="0B3C6E"/>
                </a:solidFill>
                <a:latin typeface="Calibri" pitchFamily="34" charset="0"/>
                <a:ea typeface="Calibri" pitchFamily="34" charset="-122"/>
                <a:cs typeface="Calibri" pitchFamily="34" charset="-120"/>
              </a:rPr>
              <a:t>Perbaikan</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METODE</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Lima Tahapan Penelitian dalam Proposal</a:t>
            </a:r>
            <a:endParaRPr lang="en-US" sz="2700" dirty="0"/>
          </a:p>
        </p:txBody>
      </p:sp>
      <p:sp>
        <p:nvSpPr>
          <p:cNvPr id="8" name="step number">
            <a:extLst>
              <a:ext uri="{C183D7F6-B498-43B3-948B-1728B52AA6E4}">
                <adec:decorative xmlns:adec="http://schemas.microsoft.com/office/drawing/2017/decorative" val="1"/>
              </a:ext>
            </a:extLst>
          </p:cNvPr>
          <p:cNvSpPr/>
          <p:nvPr/>
        </p:nvSpPr>
        <p:spPr>
          <a:xfrm>
            <a:off x="685800" y="1874520"/>
            <a:ext cx="566928" cy="566928"/>
          </a:xfrm>
          <a:prstGeom prst="ellipse">
            <a:avLst/>
          </a:prstGeom>
          <a:solidFill>
            <a:srgbClr val="0B3C6E"/>
          </a:solidFill>
          <a:ln/>
        </p:spPr>
        <p:txBody>
          <a:bodyPr/>
          <a:lstStyle/>
          <a:p>
            <a:endParaRPr lang="en-ID"/>
          </a:p>
        </p:txBody>
      </p:sp>
      <p:sp>
        <p:nvSpPr>
          <p:cNvPr id="9" name="Text 6"/>
          <p:cNvSpPr/>
          <p:nvPr/>
        </p:nvSpPr>
        <p:spPr>
          <a:xfrm>
            <a:off x="685800" y="1874520"/>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10" name="step bar">
            <a:extLst>
              <a:ext uri="{C183D7F6-B498-43B3-948B-1728B52AA6E4}">
                <adec:decorative xmlns:adec="http://schemas.microsoft.com/office/drawing/2017/decorative" val="1"/>
              </a:ext>
            </a:extLst>
          </p:cNvPr>
          <p:cNvSpPr/>
          <p:nvPr/>
        </p:nvSpPr>
        <p:spPr>
          <a:xfrm>
            <a:off x="1463040" y="1874520"/>
            <a:ext cx="10058400" cy="566928"/>
          </a:xfrm>
          <a:prstGeom prst="roundRect">
            <a:avLst>
              <a:gd name="adj" fmla="val 8065"/>
            </a:avLst>
          </a:prstGeom>
          <a:solidFill>
            <a:srgbClr val="F1F5FA"/>
          </a:solidFill>
          <a:ln w="12700">
            <a:solidFill>
              <a:srgbClr val="D5E0EC"/>
            </a:solidFill>
            <a:prstDash val="solid"/>
          </a:ln>
        </p:spPr>
        <p:txBody>
          <a:bodyPr/>
          <a:lstStyle/>
          <a:p>
            <a:endParaRPr lang="en-ID"/>
          </a:p>
        </p:txBody>
      </p:sp>
      <p:sp>
        <p:nvSpPr>
          <p:cNvPr id="11" name="Text 8"/>
          <p:cNvSpPr/>
          <p:nvPr/>
        </p:nvSpPr>
        <p:spPr>
          <a:xfrm>
            <a:off x="1691640" y="1874520"/>
            <a:ext cx="9601200" cy="566928"/>
          </a:xfrm>
          <a:prstGeom prst="rect">
            <a:avLst/>
          </a:prstGeom>
          <a:noFill/>
          <a:ln/>
        </p:spPr>
        <p:txBody>
          <a:bodyPr wrap="square" rtlCol="0" anchor="ctr"/>
          <a:lstStyle/>
          <a:p>
            <a:pPr marL="0" indent="0">
              <a:buNone/>
            </a:pPr>
            <a:r>
              <a:rPr lang="en-US" sz="1500" b="1" dirty="0">
                <a:solidFill>
                  <a:srgbClr val="0B3C6E"/>
                </a:solidFill>
                <a:latin typeface="Calibri" pitchFamily="34" charset="0"/>
                <a:ea typeface="Calibri" pitchFamily="34" charset="-122"/>
                <a:cs typeface="Calibri" pitchFamily="34" charset="-120"/>
              </a:rPr>
              <a:t>Persiapan dan analisis</a:t>
            </a:r>
            <a:endParaRPr lang="en-US" sz="1500" dirty="0"/>
          </a:p>
        </p:txBody>
      </p:sp>
      <p:sp>
        <p:nvSpPr>
          <p:cNvPr id="12" name="step number">
            <a:extLst>
              <a:ext uri="{C183D7F6-B498-43B3-948B-1728B52AA6E4}">
                <adec:decorative xmlns:adec="http://schemas.microsoft.com/office/drawing/2017/decorative" val="1"/>
              </a:ext>
            </a:extLst>
          </p:cNvPr>
          <p:cNvSpPr/>
          <p:nvPr/>
        </p:nvSpPr>
        <p:spPr>
          <a:xfrm>
            <a:off x="685800" y="2624328"/>
            <a:ext cx="566928" cy="566928"/>
          </a:xfrm>
          <a:prstGeom prst="ellipse">
            <a:avLst/>
          </a:prstGeom>
          <a:solidFill>
            <a:srgbClr val="0B3C6E"/>
          </a:solidFill>
          <a:ln/>
        </p:spPr>
        <p:txBody>
          <a:bodyPr/>
          <a:lstStyle/>
          <a:p>
            <a:endParaRPr lang="en-ID"/>
          </a:p>
        </p:txBody>
      </p:sp>
      <p:sp>
        <p:nvSpPr>
          <p:cNvPr id="13" name="Text 10"/>
          <p:cNvSpPr/>
          <p:nvPr/>
        </p:nvSpPr>
        <p:spPr>
          <a:xfrm>
            <a:off x="685800" y="2624328"/>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4" name="step bar">
            <a:extLst>
              <a:ext uri="{C183D7F6-B498-43B3-948B-1728B52AA6E4}">
                <adec:decorative xmlns:adec="http://schemas.microsoft.com/office/drawing/2017/decorative" val="1"/>
              </a:ext>
            </a:extLst>
          </p:cNvPr>
          <p:cNvSpPr/>
          <p:nvPr/>
        </p:nvSpPr>
        <p:spPr>
          <a:xfrm>
            <a:off x="1463040" y="2624328"/>
            <a:ext cx="10058400" cy="566928"/>
          </a:xfrm>
          <a:prstGeom prst="roundRect">
            <a:avLst>
              <a:gd name="adj" fmla="val 8065"/>
            </a:avLst>
          </a:prstGeom>
          <a:solidFill>
            <a:srgbClr val="F1F5FA"/>
          </a:solidFill>
          <a:ln w="12700">
            <a:solidFill>
              <a:srgbClr val="D5E0EC"/>
            </a:solidFill>
            <a:prstDash val="solid"/>
          </a:ln>
        </p:spPr>
        <p:txBody>
          <a:bodyPr/>
          <a:lstStyle/>
          <a:p>
            <a:endParaRPr lang="en-ID"/>
          </a:p>
        </p:txBody>
      </p:sp>
      <p:sp>
        <p:nvSpPr>
          <p:cNvPr id="15" name="Text 12"/>
          <p:cNvSpPr/>
          <p:nvPr/>
        </p:nvSpPr>
        <p:spPr>
          <a:xfrm>
            <a:off x="1691640" y="2624328"/>
            <a:ext cx="9601200" cy="566928"/>
          </a:xfrm>
          <a:prstGeom prst="rect">
            <a:avLst/>
          </a:prstGeom>
          <a:noFill/>
          <a:ln/>
        </p:spPr>
        <p:txBody>
          <a:bodyPr wrap="square" rtlCol="0" anchor="ctr"/>
          <a:lstStyle/>
          <a:p>
            <a:pPr marL="0" indent="0">
              <a:buNone/>
            </a:pPr>
            <a:r>
              <a:rPr lang="en-US" sz="1500" b="1" dirty="0">
                <a:solidFill>
                  <a:srgbClr val="0B3C6E"/>
                </a:solidFill>
                <a:latin typeface="Calibri" pitchFamily="34" charset="0"/>
                <a:ea typeface="Calibri" pitchFamily="34" charset="-122"/>
                <a:cs typeface="Calibri" pitchFamily="34" charset="-120"/>
              </a:rPr>
              <a:t>Perancangan dan pengembangan model</a:t>
            </a:r>
            <a:endParaRPr lang="en-US" sz="1500" dirty="0"/>
          </a:p>
        </p:txBody>
      </p:sp>
      <p:sp>
        <p:nvSpPr>
          <p:cNvPr id="16" name="step number">
            <a:extLst>
              <a:ext uri="{C183D7F6-B498-43B3-948B-1728B52AA6E4}">
                <adec:decorative xmlns:adec="http://schemas.microsoft.com/office/drawing/2017/decorative" val="1"/>
              </a:ext>
            </a:extLst>
          </p:cNvPr>
          <p:cNvSpPr/>
          <p:nvPr/>
        </p:nvSpPr>
        <p:spPr>
          <a:xfrm>
            <a:off x="685800" y="3374136"/>
            <a:ext cx="566928" cy="566928"/>
          </a:xfrm>
          <a:prstGeom prst="ellipse">
            <a:avLst/>
          </a:prstGeom>
          <a:solidFill>
            <a:srgbClr val="0B3C6E"/>
          </a:solidFill>
          <a:ln/>
        </p:spPr>
        <p:txBody>
          <a:bodyPr/>
          <a:lstStyle/>
          <a:p>
            <a:endParaRPr lang="en-ID"/>
          </a:p>
        </p:txBody>
      </p:sp>
      <p:sp>
        <p:nvSpPr>
          <p:cNvPr id="17" name="Text 14"/>
          <p:cNvSpPr/>
          <p:nvPr/>
        </p:nvSpPr>
        <p:spPr>
          <a:xfrm>
            <a:off x="685800" y="3374136"/>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8" name="step bar">
            <a:extLst>
              <a:ext uri="{C183D7F6-B498-43B3-948B-1728B52AA6E4}">
                <adec:decorative xmlns:adec="http://schemas.microsoft.com/office/drawing/2017/decorative" val="1"/>
              </a:ext>
            </a:extLst>
          </p:cNvPr>
          <p:cNvSpPr/>
          <p:nvPr/>
        </p:nvSpPr>
        <p:spPr>
          <a:xfrm>
            <a:off x="1463040" y="3374136"/>
            <a:ext cx="10058400" cy="566928"/>
          </a:xfrm>
          <a:prstGeom prst="roundRect">
            <a:avLst>
              <a:gd name="adj" fmla="val 8065"/>
            </a:avLst>
          </a:prstGeom>
          <a:solidFill>
            <a:srgbClr val="F1F5FA"/>
          </a:solidFill>
          <a:ln w="12700">
            <a:solidFill>
              <a:srgbClr val="D5E0EC"/>
            </a:solidFill>
            <a:prstDash val="solid"/>
          </a:ln>
        </p:spPr>
        <p:txBody>
          <a:bodyPr/>
          <a:lstStyle/>
          <a:p>
            <a:endParaRPr lang="en-ID"/>
          </a:p>
        </p:txBody>
      </p:sp>
      <p:sp>
        <p:nvSpPr>
          <p:cNvPr id="19" name="Text 16"/>
          <p:cNvSpPr/>
          <p:nvPr/>
        </p:nvSpPr>
        <p:spPr>
          <a:xfrm>
            <a:off x="1691640" y="3374136"/>
            <a:ext cx="9601200" cy="566928"/>
          </a:xfrm>
          <a:prstGeom prst="rect">
            <a:avLst/>
          </a:prstGeom>
          <a:noFill/>
          <a:ln/>
        </p:spPr>
        <p:txBody>
          <a:bodyPr wrap="square" rtlCol="0" anchor="ctr"/>
          <a:lstStyle/>
          <a:p>
            <a:pPr marL="0" indent="0">
              <a:buNone/>
            </a:pPr>
            <a:r>
              <a:rPr lang="en-US" sz="1500" b="1" dirty="0">
                <a:solidFill>
                  <a:srgbClr val="0B3C6E"/>
                </a:solidFill>
                <a:latin typeface="Calibri" pitchFamily="34" charset="0"/>
                <a:ea typeface="Calibri" pitchFamily="34" charset="-122"/>
                <a:cs typeface="Calibri" pitchFamily="34" charset="-120"/>
              </a:rPr>
              <a:t>Implementasi inti model</a:t>
            </a:r>
            <a:endParaRPr lang="en-US" sz="1500" dirty="0"/>
          </a:p>
        </p:txBody>
      </p:sp>
      <p:sp>
        <p:nvSpPr>
          <p:cNvPr id="20" name="step number">
            <a:extLst>
              <a:ext uri="{C183D7F6-B498-43B3-948B-1728B52AA6E4}">
                <adec:decorative xmlns:adec="http://schemas.microsoft.com/office/drawing/2017/decorative" val="1"/>
              </a:ext>
            </a:extLst>
          </p:cNvPr>
          <p:cNvSpPr/>
          <p:nvPr/>
        </p:nvSpPr>
        <p:spPr>
          <a:xfrm>
            <a:off x="685800" y="4123944"/>
            <a:ext cx="566928" cy="566928"/>
          </a:xfrm>
          <a:prstGeom prst="ellipse">
            <a:avLst/>
          </a:prstGeom>
          <a:solidFill>
            <a:srgbClr val="0B3C6E"/>
          </a:solidFill>
          <a:ln/>
        </p:spPr>
        <p:txBody>
          <a:bodyPr/>
          <a:lstStyle/>
          <a:p>
            <a:endParaRPr lang="en-ID"/>
          </a:p>
        </p:txBody>
      </p:sp>
      <p:sp>
        <p:nvSpPr>
          <p:cNvPr id="21" name="Text 18"/>
          <p:cNvSpPr/>
          <p:nvPr/>
        </p:nvSpPr>
        <p:spPr>
          <a:xfrm>
            <a:off x="685800" y="4123944"/>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2" name="step bar">
            <a:extLst>
              <a:ext uri="{C183D7F6-B498-43B3-948B-1728B52AA6E4}">
                <adec:decorative xmlns:adec="http://schemas.microsoft.com/office/drawing/2017/decorative" val="1"/>
              </a:ext>
            </a:extLst>
          </p:cNvPr>
          <p:cNvSpPr/>
          <p:nvPr/>
        </p:nvSpPr>
        <p:spPr>
          <a:xfrm>
            <a:off x="1463040" y="4123944"/>
            <a:ext cx="10058400" cy="566928"/>
          </a:xfrm>
          <a:prstGeom prst="roundRect">
            <a:avLst>
              <a:gd name="adj" fmla="val 8065"/>
            </a:avLst>
          </a:prstGeom>
          <a:solidFill>
            <a:srgbClr val="F1F5FA"/>
          </a:solidFill>
          <a:ln w="12700">
            <a:solidFill>
              <a:srgbClr val="D5E0EC"/>
            </a:solidFill>
            <a:prstDash val="solid"/>
          </a:ln>
        </p:spPr>
        <p:txBody>
          <a:bodyPr/>
          <a:lstStyle/>
          <a:p>
            <a:endParaRPr lang="en-ID"/>
          </a:p>
        </p:txBody>
      </p:sp>
      <p:sp>
        <p:nvSpPr>
          <p:cNvPr id="23" name="Text 20"/>
          <p:cNvSpPr/>
          <p:nvPr/>
        </p:nvSpPr>
        <p:spPr>
          <a:xfrm>
            <a:off x="1691640" y="4123944"/>
            <a:ext cx="9601200" cy="566928"/>
          </a:xfrm>
          <a:prstGeom prst="rect">
            <a:avLst/>
          </a:prstGeom>
          <a:noFill/>
          <a:ln/>
        </p:spPr>
        <p:txBody>
          <a:bodyPr wrap="square" rtlCol="0" anchor="ctr"/>
          <a:lstStyle/>
          <a:p>
            <a:pPr marL="0" indent="0">
              <a:buNone/>
            </a:pPr>
            <a:r>
              <a:rPr lang="en-US" sz="1500" b="1" dirty="0">
                <a:solidFill>
                  <a:srgbClr val="0B3C6E"/>
                </a:solidFill>
                <a:latin typeface="Calibri" pitchFamily="34" charset="0"/>
                <a:ea typeface="Calibri" pitchFamily="34" charset="-122"/>
                <a:cs typeface="Calibri" pitchFamily="34" charset="-120"/>
              </a:rPr>
              <a:t>Evaluasi dan validasi</a:t>
            </a:r>
            <a:endParaRPr lang="en-US" sz="1500" dirty="0"/>
          </a:p>
        </p:txBody>
      </p:sp>
      <p:sp>
        <p:nvSpPr>
          <p:cNvPr id="24" name="step number">
            <a:extLst>
              <a:ext uri="{C183D7F6-B498-43B3-948B-1728B52AA6E4}">
                <adec:decorative xmlns:adec="http://schemas.microsoft.com/office/drawing/2017/decorative" val="1"/>
              </a:ext>
            </a:extLst>
          </p:cNvPr>
          <p:cNvSpPr/>
          <p:nvPr/>
        </p:nvSpPr>
        <p:spPr>
          <a:xfrm>
            <a:off x="685800" y="4873752"/>
            <a:ext cx="566928" cy="566928"/>
          </a:xfrm>
          <a:prstGeom prst="ellipse">
            <a:avLst/>
          </a:prstGeom>
          <a:solidFill>
            <a:srgbClr val="0B3C6E"/>
          </a:solidFill>
          <a:ln/>
        </p:spPr>
        <p:txBody>
          <a:bodyPr/>
          <a:lstStyle/>
          <a:p>
            <a:endParaRPr lang="en-ID"/>
          </a:p>
        </p:txBody>
      </p:sp>
      <p:sp>
        <p:nvSpPr>
          <p:cNvPr id="25" name="Text 22"/>
          <p:cNvSpPr/>
          <p:nvPr/>
        </p:nvSpPr>
        <p:spPr>
          <a:xfrm>
            <a:off x="685800" y="4873752"/>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26" name="step bar">
            <a:extLst>
              <a:ext uri="{C183D7F6-B498-43B3-948B-1728B52AA6E4}">
                <adec:decorative xmlns:adec="http://schemas.microsoft.com/office/drawing/2017/decorative" val="1"/>
              </a:ext>
            </a:extLst>
          </p:cNvPr>
          <p:cNvSpPr/>
          <p:nvPr/>
        </p:nvSpPr>
        <p:spPr>
          <a:xfrm>
            <a:off x="1463040" y="4873752"/>
            <a:ext cx="10058400" cy="566928"/>
          </a:xfrm>
          <a:prstGeom prst="roundRect">
            <a:avLst>
              <a:gd name="adj" fmla="val 8065"/>
            </a:avLst>
          </a:prstGeom>
          <a:solidFill>
            <a:srgbClr val="F1F5FA"/>
          </a:solidFill>
          <a:ln w="12700">
            <a:solidFill>
              <a:srgbClr val="D5E0EC"/>
            </a:solidFill>
            <a:prstDash val="solid"/>
          </a:ln>
        </p:spPr>
        <p:txBody>
          <a:bodyPr/>
          <a:lstStyle/>
          <a:p>
            <a:endParaRPr lang="en-ID"/>
          </a:p>
        </p:txBody>
      </p:sp>
      <p:sp>
        <p:nvSpPr>
          <p:cNvPr id="27" name="Text 24"/>
          <p:cNvSpPr/>
          <p:nvPr/>
        </p:nvSpPr>
        <p:spPr>
          <a:xfrm>
            <a:off x="1691640" y="4873752"/>
            <a:ext cx="9601200" cy="566928"/>
          </a:xfrm>
          <a:prstGeom prst="rect">
            <a:avLst/>
          </a:prstGeom>
          <a:noFill/>
          <a:ln/>
        </p:spPr>
        <p:txBody>
          <a:bodyPr wrap="square" rtlCol="0" anchor="ctr"/>
          <a:lstStyle/>
          <a:p>
            <a:pPr marL="0" indent="0">
              <a:buNone/>
            </a:pPr>
            <a:r>
              <a:rPr lang="en-US" sz="1500" b="1" dirty="0">
                <a:solidFill>
                  <a:srgbClr val="0B3C6E"/>
                </a:solidFill>
                <a:latin typeface="Calibri" pitchFamily="34" charset="0"/>
                <a:ea typeface="Calibri" pitchFamily="34" charset="-122"/>
                <a:cs typeface="Calibri" pitchFamily="34" charset="-120"/>
              </a:rPr>
              <a:t>Analisis dan dokumentasi</a:t>
            </a:r>
            <a:endParaRPr lang="en-US" sz="1500" dirty="0"/>
          </a:p>
        </p:txBody>
      </p:sp>
      <p:sp>
        <p:nvSpPr>
          <p:cNvPr id="28" name="callout background">
            <a:extLst>
              <a:ext uri="{C183D7F6-B498-43B3-948B-1728B52AA6E4}">
                <adec:decorative xmlns:adec="http://schemas.microsoft.com/office/drawing/2017/decorative" val="1"/>
              </a:ext>
            </a:extLst>
          </p:cNvPr>
          <p:cNvSpPr/>
          <p:nvPr/>
        </p:nvSpPr>
        <p:spPr>
          <a:xfrm>
            <a:off x="640080" y="5715000"/>
            <a:ext cx="10972800" cy="640080"/>
          </a:xfrm>
          <a:prstGeom prst="roundRect">
            <a:avLst>
              <a:gd name="adj" fmla="val 8571"/>
            </a:avLst>
          </a:prstGeom>
          <a:solidFill>
            <a:srgbClr val="F7EFD8"/>
          </a:solidFill>
          <a:ln/>
        </p:spPr>
        <p:txBody>
          <a:bodyPr/>
          <a:lstStyle/>
          <a:p>
            <a:endParaRPr lang="en-ID"/>
          </a:p>
        </p:txBody>
      </p:sp>
      <p:sp>
        <p:nvSpPr>
          <p:cNvPr id="29" name="Text 26"/>
          <p:cNvSpPr/>
          <p:nvPr/>
        </p:nvSpPr>
        <p:spPr>
          <a:xfrm>
            <a:off x="896112" y="5715000"/>
            <a:ext cx="10460736" cy="6400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Catatan:  </a:t>
            </a:r>
            <a:r>
              <a:rPr lang="en-US" sz="1350" dirty="0">
                <a:solidFill>
                  <a:srgbClr val="26313D"/>
                </a:solidFill>
                <a:latin typeface="Calibri" pitchFamily="34" charset="0"/>
                <a:ea typeface="Calibri" pitchFamily="34" charset="-122"/>
                <a:cs typeface="Calibri" pitchFamily="34" charset="-120"/>
              </a:rPr>
              <a:t>tahapan bersifat berurutan sekaligus iteratif.</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18</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ARSITEKTUR USULAN</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Arsitektur Usulan: Delapan Transformasi</a:t>
            </a:r>
            <a:endParaRPr lang="en-US" sz="2700" dirty="0"/>
          </a:p>
        </p:txBody>
      </p:sp>
      <p:sp>
        <p:nvSpPr>
          <p:cNvPr id="8" name="transform box">
            <a:extLst>
              <a:ext uri="{C183D7F6-B498-43B3-948B-1728B52AA6E4}">
                <adec:decorative xmlns:adec="http://schemas.microsoft.com/office/drawing/2017/decorative" val="1"/>
              </a:ext>
            </a:extLst>
          </p:cNvPr>
          <p:cNvSpPr/>
          <p:nvPr/>
        </p:nvSpPr>
        <p:spPr>
          <a:xfrm>
            <a:off x="640080" y="1828800"/>
            <a:ext cx="5349240" cy="603504"/>
          </a:xfrm>
          <a:prstGeom prst="roundRect">
            <a:avLst>
              <a:gd name="adj" fmla="val 7576"/>
            </a:avLst>
          </a:prstGeom>
          <a:solidFill>
            <a:srgbClr val="F1F5FA"/>
          </a:solidFill>
          <a:ln w="12700">
            <a:solidFill>
              <a:srgbClr val="D5E0EC"/>
            </a:solidFill>
            <a:prstDash val="solid"/>
          </a:ln>
        </p:spPr>
        <p:txBody>
          <a:bodyPr/>
          <a:lstStyle/>
          <a:p>
            <a:endParaRPr lang="en-ID"/>
          </a:p>
        </p:txBody>
      </p:sp>
      <p:sp>
        <p:nvSpPr>
          <p:cNvPr id="9" name="transform number">
            <a:extLst>
              <a:ext uri="{C183D7F6-B498-43B3-948B-1728B52AA6E4}">
                <adec:decorative xmlns:adec="http://schemas.microsoft.com/office/drawing/2017/decorative" val="1"/>
              </a:ext>
            </a:extLst>
          </p:cNvPr>
          <p:cNvSpPr/>
          <p:nvPr/>
        </p:nvSpPr>
        <p:spPr>
          <a:xfrm>
            <a:off x="749808" y="1911096"/>
            <a:ext cx="438912" cy="438912"/>
          </a:xfrm>
          <a:prstGeom prst="ellipse">
            <a:avLst/>
          </a:prstGeom>
          <a:solidFill>
            <a:srgbClr val="B98A1E"/>
          </a:solidFill>
          <a:ln/>
        </p:spPr>
        <p:txBody>
          <a:bodyPr/>
          <a:lstStyle/>
          <a:p>
            <a:endParaRPr lang="en-ID"/>
          </a:p>
        </p:txBody>
      </p:sp>
      <p:sp>
        <p:nvSpPr>
          <p:cNvPr id="10" name="Text 7"/>
          <p:cNvSpPr/>
          <p:nvPr/>
        </p:nvSpPr>
        <p:spPr>
          <a:xfrm>
            <a:off x="749808" y="1911096"/>
            <a:ext cx="438912" cy="438912"/>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8"/>
          <p:cNvSpPr/>
          <p:nvPr/>
        </p:nvSpPr>
        <p:spPr>
          <a:xfrm>
            <a:off x="1298448" y="1828800"/>
            <a:ext cx="4572000" cy="603504"/>
          </a:xfrm>
          <a:prstGeom prst="rect">
            <a:avLst/>
          </a:prstGeom>
          <a:noFill/>
          <a:ln/>
        </p:spPr>
        <p:txBody>
          <a:bodyPr wrap="square" rtlCol="0" anchor="ctr"/>
          <a:lstStyle/>
          <a:p>
            <a:pPr marL="0" indent="0">
              <a:buNone/>
            </a:pPr>
            <a:r>
              <a:rPr lang="en-US" sz="1350" b="1" dirty="0">
                <a:solidFill>
                  <a:srgbClr val="0B3C6E"/>
                </a:solidFill>
                <a:latin typeface="Calibri" pitchFamily="34" charset="0"/>
                <a:ea typeface="Calibri" pitchFamily="34" charset="-122"/>
                <a:cs typeface="Calibri" pitchFamily="34" charset="-120"/>
              </a:rPr>
              <a:t>Normalisasi Bahasa Indonesia</a:t>
            </a:r>
            <a:endParaRPr lang="en-US" sz="1350" dirty="0"/>
          </a:p>
        </p:txBody>
      </p:sp>
      <p:sp>
        <p:nvSpPr>
          <p:cNvPr id="12" name="transform box">
            <a:extLst>
              <a:ext uri="{C183D7F6-B498-43B3-948B-1728B52AA6E4}">
                <adec:decorative xmlns:adec="http://schemas.microsoft.com/office/drawing/2017/decorative" val="1"/>
              </a:ext>
            </a:extLst>
          </p:cNvPr>
          <p:cNvSpPr/>
          <p:nvPr/>
        </p:nvSpPr>
        <p:spPr>
          <a:xfrm>
            <a:off x="640080" y="2578608"/>
            <a:ext cx="5349240" cy="603504"/>
          </a:xfrm>
          <a:prstGeom prst="roundRect">
            <a:avLst>
              <a:gd name="adj" fmla="val 7576"/>
            </a:avLst>
          </a:prstGeom>
          <a:solidFill>
            <a:srgbClr val="F1F5FA"/>
          </a:solidFill>
          <a:ln w="12700">
            <a:solidFill>
              <a:srgbClr val="D5E0EC"/>
            </a:solidFill>
            <a:prstDash val="solid"/>
          </a:ln>
        </p:spPr>
        <p:txBody>
          <a:bodyPr/>
          <a:lstStyle/>
          <a:p>
            <a:endParaRPr lang="en-ID"/>
          </a:p>
        </p:txBody>
      </p:sp>
      <p:sp>
        <p:nvSpPr>
          <p:cNvPr id="13" name="transform number">
            <a:extLst>
              <a:ext uri="{C183D7F6-B498-43B3-948B-1728B52AA6E4}">
                <adec:decorative xmlns:adec="http://schemas.microsoft.com/office/drawing/2017/decorative" val="1"/>
              </a:ext>
            </a:extLst>
          </p:cNvPr>
          <p:cNvSpPr/>
          <p:nvPr/>
        </p:nvSpPr>
        <p:spPr>
          <a:xfrm>
            <a:off x="749808" y="2660904"/>
            <a:ext cx="438912" cy="438912"/>
          </a:xfrm>
          <a:prstGeom prst="ellipse">
            <a:avLst/>
          </a:prstGeom>
          <a:solidFill>
            <a:srgbClr val="B98A1E"/>
          </a:solidFill>
          <a:ln/>
        </p:spPr>
        <p:txBody>
          <a:bodyPr/>
          <a:lstStyle/>
          <a:p>
            <a:endParaRPr lang="en-ID"/>
          </a:p>
        </p:txBody>
      </p:sp>
      <p:sp>
        <p:nvSpPr>
          <p:cNvPr id="14" name="Text 11"/>
          <p:cNvSpPr/>
          <p:nvPr/>
        </p:nvSpPr>
        <p:spPr>
          <a:xfrm>
            <a:off x="749808" y="2660904"/>
            <a:ext cx="438912" cy="438912"/>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5" name="Text 12"/>
          <p:cNvSpPr/>
          <p:nvPr/>
        </p:nvSpPr>
        <p:spPr>
          <a:xfrm>
            <a:off x="1298448" y="2578608"/>
            <a:ext cx="4572000" cy="603504"/>
          </a:xfrm>
          <a:prstGeom prst="rect">
            <a:avLst/>
          </a:prstGeom>
          <a:noFill/>
          <a:ln/>
        </p:spPr>
        <p:txBody>
          <a:bodyPr wrap="square" rtlCol="0" anchor="ctr"/>
          <a:lstStyle/>
          <a:p>
            <a:pPr marL="0" indent="0">
              <a:buNone/>
            </a:pPr>
            <a:r>
              <a:rPr lang="en-US" sz="1350" b="1" dirty="0">
                <a:solidFill>
                  <a:srgbClr val="0B3C6E"/>
                </a:solidFill>
                <a:latin typeface="Calibri" pitchFamily="34" charset="0"/>
                <a:ea typeface="Calibri" pitchFamily="34" charset="-122"/>
                <a:cs typeface="Calibri" pitchFamily="34" charset="-120"/>
              </a:rPr>
              <a:t>Ekstraksi entitas klinis</a:t>
            </a:r>
            <a:endParaRPr lang="en-US" sz="1350" dirty="0"/>
          </a:p>
        </p:txBody>
      </p:sp>
      <p:sp>
        <p:nvSpPr>
          <p:cNvPr id="16" name="transform box">
            <a:extLst>
              <a:ext uri="{C183D7F6-B498-43B3-948B-1728B52AA6E4}">
                <adec:decorative xmlns:adec="http://schemas.microsoft.com/office/drawing/2017/decorative" val="1"/>
              </a:ext>
            </a:extLst>
          </p:cNvPr>
          <p:cNvSpPr/>
          <p:nvPr/>
        </p:nvSpPr>
        <p:spPr>
          <a:xfrm>
            <a:off x="640080" y="3328416"/>
            <a:ext cx="5349240" cy="603504"/>
          </a:xfrm>
          <a:prstGeom prst="roundRect">
            <a:avLst>
              <a:gd name="adj" fmla="val 7576"/>
            </a:avLst>
          </a:prstGeom>
          <a:solidFill>
            <a:srgbClr val="F1F5FA"/>
          </a:solidFill>
          <a:ln w="12700">
            <a:solidFill>
              <a:srgbClr val="D5E0EC"/>
            </a:solidFill>
            <a:prstDash val="solid"/>
          </a:ln>
        </p:spPr>
        <p:txBody>
          <a:bodyPr/>
          <a:lstStyle/>
          <a:p>
            <a:endParaRPr lang="en-ID"/>
          </a:p>
        </p:txBody>
      </p:sp>
      <p:sp>
        <p:nvSpPr>
          <p:cNvPr id="17" name="transform number">
            <a:extLst>
              <a:ext uri="{C183D7F6-B498-43B3-948B-1728B52AA6E4}">
                <adec:decorative xmlns:adec="http://schemas.microsoft.com/office/drawing/2017/decorative" val="1"/>
              </a:ext>
            </a:extLst>
          </p:cNvPr>
          <p:cNvSpPr/>
          <p:nvPr/>
        </p:nvSpPr>
        <p:spPr>
          <a:xfrm>
            <a:off x="749808" y="3410712"/>
            <a:ext cx="438912" cy="438912"/>
          </a:xfrm>
          <a:prstGeom prst="ellipse">
            <a:avLst/>
          </a:prstGeom>
          <a:solidFill>
            <a:srgbClr val="B98A1E"/>
          </a:solidFill>
          <a:ln/>
        </p:spPr>
        <p:txBody>
          <a:bodyPr/>
          <a:lstStyle/>
          <a:p>
            <a:endParaRPr lang="en-ID"/>
          </a:p>
        </p:txBody>
      </p:sp>
      <p:sp>
        <p:nvSpPr>
          <p:cNvPr id="18" name="Text 15"/>
          <p:cNvSpPr/>
          <p:nvPr/>
        </p:nvSpPr>
        <p:spPr>
          <a:xfrm>
            <a:off x="749808" y="3410712"/>
            <a:ext cx="438912" cy="438912"/>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9" name="Text 16"/>
          <p:cNvSpPr/>
          <p:nvPr/>
        </p:nvSpPr>
        <p:spPr>
          <a:xfrm>
            <a:off x="1298448" y="3328416"/>
            <a:ext cx="4572000" cy="603504"/>
          </a:xfrm>
          <a:prstGeom prst="rect">
            <a:avLst/>
          </a:prstGeom>
          <a:noFill/>
          <a:ln/>
        </p:spPr>
        <p:txBody>
          <a:bodyPr wrap="square" rtlCol="0" anchor="ctr"/>
          <a:lstStyle/>
          <a:p>
            <a:pPr marL="0" indent="0">
              <a:buNone/>
            </a:pPr>
            <a:r>
              <a:rPr lang="en-US" sz="1350" b="1" dirty="0">
                <a:solidFill>
                  <a:srgbClr val="0B3C6E"/>
                </a:solidFill>
                <a:latin typeface="Calibri" pitchFamily="34" charset="0"/>
                <a:ea typeface="Calibri" pitchFamily="34" charset="-122"/>
                <a:cs typeface="Calibri" pitchFamily="34" charset="-120"/>
              </a:rPr>
              <a:t>Klasifikasi tipe dan target</a:t>
            </a:r>
            <a:endParaRPr lang="en-US" sz="1350" dirty="0"/>
          </a:p>
        </p:txBody>
      </p:sp>
      <p:sp>
        <p:nvSpPr>
          <p:cNvPr id="20" name="transform box">
            <a:extLst>
              <a:ext uri="{C183D7F6-B498-43B3-948B-1728B52AA6E4}">
                <adec:decorative xmlns:adec="http://schemas.microsoft.com/office/drawing/2017/decorative" val="1"/>
              </a:ext>
            </a:extLst>
          </p:cNvPr>
          <p:cNvSpPr/>
          <p:nvPr/>
        </p:nvSpPr>
        <p:spPr>
          <a:xfrm>
            <a:off x="640080" y="4078224"/>
            <a:ext cx="5349240" cy="603504"/>
          </a:xfrm>
          <a:prstGeom prst="roundRect">
            <a:avLst>
              <a:gd name="adj" fmla="val 7576"/>
            </a:avLst>
          </a:prstGeom>
          <a:solidFill>
            <a:srgbClr val="F1F5FA"/>
          </a:solidFill>
          <a:ln w="12700">
            <a:solidFill>
              <a:srgbClr val="D5E0EC"/>
            </a:solidFill>
            <a:prstDash val="solid"/>
          </a:ln>
        </p:spPr>
        <p:txBody>
          <a:bodyPr/>
          <a:lstStyle/>
          <a:p>
            <a:endParaRPr lang="en-ID"/>
          </a:p>
        </p:txBody>
      </p:sp>
      <p:sp>
        <p:nvSpPr>
          <p:cNvPr id="21" name="transform number">
            <a:extLst>
              <a:ext uri="{C183D7F6-B498-43B3-948B-1728B52AA6E4}">
                <adec:decorative xmlns:adec="http://schemas.microsoft.com/office/drawing/2017/decorative" val="1"/>
              </a:ext>
            </a:extLst>
          </p:cNvPr>
          <p:cNvSpPr/>
          <p:nvPr/>
        </p:nvSpPr>
        <p:spPr>
          <a:xfrm>
            <a:off x="749808" y="4160520"/>
            <a:ext cx="438912" cy="438912"/>
          </a:xfrm>
          <a:prstGeom prst="ellipse">
            <a:avLst/>
          </a:prstGeom>
          <a:solidFill>
            <a:srgbClr val="B98A1E"/>
          </a:solidFill>
          <a:ln/>
        </p:spPr>
        <p:txBody>
          <a:bodyPr/>
          <a:lstStyle/>
          <a:p>
            <a:endParaRPr lang="en-ID"/>
          </a:p>
        </p:txBody>
      </p:sp>
      <p:sp>
        <p:nvSpPr>
          <p:cNvPr id="22" name="Text 19"/>
          <p:cNvSpPr/>
          <p:nvPr/>
        </p:nvSpPr>
        <p:spPr>
          <a:xfrm>
            <a:off x="749808" y="4160520"/>
            <a:ext cx="438912" cy="438912"/>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3" name="Text 20"/>
          <p:cNvSpPr/>
          <p:nvPr/>
        </p:nvSpPr>
        <p:spPr>
          <a:xfrm>
            <a:off x="1298448" y="4078224"/>
            <a:ext cx="4572000" cy="603504"/>
          </a:xfrm>
          <a:prstGeom prst="rect">
            <a:avLst/>
          </a:prstGeom>
          <a:noFill/>
          <a:ln/>
        </p:spPr>
        <p:txBody>
          <a:bodyPr wrap="square" rtlCol="0" anchor="ctr"/>
          <a:lstStyle/>
          <a:p>
            <a:pPr marL="0" indent="0">
              <a:buNone/>
            </a:pPr>
            <a:r>
              <a:rPr lang="en-US" sz="1350" b="1" dirty="0">
                <a:solidFill>
                  <a:srgbClr val="0B3C6E"/>
                </a:solidFill>
                <a:latin typeface="Calibri" pitchFamily="34" charset="0"/>
                <a:ea typeface="Calibri" pitchFamily="34" charset="-122"/>
                <a:cs typeface="Calibri" pitchFamily="34" charset="-120"/>
              </a:rPr>
              <a:t>Dekomposisi entitas komposit</a:t>
            </a:r>
            <a:endParaRPr lang="en-US" sz="1350" dirty="0"/>
          </a:p>
        </p:txBody>
      </p:sp>
      <p:sp>
        <p:nvSpPr>
          <p:cNvPr id="24" name="transform box">
            <a:extLst>
              <a:ext uri="{C183D7F6-B498-43B3-948B-1728B52AA6E4}">
                <adec:decorative xmlns:adec="http://schemas.microsoft.com/office/drawing/2017/decorative" val="1"/>
              </a:ext>
            </a:extLst>
          </p:cNvPr>
          <p:cNvSpPr/>
          <p:nvPr/>
        </p:nvSpPr>
        <p:spPr>
          <a:xfrm>
            <a:off x="6263640" y="1828800"/>
            <a:ext cx="5349240" cy="603504"/>
          </a:xfrm>
          <a:prstGeom prst="roundRect">
            <a:avLst>
              <a:gd name="adj" fmla="val 7576"/>
            </a:avLst>
          </a:prstGeom>
          <a:solidFill>
            <a:srgbClr val="F1F5FA"/>
          </a:solidFill>
          <a:ln w="12700">
            <a:solidFill>
              <a:srgbClr val="D5E0EC"/>
            </a:solidFill>
            <a:prstDash val="solid"/>
          </a:ln>
        </p:spPr>
        <p:txBody>
          <a:bodyPr/>
          <a:lstStyle/>
          <a:p>
            <a:endParaRPr lang="en-ID"/>
          </a:p>
        </p:txBody>
      </p:sp>
      <p:sp>
        <p:nvSpPr>
          <p:cNvPr id="25" name="transform number">
            <a:extLst>
              <a:ext uri="{C183D7F6-B498-43B3-948B-1728B52AA6E4}">
                <adec:decorative xmlns:adec="http://schemas.microsoft.com/office/drawing/2017/decorative" val="1"/>
              </a:ext>
            </a:extLst>
          </p:cNvPr>
          <p:cNvSpPr/>
          <p:nvPr/>
        </p:nvSpPr>
        <p:spPr>
          <a:xfrm>
            <a:off x="6373368" y="1911096"/>
            <a:ext cx="438912" cy="438912"/>
          </a:xfrm>
          <a:prstGeom prst="ellipse">
            <a:avLst/>
          </a:prstGeom>
          <a:solidFill>
            <a:srgbClr val="B98A1E"/>
          </a:solidFill>
          <a:ln/>
        </p:spPr>
        <p:txBody>
          <a:bodyPr/>
          <a:lstStyle/>
          <a:p>
            <a:endParaRPr lang="en-ID"/>
          </a:p>
        </p:txBody>
      </p:sp>
      <p:sp>
        <p:nvSpPr>
          <p:cNvPr id="26" name="Text 23"/>
          <p:cNvSpPr/>
          <p:nvPr/>
        </p:nvSpPr>
        <p:spPr>
          <a:xfrm>
            <a:off x="6373368" y="1911096"/>
            <a:ext cx="438912" cy="438912"/>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27" name="Text 24"/>
          <p:cNvSpPr/>
          <p:nvPr/>
        </p:nvSpPr>
        <p:spPr>
          <a:xfrm>
            <a:off x="6922008" y="1828800"/>
            <a:ext cx="4572000" cy="603504"/>
          </a:xfrm>
          <a:prstGeom prst="rect">
            <a:avLst/>
          </a:prstGeom>
          <a:noFill/>
          <a:ln/>
        </p:spPr>
        <p:txBody>
          <a:bodyPr wrap="square" rtlCol="0" anchor="ctr"/>
          <a:lstStyle/>
          <a:p>
            <a:pPr marL="0" indent="0">
              <a:buNone/>
            </a:pPr>
            <a:r>
              <a:rPr lang="en-US" sz="1350" b="1" dirty="0">
                <a:solidFill>
                  <a:srgbClr val="0B3C6E"/>
                </a:solidFill>
                <a:latin typeface="Calibri" pitchFamily="34" charset="0"/>
                <a:ea typeface="Calibri" pitchFamily="34" charset="-122"/>
                <a:cs typeface="Calibri" pitchFamily="34" charset="-120"/>
              </a:rPr>
              <a:t>Ensemble retrieval</a:t>
            </a:r>
            <a:endParaRPr lang="en-US" sz="1350" dirty="0"/>
          </a:p>
        </p:txBody>
      </p:sp>
      <p:sp>
        <p:nvSpPr>
          <p:cNvPr id="28" name="transform box">
            <a:extLst>
              <a:ext uri="{C183D7F6-B498-43B3-948B-1728B52AA6E4}">
                <adec:decorative xmlns:adec="http://schemas.microsoft.com/office/drawing/2017/decorative" val="1"/>
              </a:ext>
            </a:extLst>
          </p:cNvPr>
          <p:cNvSpPr/>
          <p:nvPr/>
        </p:nvSpPr>
        <p:spPr>
          <a:xfrm>
            <a:off x="6263640" y="2578608"/>
            <a:ext cx="5349240" cy="603504"/>
          </a:xfrm>
          <a:prstGeom prst="roundRect">
            <a:avLst>
              <a:gd name="adj" fmla="val 7576"/>
            </a:avLst>
          </a:prstGeom>
          <a:solidFill>
            <a:srgbClr val="F1F5FA"/>
          </a:solidFill>
          <a:ln w="12700">
            <a:solidFill>
              <a:srgbClr val="D5E0EC"/>
            </a:solidFill>
            <a:prstDash val="solid"/>
          </a:ln>
        </p:spPr>
        <p:txBody>
          <a:bodyPr/>
          <a:lstStyle/>
          <a:p>
            <a:endParaRPr lang="en-ID"/>
          </a:p>
        </p:txBody>
      </p:sp>
      <p:sp>
        <p:nvSpPr>
          <p:cNvPr id="29" name="transform number">
            <a:extLst>
              <a:ext uri="{C183D7F6-B498-43B3-948B-1728B52AA6E4}">
                <adec:decorative xmlns:adec="http://schemas.microsoft.com/office/drawing/2017/decorative" val="1"/>
              </a:ext>
            </a:extLst>
          </p:cNvPr>
          <p:cNvSpPr/>
          <p:nvPr/>
        </p:nvSpPr>
        <p:spPr>
          <a:xfrm>
            <a:off x="6373368" y="2660904"/>
            <a:ext cx="438912" cy="438912"/>
          </a:xfrm>
          <a:prstGeom prst="ellipse">
            <a:avLst/>
          </a:prstGeom>
          <a:solidFill>
            <a:srgbClr val="B98A1E"/>
          </a:solidFill>
          <a:ln/>
        </p:spPr>
        <p:txBody>
          <a:bodyPr/>
          <a:lstStyle/>
          <a:p>
            <a:endParaRPr lang="en-ID"/>
          </a:p>
        </p:txBody>
      </p:sp>
      <p:sp>
        <p:nvSpPr>
          <p:cNvPr id="30" name="Text 27"/>
          <p:cNvSpPr/>
          <p:nvPr/>
        </p:nvSpPr>
        <p:spPr>
          <a:xfrm>
            <a:off x="6373368" y="2660904"/>
            <a:ext cx="438912" cy="438912"/>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1" name="Text 28"/>
          <p:cNvSpPr/>
          <p:nvPr/>
        </p:nvSpPr>
        <p:spPr>
          <a:xfrm>
            <a:off x="6922008" y="2578608"/>
            <a:ext cx="4572000" cy="603504"/>
          </a:xfrm>
          <a:prstGeom prst="rect">
            <a:avLst/>
          </a:prstGeom>
          <a:noFill/>
          <a:ln/>
        </p:spPr>
        <p:txBody>
          <a:bodyPr wrap="square" rtlCol="0" anchor="ctr"/>
          <a:lstStyle/>
          <a:p>
            <a:pPr marL="0" indent="0">
              <a:buNone/>
            </a:pPr>
            <a:r>
              <a:rPr lang="en-US" sz="1350" b="1" dirty="0">
                <a:solidFill>
                  <a:srgbClr val="0B3C6E"/>
                </a:solidFill>
                <a:latin typeface="Calibri" pitchFamily="34" charset="0"/>
                <a:ea typeface="Calibri" pitchFamily="34" charset="-122"/>
                <a:cs typeface="Calibri" pitchFamily="34" charset="-120"/>
              </a:rPr>
              <a:t>Filtering berbasis constraint</a:t>
            </a:r>
            <a:endParaRPr lang="en-US" sz="1350" dirty="0"/>
          </a:p>
        </p:txBody>
      </p:sp>
      <p:sp>
        <p:nvSpPr>
          <p:cNvPr id="32" name="transform box">
            <a:extLst>
              <a:ext uri="{C183D7F6-B498-43B3-948B-1728B52AA6E4}">
                <adec:decorative xmlns:adec="http://schemas.microsoft.com/office/drawing/2017/decorative" val="1"/>
              </a:ext>
            </a:extLst>
          </p:cNvPr>
          <p:cNvSpPr/>
          <p:nvPr/>
        </p:nvSpPr>
        <p:spPr>
          <a:xfrm>
            <a:off x="6263640" y="3328416"/>
            <a:ext cx="5349240" cy="603504"/>
          </a:xfrm>
          <a:prstGeom prst="roundRect">
            <a:avLst>
              <a:gd name="adj" fmla="val 7576"/>
            </a:avLst>
          </a:prstGeom>
          <a:solidFill>
            <a:srgbClr val="F1F5FA"/>
          </a:solidFill>
          <a:ln w="12700">
            <a:solidFill>
              <a:srgbClr val="D5E0EC"/>
            </a:solidFill>
            <a:prstDash val="solid"/>
          </a:ln>
        </p:spPr>
        <p:txBody>
          <a:bodyPr/>
          <a:lstStyle/>
          <a:p>
            <a:endParaRPr lang="en-ID"/>
          </a:p>
        </p:txBody>
      </p:sp>
      <p:sp>
        <p:nvSpPr>
          <p:cNvPr id="33" name="transform number">
            <a:extLst>
              <a:ext uri="{C183D7F6-B498-43B3-948B-1728B52AA6E4}">
                <adec:decorative xmlns:adec="http://schemas.microsoft.com/office/drawing/2017/decorative" val="1"/>
              </a:ext>
            </a:extLst>
          </p:cNvPr>
          <p:cNvSpPr/>
          <p:nvPr/>
        </p:nvSpPr>
        <p:spPr>
          <a:xfrm>
            <a:off x="6373368" y="3410712"/>
            <a:ext cx="438912" cy="438912"/>
          </a:xfrm>
          <a:prstGeom prst="ellipse">
            <a:avLst/>
          </a:prstGeom>
          <a:solidFill>
            <a:srgbClr val="B98A1E"/>
          </a:solidFill>
          <a:ln/>
        </p:spPr>
        <p:txBody>
          <a:bodyPr/>
          <a:lstStyle/>
          <a:p>
            <a:endParaRPr lang="en-ID"/>
          </a:p>
        </p:txBody>
      </p:sp>
      <p:sp>
        <p:nvSpPr>
          <p:cNvPr id="34" name="Text 31"/>
          <p:cNvSpPr/>
          <p:nvPr/>
        </p:nvSpPr>
        <p:spPr>
          <a:xfrm>
            <a:off x="6373368" y="3410712"/>
            <a:ext cx="438912" cy="438912"/>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7</a:t>
            </a:r>
            <a:endParaRPr lang="en-US" sz="1500" dirty="0"/>
          </a:p>
        </p:txBody>
      </p:sp>
      <p:sp>
        <p:nvSpPr>
          <p:cNvPr id="35" name="Text 32"/>
          <p:cNvSpPr/>
          <p:nvPr/>
        </p:nvSpPr>
        <p:spPr>
          <a:xfrm>
            <a:off x="6922008" y="3328416"/>
            <a:ext cx="4572000" cy="603504"/>
          </a:xfrm>
          <a:prstGeom prst="rect">
            <a:avLst/>
          </a:prstGeom>
          <a:noFill/>
          <a:ln/>
        </p:spPr>
        <p:txBody>
          <a:bodyPr wrap="square" rtlCol="0" anchor="ctr"/>
          <a:lstStyle/>
          <a:p>
            <a:pPr marL="0" indent="0">
              <a:buNone/>
            </a:pPr>
            <a:r>
              <a:rPr lang="en-US" sz="1350" b="1" dirty="0">
                <a:solidFill>
                  <a:srgbClr val="0B3C6E"/>
                </a:solidFill>
                <a:latin typeface="Calibri" pitchFamily="34" charset="0"/>
                <a:ea typeface="Calibri" pitchFamily="34" charset="-122"/>
                <a:cs typeface="Calibri" pitchFamily="34" charset="-120"/>
              </a:rPr>
              <a:t>Reranking dan keputusan</a:t>
            </a:r>
            <a:endParaRPr lang="en-US" sz="1350" dirty="0"/>
          </a:p>
        </p:txBody>
      </p:sp>
      <p:sp>
        <p:nvSpPr>
          <p:cNvPr id="36" name="transform box">
            <a:extLst>
              <a:ext uri="{C183D7F6-B498-43B3-948B-1728B52AA6E4}">
                <adec:decorative xmlns:adec="http://schemas.microsoft.com/office/drawing/2017/decorative" val="1"/>
              </a:ext>
            </a:extLst>
          </p:cNvPr>
          <p:cNvSpPr/>
          <p:nvPr/>
        </p:nvSpPr>
        <p:spPr>
          <a:xfrm>
            <a:off x="6263640" y="4078224"/>
            <a:ext cx="5349240" cy="603504"/>
          </a:xfrm>
          <a:prstGeom prst="roundRect">
            <a:avLst>
              <a:gd name="adj" fmla="val 7576"/>
            </a:avLst>
          </a:prstGeom>
          <a:solidFill>
            <a:srgbClr val="F1F5FA"/>
          </a:solidFill>
          <a:ln w="12700">
            <a:solidFill>
              <a:srgbClr val="D5E0EC"/>
            </a:solidFill>
            <a:prstDash val="solid"/>
          </a:ln>
        </p:spPr>
        <p:txBody>
          <a:bodyPr/>
          <a:lstStyle/>
          <a:p>
            <a:endParaRPr lang="en-ID"/>
          </a:p>
        </p:txBody>
      </p:sp>
      <p:sp>
        <p:nvSpPr>
          <p:cNvPr id="37" name="transform number">
            <a:extLst>
              <a:ext uri="{C183D7F6-B498-43B3-948B-1728B52AA6E4}">
                <adec:decorative xmlns:adec="http://schemas.microsoft.com/office/drawing/2017/decorative" val="1"/>
              </a:ext>
            </a:extLst>
          </p:cNvPr>
          <p:cNvSpPr/>
          <p:nvPr/>
        </p:nvSpPr>
        <p:spPr>
          <a:xfrm>
            <a:off x="6373368" y="4160520"/>
            <a:ext cx="438912" cy="438912"/>
          </a:xfrm>
          <a:prstGeom prst="ellipse">
            <a:avLst/>
          </a:prstGeom>
          <a:solidFill>
            <a:srgbClr val="B98A1E"/>
          </a:solidFill>
          <a:ln/>
        </p:spPr>
        <p:txBody>
          <a:bodyPr/>
          <a:lstStyle/>
          <a:p>
            <a:endParaRPr lang="en-ID"/>
          </a:p>
        </p:txBody>
      </p:sp>
      <p:sp>
        <p:nvSpPr>
          <p:cNvPr id="38" name="Text 35"/>
          <p:cNvSpPr/>
          <p:nvPr/>
        </p:nvSpPr>
        <p:spPr>
          <a:xfrm>
            <a:off x="6373368" y="4160520"/>
            <a:ext cx="438912" cy="438912"/>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8</a:t>
            </a:r>
            <a:endParaRPr lang="en-US" sz="1500" dirty="0"/>
          </a:p>
        </p:txBody>
      </p:sp>
      <p:sp>
        <p:nvSpPr>
          <p:cNvPr id="39" name="Text 36"/>
          <p:cNvSpPr/>
          <p:nvPr/>
        </p:nvSpPr>
        <p:spPr>
          <a:xfrm>
            <a:off x="6922008" y="4078224"/>
            <a:ext cx="4572000" cy="603504"/>
          </a:xfrm>
          <a:prstGeom prst="rect">
            <a:avLst/>
          </a:prstGeom>
          <a:noFill/>
          <a:ln/>
        </p:spPr>
        <p:txBody>
          <a:bodyPr wrap="square" rtlCol="0" anchor="ctr"/>
          <a:lstStyle/>
          <a:p>
            <a:pPr marL="0" indent="0">
              <a:buNone/>
            </a:pPr>
            <a:r>
              <a:rPr lang="en-US" sz="1350" b="1" dirty="0">
                <a:solidFill>
                  <a:srgbClr val="0B3C6E"/>
                </a:solidFill>
                <a:latin typeface="Calibri" pitchFamily="34" charset="0"/>
                <a:ea typeface="Calibri" pitchFamily="34" charset="-122"/>
                <a:cs typeface="Calibri" pitchFamily="34" charset="-120"/>
              </a:rPr>
              <a:t>Knowledge reservoir tervalidasi</a:t>
            </a:r>
            <a:endParaRPr lang="en-US" sz="1350" dirty="0"/>
          </a:p>
        </p:txBody>
      </p:sp>
      <p:sp>
        <p:nvSpPr>
          <p:cNvPr id="40" name="callout background">
            <a:extLst>
              <a:ext uri="{C183D7F6-B498-43B3-948B-1728B52AA6E4}">
                <adec:decorative xmlns:adec="http://schemas.microsoft.com/office/drawing/2017/decorative" val="1"/>
              </a:ext>
            </a:extLst>
          </p:cNvPr>
          <p:cNvSpPr/>
          <p:nvPr/>
        </p:nvSpPr>
        <p:spPr>
          <a:xfrm>
            <a:off x="640080" y="5257800"/>
            <a:ext cx="10972800" cy="777240"/>
          </a:xfrm>
          <a:prstGeom prst="roundRect">
            <a:avLst>
              <a:gd name="adj" fmla="val 7059"/>
            </a:avLst>
          </a:prstGeom>
          <a:solidFill>
            <a:srgbClr val="F7EFD8"/>
          </a:solidFill>
          <a:ln/>
        </p:spPr>
        <p:txBody>
          <a:bodyPr/>
          <a:lstStyle/>
          <a:p>
            <a:endParaRPr lang="en-ID"/>
          </a:p>
        </p:txBody>
      </p:sp>
      <p:sp>
        <p:nvSpPr>
          <p:cNvPr id="41" name="Text 38"/>
          <p:cNvSpPr/>
          <p:nvPr/>
        </p:nvSpPr>
        <p:spPr>
          <a:xfrm>
            <a:off x="896112" y="5257800"/>
            <a:ext cx="10460736" cy="77724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Prinsip:  </a:t>
            </a:r>
            <a:r>
              <a:rPr lang="en-US" sz="1350" dirty="0">
                <a:solidFill>
                  <a:srgbClr val="26313D"/>
                </a:solidFill>
                <a:latin typeface="Calibri" pitchFamily="34" charset="0"/>
                <a:ea typeface="Calibri" pitchFamily="34" charset="-122"/>
                <a:cs typeface="Calibri" pitchFamily="34" charset="-120"/>
              </a:rPr>
              <a:t>setiap tahap menyimpan provenance dan keluaran terstruktur, memungkinkan error localization.</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19</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ARSITEKTUR USULAN</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Pipeline Implementasi yang Dapat Diaudit</a:t>
            </a:r>
            <a:endParaRPr lang="en-US" sz="27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5486400" cy="3401568"/>
        </p:xfrm>
        <a:graphic>
          <a:graphicData uri="http://schemas.openxmlformats.org/drawingml/2006/table">
            <a:tbl>
              <a:tblPr/>
              <a:tblGrid>
                <a:gridCol w="9144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56692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Tahap</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Fokus</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extLst>
                  <a:ext uri="{0D108BD9-81ED-4DB2-BD59-A6C34878D82A}">
                    <a16:rowId xmlns:a16="http://schemas.microsoft.com/office/drawing/2014/main" val="10000"/>
                  </a:ext>
                </a:extLst>
              </a:tr>
              <a:tr h="566928">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Audit baseline dan reproducibility</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Normalisasi Bahasa Indonesia</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r h="566928">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Ekstraksi entitas teks panjang</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Mapping rules dan target terminology</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4"/>
                  </a:ext>
                </a:extLst>
              </a:tr>
              <a:tr h="566928">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Query decomposition</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400800" y="1874520"/>
          <a:ext cx="5486400" cy="3401568"/>
        </p:xfrm>
        <a:graphic>
          <a:graphicData uri="http://schemas.openxmlformats.org/drawingml/2006/table">
            <a:tbl>
              <a:tblPr/>
              <a:tblGrid>
                <a:gridCol w="9144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56692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Tahap</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Fokus</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extLst>
                  <a:ext uri="{0D108BD9-81ED-4DB2-BD59-A6C34878D82A}">
                    <a16:rowId xmlns:a16="http://schemas.microsoft.com/office/drawing/2014/main" val="10000"/>
                  </a:ext>
                </a:extLst>
              </a:tr>
              <a:tr h="566928">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Knowledge base dan ensemble retrieval</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Filtering</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r h="566928">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Reranking dan keputusan</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Human-in-the-loop dan reservoir</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4"/>
                  </a:ext>
                </a:extLst>
              </a:tr>
              <a:tr h="566928">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Evaluasi dan ablation</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callout background">
            <a:extLst>
              <a:ext uri="{C183D7F6-B498-43B3-948B-1728B52AA6E4}">
                <adec:decorative xmlns:adec="http://schemas.microsoft.com/office/drawing/2017/decorative" val="1"/>
              </a:ext>
            </a:extLst>
          </p:cNvPr>
          <p:cNvSpPr/>
          <p:nvPr/>
        </p:nvSpPr>
        <p:spPr>
          <a:xfrm>
            <a:off x="640080" y="5577840"/>
            <a:ext cx="10972800" cy="731520"/>
          </a:xfrm>
          <a:prstGeom prst="roundRect">
            <a:avLst>
              <a:gd name="adj" fmla="val 7500"/>
            </a:avLst>
          </a:prstGeom>
          <a:solidFill>
            <a:srgbClr val="F7EFD8"/>
          </a:solidFill>
          <a:ln/>
        </p:spPr>
        <p:txBody>
          <a:bodyPr/>
          <a:lstStyle/>
          <a:p>
            <a:endParaRPr lang="en-ID"/>
          </a:p>
        </p:txBody>
      </p:sp>
      <p:sp>
        <p:nvSpPr>
          <p:cNvPr id="11" name="Text 6"/>
          <p:cNvSpPr/>
          <p:nvPr/>
        </p:nvSpPr>
        <p:spPr>
          <a:xfrm>
            <a:off x="896112" y="5577840"/>
            <a:ext cx="10460736" cy="73152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Catatan:  </a:t>
            </a:r>
            <a:r>
              <a:rPr lang="en-US" sz="1350" dirty="0">
                <a:solidFill>
                  <a:srgbClr val="26313D"/>
                </a:solidFill>
                <a:latin typeface="Calibri" pitchFamily="34" charset="0"/>
                <a:ea typeface="Calibri" pitchFamily="34" charset="-122"/>
                <a:cs typeface="Calibri" pitchFamily="34" charset="-120"/>
              </a:rPr>
              <a:t>Tahap 0 ditambahkan untuk memastikan baseline benar-benar reproducible sebelum modifikasi.</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20</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ILUSTRASI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Contoh Alur End-to-End</a:t>
            </a:r>
            <a:endParaRPr lang="en-US" sz="2700" dirty="0"/>
          </a:p>
        </p:txBody>
      </p:sp>
      <p:sp>
        <p:nvSpPr>
          <p:cNvPr id="8" name="stage tag bg">
            <a:extLst>
              <a:ext uri="{C183D7F6-B498-43B3-948B-1728B52AA6E4}">
                <adec:decorative xmlns:adec="http://schemas.microsoft.com/office/drawing/2017/decorative" val="1"/>
              </a:ext>
            </a:extLst>
          </p:cNvPr>
          <p:cNvSpPr/>
          <p:nvPr/>
        </p:nvSpPr>
        <p:spPr>
          <a:xfrm>
            <a:off x="640080" y="1828800"/>
            <a:ext cx="2194560" cy="841248"/>
          </a:xfrm>
          <a:prstGeom prst="rect">
            <a:avLst/>
          </a:prstGeom>
          <a:solidFill>
            <a:srgbClr val="0B3C6E"/>
          </a:solidFill>
          <a:ln/>
        </p:spPr>
        <p:txBody>
          <a:bodyPr/>
          <a:lstStyle/>
          <a:p>
            <a:endParaRPr lang="en-ID"/>
          </a:p>
        </p:txBody>
      </p:sp>
      <p:sp>
        <p:nvSpPr>
          <p:cNvPr id="9" name="Text 6"/>
          <p:cNvSpPr/>
          <p:nvPr/>
        </p:nvSpPr>
        <p:spPr>
          <a:xfrm>
            <a:off x="640080" y="1828800"/>
            <a:ext cx="2194560" cy="841248"/>
          </a:xfrm>
          <a:prstGeom prst="rect">
            <a:avLst/>
          </a:prstGeom>
          <a:noFill/>
          <a:ln/>
        </p:spPr>
        <p:txBody>
          <a:bodyPr wrap="square"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MASUKAN</a:t>
            </a:r>
            <a:endParaRPr lang="en-US" sz="1300" dirty="0"/>
          </a:p>
        </p:txBody>
      </p:sp>
      <p:sp>
        <p:nvSpPr>
          <p:cNvPr id="10" name="stage body bg">
            <a:extLst>
              <a:ext uri="{C183D7F6-B498-43B3-948B-1728B52AA6E4}">
                <adec:decorative xmlns:adec="http://schemas.microsoft.com/office/drawing/2017/decorative" val="1"/>
              </a:ext>
            </a:extLst>
          </p:cNvPr>
          <p:cNvSpPr/>
          <p:nvPr/>
        </p:nvSpPr>
        <p:spPr>
          <a:xfrm>
            <a:off x="2834640" y="1828800"/>
            <a:ext cx="8714232" cy="841248"/>
          </a:xfrm>
          <a:prstGeom prst="rect">
            <a:avLst/>
          </a:prstGeom>
          <a:solidFill>
            <a:srgbClr val="F1F5FA"/>
          </a:solidFill>
          <a:ln w="12700">
            <a:solidFill>
              <a:srgbClr val="D5E0EC"/>
            </a:solidFill>
            <a:prstDash val="solid"/>
          </a:ln>
        </p:spPr>
        <p:txBody>
          <a:bodyPr/>
          <a:lstStyle/>
          <a:p>
            <a:endParaRPr lang="en-ID"/>
          </a:p>
        </p:txBody>
      </p:sp>
      <p:sp>
        <p:nvSpPr>
          <p:cNvPr id="11" name="Text 8"/>
          <p:cNvSpPr/>
          <p:nvPr/>
        </p:nvSpPr>
        <p:spPr>
          <a:xfrm>
            <a:off x="3063240" y="1828800"/>
            <a:ext cx="8321040" cy="841248"/>
          </a:xfrm>
          <a:prstGeom prst="rect">
            <a:avLst/>
          </a:prstGeom>
          <a:noFill/>
          <a:ln/>
        </p:spPr>
        <p:txBody>
          <a:bodyPr wrap="square" rtlCol="0" anchor="ctr"/>
          <a:lstStyle/>
          <a:p>
            <a:pPr marL="0" indent="0">
              <a:lnSpc>
                <a:spcPct val="100000"/>
              </a:lnSpc>
              <a:buNone/>
            </a:pPr>
            <a:r>
              <a:rPr lang="en-US" sz="1350" dirty="0">
                <a:solidFill>
                  <a:srgbClr val="26313D"/>
                </a:solidFill>
                <a:latin typeface="Calibri" pitchFamily="34" charset="0"/>
                <a:ea typeface="Calibri" pitchFamily="34" charset="-122"/>
                <a:cs typeface="Calibri" pitchFamily="34" charset="-120"/>
              </a:rPr>
              <a:t>Px dgn DM tipe 2, GDP 126 mg/dL, TD 150/90</a:t>
            </a:r>
            <a:endParaRPr lang="en-US" sz="1350" dirty="0"/>
          </a:p>
        </p:txBody>
      </p:sp>
      <p:sp>
        <p:nvSpPr>
          <p:cNvPr id="12" name="Text 9"/>
          <p:cNvSpPr/>
          <p:nvPr/>
        </p:nvSpPr>
        <p:spPr>
          <a:xfrm>
            <a:off x="1463040" y="2642616"/>
            <a:ext cx="548640" cy="182880"/>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3" name="stage tag bg">
            <a:extLst>
              <a:ext uri="{C183D7F6-B498-43B3-948B-1728B52AA6E4}">
                <adec:decorative xmlns:adec="http://schemas.microsoft.com/office/drawing/2017/decorative" val="1"/>
              </a:ext>
            </a:extLst>
          </p:cNvPr>
          <p:cNvSpPr/>
          <p:nvPr/>
        </p:nvSpPr>
        <p:spPr>
          <a:xfrm>
            <a:off x="640080" y="2834640"/>
            <a:ext cx="2194560" cy="841248"/>
          </a:xfrm>
          <a:prstGeom prst="rect">
            <a:avLst/>
          </a:prstGeom>
          <a:solidFill>
            <a:srgbClr val="0B3C6E"/>
          </a:solidFill>
          <a:ln/>
        </p:spPr>
        <p:txBody>
          <a:bodyPr/>
          <a:lstStyle/>
          <a:p>
            <a:endParaRPr lang="en-ID"/>
          </a:p>
        </p:txBody>
      </p:sp>
      <p:sp>
        <p:nvSpPr>
          <p:cNvPr id="14" name="Text 11"/>
          <p:cNvSpPr/>
          <p:nvPr/>
        </p:nvSpPr>
        <p:spPr>
          <a:xfrm>
            <a:off x="640080" y="2834640"/>
            <a:ext cx="2194560" cy="841248"/>
          </a:xfrm>
          <a:prstGeom prst="rect">
            <a:avLst/>
          </a:prstGeom>
          <a:noFill/>
          <a:ln/>
        </p:spPr>
        <p:txBody>
          <a:bodyPr wrap="square"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NORMALISASI</a:t>
            </a:r>
            <a:endParaRPr lang="en-US" sz="1300" dirty="0"/>
          </a:p>
        </p:txBody>
      </p:sp>
      <p:sp>
        <p:nvSpPr>
          <p:cNvPr id="15" name="stage body bg">
            <a:extLst>
              <a:ext uri="{C183D7F6-B498-43B3-948B-1728B52AA6E4}">
                <adec:decorative xmlns:adec="http://schemas.microsoft.com/office/drawing/2017/decorative" val="1"/>
              </a:ext>
            </a:extLst>
          </p:cNvPr>
          <p:cNvSpPr/>
          <p:nvPr/>
        </p:nvSpPr>
        <p:spPr>
          <a:xfrm>
            <a:off x="2834640" y="2834640"/>
            <a:ext cx="8714232" cy="841248"/>
          </a:xfrm>
          <a:prstGeom prst="rect">
            <a:avLst/>
          </a:prstGeom>
          <a:solidFill>
            <a:srgbClr val="F1F5FA"/>
          </a:solidFill>
          <a:ln w="12700">
            <a:solidFill>
              <a:srgbClr val="D5E0EC"/>
            </a:solidFill>
            <a:prstDash val="solid"/>
          </a:ln>
        </p:spPr>
        <p:txBody>
          <a:bodyPr/>
          <a:lstStyle/>
          <a:p>
            <a:endParaRPr lang="en-ID"/>
          </a:p>
        </p:txBody>
      </p:sp>
      <p:sp>
        <p:nvSpPr>
          <p:cNvPr id="16" name="Text 13"/>
          <p:cNvSpPr/>
          <p:nvPr/>
        </p:nvSpPr>
        <p:spPr>
          <a:xfrm>
            <a:off x="3063240" y="2834640"/>
            <a:ext cx="8321040" cy="841248"/>
          </a:xfrm>
          <a:prstGeom prst="rect">
            <a:avLst/>
          </a:prstGeom>
          <a:noFill/>
          <a:ln/>
        </p:spPr>
        <p:txBody>
          <a:bodyPr wrap="square" rtlCol="0" anchor="ctr"/>
          <a:lstStyle/>
          <a:p>
            <a:pPr marL="0" indent="0">
              <a:lnSpc>
                <a:spcPct val="100000"/>
              </a:lnSpc>
              <a:buNone/>
            </a:pPr>
            <a:r>
              <a:rPr lang="en-US" sz="1350" dirty="0">
                <a:solidFill>
                  <a:srgbClr val="26313D"/>
                </a:solidFill>
                <a:latin typeface="Calibri" pitchFamily="34" charset="0"/>
                <a:ea typeface="Calibri" pitchFamily="34" charset="-122"/>
                <a:cs typeface="Calibri" pitchFamily="34" charset="-120"/>
              </a:rPr>
              <a:t>pasien dengan diabetes melitus tipe 2, gula darah puasa 126 mg/dL, tekanan darah 150/90</a:t>
            </a:r>
            <a:endParaRPr lang="en-US" sz="1350" dirty="0"/>
          </a:p>
        </p:txBody>
      </p:sp>
      <p:sp>
        <p:nvSpPr>
          <p:cNvPr id="17" name="Text 14"/>
          <p:cNvSpPr/>
          <p:nvPr/>
        </p:nvSpPr>
        <p:spPr>
          <a:xfrm>
            <a:off x="1463040" y="3648456"/>
            <a:ext cx="548640" cy="182880"/>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8" name="stage tag bg">
            <a:extLst>
              <a:ext uri="{C183D7F6-B498-43B3-948B-1728B52AA6E4}">
                <adec:decorative xmlns:adec="http://schemas.microsoft.com/office/drawing/2017/decorative" val="1"/>
              </a:ext>
            </a:extLst>
          </p:cNvPr>
          <p:cNvSpPr/>
          <p:nvPr/>
        </p:nvSpPr>
        <p:spPr>
          <a:xfrm>
            <a:off x="640080" y="3840480"/>
            <a:ext cx="2194560" cy="841248"/>
          </a:xfrm>
          <a:prstGeom prst="rect">
            <a:avLst/>
          </a:prstGeom>
          <a:solidFill>
            <a:srgbClr val="0B3C6E"/>
          </a:solidFill>
          <a:ln/>
        </p:spPr>
        <p:txBody>
          <a:bodyPr/>
          <a:lstStyle/>
          <a:p>
            <a:endParaRPr lang="en-ID"/>
          </a:p>
        </p:txBody>
      </p:sp>
      <p:sp>
        <p:nvSpPr>
          <p:cNvPr id="19" name="Text 16"/>
          <p:cNvSpPr/>
          <p:nvPr/>
        </p:nvSpPr>
        <p:spPr>
          <a:xfrm>
            <a:off x="640080" y="3840480"/>
            <a:ext cx="2194560" cy="841248"/>
          </a:xfrm>
          <a:prstGeom prst="rect">
            <a:avLst/>
          </a:prstGeom>
          <a:noFill/>
          <a:ln/>
        </p:spPr>
        <p:txBody>
          <a:bodyPr wrap="square"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ENTITAS</a:t>
            </a:r>
            <a:endParaRPr lang="en-US" sz="1300" dirty="0"/>
          </a:p>
        </p:txBody>
      </p:sp>
      <p:sp>
        <p:nvSpPr>
          <p:cNvPr id="20" name="stage body bg">
            <a:extLst>
              <a:ext uri="{C183D7F6-B498-43B3-948B-1728B52AA6E4}">
                <adec:decorative xmlns:adec="http://schemas.microsoft.com/office/drawing/2017/decorative" val="1"/>
              </a:ext>
            </a:extLst>
          </p:cNvPr>
          <p:cNvSpPr/>
          <p:nvPr/>
        </p:nvSpPr>
        <p:spPr>
          <a:xfrm>
            <a:off x="2834640" y="3840480"/>
            <a:ext cx="8714232" cy="841248"/>
          </a:xfrm>
          <a:prstGeom prst="rect">
            <a:avLst/>
          </a:prstGeom>
          <a:solidFill>
            <a:srgbClr val="F1F5FA"/>
          </a:solidFill>
          <a:ln w="12700">
            <a:solidFill>
              <a:srgbClr val="D5E0EC"/>
            </a:solidFill>
            <a:prstDash val="solid"/>
          </a:ln>
        </p:spPr>
        <p:txBody>
          <a:bodyPr/>
          <a:lstStyle/>
          <a:p>
            <a:endParaRPr lang="en-ID"/>
          </a:p>
        </p:txBody>
      </p:sp>
      <p:sp>
        <p:nvSpPr>
          <p:cNvPr id="21" name="Text 18"/>
          <p:cNvSpPr/>
          <p:nvPr/>
        </p:nvSpPr>
        <p:spPr>
          <a:xfrm>
            <a:off x="3063240" y="3840480"/>
            <a:ext cx="8321040" cy="841248"/>
          </a:xfrm>
          <a:prstGeom prst="rect">
            <a:avLst/>
          </a:prstGeom>
          <a:noFill/>
          <a:ln/>
        </p:spPr>
        <p:txBody>
          <a:bodyPr wrap="square" rtlCol="0" anchor="ctr"/>
          <a:lstStyle/>
          <a:p>
            <a:pPr marL="0" indent="0">
              <a:lnSpc>
                <a:spcPct val="100000"/>
              </a:lnSpc>
              <a:buNone/>
            </a:pPr>
            <a:r>
              <a:rPr lang="en-US" sz="1350" dirty="0">
                <a:solidFill>
                  <a:srgbClr val="26313D"/>
                </a:solidFill>
                <a:latin typeface="Calibri" pitchFamily="34" charset="0"/>
                <a:ea typeface="Calibri" pitchFamily="34" charset="-122"/>
                <a:cs typeface="Calibri" pitchFamily="34" charset="-120"/>
              </a:rPr>
              <a:t>diabetes melitus tipe 2  •  gula darah puasa 126 mg/dL  •  tekanan darah 150/90</a:t>
            </a:r>
            <a:endParaRPr lang="en-US" sz="1350" dirty="0"/>
          </a:p>
        </p:txBody>
      </p:sp>
      <p:sp>
        <p:nvSpPr>
          <p:cNvPr id="22" name="Text 19"/>
          <p:cNvSpPr/>
          <p:nvPr/>
        </p:nvSpPr>
        <p:spPr>
          <a:xfrm>
            <a:off x="1463040" y="4654296"/>
            <a:ext cx="548640" cy="182880"/>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23" name="stage tag bg">
            <a:extLst>
              <a:ext uri="{C183D7F6-B498-43B3-948B-1728B52AA6E4}">
                <adec:decorative xmlns:adec="http://schemas.microsoft.com/office/drawing/2017/decorative" val="1"/>
              </a:ext>
            </a:extLst>
          </p:cNvPr>
          <p:cNvSpPr/>
          <p:nvPr/>
        </p:nvSpPr>
        <p:spPr>
          <a:xfrm>
            <a:off x="640080" y="4846320"/>
            <a:ext cx="2194560" cy="841248"/>
          </a:xfrm>
          <a:prstGeom prst="rect">
            <a:avLst/>
          </a:prstGeom>
          <a:solidFill>
            <a:srgbClr val="0B3C6E"/>
          </a:solidFill>
          <a:ln/>
        </p:spPr>
        <p:txBody>
          <a:bodyPr/>
          <a:lstStyle/>
          <a:p>
            <a:endParaRPr lang="en-ID"/>
          </a:p>
        </p:txBody>
      </p:sp>
      <p:sp>
        <p:nvSpPr>
          <p:cNvPr id="24" name="Text 21"/>
          <p:cNvSpPr/>
          <p:nvPr/>
        </p:nvSpPr>
        <p:spPr>
          <a:xfrm>
            <a:off x="640080" y="4846320"/>
            <a:ext cx="2194560" cy="841248"/>
          </a:xfrm>
          <a:prstGeom prst="rect">
            <a:avLst/>
          </a:prstGeom>
          <a:noFill/>
          <a:ln/>
        </p:spPr>
        <p:txBody>
          <a:bodyPr wrap="square"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ROUTING</a:t>
            </a:r>
            <a:endParaRPr lang="en-US" sz="1300" dirty="0"/>
          </a:p>
        </p:txBody>
      </p:sp>
      <p:sp>
        <p:nvSpPr>
          <p:cNvPr id="25" name="stage body bg">
            <a:extLst>
              <a:ext uri="{C183D7F6-B498-43B3-948B-1728B52AA6E4}">
                <adec:decorative xmlns:adec="http://schemas.microsoft.com/office/drawing/2017/decorative" val="1"/>
              </a:ext>
            </a:extLst>
          </p:cNvPr>
          <p:cNvSpPr/>
          <p:nvPr/>
        </p:nvSpPr>
        <p:spPr>
          <a:xfrm>
            <a:off x="2834640" y="4846320"/>
            <a:ext cx="8714232" cy="841248"/>
          </a:xfrm>
          <a:prstGeom prst="rect">
            <a:avLst/>
          </a:prstGeom>
          <a:solidFill>
            <a:srgbClr val="F7EFD8"/>
          </a:solidFill>
          <a:ln w="12700">
            <a:solidFill>
              <a:srgbClr val="D5E0EC"/>
            </a:solidFill>
            <a:prstDash val="solid"/>
          </a:ln>
        </p:spPr>
        <p:txBody>
          <a:bodyPr/>
          <a:lstStyle/>
          <a:p>
            <a:endParaRPr lang="en-ID"/>
          </a:p>
        </p:txBody>
      </p:sp>
      <p:sp>
        <p:nvSpPr>
          <p:cNvPr id="26" name="Text 23"/>
          <p:cNvSpPr/>
          <p:nvPr/>
        </p:nvSpPr>
        <p:spPr>
          <a:xfrm>
            <a:off x="3063240" y="4846320"/>
            <a:ext cx="8321040" cy="841248"/>
          </a:xfrm>
          <a:prstGeom prst="rect">
            <a:avLst/>
          </a:prstGeom>
          <a:noFill/>
          <a:ln/>
        </p:spPr>
        <p:txBody>
          <a:bodyPr wrap="square" rtlCol="0" anchor="ctr"/>
          <a:lstStyle/>
          <a:p>
            <a:pPr marL="0" indent="0">
              <a:lnSpc>
                <a:spcPct val="100000"/>
              </a:lnSpc>
              <a:buNone/>
            </a:pPr>
            <a:r>
              <a:rPr lang="en-US" sz="1350" dirty="0">
                <a:solidFill>
                  <a:srgbClr val="26313D"/>
                </a:solidFill>
                <a:latin typeface="Calibri" pitchFamily="34" charset="0"/>
                <a:ea typeface="Calibri" pitchFamily="34" charset="-122"/>
                <a:cs typeface="Calibri" pitchFamily="34" charset="-120"/>
              </a:rPr>
              <a:t>diagnosis → SNOMED CT &amp; ICD-10   •   observasi → LOINC</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21</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DATA</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Sumber dan Peran Data</a:t>
            </a:r>
            <a:endParaRPr lang="en-US" sz="2700" dirty="0"/>
          </a:p>
        </p:txBody>
      </p:sp>
      <p:sp>
        <p:nvSpPr>
          <p:cNvPr id="8" name="Text 5"/>
          <p:cNvSpPr/>
          <p:nvPr/>
        </p:nvSpPr>
        <p:spPr>
          <a:xfrm>
            <a:off x="640080" y="1828800"/>
            <a:ext cx="10972800" cy="3108960"/>
          </a:xfrm>
          <a:prstGeom prst="rect">
            <a:avLst/>
          </a:prstGeom>
          <a:noFill/>
          <a:ln/>
        </p:spPr>
        <p:txBody>
          <a:bodyPr wrap="square" rtlCol="0" anchor="t"/>
          <a:lstStyle/>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Controlled vocabularies: SNOMED CT, LOINC, ICD-10.</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Dataset baseline CDE-Mapper: antara lain NCBI dan BC5CDR.</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Data lokal/RME yang telah dianonimkan.</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Konsultasi kesehatan daring untuk variasi bahasa pasien.</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Korpus Alodokter yang digunakan dalam implementasi awal:</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150 pasangan question–answer;</a:t>
            </a:r>
            <a:endParaRPr lang="en-US" sz="1500" dirty="0"/>
          </a:p>
          <a:p>
            <a:pPr marL="355600" lvl="1"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dipertahankan provenance dan field sumbernya.</a:t>
            </a:r>
            <a:endParaRPr lang="en-US" sz="1500" dirty="0"/>
          </a:p>
        </p:txBody>
      </p:sp>
      <p:sp>
        <p:nvSpPr>
          <p:cNvPr id="9" name="callout background">
            <a:extLst>
              <a:ext uri="{C183D7F6-B498-43B3-948B-1728B52AA6E4}">
                <adec:decorative xmlns:adec="http://schemas.microsoft.com/office/drawing/2017/decorative" val="1"/>
              </a:ext>
            </a:extLst>
          </p:cNvPr>
          <p:cNvSpPr/>
          <p:nvPr/>
        </p:nvSpPr>
        <p:spPr>
          <a:xfrm>
            <a:off x="640080" y="5257800"/>
            <a:ext cx="10972800" cy="868680"/>
          </a:xfrm>
          <a:prstGeom prst="roundRect">
            <a:avLst>
              <a:gd name="adj" fmla="val 6316"/>
            </a:avLst>
          </a:prstGeom>
          <a:solidFill>
            <a:srgbClr val="F7EFD8"/>
          </a:solidFill>
          <a:ln/>
        </p:spPr>
        <p:txBody>
          <a:bodyPr/>
          <a:lstStyle/>
          <a:p>
            <a:endParaRPr lang="en-ID"/>
          </a:p>
        </p:txBody>
      </p:sp>
      <p:sp>
        <p:nvSpPr>
          <p:cNvPr id="10" name="Text 7"/>
          <p:cNvSpPr/>
          <p:nvPr/>
        </p:nvSpPr>
        <p:spPr>
          <a:xfrm>
            <a:off x="896112" y="5257800"/>
            <a:ext cx="10460736" cy="8686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Prinsip:  </a:t>
            </a:r>
            <a:r>
              <a:rPr lang="en-US" sz="1350" dirty="0">
                <a:solidFill>
                  <a:srgbClr val="26313D"/>
                </a:solidFill>
                <a:latin typeface="Calibri" pitchFamily="34" charset="0"/>
                <a:ea typeface="Calibri" pitchFamily="34" charset="-122"/>
                <a:cs typeface="Calibri" pitchFamily="34" charset="-120"/>
              </a:rPr>
              <a:t>data pengembangan, few-shot, dan evaluasi harus dipisahkan.</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22</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DATA</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Dua Gold Standard yang Berbeda</a:t>
            </a:r>
            <a:endParaRPr lang="en-US" sz="2700" dirty="0"/>
          </a:p>
        </p:txBody>
      </p:sp>
      <p:sp>
        <p:nvSpPr>
          <p:cNvPr id="8" name="section card">
            <a:extLst>
              <a:ext uri="{C183D7F6-B498-43B3-948B-1728B52AA6E4}">
                <adec:decorative xmlns:adec="http://schemas.microsoft.com/office/drawing/2017/decorative" val="1"/>
              </a:ext>
            </a:extLst>
          </p:cNvPr>
          <p:cNvSpPr/>
          <p:nvPr/>
        </p:nvSpPr>
        <p:spPr>
          <a:xfrm>
            <a:off x="640080" y="1828800"/>
            <a:ext cx="5330952" cy="3383280"/>
          </a:xfrm>
          <a:prstGeom prst="rect">
            <a:avLst/>
          </a:prstGeom>
          <a:solidFill>
            <a:srgbClr val="F1F5FA"/>
          </a:solidFill>
          <a:ln w="12700">
            <a:solidFill>
              <a:srgbClr val="D5E0EC"/>
            </a:solidFill>
            <a:prstDash val="solid"/>
          </a:ln>
        </p:spPr>
        <p:txBody>
          <a:bodyPr/>
          <a:lstStyle/>
          <a:p>
            <a:endParaRPr lang="en-ID"/>
          </a:p>
        </p:txBody>
      </p:sp>
      <p:sp>
        <p:nvSpPr>
          <p:cNvPr id="9" name="section accent">
            <a:extLst>
              <a:ext uri="{C183D7F6-B498-43B3-948B-1728B52AA6E4}">
                <adec:decorative xmlns:adec="http://schemas.microsoft.com/office/drawing/2017/decorative" val="1"/>
              </a:ext>
            </a:extLst>
          </p:cNvPr>
          <p:cNvSpPr/>
          <p:nvPr/>
        </p:nvSpPr>
        <p:spPr>
          <a:xfrm>
            <a:off x="640080" y="1828800"/>
            <a:ext cx="109728" cy="3383280"/>
          </a:xfrm>
          <a:prstGeom prst="rect">
            <a:avLst/>
          </a:prstGeom>
          <a:solidFill>
            <a:srgbClr val="0B3C6E"/>
          </a:solidFill>
          <a:ln/>
        </p:spPr>
        <p:txBody>
          <a:bodyPr/>
          <a:lstStyle/>
          <a:p>
            <a:endParaRPr lang="en-ID"/>
          </a:p>
        </p:txBody>
      </p:sp>
      <p:sp>
        <p:nvSpPr>
          <p:cNvPr id="10" name="Text 7"/>
          <p:cNvSpPr/>
          <p:nvPr/>
        </p:nvSpPr>
        <p:spPr>
          <a:xfrm>
            <a:off x="960120" y="202996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A. Gold ekstraksi entitas</a:t>
            </a:r>
            <a:endParaRPr lang="en-US" sz="1600" dirty="0"/>
          </a:p>
        </p:txBody>
      </p:sp>
      <p:sp>
        <p:nvSpPr>
          <p:cNvPr id="11" name="Text 8"/>
          <p:cNvSpPr/>
          <p:nvPr/>
        </p:nvSpPr>
        <p:spPr>
          <a:xfrm>
            <a:off x="960120" y="2560320"/>
            <a:ext cx="4736592" cy="246888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Unit: span dan atribut entitas dalam dokumen.</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Digunakan untuk Tahap 2 dan evaluasi Checkpoint 4–7.</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Implementasi awal: 40 pasangan terstratifikasi.</a:t>
            </a:r>
            <a:endParaRPr lang="en-US" sz="1300" dirty="0"/>
          </a:p>
        </p:txBody>
      </p:sp>
      <p:sp>
        <p:nvSpPr>
          <p:cNvPr id="12" name="section card">
            <a:extLst>
              <a:ext uri="{C183D7F6-B498-43B3-948B-1728B52AA6E4}">
                <adec:decorative xmlns:adec="http://schemas.microsoft.com/office/drawing/2017/decorative" val="1"/>
              </a:ext>
            </a:extLst>
          </p:cNvPr>
          <p:cNvSpPr/>
          <p:nvPr/>
        </p:nvSpPr>
        <p:spPr>
          <a:xfrm>
            <a:off x="6281928" y="1828800"/>
            <a:ext cx="5330952" cy="3383280"/>
          </a:xfrm>
          <a:prstGeom prst="rect">
            <a:avLst/>
          </a:prstGeom>
          <a:solidFill>
            <a:srgbClr val="F1F5FA"/>
          </a:solidFill>
          <a:ln w="12700">
            <a:solidFill>
              <a:srgbClr val="D5E0EC"/>
            </a:solidFill>
            <a:prstDash val="solid"/>
          </a:ln>
        </p:spPr>
        <p:txBody>
          <a:bodyPr/>
          <a:lstStyle/>
          <a:p>
            <a:endParaRPr lang="en-ID"/>
          </a:p>
        </p:txBody>
      </p:sp>
      <p:sp>
        <p:nvSpPr>
          <p:cNvPr id="13" name="section accent">
            <a:extLst>
              <a:ext uri="{C183D7F6-B498-43B3-948B-1728B52AA6E4}">
                <adec:decorative xmlns:adec="http://schemas.microsoft.com/office/drawing/2017/decorative" val="1"/>
              </a:ext>
            </a:extLst>
          </p:cNvPr>
          <p:cNvSpPr/>
          <p:nvPr/>
        </p:nvSpPr>
        <p:spPr>
          <a:xfrm>
            <a:off x="6281928" y="1828800"/>
            <a:ext cx="109728" cy="3383280"/>
          </a:xfrm>
          <a:prstGeom prst="rect">
            <a:avLst/>
          </a:prstGeom>
          <a:solidFill>
            <a:srgbClr val="B98A1E"/>
          </a:solidFill>
          <a:ln/>
        </p:spPr>
        <p:txBody>
          <a:bodyPr/>
          <a:lstStyle/>
          <a:p>
            <a:endParaRPr lang="en-ID"/>
          </a:p>
        </p:txBody>
      </p:sp>
      <p:sp>
        <p:nvSpPr>
          <p:cNvPr id="14" name="Text 11"/>
          <p:cNvSpPr/>
          <p:nvPr/>
        </p:nvSpPr>
        <p:spPr>
          <a:xfrm>
            <a:off x="6601968" y="202996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B. Gold terminology mapping</a:t>
            </a:r>
            <a:endParaRPr lang="en-US" sz="1600" dirty="0"/>
          </a:p>
        </p:txBody>
      </p:sp>
      <p:sp>
        <p:nvSpPr>
          <p:cNvPr id="15" name="Text 12"/>
          <p:cNvSpPr/>
          <p:nvPr/>
        </p:nvSpPr>
        <p:spPr>
          <a:xfrm>
            <a:off x="6601968" y="2560320"/>
            <a:ext cx="4736592" cy="246888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Unit: entitas/istilah dan kode standar yang benar.</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Proposal merencanakan sekitar 100–200 istilah.</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Digunakan untuk evaluasi routing, retrieval, dan mapping akhir.</a:t>
            </a:r>
            <a:endParaRPr lang="en-US" sz="1300" dirty="0"/>
          </a:p>
        </p:txBody>
      </p:sp>
      <p:sp>
        <p:nvSpPr>
          <p:cNvPr id="16" name="callout background">
            <a:extLst>
              <a:ext uri="{C183D7F6-B498-43B3-948B-1728B52AA6E4}">
                <adec:decorative xmlns:adec="http://schemas.microsoft.com/office/drawing/2017/decorative" val="1"/>
              </a:ext>
            </a:extLst>
          </p:cNvPr>
          <p:cNvSpPr/>
          <p:nvPr/>
        </p:nvSpPr>
        <p:spPr>
          <a:xfrm>
            <a:off x="640080" y="5440680"/>
            <a:ext cx="10972800" cy="640080"/>
          </a:xfrm>
          <a:prstGeom prst="roundRect">
            <a:avLst>
              <a:gd name="adj" fmla="val 8571"/>
            </a:avLst>
          </a:prstGeom>
          <a:solidFill>
            <a:srgbClr val="F7EFD8"/>
          </a:solidFill>
          <a:ln/>
        </p:spPr>
        <p:txBody>
          <a:bodyPr/>
          <a:lstStyle/>
          <a:p>
            <a:endParaRPr lang="en-ID"/>
          </a:p>
        </p:txBody>
      </p:sp>
      <p:sp>
        <p:nvSpPr>
          <p:cNvPr id="17" name="Text 14"/>
          <p:cNvSpPr/>
          <p:nvPr/>
        </p:nvSpPr>
        <p:spPr>
          <a:xfrm>
            <a:off x="896112" y="5440680"/>
            <a:ext cx="10460736" cy="6400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Penting:  </a:t>
            </a:r>
            <a:r>
              <a:rPr lang="en-US" sz="1350" dirty="0">
                <a:solidFill>
                  <a:srgbClr val="26313D"/>
                </a:solidFill>
                <a:latin typeface="Calibri" pitchFamily="34" charset="0"/>
                <a:ea typeface="Calibri" pitchFamily="34" charset="-122"/>
                <a:cs typeface="Calibri" pitchFamily="34" charset="-120"/>
              </a:rPr>
              <a:t>keduanya saling terhubung, tetapi tidak dapat saling menggantikan.</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23</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PROGRES · TAHAP 0</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Tahap 0: Audit Baseline</a:t>
            </a:r>
            <a:endParaRPr lang="en-US" sz="2700" dirty="0"/>
          </a:p>
        </p:txBody>
      </p:sp>
      <p:sp>
        <p:nvSpPr>
          <p:cNvPr id="8" name="Text 5"/>
          <p:cNvSpPr/>
          <p:nvPr/>
        </p:nvSpPr>
        <p:spPr>
          <a:xfrm>
            <a:off x="640080" y="1737360"/>
            <a:ext cx="10972800" cy="365760"/>
          </a:xfrm>
          <a:prstGeom prst="rect">
            <a:avLst/>
          </a:prstGeom>
          <a:noFill/>
          <a:ln/>
        </p:spPr>
        <p:txBody>
          <a:bodyPr wrap="square" rtlCol="0" anchor="ctr"/>
          <a:lstStyle/>
          <a:p>
            <a:pPr marL="0" indent="0">
              <a:buNone/>
            </a:pPr>
            <a:r>
              <a:rPr lang="en-US" sz="1400" i="1" dirty="0">
                <a:solidFill>
                  <a:srgbClr val="14568F"/>
                </a:solidFill>
                <a:latin typeface="Calibri" pitchFamily="34" charset="0"/>
                <a:ea typeface="Calibri" pitchFamily="34" charset="-122"/>
                <a:cs typeface="Calibri" pitchFamily="34" charset="-120"/>
              </a:rPr>
              <a:t>Tujuan: memastikan baseline berjalan konsisten sebelum adaptasi.</a:t>
            </a:r>
            <a:endParaRPr lang="en-US" sz="1400" dirty="0"/>
          </a:p>
        </p:txBody>
      </p:sp>
      <p:sp>
        <p:nvSpPr>
          <p:cNvPr id="9" name="section card">
            <a:extLst>
              <a:ext uri="{C183D7F6-B498-43B3-948B-1728B52AA6E4}">
                <adec:decorative xmlns:adec="http://schemas.microsoft.com/office/drawing/2017/decorative" val="1"/>
              </a:ext>
            </a:extLst>
          </p:cNvPr>
          <p:cNvSpPr/>
          <p:nvPr/>
        </p:nvSpPr>
        <p:spPr>
          <a:xfrm>
            <a:off x="640080" y="2240280"/>
            <a:ext cx="5330952" cy="3703320"/>
          </a:xfrm>
          <a:prstGeom prst="rect">
            <a:avLst/>
          </a:prstGeom>
          <a:solidFill>
            <a:srgbClr val="F1F5FA"/>
          </a:solidFill>
          <a:ln w="12700">
            <a:solidFill>
              <a:srgbClr val="D5E0EC"/>
            </a:solidFill>
            <a:prstDash val="solid"/>
          </a:ln>
        </p:spPr>
        <p:txBody>
          <a:bodyPr/>
          <a:lstStyle/>
          <a:p>
            <a:endParaRPr lang="en-ID"/>
          </a:p>
        </p:txBody>
      </p:sp>
      <p:sp>
        <p:nvSpPr>
          <p:cNvPr id="10" name="section accent">
            <a:extLst>
              <a:ext uri="{C183D7F6-B498-43B3-948B-1728B52AA6E4}">
                <adec:decorative xmlns:adec="http://schemas.microsoft.com/office/drawing/2017/decorative" val="1"/>
              </a:ext>
            </a:extLst>
          </p:cNvPr>
          <p:cNvSpPr/>
          <p:nvPr/>
        </p:nvSpPr>
        <p:spPr>
          <a:xfrm>
            <a:off x="640080" y="2240280"/>
            <a:ext cx="109728" cy="3703320"/>
          </a:xfrm>
          <a:prstGeom prst="rect">
            <a:avLst/>
          </a:prstGeom>
          <a:solidFill>
            <a:srgbClr val="0B3C6E"/>
          </a:solidFill>
          <a:ln/>
        </p:spPr>
        <p:txBody>
          <a:bodyPr/>
          <a:lstStyle/>
          <a:p>
            <a:endParaRPr lang="en-ID"/>
          </a:p>
        </p:txBody>
      </p:sp>
      <p:sp>
        <p:nvSpPr>
          <p:cNvPr id="11" name="Text 8"/>
          <p:cNvSpPr/>
          <p:nvPr/>
        </p:nvSpPr>
        <p:spPr>
          <a:xfrm>
            <a:off x="960120" y="244144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Artefak yang tersedia</a:t>
            </a:r>
            <a:endParaRPr lang="en-US" sz="1600" dirty="0"/>
          </a:p>
        </p:txBody>
      </p:sp>
      <p:sp>
        <p:nvSpPr>
          <p:cNvPr id="12" name="Text 9"/>
          <p:cNvSpPr/>
          <p:nvPr/>
        </p:nvSpPr>
        <p:spPr>
          <a:xfrm>
            <a:off x="960120" y="2971800"/>
            <a:ext cx="4736592" cy="278892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konfigurasi baseline;</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smoke input dan smoke audit;</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snapshot dependency;</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runner hybrid retrieval;</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runner reranking Gemma;</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gold subset retrieval 10 query;</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evaluator Top-k; manifest &amp; laporan runtime.</a:t>
            </a:r>
            <a:endParaRPr lang="en-US" sz="1300" dirty="0"/>
          </a:p>
        </p:txBody>
      </p:sp>
      <p:sp>
        <p:nvSpPr>
          <p:cNvPr id="13" name="section card">
            <a:extLst>
              <a:ext uri="{C183D7F6-B498-43B3-948B-1728B52AA6E4}">
                <adec:decorative xmlns:adec="http://schemas.microsoft.com/office/drawing/2017/decorative" val="1"/>
              </a:ext>
            </a:extLst>
          </p:cNvPr>
          <p:cNvSpPr/>
          <p:nvPr/>
        </p:nvSpPr>
        <p:spPr>
          <a:xfrm>
            <a:off x="6281928" y="2240280"/>
            <a:ext cx="5330952" cy="3703320"/>
          </a:xfrm>
          <a:prstGeom prst="rect">
            <a:avLst/>
          </a:prstGeom>
          <a:solidFill>
            <a:srgbClr val="F1F5FA"/>
          </a:solidFill>
          <a:ln w="12700">
            <a:solidFill>
              <a:srgbClr val="D5E0EC"/>
            </a:solidFill>
            <a:prstDash val="solid"/>
          </a:ln>
        </p:spPr>
        <p:txBody>
          <a:bodyPr/>
          <a:lstStyle/>
          <a:p>
            <a:endParaRPr lang="en-ID"/>
          </a:p>
        </p:txBody>
      </p:sp>
      <p:sp>
        <p:nvSpPr>
          <p:cNvPr id="14" name="section accent">
            <a:extLst>
              <a:ext uri="{C183D7F6-B498-43B3-948B-1728B52AA6E4}">
                <adec:decorative xmlns:adec="http://schemas.microsoft.com/office/drawing/2017/decorative" val="1"/>
              </a:ext>
            </a:extLst>
          </p:cNvPr>
          <p:cNvSpPr/>
          <p:nvPr/>
        </p:nvSpPr>
        <p:spPr>
          <a:xfrm>
            <a:off x="6281928" y="2240280"/>
            <a:ext cx="109728" cy="3703320"/>
          </a:xfrm>
          <a:prstGeom prst="rect">
            <a:avLst/>
          </a:prstGeom>
          <a:solidFill>
            <a:srgbClr val="B98A1E"/>
          </a:solidFill>
          <a:ln/>
        </p:spPr>
        <p:txBody>
          <a:bodyPr/>
          <a:lstStyle/>
          <a:p>
            <a:endParaRPr lang="en-ID"/>
          </a:p>
        </p:txBody>
      </p:sp>
      <p:sp>
        <p:nvSpPr>
          <p:cNvPr id="15" name="Text 12"/>
          <p:cNvSpPr/>
          <p:nvPr/>
        </p:nvSpPr>
        <p:spPr>
          <a:xfrm>
            <a:off x="6601968" y="244144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Temuan infrastruktur</a:t>
            </a:r>
            <a:endParaRPr lang="en-US" sz="1600" dirty="0"/>
          </a:p>
        </p:txBody>
      </p:sp>
      <p:sp>
        <p:nvSpPr>
          <p:cNvPr id="16" name="Text 13"/>
          <p:cNvSpPr/>
          <p:nvPr/>
        </p:nvSpPr>
        <p:spPr>
          <a:xfrm>
            <a:off x="6601968" y="2971800"/>
            <a:ext cx="4736592" cy="278892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fallback hybrid Qdrant dapat berjalan;</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akses Athena pernah mengembalikan HTTP 403 dan dicatat sebagai partial source error.</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24</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PROGRES · TAHAP 0</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Hasil Awal Tahap 0 — Pilot Retrieval (10 query)</a:t>
            </a:r>
            <a:endParaRPr lang="en-US" sz="27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3200400"/>
        </p:xfrm>
        <a:graphic>
          <a:graphicData uri="http://schemas.openxmlformats.org/drawingml/2006/table">
            <a:tbl>
              <a:tblPr/>
              <a:tblGrid>
                <a:gridCol w="44805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5720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Metrik</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Hybrid</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Setelah reranking</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extLst>
                  <a:ext uri="{0D108BD9-81ED-4DB2-BD59-A6C34878D82A}">
                    <a16:rowId xmlns:a16="http://schemas.microsoft.com/office/drawing/2014/main" val="10000"/>
                  </a:ext>
                </a:extLst>
              </a:tr>
              <a:tr h="457200">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Coverage</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Accuracy@1</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r h="457200">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Accuracy@5</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0,70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0,80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Accuracy@10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4"/>
                  </a:ext>
                </a:extLst>
              </a:tr>
              <a:tr h="457200">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MRR</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0,640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0,634</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Mean latency</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1,47 detik</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4,22 detik</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6"/>
                  </a:ext>
                </a:extLst>
              </a:tr>
            </a:tbl>
          </a:graphicData>
        </a:graphic>
      </p:graphicFrame>
      <p:sp>
        <p:nvSpPr>
          <p:cNvPr id="9" name="callout background">
            <a:extLst>
              <a:ext uri="{C183D7F6-B498-43B3-948B-1728B52AA6E4}">
                <adec:decorative xmlns:adec="http://schemas.microsoft.com/office/drawing/2017/decorative" val="1"/>
              </a:ext>
            </a:extLst>
          </p:cNvPr>
          <p:cNvSpPr/>
          <p:nvPr/>
        </p:nvSpPr>
        <p:spPr>
          <a:xfrm>
            <a:off x="640080" y="5349240"/>
            <a:ext cx="10972800" cy="868680"/>
          </a:xfrm>
          <a:prstGeom prst="roundRect">
            <a:avLst>
              <a:gd name="adj" fmla="val 6316"/>
            </a:avLst>
          </a:prstGeom>
          <a:solidFill>
            <a:srgbClr val="F7EFD8"/>
          </a:solidFill>
          <a:ln/>
        </p:spPr>
        <p:txBody>
          <a:bodyPr/>
          <a:lstStyle/>
          <a:p>
            <a:endParaRPr lang="en-ID"/>
          </a:p>
        </p:txBody>
      </p:sp>
      <p:sp>
        <p:nvSpPr>
          <p:cNvPr id="10" name="Text 6"/>
          <p:cNvSpPr/>
          <p:nvPr/>
        </p:nvSpPr>
        <p:spPr>
          <a:xfrm>
            <a:off x="896112" y="5349240"/>
            <a:ext cx="10460736" cy="8686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Interpretasi awal:  </a:t>
            </a:r>
            <a:r>
              <a:rPr lang="en-US" sz="1350" dirty="0">
                <a:solidFill>
                  <a:srgbClr val="26313D"/>
                </a:solidFill>
                <a:latin typeface="Calibri" pitchFamily="34" charset="0"/>
                <a:ea typeface="Calibri" pitchFamily="34" charset="-122"/>
                <a:cs typeface="Calibri" pitchFamily="34" charset="-120"/>
              </a:rPr>
              <a:t>reranking memperbaiki cakupan peringkat menengah, tetapi belum meningkatkan Top-1 dan menambah latensi. Ini smoke/pilot 10 query, bukan hasil utama.</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25</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PROGRES · TAHAP 1</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Tahap 1: Normalisasi Konservatif</a:t>
            </a:r>
            <a:endParaRPr lang="en-US" sz="2700" dirty="0"/>
          </a:p>
        </p:txBody>
      </p:sp>
      <p:sp>
        <p:nvSpPr>
          <p:cNvPr id="8" name="pipeline background">
            <a:extLst>
              <a:ext uri="{C183D7F6-B498-43B3-948B-1728B52AA6E4}">
                <adec:decorative xmlns:adec="http://schemas.microsoft.com/office/drawing/2017/decorative" val="1"/>
              </a:ext>
            </a:extLst>
          </p:cNvPr>
          <p:cNvSpPr/>
          <p:nvPr/>
        </p:nvSpPr>
        <p:spPr>
          <a:xfrm>
            <a:off x="640080" y="1828800"/>
            <a:ext cx="10972800" cy="2194560"/>
          </a:xfrm>
          <a:prstGeom prst="roundRect">
            <a:avLst>
              <a:gd name="adj" fmla="val 2083"/>
            </a:avLst>
          </a:prstGeom>
          <a:solidFill>
            <a:srgbClr val="F1F5FA"/>
          </a:solidFill>
          <a:ln w="12700">
            <a:solidFill>
              <a:srgbClr val="D5E0EC"/>
            </a:solidFill>
            <a:prstDash val="solid"/>
          </a:ln>
        </p:spPr>
        <p:txBody>
          <a:bodyPr/>
          <a:lstStyle/>
          <a:p>
            <a:endParaRPr lang="en-ID"/>
          </a:p>
        </p:txBody>
      </p:sp>
      <p:sp>
        <p:nvSpPr>
          <p:cNvPr id="9" name="Text 6"/>
          <p:cNvSpPr/>
          <p:nvPr/>
        </p:nvSpPr>
        <p:spPr>
          <a:xfrm>
            <a:off x="914400" y="1828800"/>
            <a:ext cx="10424160" cy="2194560"/>
          </a:xfrm>
          <a:prstGeom prst="rect">
            <a:avLst/>
          </a:prstGeom>
          <a:noFill/>
          <a:ln/>
        </p:spPr>
        <p:txBody>
          <a:bodyPr wrap="square" rtlCol="0" anchor="ctr"/>
          <a:lstStyle/>
          <a:p>
            <a:pPr marL="0" indent="0" algn="l">
              <a:lnSpc>
                <a:spcPct val="125000"/>
              </a:lnSpc>
              <a:buNone/>
            </a:pPr>
            <a:r>
              <a:rPr lang="en-US" sz="1400" b="1" dirty="0">
                <a:solidFill>
                  <a:srgbClr val="0B3C6E"/>
                </a:solidFill>
                <a:latin typeface="Calibri" pitchFamily="34" charset="0"/>
                <a:ea typeface="Calibri" pitchFamily="34" charset="-122"/>
                <a:cs typeface="Calibri" pitchFamily="34" charset="-120"/>
              </a:rPr>
              <a:t>raw_text</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validasi &amp; Unicode</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cleaning konservatif</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token terlindungi</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bentuk informal</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ekspansi singkatan kontekstual</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koreksi typo terbatas</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angka &amp; satuan</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segmentasi kalimat</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boilerplate</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normalized_text + audit trail</a:t>
            </a:r>
            <a:endParaRPr lang="en-US" sz="1400" dirty="0"/>
          </a:p>
        </p:txBody>
      </p:sp>
      <p:sp>
        <p:nvSpPr>
          <p:cNvPr id="10" name="callout background">
            <a:extLst>
              <a:ext uri="{C183D7F6-B498-43B3-948B-1728B52AA6E4}">
                <adec:decorative xmlns:adec="http://schemas.microsoft.com/office/drawing/2017/decorative" val="1"/>
              </a:ext>
            </a:extLst>
          </p:cNvPr>
          <p:cNvSpPr/>
          <p:nvPr/>
        </p:nvSpPr>
        <p:spPr>
          <a:xfrm>
            <a:off x="640080" y="4343400"/>
            <a:ext cx="10972800" cy="1005840"/>
          </a:xfrm>
          <a:prstGeom prst="roundRect">
            <a:avLst>
              <a:gd name="adj" fmla="val 5455"/>
            </a:avLst>
          </a:prstGeom>
          <a:solidFill>
            <a:srgbClr val="EAF1F8"/>
          </a:solidFill>
          <a:ln/>
        </p:spPr>
        <p:txBody>
          <a:bodyPr/>
          <a:lstStyle/>
          <a:p>
            <a:endParaRPr lang="en-ID"/>
          </a:p>
        </p:txBody>
      </p:sp>
      <p:sp>
        <p:nvSpPr>
          <p:cNvPr id="11" name="Text 8"/>
          <p:cNvSpPr/>
          <p:nvPr/>
        </p:nvSpPr>
        <p:spPr>
          <a:xfrm>
            <a:off x="896112" y="4343400"/>
            <a:ext cx="10460736" cy="1005840"/>
          </a:xfrm>
          <a:prstGeom prst="rect">
            <a:avLst/>
          </a:prstGeom>
          <a:noFill/>
          <a:ln/>
        </p:spPr>
        <p:txBody>
          <a:bodyPr wrap="square" rtlCol="0" anchor="ctr"/>
          <a:lstStyle/>
          <a:p>
            <a:pPr marL="0" indent="0">
              <a:lnSpc>
                <a:spcPct val="100000"/>
              </a:lnSpc>
              <a:buNone/>
            </a:pPr>
            <a:r>
              <a:rPr lang="en-US" sz="1350" b="1" dirty="0">
                <a:solidFill>
                  <a:srgbClr val="14568F"/>
                </a:solidFill>
                <a:latin typeface="Calibri" pitchFamily="34" charset="0"/>
                <a:ea typeface="Calibri" pitchFamily="34" charset="-122"/>
                <a:cs typeface="Calibri" pitchFamily="34" charset="-120"/>
              </a:rPr>
              <a:t>Prinsip utama:  </a:t>
            </a:r>
            <a:r>
              <a:rPr lang="en-US" sz="1350" dirty="0">
                <a:solidFill>
                  <a:srgbClr val="26313D"/>
                </a:solidFill>
                <a:latin typeface="Calibri" pitchFamily="34" charset="0"/>
                <a:ea typeface="Calibri" pitchFamily="34" charset="-122"/>
                <a:cs typeface="Calibri" pitchFamily="34" charset="-120"/>
              </a:rPr>
              <a:t>meningkatkan keterbacaan mesin tanpa menghilangkan makna klinis. Angka, dosis, unit, negasi, temporalitas, dan istilah campuran dipertahankan.</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26</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PROGRES · TAHAP 1</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Kamus Singkatan Berlapis</a:t>
            </a:r>
            <a:endParaRPr lang="en-US" sz="2700" dirty="0"/>
          </a:p>
        </p:txBody>
      </p:sp>
      <p:sp>
        <p:nvSpPr>
          <p:cNvPr id="8" name="Text 5"/>
          <p:cNvSpPr/>
          <p:nvPr/>
        </p:nvSpPr>
        <p:spPr>
          <a:xfrm>
            <a:off x="640080" y="1828800"/>
            <a:ext cx="5669280" cy="4114800"/>
          </a:xfrm>
          <a:prstGeom prst="rect">
            <a:avLst/>
          </a:prstGeom>
          <a:noFill/>
          <a:ln/>
        </p:spPr>
        <p:txBody>
          <a:bodyPr wrap="square" rtlCol="0" anchor="t"/>
          <a:lstStyle/>
          <a:p>
            <a:pPr marL="0" indent="0">
              <a:lnSpc>
                <a:spcPct val="102000"/>
              </a:lnSpc>
              <a:spcAft>
                <a:spcPts val="700"/>
              </a:spcAft>
              <a:buNone/>
            </a:pPr>
            <a:r>
              <a:rPr lang="en-US" sz="1400" b="1" dirty="0">
                <a:solidFill>
                  <a:srgbClr val="0B3C6E"/>
                </a:solidFill>
                <a:latin typeface="Calibri" pitchFamily="34" charset="0"/>
                <a:ea typeface="Calibri" pitchFamily="34" charset="-122"/>
                <a:cs typeface="Calibri" pitchFamily="34" charset="-120"/>
              </a:rPr>
              <a:t>Setiap entri memiliki:</a:t>
            </a:r>
            <a:endParaRPr lang="en-US" sz="1400" dirty="0"/>
          </a:p>
          <a:p>
            <a:pPr marL="355600" lvl="1" indent="-177800">
              <a:lnSpc>
                <a:spcPct val="102000"/>
              </a:lnSpc>
              <a:spcAft>
                <a:spcPts val="300"/>
              </a:spcAft>
              <a:buSzPct val="100000"/>
              <a:buChar char="–"/>
            </a:pPr>
            <a:r>
              <a:rPr lang="en-US" sz="1400" dirty="0">
                <a:solidFill>
                  <a:srgbClr val="26313D"/>
                </a:solidFill>
                <a:latin typeface="Calibri" pitchFamily="34" charset="0"/>
                <a:ea typeface="Calibri" pitchFamily="34" charset="-122"/>
                <a:cs typeface="Calibri" pitchFamily="34" charset="-120"/>
              </a:rPr>
              <a:t>bentuk singkat dan ekspansi;</a:t>
            </a:r>
            <a:endParaRPr lang="en-US" sz="1400" dirty="0"/>
          </a:p>
          <a:p>
            <a:pPr marL="355600" lvl="1" indent="-177800">
              <a:lnSpc>
                <a:spcPct val="102000"/>
              </a:lnSpc>
              <a:spcAft>
                <a:spcPts val="300"/>
              </a:spcAft>
              <a:buSzPct val="100000"/>
              <a:buChar char="–"/>
            </a:pPr>
            <a:r>
              <a:rPr lang="en-US" sz="1400" dirty="0">
                <a:solidFill>
                  <a:srgbClr val="26313D"/>
                </a:solidFill>
                <a:latin typeface="Calibri" pitchFamily="34" charset="0"/>
                <a:ea typeface="Calibri" pitchFamily="34" charset="-122"/>
                <a:cs typeface="Calibri" pitchFamily="34" charset="-120"/>
              </a:rPr>
              <a:t>kategori/domain;</a:t>
            </a:r>
            <a:endParaRPr lang="en-US" sz="1400" dirty="0"/>
          </a:p>
          <a:p>
            <a:pPr marL="355600" lvl="1" indent="-177800">
              <a:lnSpc>
                <a:spcPct val="102000"/>
              </a:lnSpc>
              <a:spcAft>
                <a:spcPts val="300"/>
              </a:spcAft>
              <a:buSzPct val="100000"/>
              <a:buChar char="–"/>
            </a:pPr>
            <a:r>
              <a:rPr lang="en-US" sz="1400" dirty="0">
                <a:solidFill>
                  <a:srgbClr val="26313D"/>
                </a:solidFill>
                <a:latin typeface="Calibri" pitchFamily="34" charset="0"/>
                <a:ea typeface="Calibri" pitchFamily="34" charset="-122"/>
                <a:cs typeface="Calibri" pitchFamily="34" charset="-120"/>
              </a:rPr>
              <a:t>status: automatic, context_required, review_required;</a:t>
            </a:r>
            <a:endParaRPr lang="en-US" sz="1400" dirty="0"/>
          </a:p>
          <a:p>
            <a:pPr marL="355600" lvl="1" indent="-177800">
              <a:lnSpc>
                <a:spcPct val="102000"/>
              </a:lnSpc>
              <a:spcAft>
                <a:spcPts val="300"/>
              </a:spcAft>
              <a:buSzPct val="100000"/>
              <a:buChar char="–"/>
            </a:pPr>
            <a:r>
              <a:rPr lang="en-US" sz="1400" dirty="0">
                <a:solidFill>
                  <a:srgbClr val="26313D"/>
                </a:solidFill>
                <a:latin typeface="Calibri" pitchFamily="34" charset="0"/>
                <a:ea typeface="Calibri" pitchFamily="34" charset="-122"/>
                <a:cs typeface="Calibri" pitchFamily="34" charset="-120"/>
              </a:rPr>
              <a:t>konteks dan ambiguitas;</a:t>
            </a:r>
            <a:endParaRPr lang="en-US" sz="1400" dirty="0"/>
          </a:p>
          <a:p>
            <a:pPr marL="355600" lvl="1"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provenance dan versi.</a:t>
            </a:r>
            <a:endParaRPr lang="en-US" sz="1400" dirty="0"/>
          </a:p>
        </p:txBody>
      </p:sp>
      <p:sp>
        <p:nvSpPr>
          <p:cNvPr id="9" name="Text 6"/>
          <p:cNvSpPr/>
          <p:nvPr/>
        </p:nvSpPr>
        <p:spPr>
          <a:xfrm>
            <a:off x="6583680" y="1783080"/>
            <a:ext cx="4937760" cy="320040"/>
          </a:xfrm>
          <a:prstGeom prst="rect">
            <a:avLst/>
          </a:prstGeom>
          <a:noFill/>
          <a:ln/>
        </p:spPr>
        <p:txBody>
          <a:bodyPr wrap="square" rtlCol="0" anchor="ctr"/>
          <a:lstStyle/>
          <a:p>
            <a:pPr marL="0" indent="0">
              <a:buNone/>
            </a:pPr>
            <a:r>
              <a:rPr lang="en-US" sz="1200" b="1" kern="0" spc="100" dirty="0">
                <a:solidFill>
                  <a:srgbClr val="B98A1E"/>
                </a:solidFill>
                <a:latin typeface="Calibri" pitchFamily="34" charset="0"/>
                <a:ea typeface="Calibri" pitchFamily="34" charset="-122"/>
                <a:cs typeface="Calibri" pitchFamily="34" charset="-120"/>
              </a:rPr>
              <a:t>Contoh risiko ambiguitas</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583680" y="2148840"/>
          <a:ext cx="4937760" cy="2743200"/>
        </p:xfrm>
        <a:graphic>
          <a:graphicData uri="http://schemas.openxmlformats.org/drawingml/2006/table">
            <a:tbl>
              <a:tblPr/>
              <a:tblGrid>
                <a:gridCol w="146304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54864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Singkatan</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Kemungkinan makna</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extLst>
                  <a:ext uri="{0D108BD9-81ED-4DB2-BD59-A6C34878D82A}">
                    <a16:rowId xmlns:a16="http://schemas.microsoft.com/office/drawing/2014/main" val="10000"/>
                  </a:ext>
                </a:extLst>
              </a:tr>
              <a:tr h="54864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TB</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tinggi badan / tuberkulosis</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BB</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berat badan / konteks lain</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r h="54864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mg</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miligram / minggu</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Px</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pasien / pemeriksaan</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27</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PROGRES · TAHAP 1</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Progres dan Audit Tahap 1</a:t>
            </a:r>
            <a:endParaRPr lang="en-US" sz="2700" dirty="0"/>
          </a:p>
        </p:txBody>
      </p:sp>
      <p:sp>
        <p:nvSpPr>
          <p:cNvPr id="8" name="section card">
            <a:extLst>
              <a:ext uri="{C183D7F6-B498-43B3-948B-1728B52AA6E4}">
                <adec:decorative xmlns:adec="http://schemas.microsoft.com/office/drawing/2017/decorative" val="1"/>
              </a:ext>
            </a:extLst>
          </p:cNvPr>
          <p:cNvSpPr/>
          <p:nvPr/>
        </p:nvSpPr>
        <p:spPr>
          <a:xfrm>
            <a:off x="640080" y="1828800"/>
            <a:ext cx="5330952" cy="3703320"/>
          </a:xfrm>
          <a:prstGeom prst="rect">
            <a:avLst/>
          </a:prstGeom>
          <a:solidFill>
            <a:srgbClr val="F1F5FA"/>
          </a:solidFill>
          <a:ln w="12700">
            <a:solidFill>
              <a:srgbClr val="D5E0EC"/>
            </a:solidFill>
            <a:prstDash val="solid"/>
          </a:ln>
        </p:spPr>
        <p:txBody>
          <a:bodyPr/>
          <a:lstStyle/>
          <a:p>
            <a:endParaRPr lang="en-ID"/>
          </a:p>
        </p:txBody>
      </p:sp>
      <p:sp>
        <p:nvSpPr>
          <p:cNvPr id="9" name="section accent">
            <a:extLst>
              <a:ext uri="{C183D7F6-B498-43B3-948B-1728B52AA6E4}">
                <adec:decorative xmlns:adec="http://schemas.microsoft.com/office/drawing/2017/decorative" val="1"/>
              </a:ext>
            </a:extLst>
          </p:cNvPr>
          <p:cNvSpPr/>
          <p:nvPr/>
        </p:nvSpPr>
        <p:spPr>
          <a:xfrm>
            <a:off x="640080" y="1828800"/>
            <a:ext cx="109728" cy="3703320"/>
          </a:xfrm>
          <a:prstGeom prst="rect">
            <a:avLst/>
          </a:prstGeom>
          <a:solidFill>
            <a:srgbClr val="0B3C6E"/>
          </a:solidFill>
          <a:ln/>
        </p:spPr>
        <p:txBody>
          <a:bodyPr/>
          <a:lstStyle/>
          <a:p>
            <a:endParaRPr lang="en-ID"/>
          </a:p>
        </p:txBody>
      </p:sp>
      <p:sp>
        <p:nvSpPr>
          <p:cNvPr id="10" name="Text 7"/>
          <p:cNvSpPr/>
          <p:nvPr/>
        </p:nvSpPr>
        <p:spPr>
          <a:xfrm>
            <a:off x="960120" y="202996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Telah diimplementasikan</a:t>
            </a:r>
            <a:endParaRPr lang="en-US" sz="1600" dirty="0"/>
          </a:p>
        </p:txBody>
      </p:sp>
      <p:sp>
        <p:nvSpPr>
          <p:cNvPr id="11" name="Text 8"/>
          <p:cNvSpPr/>
          <p:nvPr/>
        </p:nvSpPr>
        <p:spPr>
          <a:xfrm>
            <a:off x="960120" y="2560320"/>
            <a:ext cx="4736592" cy="278892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profil clinical, question, dan answer;</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kamus singkatan, typo, dan unit;</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perlindungan token klinis;</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segmentasi deterministik;</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deteksi boilerplate tanpa menghapus teks;</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audit trail dan versioning;</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runner 150 pasangan Alodokter; tujuh unit test normalizer.</a:t>
            </a:r>
            <a:endParaRPr lang="en-US" sz="1300" dirty="0"/>
          </a:p>
        </p:txBody>
      </p:sp>
      <p:sp>
        <p:nvSpPr>
          <p:cNvPr id="12" name="section card">
            <a:extLst>
              <a:ext uri="{C183D7F6-B498-43B3-948B-1728B52AA6E4}">
                <adec:decorative xmlns:adec="http://schemas.microsoft.com/office/drawing/2017/decorative" val="1"/>
              </a:ext>
            </a:extLst>
          </p:cNvPr>
          <p:cNvSpPr/>
          <p:nvPr/>
        </p:nvSpPr>
        <p:spPr>
          <a:xfrm>
            <a:off x="6281928" y="1828800"/>
            <a:ext cx="5330952" cy="3703320"/>
          </a:xfrm>
          <a:prstGeom prst="rect">
            <a:avLst/>
          </a:prstGeom>
          <a:solidFill>
            <a:srgbClr val="F1F5FA"/>
          </a:solidFill>
          <a:ln w="12700">
            <a:solidFill>
              <a:srgbClr val="D5E0EC"/>
            </a:solidFill>
            <a:prstDash val="solid"/>
          </a:ln>
        </p:spPr>
        <p:txBody>
          <a:bodyPr/>
          <a:lstStyle/>
          <a:p>
            <a:endParaRPr lang="en-ID"/>
          </a:p>
        </p:txBody>
      </p:sp>
      <p:sp>
        <p:nvSpPr>
          <p:cNvPr id="13" name="section accent">
            <a:extLst>
              <a:ext uri="{C183D7F6-B498-43B3-948B-1728B52AA6E4}">
                <adec:decorative xmlns:adec="http://schemas.microsoft.com/office/drawing/2017/decorative" val="1"/>
              </a:ext>
            </a:extLst>
          </p:cNvPr>
          <p:cNvSpPr/>
          <p:nvPr/>
        </p:nvSpPr>
        <p:spPr>
          <a:xfrm>
            <a:off x="6281928" y="1828800"/>
            <a:ext cx="109728" cy="3703320"/>
          </a:xfrm>
          <a:prstGeom prst="rect">
            <a:avLst/>
          </a:prstGeom>
          <a:solidFill>
            <a:srgbClr val="B98A1E"/>
          </a:solidFill>
          <a:ln/>
        </p:spPr>
        <p:txBody>
          <a:bodyPr/>
          <a:lstStyle/>
          <a:p>
            <a:endParaRPr lang="en-ID"/>
          </a:p>
        </p:txBody>
      </p:sp>
      <p:sp>
        <p:nvSpPr>
          <p:cNvPr id="14" name="Text 11"/>
          <p:cNvSpPr/>
          <p:nvPr/>
        </p:nvSpPr>
        <p:spPr>
          <a:xfrm>
            <a:off x="6601968" y="202996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Audit kecil</a:t>
            </a:r>
            <a:endParaRPr lang="en-US" sz="1600" dirty="0"/>
          </a:p>
        </p:txBody>
      </p:sp>
      <p:sp>
        <p:nvSpPr>
          <p:cNvPr id="15" name="Text 12"/>
          <p:cNvSpPr/>
          <p:nvPr/>
        </p:nvSpPr>
        <p:spPr>
          <a:xfrm>
            <a:off x="6601968" y="2560320"/>
            <a:ext cx="4736592" cy="278892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5/5 exact normalized match;</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14 ekspansi singkatan;</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3 koreksi typo;</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5 normalisasi unit.</a:t>
            </a:r>
            <a:endParaRPr lang="en-US" sz="1300" dirty="0"/>
          </a:p>
        </p:txBody>
      </p:sp>
      <p:sp>
        <p:nvSpPr>
          <p:cNvPr id="16" name="callout background">
            <a:extLst>
              <a:ext uri="{C183D7F6-B498-43B3-948B-1728B52AA6E4}">
                <adec:decorative xmlns:adec="http://schemas.microsoft.com/office/drawing/2017/decorative" val="1"/>
              </a:ext>
            </a:extLst>
          </p:cNvPr>
          <p:cNvSpPr/>
          <p:nvPr/>
        </p:nvSpPr>
        <p:spPr>
          <a:xfrm>
            <a:off x="640080" y="5669280"/>
            <a:ext cx="10972800" cy="640080"/>
          </a:xfrm>
          <a:prstGeom prst="roundRect">
            <a:avLst>
              <a:gd name="adj" fmla="val 8571"/>
            </a:avLst>
          </a:prstGeom>
          <a:solidFill>
            <a:srgbClr val="F7EFD8"/>
          </a:solidFill>
          <a:ln/>
        </p:spPr>
        <p:txBody>
          <a:bodyPr/>
          <a:lstStyle/>
          <a:p>
            <a:endParaRPr lang="en-ID"/>
          </a:p>
        </p:txBody>
      </p:sp>
      <p:sp>
        <p:nvSpPr>
          <p:cNvPr id="17" name="Text 14"/>
          <p:cNvSpPr/>
          <p:nvPr/>
        </p:nvSpPr>
        <p:spPr>
          <a:xfrm>
            <a:off x="896112" y="5669280"/>
            <a:ext cx="10460736" cy="6400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Keterbatasan:  </a:t>
            </a:r>
            <a:r>
              <a:rPr lang="en-US" sz="1350" dirty="0">
                <a:solidFill>
                  <a:srgbClr val="26313D"/>
                </a:solidFill>
                <a:latin typeface="Calibri" pitchFamily="34" charset="0"/>
                <a:ea typeface="Calibri" pitchFamily="34" charset="-122"/>
                <a:cs typeface="Calibri" pitchFamily="34" charset="-120"/>
              </a:rPr>
              <a:t>hasil 100% berasal dari lima kasus gold terkontrol; evaluasi lebih besar tetap diperlukan.</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28</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PROGRES · TAHAP 2</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Mengapa Tahap 2 Lebih dari NER Biasa?</a:t>
            </a:r>
            <a:endParaRPr lang="en-US" sz="2700" dirty="0"/>
          </a:p>
        </p:txBody>
      </p:sp>
      <p:sp>
        <p:nvSpPr>
          <p:cNvPr id="8" name="Text 5"/>
          <p:cNvSpPr/>
          <p:nvPr/>
        </p:nvSpPr>
        <p:spPr>
          <a:xfrm>
            <a:off x="640080" y="1737360"/>
            <a:ext cx="10972800" cy="365760"/>
          </a:xfrm>
          <a:prstGeom prst="rect">
            <a:avLst/>
          </a:prstGeom>
          <a:noFill/>
          <a:ln/>
        </p:spPr>
        <p:txBody>
          <a:bodyPr wrap="square" rtlCol="0" anchor="ctr"/>
          <a:lstStyle/>
          <a:p>
            <a:pPr marL="0" indent="0">
              <a:buNone/>
            </a:pPr>
            <a:r>
              <a:rPr lang="en-US" sz="1500" b="1" dirty="0">
                <a:solidFill>
                  <a:srgbClr val="0B3C6E"/>
                </a:solidFill>
                <a:latin typeface="Calibri" pitchFamily="34" charset="0"/>
                <a:ea typeface="Calibri" pitchFamily="34" charset="-122"/>
                <a:cs typeface="Calibri" pitchFamily="34" charset="-120"/>
              </a:rPr>
              <a:t>Entitas harus membawa konteks klinis:</a:t>
            </a:r>
            <a:endParaRPr lang="en-US" sz="1500" dirty="0"/>
          </a:p>
        </p:txBody>
      </p:sp>
      <p:sp>
        <p:nvSpPr>
          <p:cNvPr id="9" name="formula box">
            <a:extLst>
              <a:ext uri="{C183D7F6-B498-43B3-948B-1728B52AA6E4}">
                <adec:decorative xmlns:adec="http://schemas.microsoft.com/office/drawing/2017/decorative" val="1"/>
              </a:ext>
            </a:extLst>
          </p:cNvPr>
          <p:cNvSpPr/>
          <p:nvPr/>
        </p:nvSpPr>
        <p:spPr>
          <a:xfrm>
            <a:off x="640080" y="2148840"/>
            <a:ext cx="10972800" cy="1371600"/>
          </a:xfrm>
          <a:prstGeom prst="roundRect">
            <a:avLst>
              <a:gd name="adj" fmla="val 3333"/>
            </a:avLst>
          </a:prstGeom>
          <a:solidFill>
            <a:srgbClr val="F1F5FA"/>
          </a:solidFill>
          <a:ln w="12700">
            <a:solidFill>
              <a:srgbClr val="D5E0EC"/>
            </a:solidFill>
            <a:prstDash val="solid"/>
          </a:ln>
        </p:spPr>
        <p:txBody>
          <a:bodyPr/>
          <a:lstStyle/>
          <a:p>
            <a:endParaRPr lang="en-ID"/>
          </a:p>
        </p:txBody>
      </p:sp>
      <p:sp>
        <p:nvSpPr>
          <p:cNvPr id="10" name="Text 7"/>
          <p:cNvSpPr/>
          <p:nvPr/>
        </p:nvSpPr>
        <p:spPr>
          <a:xfrm>
            <a:off x="914400" y="2148840"/>
            <a:ext cx="10424160" cy="1371600"/>
          </a:xfrm>
          <a:prstGeom prst="rect">
            <a:avLst/>
          </a:prstGeom>
          <a:noFill/>
          <a:ln/>
        </p:spPr>
        <p:txBody>
          <a:bodyPr wrap="square" rtlCol="0" anchor="ctr"/>
          <a:lstStyle/>
          <a:p>
            <a:pPr marL="0" indent="0" algn="ctr">
              <a:lnSpc>
                <a:spcPct val="130000"/>
              </a:lnSpc>
              <a:buNone/>
            </a:pPr>
            <a:r>
              <a:rPr lang="en-US" sz="1500" dirty="0">
                <a:solidFill>
                  <a:srgbClr val="26313D"/>
                </a:solidFill>
                <a:latin typeface="Consolas" pitchFamily="34" charset="0"/>
                <a:ea typeface="Consolas" pitchFamily="34" charset="-122"/>
                <a:cs typeface="Consolas" pitchFamily="34" charset="-120"/>
              </a:rPr>
              <a:t>mention + entity_type + assertion + temporal + experiencer + epistemic status + value/unit/dose/frequency/route + evidence &amp; offset</a:t>
            </a:r>
            <a:endParaRPr lang="en-US" sz="1500" dirty="0"/>
          </a:p>
        </p:txBody>
      </p:sp>
      <p:sp>
        <p:nvSpPr>
          <p:cNvPr id="11" name="example box">
            <a:extLst>
              <a:ext uri="{C183D7F6-B498-43B3-948B-1728B52AA6E4}">
                <adec:decorative xmlns:adec="http://schemas.microsoft.com/office/drawing/2017/decorative" val="1"/>
              </a:ext>
            </a:extLst>
          </p:cNvPr>
          <p:cNvSpPr/>
          <p:nvPr/>
        </p:nvSpPr>
        <p:spPr>
          <a:xfrm>
            <a:off x="640080" y="3794760"/>
            <a:ext cx="10972800" cy="1417320"/>
          </a:xfrm>
          <a:prstGeom prst="roundRect">
            <a:avLst>
              <a:gd name="adj" fmla="val 3226"/>
            </a:avLst>
          </a:prstGeom>
          <a:solidFill>
            <a:srgbClr val="F7EFD8"/>
          </a:solidFill>
          <a:ln/>
        </p:spPr>
        <p:txBody>
          <a:bodyPr/>
          <a:lstStyle/>
          <a:p>
            <a:endParaRPr lang="en-ID"/>
          </a:p>
        </p:txBody>
      </p:sp>
      <p:sp>
        <p:nvSpPr>
          <p:cNvPr id="12" name="Text 9"/>
          <p:cNvSpPr/>
          <p:nvPr/>
        </p:nvSpPr>
        <p:spPr>
          <a:xfrm>
            <a:off x="914400" y="3794760"/>
            <a:ext cx="10424160" cy="1417320"/>
          </a:xfrm>
          <a:prstGeom prst="rect">
            <a:avLst/>
          </a:prstGeom>
          <a:noFill/>
          <a:ln/>
        </p:spPr>
        <p:txBody>
          <a:bodyPr wrap="square" rtlCol="0" anchor="ctr"/>
          <a:lstStyle/>
          <a:p>
            <a:pPr marL="0" indent="0">
              <a:lnSpc>
                <a:spcPct val="120000"/>
              </a:lnSpc>
              <a:buNone/>
            </a:pPr>
            <a:r>
              <a:rPr lang="en-US" sz="1450" b="1" dirty="0">
                <a:solidFill>
                  <a:srgbClr val="7A5C0F"/>
                </a:solidFill>
                <a:latin typeface="Calibri" pitchFamily="34" charset="0"/>
                <a:ea typeface="Calibri" pitchFamily="34" charset="-122"/>
                <a:cs typeface="Calibri" pitchFamily="34" charset="-120"/>
              </a:rPr>
              <a:t>Contoh:  </a:t>
            </a:r>
            <a:r>
              <a:rPr lang="en-US" sz="1450" i="1" dirty="0">
                <a:solidFill>
                  <a:srgbClr val="26313D"/>
                </a:solidFill>
                <a:latin typeface="Calibri" pitchFamily="34" charset="0"/>
                <a:ea typeface="Calibri" pitchFamily="34" charset="-122"/>
                <a:cs typeface="Calibri" pitchFamily="34" charset="-120"/>
              </a:rPr>
              <a:t>“ibu saya menderita diabetes”
</a:t>
            </a:r>
            <a:r>
              <a:rPr lang="en-US" sz="1450" dirty="0">
                <a:solidFill>
                  <a:srgbClr val="26313D"/>
                </a:solidFill>
                <a:latin typeface="Calibri" pitchFamily="34" charset="0"/>
                <a:ea typeface="Calibri" pitchFamily="34" charset="-122"/>
                <a:cs typeface="Calibri" pitchFamily="34" charset="-120"/>
              </a:rPr>
              <a:t>entitas: diabetes  ·  tipe: condition  ·  experiencer: family  ·  bukan kondisi penanya.</a:t>
            </a:r>
            <a:endParaRPr lang="en-US" sz="14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29</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PROGRES · TAHAP 2</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Strategi Checkpoint Tahap 2</a:t>
            </a:r>
            <a:endParaRPr lang="en-US" sz="2700" dirty="0"/>
          </a:p>
        </p:txBody>
      </p:sp>
      <p:sp>
        <p:nvSpPr>
          <p:cNvPr id="8" name="card 1">
            <a:extLst>
              <a:ext uri="{C183D7F6-B498-43B3-948B-1728B52AA6E4}">
                <adec:decorative xmlns:adec="http://schemas.microsoft.com/office/drawing/2017/decorative" val="1"/>
              </a:ext>
            </a:extLst>
          </p:cNvPr>
          <p:cNvSpPr/>
          <p:nvPr/>
        </p:nvSpPr>
        <p:spPr>
          <a:xfrm>
            <a:off x="640080" y="1828800"/>
            <a:ext cx="3422904" cy="3931920"/>
          </a:xfrm>
          <a:prstGeom prst="rect">
            <a:avLst/>
          </a:prstGeom>
          <a:solidFill>
            <a:srgbClr val="F1F5FA"/>
          </a:solidFill>
          <a:ln w="12700">
            <a:solidFill>
              <a:srgbClr val="D5E0EC"/>
            </a:solidFill>
            <a:prstDash val="solid"/>
          </a:ln>
          <a:effectLst>
            <a:outerShdw blurRad="88900" dist="25400" dir="5400000" algn="bl" rotWithShape="0">
              <a:srgbClr val="9AA7B4">
                <a:alpha val="22000"/>
              </a:srgbClr>
            </a:outerShdw>
          </a:effectLst>
        </p:spPr>
        <p:txBody>
          <a:bodyPr/>
          <a:lstStyle/>
          <a:p>
            <a:endParaRPr lang="en-ID"/>
          </a:p>
        </p:txBody>
      </p:sp>
      <p:sp>
        <p:nvSpPr>
          <p:cNvPr id="9" name="card top accent">
            <a:extLst>
              <a:ext uri="{C183D7F6-B498-43B3-948B-1728B52AA6E4}">
                <adec:decorative xmlns:adec="http://schemas.microsoft.com/office/drawing/2017/decorative" val="1"/>
              </a:ext>
            </a:extLst>
          </p:cNvPr>
          <p:cNvSpPr/>
          <p:nvPr/>
        </p:nvSpPr>
        <p:spPr>
          <a:xfrm>
            <a:off x="640080" y="1828800"/>
            <a:ext cx="3422904" cy="109728"/>
          </a:xfrm>
          <a:prstGeom prst="rect">
            <a:avLst/>
          </a:prstGeom>
          <a:solidFill>
            <a:srgbClr val="B98A1E"/>
          </a:solidFill>
          <a:ln/>
        </p:spPr>
        <p:txBody>
          <a:bodyPr/>
          <a:lstStyle/>
          <a:p>
            <a:endParaRPr lang="en-ID"/>
          </a:p>
        </p:txBody>
      </p:sp>
      <p:sp>
        <p:nvSpPr>
          <p:cNvPr id="10" name="Text 7"/>
          <p:cNvSpPr/>
          <p:nvPr/>
        </p:nvSpPr>
        <p:spPr>
          <a:xfrm>
            <a:off x="896112" y="2103120"/>
            <a:ext cx="2910840" cy="685800"/>
          </a:xfrm>
          <a:prstGeom prst="rect">
            <a:avLst/>
          </a:prstGeom>
          <a:noFill/>
          <a:ln/>
        </p:spPr>
        <p:txBody>
          <a:bodyPr wrap="square" rtlCol="0" anchor="t"/>
          <a:lstStyle/>
          <a:p>
            <a:pPr marL="0" indent="0">
              <a:buNone/>
            </a:pPr>
            <a:r>
              <a:rPr lang="en-US" sz="1550" b="1" dirty="0">
                <a:solidFill>
                  <a:srgbClr val="0B3C6E"/>
                </a:solidFill>
                <a:latin typeface="Georgia" pitchFamily="34" charset="0"/>
                <a:ea typeface="Georgia" pitchFamily="34" charset="-122"/>
                <a:cs typeface="Georgia" pitchFamily="34" charset="-120"/>
              </a:rPr>
              <a:t>Milestone A — Fondasi</a:t>
            </a:r>
            <a:endParaRPr lang="en-US" sz="1550" dirty="0"/>
          </a:p>
        </p:txBody>
      </p:sp>
      <p:sp>
        <p:nvSpPr>
          <p:cNvPr id="11" name="Text 8"/>
          <p:cNvSpPr/>
          <p:nvPr/>
        </p:nvSpPr>
        <p:spPr>
          <a:xfrm>
            <a:off x="896112" y="2761488"/>
            <a:ext cx="2910840" cy="2770632"/>
          </a:xfrm>
          <a:prstGeom prst="rect">
            <a:avLst/>
          </a:prstGeom>
          <a:noFill/>
          <a:ln/>
        </p:spPr>
        <p:txBody>
          <a:bodyPr wrap="square" rtlCol="0" anchor="t"/>
          <a:lstStyle/>
          <a:p>
            <a:pPr marL="152400" indent="-152400">
              <a:lnSpc>
                <a:spcPct val="102000"/>
              </a:lnSpc>
              <a:spcAft>
                <a:spcPts val="500"/>
              </a:spcAft>
              <a:buSzPct val="100000"/>
              <a:buChar char="•"/>
            </a:pPr>
            <a:r>
              <a:rPr lang="en-US" sz="1250" dirty="0">
                <a:solidFill>
                  <a:srgbClr val="26313D"/>
                </a:solidFill>
                <a:latin typeface="Calibri" pitchFamily="34" charset="0"/>
                <a:ea typeface="Calibri" pitchFamily="34" charset="-122"/>
                <a:cs typeface="Calibri" pitchFamily="34" charset="-120"/>
              </a:rPr>
              <a:t>Kontrak input dan provenance</a:t>
            </a:r>
            <a:endParaRPr lang="en-US" sz="1250" dirty="0"/>
          </a:p>
          <a:p>
            <a:pPr marL="152400" indent="-152400">
              <a:lnSpc>
                <a:spcPct val="102000"/>
              </a:lnSpc>
              <a:spcAft>
                <a:spcPts val="500"/>
              </a:spcAft>
              <a:buSzPct val="100000"/>
              <a:buChar char="•"/>
            </a:pPr>
            <a:r>
              <a:rPr lang="en-US" sz="1250" dirty="0">
                <a:solidFill>
                  <a:srgbClr val="26313D"/>
                </a:solidFill>
                <a:latin typeface="Calibri" pitchFamily="34" charset="0"/>
                <a:ea typeface="Calibri" pitchFamily="34" charset="-122"/>
                <a:cs typeface="Calibri" pitchFamily="34" charset="-120"/>
              </a:rPr>
              <a:t>Skema entitas dan pedoman anotasi</a:t>
            </a:r>
            <a:endParaRPr lang="en-US" sz="1250" dirty="0"/>
          </a:p>
          <a:p>
            <a:pPr marL="152400" indent="-152400">
              <a:lnSpc>
                <a:spcPct val="102000"/>
              </a:lnSpc>
              <a:spcAft>
                <a:spcPts val="500"/>
              </a:spcAft>
              <a:buSzPct val="100000"/>
              <a:buChar char="•"/>
            </a:pPr>
            <a:r>
              <a:rPr lang="en-US" sz="1250" dirty="0">
                <a:solidFill>
                  <a:srgbClr val="26313D"/>
                </a:solidFill>
                <a:latin typeface="Calibri" pitchFamily="34" charset="0"/>
                <a:ea typeface="Calibri" pitchFamily="34" charset="-122"/>
                <a:cs typeface="Calibri" pitchFamily="34" charset="-120"/>
              </a:rPr>
              <a:t>Gold set awal</a:t>
            </a:r>
            <a:endParaRPr lang="en-US" sz="1250" dirty="0"/>
          </a:p>
        </p:txBody>
      </p:sp>
      <p:sp>
        <p:nvSpPr>
          <p:cNvPr id="12" name="card 2">
            <a:extLst>
              <a:ext uri="{C183D7F6-B498-43B3-948B-1728B52AA6E4}">
                <adec:decorative xmlns:adec="http://schemas.microsoft.com/office/drawing/2017/decorative" val="1"/>
              </a:ext>
            </a:extLst>
          </p:cNvPr>
          <p:cNvSpPr/>
          <p:nvPr/>
        </p:nvSpPr>
        <p:spPr>
          <a:xfrm>
            <a:off x="4383024" y="1828800"/>
            <a:ext cx="3422904" cy="3931920"/>
          </a:xfrm>
          <a:prstGeom prst="rect">
            <a:avLst/>
          </a:prstGeom>
          <a:solidFill>
            <a:srgbClr val="F1F5FA"/>
          </a:solidFill>
          <a:ln w="12700">
            <a:solidFill>
              <a:srgbClr val="D5E0EC"/>
            </a:solidFill>
            <a:prstDash val="solid"/>
          </a:ln>
          <a:effectLst>
            <a:outerShdw blurRad="88900" dist="25400" dir="5400000" algn="bl" rotWithShape="0">
              <a:srgbClr val="9AA7B4">
                <a:alpha val="22000"/>
              </a:srgbClr>
            </a:outerShdw>
          </a:effectLst>
        </p:spPr>
        <p:txBody>
          <a:bodyPr/>
          <a:lstStyle/>
          <a:p>
            <a:endParaRPr lang="en-ID"/>
          </a:p>
        </p:txBody>
      </p:sp>
      <p:sp>
        <p:nvSpPr>
          <p:cNvPr id="13" name="card top accent">
            <a:extLst>
              <a:ext uri="{C183D7F6-B498-43B3-948B-1728B52AA6E4}">
                <adec:decorative xmlns:adec="http://schemas.microsoft.com/office/drawing/2017/decorative" val="1"/>
              </a:ext>
            </a:extLst>
          </p:cNvPr>
          <p:cNvSpPr/>
          <p:nvPr/>
        </p:nvSpPr>
        <p:spPr>
          <a:xfrm>
            <a:off x="4383024" y="1828800"/>
            <a:ext cx="3422904" cy="109728"/>
          </a:xfrm>
          <a:prstGeom prst="rect">
            <a:avLst/>
          </a:prstGeom>
          <a:solidFill>
            <a:srgbClr val="B98A1E"/>
          </a:solidFill>
          <a:ln/>
        </p:spPr>
        <p:txBody>
          <a:bodyPr/>
          <a:lstStyle/>
          <a:p>
            <a:endParaRPr lang="en-ID"/>
          </a:p>
        </p:txBody>
      </p:sp>
      <p:sp>
        <p:nvSpPr>
          <p:cNvPr id="14" name="Text 11"/>
          <p:cNvSpPr/>
          <p:nvPr/>
        </p:nvSpPr>
        <p:spPr>
          <a:xfrm>
            <a:off x="4639056" y="2103120"/>
            <a:ext cx="2910840" cy="685800"/>
          </a:xfrm>
          <a:prstGeom prst="rect">
            <a:avLst/>
          </a:prstGeom>
          <a:noFill/>
          <a:ln/>
        </p:spPr>
        <p:txBody>
          <a:bodyPr wrap="square" rtlCol="0" anchor="t"/>
          <a:lstStyle/>
          <a:p>
            <a:pPr marL="0" indent="0">
              <a:buNone/>
            </a:pPr>
            <a:r>
              <a:rPr lang="en-US" sz="1550" b="1" dirty="0">
                <a:solidFill>
                  <a:srgbClr val="0B3C6E"/>
                </a:solidFill>
                <a:latin typeface="Georgia" pitchFamily="34" charset="0"/>
                <a:ea typeface="Georgia" pitchFamily="34" charset="-122"/>
                <a:cs typeface="Georgia" pitchFamily="34" charset="-120"/>
              </a:rPr>
              <a:t>Milestone B — Ekstraktor</a:t>
            </a:r>
            <a:endParaRPr lang="en-US" sz="1550" dirty="0"/>
          </a:p>
        </p:txBody>
      </p:sp>
      <p:sp>
        <p:nvSpPr>
          <p:cNvPr id="15" name="Text 12"/>
          <p:cNvSpPr/>
          <p:nvPr/>
        </p:nvSpPr>
        <p:spPr>
          <a:xfrm>
            <a:off x="4639056" y="2761488"/>
            <a:ext cx="2910840" cy="2770632"/>
          </a:xfrm>
          <a:prstGeom prst="rect">
            <a:avLst/>
          </a:prstGeom>
          <a:noFill/>
          <a:ln/>
        </p:spPr>
        <p:txBody>
          <a:bodyPr wrap="square" rtlCol="0" anchor="t"/>
          <a:lstStyle/>
          <a:p>
            <a:pPr marL="152400" indent="-152400">
              <a:lnSpc>
                <a:spcPct val="102000"/>
              </a:lnSpc>
              <a:spcAft>
                <a:spcPts val="500"/>
              </a:spcAft>
              <a:buSzPct val="100000"/>
              <a:buChar char="•"/>
            </a:pPr>
            <a:r>
              <a:rPr lang="en-US" sz="1250" dirty="0">
                <a:solidFill>
                  <a:srgbClr val="26313D"/>
                </a:solidFill>
                <a:latin typeface="Calibri" pitchFamily="34" charset="0"/>
                <a:ea typeface="Calibri" pitchFamily="34" charset="-122"/>
                <a:cs typeface="Calibri" pitchFamily="34" charset="-120"/>
              </a:rPr>
              <a:t>Baseline entity span</a:t>
            </a:r>
            <a:endParaRPr lang="en-US" sz="1250" dirty="0"/>
          </a:p>
          <a:p>
            <a:pPr marL="152400" indent="-152400">
              <a:lnSpc>
                <a:spcPct val="102000"/>
              </a:lnSpc>
              <a:spcAft>
                <a:spcPts val="500"/>
              </a:spcAft>
              <a:buSzPct val="100000"/>
              <a:buChar char="•"/>
            </a:pPr>
            <a:r>
              <a:rPr lang="en-US" sz="1250" dirty="0">
                <a:solidFill>
                  <a:srgbClr val="26313D"/>
                </a:solidFill>
                <a:latin typeface="Calibri" pitchFamily="34" charset="0"/>
                <a:ea typeface="Calibri" pitchFamily="34" charset="-122"/>
                <a:cs typeface="Calibri" pitchFamily="34" charset="-120"/>
              </a:rPr>
              <a:t>Atribut klinis</a:t>
            </a:r>
            <a:endParaRPr lang="en-US" sz="1250" dirty="0"/>
          </a:p>
          <a:p>
            <a:pPr marL="152400" indent="-152400">
              <a:lnSpc>
                <a:spcPct val="102000"/>
              </a:lnSpc>
              <a:spcAft>
                <a:spcPts val="500"/>
              </a:spcAft>
              <a:buSzPct val="100000"/>
              <a:buChar char="•"/>
            </a:pPr>
            <a:r>
              <a:rPr lang="en-US" sz="1250" dirty="0">
                <a:solidFill>
                  <a:srgbClr val="26313D"/>
                </a:solidFill>
                <a:latin typeface="Calibri" pitchFamily="34" charset="0"/>
                <a:ea typeface="Calibri" pitchFamily="34" charset="-122"/>
                <a:cs typeface="Calibri" pitchFamily="34" charset="-120"/>
              </a:rPr>
              <a:t>Assertion, temporal, experiencer</a:t>
            </a:r>
            <a:endParaRPr lang="en-US" sz="1250" dirty="0"/>
          </a:p>
        </p:txBody>
      </p:sp>
      <p:sp>
        <p:nvSpPr>
          <p:cNvPr id="16" name="card 3">
            <a:extLst>
              <a:ext uri="{C183D7F6-B498-43B3-948B-1728B52AA6E4}">
                <adec:decorative xmlns:adec="http://schemas.microsoft.com/office/drawing/2017/decorative" val="1"/>
              </a:ext>
            </a:extLst>
          </p:cNvPr>
          <p:cNvSpPr/>
          <p:nvPr/>
        </p:nvSpPr>
        <p:spPr>
          <a:xfrm>
            <a:off x="8125968" y="1828800"/>
            <a:ext cx="3422904" cy="3931920"/>
          </a:xfrm>
          <a:prstGeom prst="rect">
            <a:avLst/>
          </a:prstGeom>
          <a:solidFill>
            <a:srgbClr val="F1F5FA"/>
          </a:solidFill>
          <a:ln w="12700">
            <a:solidFill>
              <a:srgbClr val="D5E0EC"/>
            </a:solidFill>
            <a:prstDash val="solid"/>
          </a:ln>
          <a:effectLst>
            <a:outerShdw blurRad="88900" dist="25400" dir="5400000" algn="bl" rotWithShape="0">
              <a:srgbClr val="9AA7B4">
                <a:alpha val="22000"/>
              </a:srgbClr>
            </a:outerShdw>
          </a:effectLst>
        </p:spPr>
        <p:txBody>
          <a:bodyPr/>
          <a:lstStyle/>
          <a:p>
            <a:endParaRPr lang="en-ID"/>
          </a:p>
        </p:txBody>
      </p:sp>
      <p:sp>
        <p:nvSpPr>
          <p:cNvPr id="17" name="card top accent">
            <a:extLst>
              <a:ext uri="{C183D7F6-B498-43B3-948B-1728B52AA6E4}">
                <adec:decorative xmlns:adec="http://schemas.microsoft.com/office/drawing/2017/decorative" val="1"/>
              </a:ext>
            </a:extLst>
          </p:cNvPr>
          <p:cNvSpPr/>
          <p:nvPr/>
        </p:nvSpPr>
        <p:spPr>
          <a:xfrm>
            <a:off x="8125968" y="1828800"/>
            <a:ext cx="3422904" cy="109728"/>
          </a:xfrm>
          <a:prstGeom prst="rect">
            <a:avLst/>
          </a:prstGeom>
          <a:solidFill>
            <a:srgbClr val="B98A1E"/>
          </a:solidFill>
          <a:ln/>
        </p:spPr>
        <p:txBody>
          <a:bodyPr/>
          <a:lstStyle/>
          <a:p>
            <a:endParaRPr lang="en-ID"/>
          </a:p>
        </p:txBody>
      </p:sp>
      <p:sp>
        <p:nvSpPr>
          <p:cNvPr id="18" name="Text 15"/>
          <p:cNvSpPr/>
          <p:nvPr/>
        </p:nvSpPr>
        <p:spPr>
          <a:xfrm>
            <a:off x="8382000" y="2103120"/>
            <a:ext cx="2910840" cy="685800"/>
          </a:xfrm>
          <a:prstGeom prst="rect">
            <a:avLst/>
          </a:prstGeom>
          <a:noFill/>
          <a:ln/>
        </p:spPr>
        <p:txBody>
          <a:bodyPr wrap="square" rtlCol="0" anchor="t"/>
          <a:lstStyle/>
          <a:p>
            <a:pPr marL="0" indent="0">
              <a:buNone/>
            </a:pPr>
            <a:r>
              <a:rPr lang="en-US" sz="1550" b="1" dirty="0">
                <a:solidFill>
                  <a:srgbClr val="0B3C6E"/>
                </a:solidFill>
                <a:latin typeface="Georgia" pitchFamily="34" charset="0"/>
                <a:ea typeface="Georgia" pitchFamily="34" charset="-122"/>
                <a:cs typeface="Georgia" pitchFamily="34" charset="-120"/>
              </a:rPr>
              <a:t>Milestone C — End-to-end</a:t>
            </a:r>
            <a:endParaRPr lang="en-US" sz="1550" dirty="0"/>
          </a:p>
        </p:txBody>
      </p:sp>
      <p:sp>
        <p:nvSpPr>
          <p:cNvPr id="19" name="Text 16"/>
          <p:cNvSpPr/>
          <p:nvPr/>
        </p:nvSpPr>
        <p:spPr>
          <a:xfrm>
            <a:off x="8382000" y="2761488"/>
            <a:ext cx="2910840" cy="2770632"/>
          </a:xfrm>
          <a:prstGeom prst="rect">
            <a:avLst/>
          </a:prstGeom>
          <a:noFill/>
          <a:ln/>
        </p:spPr>
        <p:txBody>
          <a:bodyPr wrap="square" rtlCol="0" anchor="t"/>
          <a:lstStyle/>
          <a:p>
            <a:pPr marL="152400" indent="-152400">
              <a:lnSpc>
                <a:spcPct val="102000"/>
              </a:lnSpc>
              <a:spcAft>
                <a:spcPts val="500"/>
              </a:spcAft>
              <a:buSzPct val="100000"/>
              <a:buChar char="•"/>
            </a:pPr>
            <a:r>
              <a:rPr lang="en-US" sz="1250" dirty="0">
                <a:solidFill>
                  <a:srgbClr val="26313D"/>
                </a:solidFill>
                <a:latin typeface="Calibri" pitchFamily="34" charset="0"/>
                <a:ea typeface="Calibri" pitchFamily="34" charset="-122"/>
                <a:cs typeface="Calibri" pitchFamily="34" charset="-120"/>
              </a:rPr>
              <a:t>Teks panjang dan jawaban dokter</a:t>
            </a:r>
            <a:endParaRPr lang="en-US" sz="1250" dirty="0"/>
          </a:p>
          <a:p>
            <a:pPr marL="152400" indent="-152400">
              <a:lnSpc>
                <a:spcPct val="102000"/>
              </a:lnSpc>
              <a:spcAft>
                <a:spcPts val="500"/>
              </a:spcAft>
              <a:buSzPct val="100000"/>
              <a:buChar char="•"/>
            </a:pPr>
            <a:r>
              <a:rPr lang="en-US" sz="1250" dirty="0">
                <a:solidFill>
                  <a:srgbClr val="26313D"/>
                </a:solidFill>
                <a:latin typeface="Calibri" pitchFamily="34" charset="0"/>
                <a:ea typeface="Calibri" pitchFamily="34" charset="-122"/>
                <a:cs typeface="Calibri" pitchFamily="34" charset="-120"/>
              </a:rPr>
              <a:t>Validasi, retry, fallback, deduplikasi</a:t>
            </a:r>
            <a:endParaRPr lang="en-US" sz="1250" dirty="0"/>
          </a:p>
          <a:p>
            <a:pPr marL="152400" indent="-152400">
              <a:lnSpc>
                <a:spcPct val="102000"/>
              </a:lnSpc>
              <a:spcAft>
                <a:spcPts val="500"/>
              </a:spcAft>
              <a:buSzPct val="100000"/>
              <a:buChar char="•"/>
            </a:pPr>
            <a:r>
              <a:rPr lang="en-US" sz="1250" dirty="0">
                <a:solidFill>
                  <a:srgbClr val="26313D"/>
                </a:solidFill>
                <a:latin typeface="Calibri" pitchFamily="34" charset="0"/>
                <a:ea typeface="Calibri" pitchFamily="34" charset="-122"/>
                <a:cs typeface="Calibri" pitchFamily="34" charset="-120"/>
              </a:rPr>
              <a:t>Adapter downstream dan evaluasi final</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30</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TAHAP 2 · CHECKPOINT 1</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Checkpoint 1: Kontrak Input</a:t>
            </a:r>
            <a:endParaRPr lang="en-US" sz="2700" dirty="0"/>
          </a:p>
        </p:txBody>
      </p:sp>
      <p:sp>
        <p:nvSpPr>
          <p:cNvPr id="8" name="transform band">
            <a:extLst>
              <a:ext uri="{C183D7F6-B498-43B3-948B-1728B52AA6E4}">
                <adec:decorative xmlns:adec="http://schemas.microsoft.com/office/drawing/2017/decorative" val="1"/>
              </a:ext>
            </a:extLst>
          </p:cNvPr>
          <p:cNvSpPr/>
          <p:nvPr/>
        </p:nvSpPr>
        <p:spPr>
          <a:xfrm>
            <a:off x="640080" y="1783080"/>
            <a:ext cx="10972800" cy="868680"/>
          </a:xfrm>
          <a:prstGeom prst="roundRect">
            <a:avLst>
              <a:gd name="adj" fmla="val 5263"/>
            </a:avLst>
          </a:prstGeom>
          <a:solidFill>
            <a:srgbClr val="0B3C6E"/>
          </a:solidFill>
          <a:ln/>
        </p:spPr>
        <p:txBody>
          <a:bodyPr/>
          <a:lstStyle/>
          <a:p>
            <a:endParaRPr lang="en-ID"/>
          </a:p>
        </p:txBody>
      </p:sp>
      <p:sp>
        <p:nvSpPr>
          <p:cNvPr id="9" name="Text 6"/>
          <p:cNvSpPr/>
          <p:nvPr/>
        </p:nvSpPr>
        <p:spPr>
          <a:xfrm>
            <a:off x="914400" y="1783080"/>
            <a:ext cx="10424160" cy="86868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150 pasangan konsultasi  →  150 dokumen question + 150 dokumen answer  =  300 dokumen tervalidasi</a:t>
            </a:r>
            <a:endParaRPr lang="en-US" sz="1500" dirty="0"/>
          </a:p>
        </p:txBody>
      </p:sp>
      <p:sp>
        <p:nvSpPr>
          <p:cNvPr id="10" name="Text 7"/>
          <p:cNvSpPr/>
          <p:nvPr/>
        </p:nvSpPr>
        <p:spPr>
          <a:xfrm>
            <a:off x="640080" y="2880360"/>
            <a:ext cx="10972800" cy="2468880"/>
          </a:xfrm>
          <a:prstGeom prst="rect">
            <a:avLst/>
          </a:prstGeom>
          <a:noFill/>
          <a:ln/>
        </p:spPr>
        <p:txBody>
          <a:bodyPr wrap="square" rtlCol="0" anchor="t"/>
          <a:lstStyle/>
          <a:p>
            <a:pPr marL="0" indent="0">
              <a:lnSpc>
                <a:spcPct val="102000"/>
              </a:lnSpc>
              <a:spcAft>
                <a:spcPts val="700"/>
              </a:spcAft>
              <a:buNone/>
            </a:pPr>
            <a:r>
              <a:rPr lang="en-US" sz="1400" b="1" dirty="0">
                <a:solidFill>
                  <a:srgbClr val="0B3C6E"/>
                </a:solidFill>
                <a:latin typeface="Calibri" pitchFamily="34" charset="0"/>
                <a:ea typeface="Calibri" pitchFamily="34" charset="-122"/>
                <a:cs typeface="Calibri" pitchFamily="34" charset="-120"/>
              </a:rPr>
              <a:t>Setiap dokumen menyimpan:</a:t>
            </a:r>
            <a:endParaRPr lang="en-US" sz="1400" dirty="0"/>
          </a:p>
          <a:p>
            <a:pPr marL="355600" lvl="1" indent="-177800">
              <a:lnSpc>
                <a:spcPct val="102000"/>
              </a:lnSpc>
              <a:spcAft>
                <a:spcPts val="300"/>
              </a:spcAft>
              <a:buSzPct val="100000"/>
              <a:buChar char="–"/>
            </a:pPr>
            <a:r>
              <a:rPr lang="en-US" sz="1400" dirty="0">
                <a:solidFill>
                  <a:srgbClr val="26313D"/>
                </a:solidFill>
                <a:latin typeface="Calibri" pitchFamily="34" charset="0"/>
                <a:ea typeface="Calibri" pitchFamily="34" charset="-122"/>
                <a:cs typeface="Calibri" pitchFamily="34" charset="-120"/>
              </a:rPr>
              <a:t>document_id dan parent_record_id;</a:t>
            </a:r>
            <a:endParaRPr lang="en-US" sz="1400" dirty="0"/>
          </a:p>
          <a:p>
            <a:pPr marL="355600" lvl="1" indent="-177800">
              <a:lnSpc>
                <a:spcPct val="102000"/>
              </a:lnSpc>
              <a:spcAft>
                <a:spcPts val="300"/>
              </a:spcAft>
              <a:buSzPct val="100000"/>
              <a:buChar char="–"/>
            </a:pPr>
            <a:r>
              <a:rPr lang="en-US" sz="1400" dirty="0">
                <a:solidFill>
                  <a:srgbClr val="26313D"/>
                </a:solidFill>
                <a:latin typeface="Calibri" pitchFamily="34" charset="0"/>
                <a:ea typeface="Calibri" pitchFamily="34" charset="-122"/>
                <a:cs typeface="Calibri" pitchFamily="34" charset="-120"/>
              </a:rPr>
              <a:t>source_field dan speaker;</a:t>
            </a:r>
            <a:endParaRPr lang="en-US" sz="1400" dirty="0"/>
          </a:p>
          <a:p>
            <a:pPr marL="355600" lvl="1" indent="-177800">
              <a:lnSpc>
                <a:spcPct val="102000"/>
              </a:lnSpc>
              <a:spcAft>
                <a:spcPts val="300"/>
              </a:spcAft>
              <a:buSzPct val="100000"/>
              <a:buChar char="–"/>
            </a:pPr>
            <a:r>
              <a:rPr lang="en-US" sz="1400" dirty="0">
                <a:solidFill>
                  <a:srgbClr val="26313D"/>
                </a:solidFill>
                <a:latin typeface="Calibri" pitchFamily="34" charset="0"/>
                <a:ea typeface="Calibri" pitchFamily="34" charset="-122"/>
                <a:cs typeface="Calibri" pitchFamily="34" charset="-120"/>
              </a:rPr>
              <a:t>raw_text dan normalized_text;</a:t>
            </a:r>
            <a:endParaRPr lang="en-US" sz="1400" dirty="0"/>
          </a:p>
          <a:p>
            <a:pPr marL="355600" lvl="1" indent="-177800">
              <a:lnSpc>
                <a:spcPct val="102000"/>
              </a:lnSpc>
              <a:spcAft>
                <a:spcPts val="300"/>
              </a:spcAft>
              <a:buSzPct val="100000"/>
              <a:buChar char="–"/>
            </a:pPr>
            <a:r>
              <a:rPr lang="en-US" sz="1400" dirty="0">
                <a:solidFill>
                  <a:srgbClr val="26313D"/>
                </a:solidFill>
                <a:latin typeface="Calibri" pitchFamily="34" charset="0"/>
                <a:ea typeface="Calibri" pitchFamily="34" charset="-122"/>
                <a:cs typeface="Calibri" pitchFamily="34" charset="-120"/>
              </a:rPr>
              <a:t>sentences; versi normalizer dan resource;</a:t>
            </a:r>
            <a:endParaRPr lang="en-US" sz="1400" dirty="0"/>
          </a:p>
          <a:p>
            <a:pPr marL="355600" lvl="1"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provenance serta SHA-256.</a:t>
            </a:r>
            <a:endParaRPr lang="en-US" sz="1400" dirty="0"/>
          </a:p>
        </p:txBody>
      </p:sp>
      <p:sp>
        <p:nvSpPr>
          <p:cNvPr id="11" name="Text 8"/>
          <p:cNvSpPr/>
          <p:nvPr/>
        </p:nvSpPr>
        <p:spPr>
          <a:xfrm>
            <a:off x="640080" y="5623560"/>
            <a:ext cx="2926080" cy="384048"/>
          </a:xfrm>
          <a:prstGeom prst="roundRect">
            <a:avLst>
              <a:gd name="adj" fmla="val 23810"/>
            </a:avLst>
          </a:prstGeom>
          <a:solidFill>
            <a:srgbClr val="2E7D46"/>
          </a:solid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Status audit: pass</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31</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TAHAP 2 · CHECKPOINT 2</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Checkpoint 2: Taksonomi Entitas</a:t>
            </a:r>
            <a:endParaRPr lang="en-US" sz="2700" dirty="0"/>
          </a:p>
        </p:txBody>
      </p:sp>
      <p:sp>
        <p:nvSpPr>
          <p:cNvPr id="8" name="chip">
            <a:extLst>
              <a:ext uri="{C183D7F6-B498-43B3-948B-1728B52AA6E4}">
                <adec:decorative xmlns:adec="http://schemas.microsoft.com/office/drawing/2017/decorative" val="1"/>
              </a:ext>
            </a:extLst>
          </p:cNvPr>
          <p:cNvSpPr/>
          <p:nvPr/>
        </p:nvSpPr>
        <p:spPr>
          <a:xfrm>
            <a:off x="640080" y="1828800"/>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9" name="Text 6"/>
          <p:cNvSpPr/>
          <p:nvPr/>
        </p:nvSpPr>
        <p:spPr>
          <a:xfrm>
            <a:off x="731520" y="1828800"/>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condition</a:t>
            </a:r>
            <a:endParaRPr lang="en-US" sz="1300" dirty="0"/>
          </a:p>
        </p:txBody>
      </p:sp>
      <p:sp>
        <p:nvSpPr>
          <p:cNvPr id="10" name="chip">
            <a:extLst>
              <a:ext uri="{C183D7F6-B498-43B3-948B-1728B52AA6E4}">
                <adec:decorative xmlns:adec="http://schemas.microsoft.com/office/drawing/2017/decorative" val="1"/>
              </a:ext>
            </a:extLst>
          </p:cNvPr>
          <p:cNvSpPr/>
          <p:nvPr/>
        </p:nvSpPr>
        <p:spPr>
          <a:xfrm>
            <a:off x="3438144" y="1828800"/>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11" name="Text 8"/>
          <p:cNvSpPr/>
          <p:nvPr/>
        </p:nvSpPr>
        <p:spPr>
          <a:xfrm>
            <a:off x="3529584" y="1828800"/>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symptom</a:t>
            </a:r>
            <a:endParaRPr lang="en-US" sz="1300" dirty="0"/>
          </a:p>
        </p:txBody>
      </p:sp>
      <p:sp>
        <p:nvSpPr>
          <p:cNvPr id="12" name="chip">
            <a:extLst>
              <a:ext uri="{C183D7F6-B498-43B3-948B-1728B52AA6E4}">
                <adec:decorative xmlns:adec="http://schemas.microsoft.com/office/drawing/2017/decorative" val="1"/>
              </a:ext>
            </a:extLst>
          </p:cNvPr>
          <p:cNvSpPr/>
          <p:nvPr/>
        </p:nvSpPr>
        <p:spPr>
          <a:xfrm>
            <a:off x="6236208" y="1828800"/>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13" name="Text 10"/>
          <p:cNvSpPr/>
          <p:nvPr/>
        </p:nvSpPr>
        <p:spPr>
          <a:xfrm>
            <a:off x="6327648" y="1828800"/>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clinical_finding</a:t>
            </a:r>
            <a:endParaRPr lang="en-US" sz="1300" dirty="0"/>
          </a:p>
        </p:txBody>
      </p:sp>
      <p:sp>
        <p:nvSpPr>
          <p:cNvPr id="14" name="chip">
            <a:extLst>
              <a:ext uri="{C183D7F6-B498-43B3-948B-1728B52AA6E4}">
                <adec:decorative xmlns:adec="http://schemas.microsoft.com/office/drawing/2017/decorative" val="1"/>
              </a:ext>
            </a:extLst>
          </p:cNvPr>
          <p:cNvSpPr/>
          <p:nvPr/>
        </p:nvSpPr>
        <p:spPr>
          <a:xfrm>
            <a:off x="9034272" y="1828800"/>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15" name="Text 12"/>
          <p:cNvSpPr/>
          <p:nvPr/>
        </p:nvSpPr>
        <p:spPr>
          <a:xfrm>
            <a:off x="9125712" y="1828800"/>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measurement</a:t>
            </a:r>
            <a:endParaRPr lang="en-US" sz="1300" dirty="0"/>
          </a:p>
        </p:txBody>
      </p:sp>
      <p:sp>
        <p:nvSpPr>
          <p:cNvPr id="16" name="chip">
            <a:extLst>
              <a:ext uri="{C183D7F6-B498-43B3-948B-1728B52AA6E4}">
                <adec:decorative xmlns:adec="http://schemas.microsoft.com/office/drawing/2017/decorative" val="1"/>
              </a:ext>
            </a:extLst>
          </p:cNvPr>
          <p:cNvSpPr/>
          <p:nvPr/>
        </p:nvSpPr>
        <p:spPr>
          <a:xfrm>
            <a:off x="640080" y="2615184"/>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17" name="Text 14"/>
          <p:cNvSpPr/>
          <p:nvPr/>
        </p:nvSpPr>
        <p:spPr>
          <a:xfrm>
            <a:off x="731520" y="2615184"/>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drug</a:t>
            </a:r>
            <a:endParaRPr lang="en-US" sz="1300" dirty="0"/>
          </a:p>
        </p:txBody>
      </p:sp>
      <p:sp>
        <p:nvSpPr>
          <p:cNvPr id="18" name="chip">
            <a:extLst>
              <a:ext uri="{C183D7F6-B498-43B3-948B-1728B52AA6E4}">
                <adec:decorative xmlns:adec="http://schemas.microsoft.com/office/drawing/2017/decorative" val="1"/>
              </a:ext>
            </a:extLst>
          </p:cNvPr>
          <p:cNvSpPr/>
          <p:nvPr/>
        </p:nvSpPr>
        <p:spPr>
          <a:xfrm>
            <a:off x="3438144" y="2615184"/>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19" name="Text 16"/>
          <p:cNvSpPr/>
          <p:nvPr/>
        </p:nvSpPr>
        <p:spPr>
          <a:xfrm>
            <a:off x="3529584" y="2615184"/>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procedure</a:t>
            </a:r>
            <a:endParaRPr lang="en-US" sz="1300" dirty="0"/>
          </a:p>
        </p:txBody>
      </p:sp>
      <p:sp>
        <p:nvSpPr>
          <p:cNvPr id="20" name="chip">
            <a:extLst>
              <a:ext uri="{C183D7F6-B498-43B3-948B-1728B52AA6E4}">
                <adec:decorative xmlns:adec="http://schemas.microsoft.com/office/drawing/2017/decorative" val="1"/>
              </a:ext>
            </a:extLst>
          </p:cNvPr>
          <p:cNvSpPr/>
          <p:nvPr/>
        </p:nvSpPr>
        <p:spPr>
          <a:xfrm>
            <a:off x="6236208" y="2615184"/>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21" name="Text 18"/>
          <p:cNvSpPr/>
          <p:nvPr/>
        </p:nvSpPr>
        <p:spPr>
          <a:xfrm>
            <a:off x="6327648" y="2615184"/>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anatomy</a:t>
            </a:r>
            <a:endParaRPr lang="en-US" sz="1300" dirty="0"/>
          </a:p>
        </p:txBody>
      </p:sp>
      <p:sp>
        <p:nvSpPr>
          <p:cNvPr id="22" name="chip">
            <a:extLst>
              <a:ext uri="{C183D7F6-B498-43B3-948B-1728B52AA6E4}">
                <adec:decorative xmlns:adec="http://schemas.microsoft.com/office/drawing/2017/decorative" val="1"/>
              </a:ext>
            </a:extLst>
          </p:cNvPr>
          <p:cNvSpPr/>
          <p:nvPr/>
        </p:nvSpPr>
        <p:spPr>
          <a:xfrm>
            <a:off x="9034272" y="2615184"/>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23" name="Text 20"/>
          <p:cNvSpPr/>
          <p:nvPr/>
        </p:nvSpPr>
        <p:spPr>
          <a:xfrm>
            <a:off x="9125712" y="2615184"/>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demographic</a:t>
            </a:r>
            <a:endParaRPr lang="en-US" sz="1300" dirty="0"/>
          </a:p>
        </p:txBody>
      </p:sp>
      <p:sp>
        <p:nvSpPr>
          <p:cNvPr id="24" name="chip">
            <a:extLst>
              <a:ext uri="{C183D7F6-B498-43B3-948B-1728B52AA6E4}">
                <adec:decorative xmlns:adec="http://schemas.microsoft.com/office/drawing/2017/decorative" val="1"/>
              </a:ext>
            </a:extLst>
          </p:cNvPr>
          <p:cNvSpPr/>
          <p:nvPr/>
        </p:nvSpPr>
        <p:spPr>
          <a:xfrm>
            <a:off x="640080" y="3401568"/>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25" name="Text 22"/>
          <p:cNvSpPr/>
          <p:nvPr/>
        </p:nvSpPr>
        <p:spPr>
          <a:xfrm>
            <a:off x="731520" y="3401568"/>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unit</a:t>
            </a:r>
            <a:endParaRPr lang="en-US" sz="1300" dirty="0"/>
          </a:p>
        </p:txBody>
      </p:sp>
      <p:sp>
        <p:nvSpPr>
          <p:cNvPr id="26" name="chip">
            <a:extLst>
              <a:ext uri="{C183D7F6-B498-43B3-948B-1728B52AA6E4}">
                <adec:decorative xmlns:adec="http://schemas.microsoft.com/office/drawing/2017/decorative" val="1"/>
              </a:ext>
            </a:extLst>
          </p:cNvPr>
          <p:cNvSpPr/>
          <p:nvPr/>
        </p:nvSpPr>
        <p:spPr>
          <a:xfrm>
            <a:off x="3438144" y="3401568"/>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27" name="Text 24"/>
          <p:cNvSpPr/>
          <p:nvPr/>
        </p:nvSpPr>
        <p:spPr>
          <a:xfrm>
            <a:off x="3529584" y="3401568"/>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visit</a:t>
            </a:r>
            <a:endParaRPr lang="en-US" sz="1300" dirty="0"/>
          </a:p>
        </p:txBody>
      </p:sp>
      <p:sp>
        <p:nvSpPr>
          <p:cNvPr id="28" name="chip">
            <a:extLst>
              <a:ext uri="{C183D7F6-B498-43B3-948B-1728B52AA6E4}">
                <adec:decorative xmlns:adec="http://schemas.microsoft.com/office/drawing/2017/decorative" val="1"/>
              </a:ext>
            </a:extLst>
          </p:cNvPr>
          <p:cNvSpPr/>
          <p:nvPr/>
        </p:nvSpPr>
        <p:spPr>
          <a:xfrm>
            <a:off x="6236208" y="3401568"/>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29" name="Text 26"/>
          <p:cNvSpPr/>
          <p:nvPr/>
        </p:nvSpPr>
        <p:spPr>
          <a:xfrm>
            <a:off x="6327648" y="3401568"/>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other</a:t>
            </a:r>
            <a:endParaRPr lang="en-US" sz="1300" dirty="0"/>
          </a:p>
        </p:txBody>
      </p:sp>
      <p:sp>
        <p:nvSpPr>
          <p:cNvPr id="30" name="Text 27"/>
          <p:cNvSpPr/>
          <p:nvPr/>
        </p:nvSpPr>
        <p:spPr>
          <a:xfrm>
            <a:off x="640080" y="4434840"/>
            <a:ext cx="10972800" cy="1645920"/>
          </a:xfrm>
          <a:prstGeom prst="rect">
            <a:avLst/>
          </a:prstGeom>
          <a:noFill/>
          <a:ln/>
        </p:spPr>
        <p:txBody>
          <a:bodyPr wrap="square" rtlCol="0" anchor="t"/>
          <a:lstStyle/>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Cukup luas untuk konsultasi klinis dan dapat diarahkan ke domain terminologi.</a:t>
            </a:r>
            <a:endParaRPr lang="en-US" sz="1400" dirty="0"/>
          </a:p>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Stabil untuk anotasi awal, dapat diperluas melalui adjudikasi.</a:t>
            </a:r>
            <a:endParaRPr lang="en-US" sz="1400" dirty="0"/>
          </a:p>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other hanya digunakan bila tipe lain tidak sesuai dan wajib ditinjau.</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32</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TAHAP 2 · CHECKPOINT 2</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Checkpoint 2: Atribut Entitas</a:t>
            </a:r>
            <a:endParaRPr lang="en-US" sz="27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88136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8503920">
                  <a:extLst>
                    <a:ext uri="{9D8B030D-6E8A-4147-A177-3AD203B41FA5}">
                      <a16:colId xmlns:a16="http://schemas.microsoft.com/office/drawing/2014/main" val="20001"/>
                    </a:ext>
                  </a:extLst>
                </a:gridCol>
              </a:tblGrid>
              <a:tr h="566928">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Kelompok</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Atribut</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extLst>
                  <a:ext uri="{0D108BD9-81ED-4DB2-BD59-A6C34878D82A}">
                    <a16:rowId xmlns:a16="http://schemas.microsoft.com/office/drawing/2014/main" val="10000"/>
                  </a:ext>
                </a:extLst>
              </a:tr>
              <a:tr h="566928">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Identitas</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mention, normalized mention, base entity, entity type</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Semantik</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domain, categories, associated entities</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r h="566928">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Nilai klinis</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value, unit, dose, frequency, route, method, visit</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Konteks</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assertion, temporal, experiencer, epistemic status</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4"/>
                  </a:ext>
                </a:extLst>
              </a:tr>
              <a:tr h="566928">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Audit</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source field, speaker, sentence ID, offsets, evidence, confidence</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callout background">
            <a:extLst>
              <a:ext uri="{C183D7F6-B498-43B3-948B-1728B52AA6E4}">
                <adec:decorative xmlns:adec="http://schemas.microsoft.com/office/drawing/2017/decorative" val="1"/>
              </a:ext>
            </a:extLst>
          </p:cNvPr>
          <p:cNvSpPr/>
          <p:nvPr/>
        </p:nvSpPr>
        <p:spPr>
          <a:xfrm>
            <a:off x="640080" y="5257800"/>
            <a:ext cx="10972800" cy="640080"/>
          </a:xfrm>
          <a:prstGeom prst="roundRect">
            <a:avLst>
              <a:gd name="adj" fmla="val 8571"/>
            </a:avLst>
          </a:prstGeom>
          <a:solidFill>
            <a:srgbClr val="EAF1F8"/>
          </a:solidFill>
          <a:ln/>
        </p:spPr>
        <p:txBody>
          <a:bodyPr/>
          <a:lstStyle/>
          <a:p>
            <a:endParaRPr lang="en-ID"/>
          </a:p>
        </p:txBody>
      </p:sp>
      <p:sp>
        <p:nvSpPr>
          <p:cNvPr id="10" name="Text 6"/>
          <p:cNvSpPr/>
          <p:nvPr/>
        </p:nvSpPr>
        <p:spPr>
          <a:xfrm>
            <a:off x="896112" y="5257800"/>
            <a:ext cx="10460736" cy="640080"/>
          </a:xfrm>
          <a:prstGeom prst="rect">
            <a:avLst/>
          </a:prstGeom>
          <a:noFill/>
          <a:ln/>
        </p:spPr>
        <p:txBody>
          <a:bodyPr wrap="square" rtlCol="0" anchor="ctr"/>
          <a:lstStyle/>
          <a:p>
            <a:pPr marL="0" indent="0">
              <a:lnSpc>
                <a:spcPct val="100000"/>
              </a:lnSpc>
              <a:buNone/>
            </a:pPr>
            <a:r>
              <a:rPr lang="en-US" sz="1350" b="1" dirty="0">
                <a:solidFill>
                  <a:srgbClr val="14568F"/>
                </a:solidFill>
                <a:latin typeface="Calibri" pitchFamily="34" charset="0"/>
                <a:ea typeface="Calibri" pitchFamily="34" charset="-122"/>
                <a:cs typeface="Calibri" pitchFamily="34" charset="-120"/>
              </a:rPr>
              <a:t>Validasi utama:  </a:t>
            </a:r>
            <a:r>
              <a:rPr lang="en-US" sz="1350" dirty="0">
                <a:solidFill>
                  <a:srgbClr val="26313D"/>
                </a:solidFill>
                <a:latin typeface="Calibri" pitchFamily="34" charset="0"/>
                <a:ea typeface="Calibri" pitchFamily="34" charset="-122"/>
                <a:cs typeface="Calibri" pitchFamily="34" charset="-120"/>
              </a:rPr>
              <a:t>normalized_text[start_char:end_char] == mention</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33</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TAHAP 2 · CHECKPOINT 2</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Hasil Checkpoint 2</a:t>
            </a:r>
            <a:endParaRPr lang="en-US" sz="2700" dirty="0"/>
          </a:p>
        </p:txBody>
      </p:sp>
      <p:sp>
        <p:nvSpPr>
          <p:cNvPr id="8" name="Text 5"/>
          <p:cNvSpPr/>
          <p:nvPr/>
        </p:nvSpPr>
        <p:spPr>
          <a:xfrm>
            <a:off x="640080" y="1828800"/>
            <a:ext cx="10972800" cy="3474720"/>
          </a:xfrm>
          <a:prstGeom prst="rect">
            <a:avLst/>
          </a:prstGeom>
          <a:noFill/>
          <a:ln/>
        </p:spPr>
        <p:txBody>
          <a:bodyPr wrap="square" rtlCol="0" anchor="t"/>
          <a:lstStyle/>
          <a:p>
            <a:pPr marL="177800" indent="-177800">
              <a:lnSpc>
                <a:spcPct val="102000"/>
              </a:lnSpc>
              <a:spcAft>
                <a:spcPts val="800"/>
              </a:spcAft>
              <a:buSzPct val="100000"/>
              <a:buChar char="•"/>
            </a:pPr>
            <a:r>
              <a:rPr lang="en-US" sz="1450" dirty="0">
                <a:solidFill>
                  <a:srgbClr val="26313D"/>
                </a:solidFill>
                <a:latin typeface="Calibri" pitchFamily="34" charset="0"/>
                <a:ea typeface="Calibri" pitchFamily="34" charset="-122"/>
                <a:cs typeface="Calibri" pitchFamily="34" charset="-120"/>
              </a:rPr>
              <a:t>300 dokumen Checkpoint 1 tervalidasi.</a:t>
            </a:r>
            <a:endParaRPr lang="en-US" sz="1450" dirty="0"/>
          </a:p>
          <a:p>
            <a:pPr marL="177800" indent="-177800">
              <a:lnSpc>
                <a:spcPct val="102000"/>
              </a:lnSpc>
              <a:spcAft>
                <a:spcPts val="800"/>
              </a:spcAft>
              <a:buSzPct val="100000"/>
              <a:buChar char="•"/>
            </a:pPr>
            <a:r>
              <a:rPr lang="en-US" sz="1450" dirty="0">
                <a:solidFill>
                  <a:srgbClr val="26313D"/>
                </a:solidFill>
                <a:latin typeface="Calibri" pitchFamily="34" charset="0"/>
                <a:ea typeface="Calibri" pitchFamily="34" charset="-122"/>
                <a:cs typeface="Calibri" pitchFamily="34" charset="-120"/>
              </a:rPr>
              <a:t>9 contoh positif lolos skema.</a:t>
            </a:r>
            <a:endParaRPr lang="en-US" sz="1450" dirty="0"/>
          </a:p>
          <a:p>
            <a:pPr marL="177800" indent="-177800">
              <a:lnSpc>
                <a:spcPct val="102000"/>
              </a:lnSpc>
              <a:spcAft>
                <a:spcPts val="800"/>
              </a:spcAft>
              <a:buSzPct val="100000"/>
              <a:buChar char="•"/>
            </a:pPr>
            <a:r>
              <a:rPr lang="en-US" sz="1450" dirty="0">
                <a:solidFill>
                  <a:srgbClr val="26313D"/>
                </a:solidFill>
                <a:latin typeface="Calibri" pitchFamily="34" charset="0"/>
                <a:ea typeface="Calibri" pitchFamily="34" charset="-122"/>
                <a:cs typeface="Calibri" pitchFamily="34" charset="-120"/>
              </a:rPr>
              <a:t>6 contoh negatif ditolak sesuai harapan.</a:t>
            </a:r>
            <a:endParaRPr lang="en-US" sz="1450" dirty="0"/>
          </a:p>
          <a:p>
            <a:pPr marL="177800" indent="-177800">
              <a:lnSpc>
                <a:spcPct val="102000"/>
              </a:lnSpc>
              <a:spcAft>
                <a:spcPts val="800"/>
              </a:spcAft>
              <a:buSzPct val="100000"/>
              <a:buChar char="•"/>
            </a:pPr>
            <a:r>
              <a:rPr lang="en-US" sz="1450" dirty="0">
                <a:solidFill>
                  <a:srgbClr val="26313D"/>
                </a:solidFill>
                <a:latin typeface="Calibri" pitchFamily="34" charset="0"/>
                <a:ea typeface="Calibri" pitchFamily="34" charset="-122"/>
                <a:cs typeface="Calibri" pitchFamily="34" charset="-120"/>
              </a:rPr>
              <a:t>Semua tipe entitas inti tercakup.</a:t>
            </a:r>
            <a:endParaRPr lang="en-US" sz="1450" dirty="0"/>
          </a:p>
          <a:p>
            <a:pPr marL="177800" indent="-177800">
              <a:lnSpc>
                <a:spcPct val="102000"/>
              </a:lnSpc>
              <a:spcAft>
                <a:spcPts val="800"/>
              </a:spcAft>
              <a:buSzPct val="100000"/>
              <a:buChar char="•"/>
            </a:pPr>
            <a:r>
              <a:rPr lang="en-US" sz="1450" dirty="0">
                <a:solidFill>
                  <a:srgbClr val="26313D"/>
                </a:solidFill>
                <a:latin typeface="Calibri" pitchFamily="34" charset="0"/>
                <a:ea typeface="Calibri" pitchFamily="34" charset="-122"/>
                <a:cs typeface="Calibri" pitchFamily="34" charset="-120"/>
              </a:rPr>
              <a:t>Contoh mencakup question &amp; answer; assertion present, negated, uncertain, hypothetical; temporal; patient &amp; family experiencer; differential diagnosis dan recommendation.</a:t>
            </a:r>
            <a:endParaRPr lang="en-US" sz="1450" dirty="0"/>
          </a:p>
          <a:p>
            <a:pPr marL="177800" indent="-177800">
              <a:lnSpc>
                <a:spcPct val="102000"/>
              </a:lnSpc>
              <a:spcAft>
                <a:spcPts val="800"/>
              </a:spcAft>
              <a:buSzPct val="100000"/>
              <a:buChar char="•"/>
            </a:pPr>
            <a:r>
              <a:rPr lang="en-US" sz="1450" dirty="0">
                <a:solidFill>
                  <a:srgbClr val="26313D"/>
                </a:solidFill>
                <a:latin typeface="Calibri" pitchFamily="34" charset="0"/>
                <a:ea typeface="Calibri" pitchFamily="34" charset="-122"/>
                <a:cs typeface="Calibri" pitchFamily="34" charset="-120"/>
              </a:rPr>
              <a:t>JSON Schema serta pedoman anotasi tersedia.</a:t>
            </a:r>
            <a:endParaRPr lang="en-US" sz="1450" dirty="0"/>
          </a:p>
        </p:txBody>
      </p:sp>
      <p:sp>
        <p:nvSpPr>
          <p:cNvPr id="9" name="Text 6"/>
          <p:cNvSpPr/>
          <p:nvPr/>
        </p:nvSpPr>
        <p:spPr>
          <a:xfrm>
            <a:off x="640080" y="5532120"/>
            <a:ext cx="2926080" cy="384048"/>
          </a:xfrm>
          <a:prstGeom prst="roundRect">
            <a:avLst>
              <a:gd name="adj" fmla="val 23810"/>
            </a:avLst>
          </a:prstGeom>
          <a:solidFill>
            <a:srgbClr val="2E7D46"/>
          </a:solid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Status audit: pass</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34</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TAHAP 2 · CHECKPOINT 3</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Checkpoint 3: Desain Gold Set Entitas</a:t>
            </a:r>
            <a:endParaRPr lang="en-US" sz="2700" dirty="0"/>
          </a:p>
        </p:txBody>
      </p:sp>
      <p:sp>
        <p:nvSpPr>
          <p:cNvPr id="8" name="Text 5"/>
          <p:cNvSpPr/>
          <p:nvPr/>
        </p:nvSpPr>
        <p:spPr>
          <a:xfrm>
            <a:off x="640080" y="1828800"/>
            <a:ext cx="10972800" cy="3291840"/>
          </a:xfrm>
          <a:prstGeom prst="rect">
            <a:avLst/>
          </a:prstGeom>
          <a:noFill/>
          <a:ln/>
        </p:spPr>
        <p:txBody>
          <a:bodyPr wrap="square" rtlCol="0" anchor="t"/>
          <a:lstStyle/>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Unit sampling: pasangan question–answer.</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Ukuran pilot: 40 pasangan atau 80 dokumen.</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Sampling deterministik dan terstratifikasi.</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Strata mencakup:</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negasi dan ketidakpastian; temporalitas;</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obat/dosis dan measurement; family experiencer;</a:t>
            </a:r>
            <a:endParaRPr lang="en-US" sz="1500" dirty="0"/>
          </a:p>
          <a:p>
            <a:pPr marL="355600" lvl="1"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rekomendasi; pertanyaan/jawaban panjang.</a:t>
            </a:r>
            <a:endParaRPr lang="en-US" sz="1500" dirty="0"/>
          </a:p>
        </p:txBody>
      </p:sp>
      <p:sp>
        <p:nvSpPr>
          <p:cNvPr id="9" name="callout background">
            <a:extLst>
              <a:ext uri="{C183D7F6-B498-43B3-948B-1728B52AA6E4}">
                <adec:decorative xmlns:adec="http://schemas.microsoft.com/office/drawing/2017/decorative" val="1"/>
              </a:ext>
            </a:extLst>
          </p:cNvPr>
          <p:cNvSpPr/>
          <p:nvPr/>
        </p:nvSpPr>
        <p:spPr>
          <a:xfrm>
            <a:off x="640080" y="5303520"/>
            <a:ext cx="10972800" cy="640080"/>
          </a:xfrm>
          <a:prstGeom prst="roundRect">
            <a:avLst>
              <a:gd name="adj" fmla="val 8571"/>
            </a:avLst>
          </a:prstGeom>
          <a:solidFill>
            <a:srgbClr val="F7EFD8"/>
          </a:solidFill>
          <a:ln/>
        </p:spPr>
        <p:txBody>
          <a:bodyPr/>
          <a:lstStyle/>
          <a:p>
            <a:endParaRPr lang="en-ID"/>
          </a:p>
        </p:txBody>
      </p:sp>
      <p:sp>
        <p:nvSpPr>
          <p:cNvPr id="10" name="Text 7"/>
          <p:cNvSpPr/>
          <p:nvPr/>
        </p:nvSpPr>
        <p:spPr>
          <a:xfrm>
            <a:off x="896112" y="5303520"/>
            <a:ext cx="10460736" cy="6400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Catatan:  </a:t>
            </a:r>
            <a:r>
              <a:rPr lang="en-US" sz="1350" dirty="0">
                <a:solidFill>
                  <a:srgbClr val="26313D"/>
                </a:solidFill>
                <a:latin typeface="Calibri" pitchFamily="34" charset="0"/>
                <a:ea typeface="Calibri" pitchFamily="34" charset="-122"/>
                <a:cs typeface="Calibri" pitchFamily="34" charset="-120"/>
              </a:rPr>
              <a:t>strata adalah alat sampling, bukan label gold.</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35</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TAHAP 2 · CHECKPOINT 3</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Workflow Anotasi dan Status Checkpoint 3</a:t>
            </a:r>
            <a:endParaRPr lang="en-US" sz="2700" dirty="0"/>
          </a:p>
        </p:txBody>
      </p:sp>
      <p:sp>
        <p:nvSpPr>
          <p:cNvPr id="8" name="step box">
            <a:extLst>
              <a:ext uri="{C183D7F6-B498-43B3-948B-1728B52AA6E4}">
                <adec:decorative xmlns:adec="http://schemas.microsoft.com/office/drawing/2017/decorative" val="1"/>
              </a:ext>
            </a:extLst>
          </p:cNvPr>
          <p:cNvSpPr/>
          <p:nvPr/>
        </p:nvSpPr>
        <p:spPr>
          <a:xfrm>
            <a:off x="640080" y="1828800"/>
            <a:ext cx="5486400" cy="548640"/>
          </a:xfrm>
          <a:prstGeom prst="roundRect">
            <a:avLst>
              <a:gd name="adj" fmla="val 8333"/>
            </a:avLst>
          </a:prstGeom>
          <a:solidFill>
            <a:srgbClr val="EAF1F8"/>
          </a:solidFill>
          <a:ln w="12700">
            <a:solidFill>
              <a:srgbClr val="D5E0EC"/>
            </a:solidFill>
            <a:prstDash val="solid"/>
          </a:ln>
        </p:spPr>
        <p:txBody>
          <a:bodyPr/>
          <a:lstStyle/>
          <a:p>
            <a:endParaRPr lang="en-ID"/>
          </a:p>
        </p:txBody>
      </p:sp>
      <p:sp>
        <p:nvSpPr>
          <p:cNvPr id="9" name="Text 6"/>
          <p:cNvSpPr/>
          <p:nvPr/>
        </p:nvSpPr>
        <p:spPr>
          <a:xfrm>
            <a:off x="822960" y="1828800"/>
            <a:ext cx="5120640" cy="548640"/>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Paket tugas yang sama</a:t>
            </a:r>
            <a:endParaRPr lang="en-US" sz="1250" dirty="0"/>
          </a:p>
        </p:txBody>
      </p:sp>
      <p:sp>
        <p:nvSpPr>
          <p:cNvPr id="10" name="Text 7"/>
          <p:cNvSpPr/>
          <p:nvPr/>
        </p:nvSpPr>
        <p:spPr>
          <a:xfrm>
            <a:off x="640080" y="2359152"/>
            <a:ext cx="5486400" cy="292608"/>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1" name="step box">
            <a:extLst>
              <a:ext uri="{C183D7F6-B498-43B3-948B-1728B52AA6E4}">
                <adec:decorative xmlns:adec="http://schemas.microsoft.com/office/drawing/2017/decorative" val="1"/>
              </a:ext>
            </a:extLst>
          </p:cNvPr>
          <p:cNvSpPr/>
          <p:nvPr/>
        </p:nvSpPr>
        <p:spPr>
          <a:xfrm>
            <a:off x="640080" y="2633472"/>
            <a:ext cx="5486400" cy="548640"/>
          </a:xfrm>
          <a:prstGeom prst="roundRect">
            <a:avLst>
              <a:gd name="adj" fmla="val 8333"/>
            </a:avLst>
          </a:prstGeom>
          <a:solidFill>
            <a:srgbClr val="EAF1F8"/>
          </a:solidFill>
          <a:ln w="12700">
            <a:solidFill>
              <a:srgbClr val="D5E0EC"/>
            </a:solidFill>
            <a:prstDash val="solid"/>
          </a:ln>
        </p:spPr>
        <p:txBody>
          <a:bodyPr/>
          <a:lstStyle/>
          <a:p>
            <a:endParaRPr lang="en-ID"/>
          </a:p>
        </p:txBody>
      </p:sp>
      <p:sp>
        <p:nvSpPr>
          <p:cNvPr id="12" name="Text 9"/>
          <p:cNvSpPr/>
          <p:nvPr/>
        </p:nvSpPr>
        <p:spPr>
          <a:xfrm>
            <a:off x="822960" y="2633472"/>
            <a:ext cx="5120640" cy="548640"/>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Annotator A  |  Annotator B</a:t>
            </a:r>
            <a:endParaRPr lang="en-US" sz="1250" dirty="0"/>
          </a:p>
        </p:txBody>
      </p:sp>
      <p:sp>
        <p:nvSpPr>
          <p:cNvPr id="13" name="Text 10"/>
          <p:cNvSpPr/>
          <p:nvPr/>
        </p:nvSpPr>
        <p:spPr>
          <a:xfrm>
            <a:off x="640080" y="3163824"/>
            <a:ext cx="5486400" cy="292608"/>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4" name="step box">
            <a:extLst>
              <a:ext uri="{C183D7F6-B498-43B3-948B-1728B52AA6E4}">
                <adec:decorative xmlns:adec="http://schemas.microsoft.com/office/drawing/2017/decorative" val="1"/>
              </a:ext>
            </a:extLst>
          </p:cNvPr>
          <p:cNvSpPr/>
          <p:nvPr/>
        </p:nvSpPr>
        <p:spPr>
          <a:xfrm>
            <a:off x="640080" y="3438144"/>
            <a:ext cx="5486400" cy="548640"/>
          </a:xfrm>
          <a:prstGeom prst="roundRect">
            <a:avLst>
              <a:gd name="adj" fmla="val 8333"/>
            </a:avLst>
          </a:prstGeom>
          <a:solidFill>
            <a:srgbClr val="EAF1F8"/>
          </a:solidFill>
          <a:ln w="12700">
            <a:solidFill>
              <a:srgbClr val="D5E0EC"/>
            </a:solidFill>
            <a:prstDash val="solid"/>
          </a:ln>
        </p:spPr>
        <p:txBody>
          <a:bodyPr/>
          <a:lstStyle/>
          <a:p>
            <a:endParaRPr lang="en-ID"/>
          </a:p>
        </p:txBody>
      </p:sp>
      <p:sp>
        <p:nvSpPr>
          <p:cNvPr id="15" name="Text 12"/>
          <p:cNvSpPr/>
          <p:nvPr/>
        </p:nvSpPr>
        <p:spPr>
          <a:xfrm>
            <a:off x="822960" y="3438144"/>
            <a:ext cx="5120640" cy="548640"/>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Agreement &amp; disagreement</a:t>
            </a:r>
            <a:endParaRPr lang="en-US" sz="1250" dirty="0"/>
          </a:p>
        </p:txBody>
      </p:sp>
      <p:sp>
        <p:nvSpPr>
          <p:cNvPr id="16" name="Text 13"/>
          <p:cNvSpPr/>
          <p:nvPr/>
        </p:nvSpPr>
        <p:spPr>
          <a:xfrm>
            <a:off x="640080" y="3968496"/>
            <a:ext cx="5486400" cy="292608"/>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7" name="step box">
            <a:extLst>
              <a:ext uri="{C183D7F6-B498-43B3-948B-1728B52AA6E4}">
                <adec:decorative xmlns:adec="http://schemas.microsoft.com/office/drawing/2017/decorative" val="1"/>
              </a:ext>
            </a:extLst>
          </p:cNvPr>
          <p:cNvSpPr/>
          <p:nvPr/>
        </p:nvSpPr>
        <p:spPr>
          <a:xfrm>
            <a:off x="640080" y="4242816"/>
            <a:ext cx="5486400" cy="548640"/>
          </a:xfrm>
          <a:prstGeom prst="roundRect">
            <a:avLst>
              <a:gd name="adj" fmla="val 8333"/>
            </a:avLst>
          </a:prstGeom>
          <a:solidFill>
            <a:srgbClr val="EAF1F8"/>
          </a:solidFill>
          <a:ln w="12700">
            <a:solidFill>
              <a:srgbClr val="D5E0EC"/>
            </a:solidFill>
            <a:prstDash val="solid"/>
          </a:ln>
        </p:spPr>
        <p:txBody>
          <a:bodyPr/>
          <a:lstStyle/>
          <a:p>
            <a:endParaRPr lang="en-ID"/>
          </a:p>
        </p:txBody>
      </p:sp>
      <p:sp>
        <p:nvSpPr>
          <p:cNvPr id="18" name="Text 15"/>
          <p:cNvSpPr/>
          <p:nvPr/>
        </p:nvSpPr>
        <p:spPr>
          <a:xfrm>
            <a:off x="822960" y="4242816"/>
            <a:ext cx="5120640" cy="548640"/>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Adjudikasi klinis</a:t>
            </a:r>
            <a:endParaRPr lang="en-US" sz="1250" dirty="0"/>
          </a:p>
        </p:txBody>
      </p:sp>
      <p:sp>
        <p:nvSpPr>
          <p:cNvPr id="19" name="Text 16"/>
          <p:cNvSpPr/>
          <p:nvPr/>
        </p:nvSpPr>
        <p:spPr>
          <a:xfrm>
            <a:off x="640080" y="4773168"/>
            <a:ext cx="5486400" cy="292608"/>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20" name="step box">
            <a:extLst>
              <a:ext uri="{C183D7F6-B498-43B3-948B-1728B52AA6E4}">
                <adec:decorative xmlns:adec="http://schemas.microsoft.com/office/drawing/2017/decorative" val="1"/>
              </a:ext>
            </a:extLst>
          </p:cNvPr>
          <p:cNvSpPr/>
          <p:nvPr/>
        </p:nvSpPr>
        <p:spPr>
          <a:xfrm>
            <a:off x="640080" y="5047488"/>
            <a:ext cx="5486400" cy="548640"/>
          </a:xfrm>
          <a:prstGeom prst="roundRect">
            <a:avLst>
              <a:gd name="adj" fmla="val 8333"/>
            </a:avLst>
          </a:prstGeom>
          <a:solidFill>
            <a:srgbClr val="0B3C6E"/>
          </a:solidFill>
          <a:ln w="12700">
            <a:solidFill>
              <a:srgbClr val="0B3C6E"/>
            </a:solidFill>
            <a:prstDash val="solid"/>
          </a:ln>
        </p:spPr>
        <p:txBody>
          <a:bodyPr/>
          <a:lstStyle/>
          <a:p>
            <a:endParaRPr lang="en-ID"/>
          </a:p>
        </p:txBody>
      </p:sp>
      <p:sp>
        <p:nvSpPr>
          <p:cNvPr id="21" name="Text 18"/>
          <p:cNvSpPr/>
          <p:nvPr/>
        </p:nvSpPr>
        <p:spPr>
          <a:xfrm>
            <a:off x="822960" y="5047488"/>
            <a:ext cx="5120640" cy="5486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Gold set v1 + hash + versi</a:t>
            </a:r>
            <a:endParaRPr lang="en-US" sz="1250" dirty="0"/>
          </a:p>
        </p:txBody>
      </p:sp>
      <p:sp>
        <p:nvSpPr>
          <p:cNvPr id="22" name="Text 19"/>
          <p:cNvSpPr/>
          <p:nvPr/>
        </p:nvSpPr>
        <p:spPr>
          <a:xfrm>
            <a:off x="6675120" y="1783080"/>
            <a:ext cx="4846320" cy="32004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Status saat ini</a:t>
            </a:r>
            <a:endParaRPr lang="en-US" sz="1200" dirty="0"/>
          </a:p>
        </p:txBody>
      </p:sp>
      <p:sp>
        <p:nvSpPr>
          <p:cNvPr id="23" name="Text 20"/>
          <p:cNvSpPr/>
          <p:nvPr/>
        </p:nvSpPr>
        <p:spPr>
          <a:xfrm>
            <a:off x="6675120" y="2194560"/>
            <a:ext cx="4937760" cy="2743200"/>
          </a:xfrm>
          <a:prstGeom prst="rect">
            <a:avLst/>
          </a:prstGeom>
          <a:noFill/>
          <a:ln/>
        </p:spPr>
        <p:txBody>
          <a:bodyPr wrap="square" rtlCol="0" anchor="t"/>
          <a:lstStyle/>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40 tugas untuk A dan B sudah tersedia;</a:t>
            </a:r>
            <a:endParaRPr lang="en-US" sz="1400" dirty="0"/>
          </a:p>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struktur dan audit valid;</a:t>
            </a:r>
            <a:endParaRPr lang="en-US" sz="1400" dirty="0"/>
          </a:p>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anotasi lengkap: 0/40;</a:t>
            </a:r>
            <a:endParaRPr lang="en-US" sz="1400" dirty="0"/>
          </a:p>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status: pending_annotation;</a:t>
            </a:r>
            <a:endParaRPr lang="en-US" sz="1400" dirty="0"/>
          </a:p>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gold v1 belum dibuat.</a:t>
            </a:r>
            <a:endParaRPr lang="en-US" sz="1400" dirty="0"/>
          </a:p>
        </p:txBody>
      </p:sp>
      <p:sp>
        <p:nvSpPr>
          <p:cNvPr id="24" name="Text 21"/>
          <p:cNvSpPr/>
          <p:nvPr/>
        </p:nvSpPr>
        <p:spPr>
          <a:xfrm>
            <a:off x="6675120" y="4892040"/>
            <a:ext cx="4023360" cy="384048"/>
          </a:xfrm>
          <a:prstGeom prst="roundRect">
            <a:avLst>
              <a:gd name="adj" fmla="val 23810"/>
            </a:avLst>
          </a:prstGeom>
          <a:solidFill>
            <a:srgbClr val="B26A00"/>
          </a:solid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Status: pending_annotation</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36</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RENCANA</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Rencana Tahap 3–8</a:t>
            </a:r>
            <a:endParaRPr lang="en-US" sz="2700" dirty="0"/>
          </a:p>
        </p:txBody>
      </p:sp>
      <p:sp>
        <p:nvSpPr>
          <p:cNvPr id="8" name="Text 5"/>
          <p:cNvSpPr/>
          <p:nvPr/>
        </p:nvSpPr>
        <p:spPr>
          <a:xfrm>
            <a:off x="640080" y="1783080"/>
            <a:ext cx="10972800" cy="4297680"/>
          </a:xfrm>
          <a:prstGeom prst="rect">
            <a:avLst/>
          </a:prstGeom>
          <a:noFill/>
          <a:ln/>
        </p:spPr>
        <p:txBody>
          <a:bodyPr wrap="square" rtlCol="0" anchor="t"/>
          <a:lstStyle/>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Routing:  </a:t>
            </a:r>
            <a:r>
              <a:rPr lang="en-US" sz="1450" dirty="0">
                <a:solidFill>
                  <a:srgbClr val="26313D"/>
                </a:solidFill>
                <a:latin typeface="Calibri" pitchFamily="34" charset="0"/>
                <a:ea typeface="Calibri" pitchFamily="34" charset="-122"/>
                <a:cs typeface="Calibri" pitchFamily="34" charset="-120"/>
              </a:rPr>
              <a:t>tipe entitas → terminologi target.</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Decomposition:  </a:t>
            </a:r>
            <a:r>
              <a:rPr lang="en-US" sz="1450" dirty="0">
                <a:solidFill>
                  <a:srgbClr val="26313D"/>
                </a:solidFill>
                <a:latin typeface="Calibri" pitchFamily="34" charset="0"/>
                <a:ea typeface="Calibri" pitchFamily="34" charset="-122"/>
                <a:cs typeface="Calibri" pitchFamily="34" charset="-120"/>
              </a:rPr>
              <a:t>base entity, domain, unit, category, visit, method.</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Retrieval:  </a:t>
            </a:r>
            <a:r>
              <a:rPr lang="en-US" sz="1450" dirty="0">
                <a:solidFill>
                  <a:srgbClr val="26313D"/>
                </a:solidFill>
                <a:latin typeface="Calibri" pitchFamily="34" charset="0"/>
                <a:ea typeface="Calibri" pitchFamily="34" charset="-122"/>
                <a:cs typeface="Calibri" pitchFamily="34" charset="-120"/>
              </a:rPr>
              <a:t>dense + sparse, Top-k kandidat.</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Filtering:  </a:t>
            </a:r>
            <a:r>
              <a:rPr lang="en-US" sz="1450" dirty="0">
                <a:solidFill>
                  <a:srgbClr val="26313D"/>
                </a:solidFill>
                <a:latin typeface="Calibri" pitchFamily="34" charset="0"/>
                <a:ea typeface="Calibri" pitchFamily="34" charset="-122"/>
                <a:cs typeface="Calibri" pitchFamily="34" charset="-120"/>
              </a:rPr>
              <a:t>domain, semantic type, threshold, constraint.</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Reranking:  </a:t>
            </a:r>
            <a:r>
              <a:rPr lang="en-US" sz="1450" dirty="0">
                <a:solidFill>
                  <a:srgbClr val="26313D"/>
                </a:solidFill>
                <a:latin typeface="Calibri" pitchFamily="34" charset="0"/>
                <a:ea typeface="Calibri" pitchFamily="34" charset="-122"/>
                <a:cs typeface="Calibri" pitchFamily="34" charset="-120"/>
              </a:rPr>
              <a:t>konteks, definisi, sinonim, keputusan relevansi.</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Human-in-the-loop:  </a:t>
            </a:r>
            <a:r>
              <a:rPr lang="en-US" sz="1450" dirty="0">
                <a:solidFill>
                  <a:srgbClr val="26313D"/>
                </a:solidFill>
                <a:latin typeface="Calibri" pitchFamily="34" charset="0"/>
                <a:ea typeface="Calibri" pitchFamily="34" charset="-122"/>
                <a:cs typeface="Calibri" pitchFamily="34" charset="-120"/>
              </a:rPr>
              <a:t>validasi ahli.</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Knowledge reservoir:  </a:t>
            </a:r>
            <a:r>
              <a:rPr lang="en-US" sz="1450" dirty="0">
                <a:solidFill>
                  <a:srgbClr val="26313D"/>
                </a:solidFill>
                <a:latin typeface="Calibri" pitchFamily="34" charset="0"/>
                <a:ea typeface="Calibri" pitchFamily="34" charset="-122"/>
                <a:cs typeface="Calibri" pitchFamily="34" charset="-120"/>
              </a:rPr>
              <a:t>hanya menyimpan pemetaan tervalidasi.</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37</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EVALUASI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Baseline dan Ablation Study</a:t>
            </a:r>
            <a:endParaRPr lang="en-US" sz="2700" dirty="0"/>
          </a:p>
        </p:txBody>
      </p:sp>
      <p:sp>
        <p:nvSpPr>
          <p:cNvPr id="8" name="section card">
            <a:extLst>
              <a:ext uri="{C183D7F6-B498-43B3-948B-1728B52AA6E4}">
                <adec:decorative xmlns:adec="http://schemas.microsoft.com/office/drawing/2017/decorative" val="1"/>
              </a:ext>
            </a:extLst>
          </p:cNvPr>
          <p:cNvSpPr/>
          <p:nvPr/>
        </p:nvSpPr>
        <p:spPr>
          <a:xfrm>
            <a:off x="640080" y="1828800"/>
            <a:ext cx="5330952" cy="3566160"/>
          </a:xfrm>
          <a:prstGeom prst="rect">
            <a:avLst/>
          </a:prstGeom>
          <a:solidFill>
            <a:srgbClr val="F1F5FA"/>
          </a:solidFill>
          <a:ln w="12700">
            <a:solidFill>
              <a:srgbClr val="D5E0EC"/>
            </a:solidFill>
            <a:prstDash val="solid"/>
          </a:ln>
        </p:spPr>
        <p:txBody>
          <a:bodyPr/>
          <a:lstStyle/>
          <a:p>
            <a:endParaRPr lang="en-ID"/>
          </a:p>
        </p:txBody>
      </p:sp>
      <p:sp>
        <p:nvSpPr>
          <p:cNvPr id="9" name="section accent">
            <a:extLst>
              <a:ext uri="{C183D7F6-B498-43B3-948B-1728B52AA6E4}">
                <adec:decorative xmlns:adec="http://schemas.microsoft.com/office/drawing/2017/decorative" val="1"/>
              </a:ext>
            </a:extLst>
          </p:cNvPr>
          <p:cNvSpPr/>
          <p:nvPr/>
        </p:nvSpPr>
        <p:spPr>
          <a:xfrm>
            <a:off x="640080" y="1828800"/>
            <a:ext cx="109728" cy="3566160"/>
          </a:xfrm>
          <a:prstGeom prst="rect">
            <a:avLst/>
          </a:prstGeom>
          <a:solidFill>
            <a:srgbClr val="0B3C6E"/>
          </a:solidFill>
          <a:ln/>
        </p:spPr>
        <p:txBody>
          <a:bodyPr/>
          <a:lstStyle/>
          <a:p>
            <a:endParaRPr lang="en-ID"/>
          </a:p>
        </p:txBody>
      </p:sp>
      <p:sp>
        <p:nvSpPr>
          <p:cNvPr id="10" name="Text 7"/>
          <p:cNvSpPr/>
          <p:nvPr/>
        </p:nvSpPr>
        <p:spPr>
          <a:xfrm>
            <a:off x="960120" y="202996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Baseline</a:t>
            </a:r>
            <a:endParaRPr lang="en-US" sz="1600" dirty="0"/>
          </a:p>
        </p:txBody>
      </p:sp>
      <p:sp>
        <p:nvSpPr>
          <p:cNvPr id="11" name="Text 8"/>
          <p:cNvSpPr/>
          <p:nvPr/>
        </p:nvSpPr>
        <p:spPr>
          <a:xfrm>
            <a:off x="960120" y="2560320"/>
            <a:ext cx="4736592" cy="265176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lexical/exact/fuzzy matching;</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dense retrieval saja;</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sparse retrieval saja;</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LLM-only tanpa retrieval;</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CDE-Mapper original.</a:t>
            </a:r>
            <a:endParaRPr lang="en-US" sz="1300" dirty="0"/>
          </a:p>
        </p:txBody>
      </p:sp>
      <p:sp>
        <p:nvSpPr>
          <p:cNvPr id="12" name="section card">
            <a:extLst>
              <a:ext uri="{C183D7F6-B498-43B3-948B-1728B52AA6E4}">
                <adec:decorative xmlns:adec="http://schemas.microsoft.com/office/drawing/2017/decorative" val="1"/>
              </a:ext>
            </a:extLst>
          </p:cNvPr>
          <p:cNvSpPr/>
          <p:nvPr/>
        </p:nvSpPr>
        <p:spPr>
          <a:xfrm>
            <a:off x="6281928" y="1828800"/>
            <a:ext cx="5330952" cy="3566160"/>
          </a:xfrm>
          <a:prstGeom prst="rect">
            <a:avLst/>
          </a:prstGeom>
          <a:solidFill>
            <a:srgbClr val="F1F5FA"/>
          </a:solidFill>
          <a:ln w="12700">
            <a:solidFill>
              <a:srgbClr val="D5E0EC"/>
            </a:solidFill>
            <a:prstDash val="solid"/>
          </a:ln>
        </p:spPr>
        <p:txBody>
          <a:bodyPr/>
          <a:lstStyle/>
          <a:p>
            <a:endParaRPr lang="en-ID"/>
          </a:p>
        </p:txBody>
      </p:sp>
      <p:sp>
        <p:nvSpPr>
          <p:cNvPr id="13" name="section accent">
            <a:extLst>
              <a:ext uri="{C183D7F6-B498-43B3-948B-1728B52AA6E4}">
                <adec:decorative xmlns:adec="http://schemas.microsoft.com/office/drawing/2017/decorative" val="1"/>
              </a:ext>
            </a:extLst>
          </p:cNvPr>
          <p:cNvSpPr/>
          <p:nvPr/>
        </p:nvSpPr>
        <p:spPr>
          <a:xfrm>
            <a:off x="6281928" y="1828800"/>
            <a:ext cx="109728" cy="3566160"/>
          </a:xfrm>
          <a:prstGeom prst="rect">
            <a:avLst/>
          </a:prstGeom>
          <a:solidFill>
            <a:srgbClr val="B98A1E"/>
          </a:solidFill>
          <a:ln/>
        </p:spPr>
        <p:txBody>
          <a:bodyPr/>
          <a:lstStyle/>
          <a:p>
            <a:endParaRPr lang="en-ID"/>
          </a:p>
        </p:txBody>
      </p:sp>
      <p:sp>
        <p:nvSpPr>
          <p:cNvPr id="14" name="Text 11"/>
          <p:cNvSpPr/>
          <p:nvPr/>
        </p:nvSpPr>
        <p:spPr>
          <a:xfrm>
            <a:off x="6601968" y="202996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Ablation</a:t>
            </a:r>
            <a:endParaRPr lang="en-US" sz="1600" dirty="0"/>
          </a:p>
        </p:txBody>
      </p:sp>
      <p:sp>
        <p:nvSpPr>
          <p:cNvPr id="15" name="Text 12"/>
          <p:cNvSpPr/>
          <p:nvPr/>
        </p:nvSpPr>
        <p:spPr>
          <a:xfrm>
            <a:off x="6601968" y="2560320"/>
            <a:ext cx="4736592" cy="265176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tanpa normalisasi lokal;</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tanpa long-text extraction;</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tanpa query decomposition;</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tanpa filtering;</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tanpa reranking;</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tanpa knowledge reservoir.</a:t>
            </a:r>
            <a:endParaRPr lang="en-US" sz="1300" dirty="0"/>
          </a:p>
        </p:txBody>
      </p:sp>
      <p:sp>
        <p:nvSpPr>
          <p:cNvPr id="16" name="callout background">
            <a:extLst>
              <a:ext uri="{C183D7F6-B498-43B3-948B-1728B52AA6E4}">
                <adec:decorative xmlns:adec="http://schemas.microsoft.com/office/drawing/2017/decorative" val="1"/>
              </a:ext>
            </a:extLst>
          </p:cNvPr>
          <p:cNvSpPr/>
          <p:nvPr/>
        </p:nvSpPr>
        <p:spPr>
          <a:xfrm>
            <a:off x="640080" y="5532120"/>
            <a:ext cx="10972800" cy="640080"/>
          </a:xfrm>
          <a:prstGeom prst="roundRect">
            <a:avLst>
              <a:gd name="adj" fmla="val 8571"/>
            </a:avLst>
          </a:prstGeom>
          <a:solidFill>
            <a:srgbClr val="F7EFD8"/>
          </a:solidFill>
          <a:ln/>
        </p:spPr>
        <p:txBody>
          <a:bodyPr/>
          <a:lstStyle/>
          <a:p>
            <a:endParaRPr lang="en-ID"/>
          </a:p>
        </p:txBody>
      </p:sp>
      <p:sp>
        <p:nvSpPr>
          <p:cNvPr id="17" name="Text 14"/>
          <p:cNvSpPr/>
          <p:nvPr/>
        </p:nvSpPr>
        <p:spPr>
          <a:xfrm>
            <a:off x="896112" y="5532120"/>
            <a:ext cx="10460736" cy="6400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Tujuan:  </a:t>
            </a:r>
            <a:r>
              <a:rPr lang="en-US" sz="1350" dirty="0">
                <a:solidFill>
                  <a:srgbClr val="26313D"/>
                </a:solidFill>
                <a:latin typeface="Calibri" pitchFamily="34" charset="0"/>
                <a:ea typeface="Calibri" pitchFamily="34" charset="-122"/>
                <a:cs typeface="Calibri" pitchFamily="34" charset="-120"/>
              </a:rPr>
              <a:t>mengukur kontribusi nyata setiap komponen — model paling kompleks belum tentu paling baik.</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38</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EVALUASI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Kerangka Evaluasi</a:t>
            </a:r>
            <a:endParaRPr lang="en-US" sz="27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8412480">
                  <a:extLst>
                    <a:ext uri="{9D8B030D-6E8A-4147-A177-3AD203B41FA5}">
                      <a16:colId xmlns:a16="http://schemas.microsoft.com/office/drawing/2014/main" val="20001"/>
                    </a:ext>
                  </a:extLst>
                </a:gridCol>
              </a:tblGrid>
              <a:tr h="50292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Level</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Metrik</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extLst>
                  <a:ext uri="{0D108BD9-81ED-4DB2-BD59-A6C34878D82A}">
                    <a16:rowId xmlns:a16="http://schemas.microsoft.com/office/drawing/2014/main" val="10000"/>
                  </a:ext>
                </a:extLst>
              </a:tr>
              <a:tr h="50292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Normalisasi</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exact match, abbreviation accuracy, typo recovery, preservation</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Ekstraksi</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span precision/recall/F1, type F1</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r h="50292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Konteks</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assertion, temporal, experiencer, epistemic accuracy</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Dekomposisi</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field-level precision/recall/F1</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4"/>
                  </a:ext>
                </a:extLst>
              </a:tr>
              <a:tr h="50292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Retrieval</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Accuracy@k, Recall@k, Precision@k, MRR, NDCG</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Mapping akhir</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accuracy, precision, recall, F1, coverage</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6"/>
                  </a:ext>
                </a:extLst>
              </a:tr>
              <a:tr h="50292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Operasional</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latency, failure rate, consistency, biaya</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39</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RISIKO &amp; ETIK</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Risiko, Etik, dan Mitigasi</a:t>
            </a:r>
            <a:endParaRPr lang="en-US" sz="27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881360" cy="914400"/>
        </p:xfrm>
        <a:graphic>
          <a:graphicData uri="http://schemas.openxmlformats.org/drawingml/2006/table">
            <a:tbl>
              <a:tblPr/>
              <a:tblGrid>
                <a:gridCol w="402336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45720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Risiko</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Mitigasi</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extLst>
                  <a:ext uri="{0D108BD9-81ED-4DB2-BD59-A6C34878D82A}">
                    <a16:rowId xmlns:a16="http://schemas.microsoft.com/office/drawing/2014/main" val="10000"/>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Variasi bahasa ekstrem</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normalisasi konservatif dan error analysis</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Singkatan ambigu</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aturan konteks, warning, review</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Halusinasi LLM</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constrained output, retrieval, validator, fallback</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Kandidat benar hilang</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ensemble retrieval dan evaluasi Recall@k</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4"/>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Reservoir menyimpan error</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status validasi, provenance, approval ahli</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Bias/evaluasi bocor</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pemisahan development, few-shot, dan hold-out</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6"/>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Data sensitif</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anonimisasi, kontrol akses, tata kelola etik</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Ketergantungan layanan</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logging, retry, fallback, manifest</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40</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PENUTUP</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Kesimpulan dan Rencana Terdekat</a:t>
            </a:r>
            <a:endParaRPr lang="en-US" sz="2700" dirty="0"/>
          </a:p>
        </p:txBody>
      </p:sp>
      <p:sp>
        <p:nvSpPr>
          <p:cNvPr id="8" name="section card">
            <a:extLst>
              <a:ext uri="{C183D7F6-B498-43B3-948B-1728B52AA6E4}">
                <adec:decorative xmlns:adec="http://schemas.microsoft.com/office/drawing/2017/decorative" val="1"/>
              </a:ext>
            </a:extLst>
          </p:cNvPr>
          <p:cNvSpPr/>
          <p:nvPr/>
        </p:nvSpPr>
        <p:spPr>
          <a:xfrm>
            <a:off x="640080" y="1828800"/>
            <a:ext cx="5330952" cy="4206240"/>
          </a:xfrm>
          <a:prstGeom prst="rect">
            <a:avLst/>
          </a:prstGeom>
          <a:solidFill>
            <a:srgbClr val="F1F5FA"/>
          </a:solidFill>
          <a:ln w="12700">
            <a:solidFill>
              <a:srgbClr val="D5E0EC"/>
            </a:solidFill>
            <a:prstDash val="solid"/>
          </a:ln>
        </p:spPr>
        <p:txBody>
          <a:bodyPr/>
          <a:lstStyle/>
          <a:p>
            <a:endParaRPr lang="en-ID"/>
          </a:p>
        </p:txBody>
      </p:sp>
      <p:sp>
        <p:nvSpPr>
          <p:cNvPr id="9" name="section accent">
            <a:extLst>
              <a:ext uri="{C183D7F6-B498-43B3-948B-1728B52AA6E4}">
                <adec:decorative xmlns:adec="http://schemas.microsoft.com/office/drawing/2017/decorative" val="1"/>
              </a:ext>
            </a:extLst>
          </p:cNvPr>
          <p:cNvSpPr/>
          <p:nvPr/>
        </p:nvSpPr>
        <p:spPr>
          <a:xfrm>
            <a:off x="640080" y="1828800"/>
            <a:ext cx="109728" cy="4206240"/>
          </a:xfrm>
          <a:prstGeom prst="rect">
            <a:avLst/>
          </a:prstGeom>
          <a:solidFill>
            <a:srgbClr val="0B3C6E"/>
          </a:solidFill>
          <a:ln/>
        </p:spPr>
        <p:txBody>
          <a:bodyPr/>
          <a:lstStyle/>
          <a:p>
            <a:endParaRPr lang="en-ID"/>
          </a:p>
        </p:txBody>
      </p:sp>
      <p:sp>
        <p:nvSpPr>
          <p:cNvPr id="10" name="Text 7"/>
          <p:cNvSpPr/>
          <p:nvPr/>
        </p:nvSpPr>
        <p:spPr>
          <a:xfrm>
            <a:off x="960120" y="202996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Kesimpulan</a:t>
            </a:r>
            <a:endParaRPr lang="en-US" sz="1600" dirty="0"/>
          </a:p>
        </p:txBody>
      </p:sp>
      <p:sp>
        <p:nvSpPr>
          <p:cNvPr id="11" name="Text 8"/>
          <p:cNvSpPr/>
          <p:nvPr/>
        </p:nvSpPr>
        <p:spPr>
          <a:xfrm>
            <a:off x="960120" y="2560320"/>
            <a:ext cx="4736592" cy="329184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Masalah utama adalah kesenjangan semantik pada teks klinis Indonesia.</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Solusi menggabungkan normalisasi, ekstraksi konteks, retrieval hybrid, constraint, reranking, dan validasi ahli.</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Tahap 0 dan Tahap 1 telah memiliki implementasi serta audit awal.</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Tahap 2 Checkpoint 1–2 lulus audit; Checkpoint 3 siap untuk anotasi &amp; adjudikasi.</a:t>
            </a:r>
            <a:endParaRPr lang="en-US" sz="1300" dirty="0"/>
          </a:p>
        </p:txBody>
      </p:sp>
      <p:sp>
        <p:nvSpPr>
          <p:cNvPr id="12" name="section card">
            <a:extLst>
              <a:ext uri="{C183D7F6-B498-43B3-948B-1728B52AA6E4}">
                <adec:decorative xmlns:adec="http://schemas.microsoft.com/office/drawing/2017/decorative" val="1"/>
              </a:ext>
            </a:extLst>
          </p:cNvPr>
          <p:cNvSpPr/>
          <p:nvPr/>
        </p:nvSpPr>
        <p:spPr>
          <a:xfrm>
            <a:off x="6281928" y="1828800"/>
            <a:ext cx="5330952" cy="4206240"/>
          </a:xfrm>
          <a:prstGeom prst="rect">
            <a:avLst/>
          </a:prstGeom>
          <a:solidFill>
            <a:srgbClr val="F1F5FA"/>
          </a:solidFill>
          <a:ln w="12700">
            <a:solidFill>
              <a:srgbClr val="D5E0EC"/>
            </a:solidFill>
            <a:prstDash val="solid"/>
          </a:ln>
        </p:spPr>
        <p:txBody>
          <a:bodyPr/>
          <a:lstStyle/>
          <a:p>
            <a:endParaRPr lang="en-ID"/>
          </a:p>
        </p:txBody>
      </p:sp>
      <p:sp>
        <p:nvSpPr>
          <p:cNvPr id="13" name="section accent">
            <a:extLst>
              <a:ext uri="{C183D7F6-B498-43B3-948B-1728B52AA6E4}">
                <adec:decorative xmlns:adec="http://schemas.microsoft.com/office/drawing/2017/decorative" val="1"/>
              </a:ext>
            </a:extLst>
          </p:cNvPr>
          <p:cNvSpPr/>
          <p:nvPr/>
        </p:nvSpPr>
        <p:spPr>
          <a:xfrm>
            <a:off x="6281928" y="1828800"/>
            <a:ext cx="109728" cy="4206240"/>
          </a:xfrm>
          <a:prstGeom prst="rect">
            <a:avLst/>
          </a:prstGeom>
          <a:solidFill>
            <a:srgbClr val="B98A1E"/>
          </a:solidFill>
          <a:ln/>
        </p:spPr>
        <p:txBody>
          <a:bodyPr/>
          <a:lstStyle/>
          <a:p>
            <a:endParaRPr lang="en-ID"/>
          </a:p>
        </p:txBody>
      </p:sp>
      <p:sp>
        <p:nvSpPr>
          <p:cNvPr id="14" name="Text 11"/>
          <p:cNvSpPr/>
          <p:nvPr/>
        </p:nvSpPr>
        <p:spPr>
          <a:xfrm>
            <a:off x="6601968" y="202996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Rencana terdekat</a:t>
            </a:r>
            <a:endParaRPr lang="en-US" sz="1600" dirty="0"/>
          </a:p>
        </p:txBody>
      </p:sp>
      <p:sp>
        <p:nvSpPr>
          <p:cNvPr id="15" name="Text 12"/>
          <p:cNvSpPr/>
          <p:nvPr/>
        </p:nvSpPr>
        <p:spPr>
          <a:xfrm>
            <a:off x="6601968" y="2560320"/>
            <a:ext cx="4736592" cy="329184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Menyelesaikan gold set entitas.</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Membangun baseline entity-span Checkpoint 4.</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Menyiapkan gold terminology mapping.</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Melanjutkan routing, retrieval, dan evaluasi end-to-end.</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bottom band">
            <a:extLst>
              <a:ext uri="{C183D7F6-B498-43B3-948B-1728B52AA6E4}">
                <adec:decorative xmlns:adec="http://schemas.microsoft.com/office/drawing/2017/decorative" val="1"/>
              </a:ext>
            </a:extLst>
          </p:cNvPr>
          <p:cNvSpPr/>
          <p:nvPr/>
        </p:nvSpPr>
        <p:spPr>
          <a:xfrm>
            <a:off x="0" y="5989320"/>
            <a:ext cx="12191695" cy="868680"/>
          </a:xfrm>
          <a:prstGeom prst="rect">
            <a:avLst/>
          </a:prstGeom>
          <a:solidFill>
            <a:srgbClr val="0B3C6E"/>
          </a:solidFill>
          <a:ln/>
        </p:spPr>
        <p:txBody>
          <a:bodyPr/>
          <a:lstStyle/>
          <a:p>
            <a:endParaRPr lang="en-ID"/>
          </a:p>
        </p:txBody>
      </p:sp>
      <p:sp>
        <p:nvSpPr>
          <p:cNvPr id="3" name="left accent">
            <a:extLst>
              <a:ext uri="{C183D7F6-B498-43B3-948B-1728B52AA6E4}">
                <adec:decorative xmlns:adec="http://schemas.microsoft.com/office/drawing/2017/decorative" val="1"/>
              </a:ext>
            </a:extLst>
          </p:cNvPr>
          <p:cNvSpPr/>
          <p:nvPr/>
        </p:nvSpPr>
        <p:spPr>
          <a:xfrm>
            <a:off x="0" y="0"/>
            <a:ext cx="201168" cy="5989320"/>
          </a:xfrm>
          <a:prstGeom prst="rect">
            <a:avLst/>
          </a:prstGeom>
          <a:solidFill>
            <a:srgbClr val="B98A1E"/>
          </a:solidFill>
          <a:ln/>
        </p:spPr>
        <p:txBody>
          <a:bodyPr/>
          <a:lstStyle/>
          <a:p>
            <a:endParaRPr lang="en-ID"/>
          </a:p>
        </p:txBody>
      </p:sp>
      <p:pic>
        <p:nvPicPr>
          <p:cNvPr id="4" name="Image 0" descr="Logo Universitas Gadjah Mada"/>
          <p:cNvPicPr>
            <a:picLocks noChangeAspect="1"/>
          </p:cNvPicPr>
          <p:nvPr/>
        </p:nvPicPr>
        <p:blipFill>
          <a:blip r:embed="rId3"/>
          <a:stretch>
            <a:fillRect/>
          </a:stretch>
        </p:blipFill>
        <p:spPr>
          <a:xfrm>
            <a:off x="4175608" y="1005840"/>
            <a:ext cx="3840480" cy="1159223"/>
          </a:xfrm>
          <a:prstGeom prst="rect">
            <a:avLst/>
          </a:prstGeom>
        </p:spPr>
      </p:pic>
      <p:sp>
        <p:nvSpPr>
          <p:cNvPr id="5" name="Text 0"/>
          <p:cNvSpPr>
            <a:spLocks noGrp="1"/>
          </p:cNvSpPr>
          <p:nvPr>
            <p:ph type="title" idx="100" hasCustomPrompt="1"/>
          </p:nvPr>
        </p:nvSpPr>
        <p:spPr>
          <a:xfrm>
            <a:off x="1097280" y="2468880"/>
            <a:ext cx="9994392" cy="1554480"/>
          </a:xfrm>
          <a:prstGeom prst="rect">
            <a:avLst/>
          </a:prstGeom>
          <a:noFill/>
          <a:ln/>
        </p:spPr>
        <p:txBody>
          <a:bodyPr wrap="square" lIns="0" tIns="0" rIns="0" bIns="0" rtlCol="0" anchor="ctr"/>
          <a:lstStyle/>
          <a:p>
            <a:pPr marL="0" indent="0" algn="ctr">
              <a:buNone/>
            </a:pPr>
            <a:r>
              <a:rPr lang="en-US" sz="4400" b="1" dirty="0">
                <a:solidFill>
                  <a:srgbClr val="0B3C6E"/>
                </a:solidFill>
                <a:latin typeface="Georgia" pitchFamily="34" charset="0"/>
                <a:ea typeface="Georgia" pitchFamily="34" charset="-122"/>
                <a:cs typeface="Georgia" pitchFamily="34" charset="-120"/>
              </a:rPr>
              <a:t>Terima Kasih</a:t>
            </a:r>
            <a:endParaRPr lang="en-US" sz="4400" dirty="0"/>
          </a:p>
        </p:txBody>
      </p:sp>
      <p:sp>
        <p:nvSpPr>
          <p:cNvPr id="6" name="Text 3"/>
          <p:cNvSpPr/>
          <p:nvPr/>
        </p:nvSpPr>
        <p:spPr>
          <a:xfrm>
            <a:off x="1097280" y="4069080"/>
            <a:ext cx="9997135" cy="457200"/>
          </a:xfrm>
          <a:prstGeom prst="rect">
            <a:avLst/>
          </a:prstGeom>
          <a:noFill/>
          <a:ln/>
        </p:spPr>
        <p:txBody>
          <a:bodyPr wrap="square" rtlCol="0" anchor="ctr"/>
          <a:lstStyle/>
          <a:p>
            <a:pPr marL="0" indent="0" algn="ctr">
              <a:buNone/>
            </a:pPr>
            <a:r>
              <a:rPr lang="en-US" sz="2000" i="1" dirty="0">
                <a:solidFill>
                  <a:srgbClr val="14568F"/>
                </a:solidFill>
                <a:latin typeface="Georgia" pitchFamily="34" charset="0"/>
                <a:ea typeface="Georgia" pitchFamily="34" charset="-122"/>
                <a:cs typeface="Georgia" pitchFamily="34" charset="-120"/>
              </a:rPr>
              <a:t>Pertanyaan dan Masukan</a:t>
            </a:r>
            <a:endParaRPr lang="en-US" sz="2000" dirty="0"/>
          </a:p>
        </p:txBody>
      </p:sp>
      <p:sp>
        <p:nvSpPr>
          <p:cNvPr id="7" name="Text 4"/>
          <p:cNvSpPr/>
          <p:nvPr/>
        </p:nvSpPr>
        <p:spPr>
          <a:xfrm>
            <a:off x="1097280" y="4846320"/>
            <a:ext cx="9997135" cy="731520"/>
          </a:xfrm>
          <a:prstGeom prst="rect">
            <a:avLst/>
          </a:prstGeom>
          <a:noFill/>
          <a:ln/>
        </p:spPr>
        <p:txBody>
          <a:bodyPr wrap="square" rtlCol="0" anchor="ctr"/>
          <a:lstStyle/>
          <a:p>
            <a:pPr marL="0" indent="0" algn="ctr">
              <a:lnSpc>
                <a:spcPct val="110000"/>
              </a:lnSpc>
              <a:buNone/>
            </a:pPr>
            <a:r>
              <a:rPr lang="en-US" sz="1400" b="1" dirty="0">
                <a:solidFill>
                  <a:srgbClr val="26313D"/>
                </a:solidFill>
                <a:latin typeface="Calibri" pitchFamily="34" charset="0"/>
                <a:ea typeface="Calibri" pitchFamily="34" charset="-122"/>
                <a:cs typeface="Calibri" pitchFamily="34" charset="-120"/>
              </a:rPr>
              <a:t>Anie Rose Irawati</a:t>
            </a:r>
            <a:endParaRPr lang="en-US" sz="1400" dirty="0"/>
          </a:p>
          <a:p>
            <a:pPr marL="0" indent="0" algn="ctr">
              <a:lnSpc>
                <a:spcPct val="110000"/>
              </a:lnSpc>
              <a:buNone/>
            </a:pPr>
            <a:r>
              <a:rPr lang="en-US" sz="1200" dirty="0">
                <a:solidFill>
                  <a:srgbClr val="6A7A8A"/>
                </a:solidFill>
                <a:latin typeface="Calibri" pitchFamily="34" charset="0"/>
                <a:ea typeface="Calibri" pitchFamily="34" charset="-122"/>
                <a:cs typeface="Calibri" pitchFamily="34" charset="-120"/>
              </a:rPr>
              <a:t>Program Doktor Ilmu Komputer · Universitas Gadjah Mada</a:t>
            </a:r>
            <a:endParaRPr lang="en-US" sz="1400" dirty="0"/>
          </a:p>
        </p:txBody>
      </p:sp>
      <p:sp>
        <p:nvSpPr>
          <p:cNvPr id="8" name="Text 5"/>
          <p:cNvSpPr/>
          <p:nvPr/>
        </p:nvSpPr>
        <p:spPr>
          <a:xfrm>
            <a:off x="914400" y="5989320"/>
            <a:ext cx="10362895" cy="868680"/>
          </a:xfrm>
          <a:prstGeom prst="rect">
            <a:avLst/>
          </a:prstGeom>
          <a:noFill/>
          <a:ln/>
        </p:spPr>
        <p:txBody>
          <a:bodyPr wrap="square" rtlCol="0" anchor="ctr"/>
          <a:lstStyle/>
          <a:p>
            <a:pPr marL="0" indent="0" algn="ctr">
              <a:buNone/>
            </a:pPr>
            <a:r>
              <a:rPr lang="en-US" sz="1300" kern="0" spc="200" dirty="0">
                <a:solidFill>
                  <a:srgbClr val="D7E2F0"/>
                </a:solidFill>
                <a:latin typeface="Calibri" pitchFamily="34" charset="0"/>
                <a:ea typeface="Calibri" pitchFamily="34" charset="-122"/>
                <a:cs typeface="Calibri" pitchFamily="34" charset="-120"/>
              </a:rPr>
              <a:t>Ujian Pre-Komprehensif</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4367</Words>
  <Application>Microsoft Office PowerPoint</Application>
  <PresentationFormat>Widescreen</PresentationFormat>
  <Paragraphs>681</Paragraphs>
  <Slides>41</Slides>
  <Notes>41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Consolas</vt:lpstr>
      <vt:lpstr>Georgia</vt:lpstr>
      <vt:lpstr>Office Theme</vt:lpstr>
      <vt:lpstr>Adaptasi CDE-Mapper untuk Pemetaan Terminologi Klinis Bahasa Indonesia</vt:lpstr>
      <vt:lpstr>Alur Presentasi</vt:lpstr>
      <vt:lpstr>Transformasi Digital Membutuhkan Kesetaraan Makna</vt:lpstr>
      <vt:lpstr>Konteks Indonesia: SATUSEHAT</vt:lpstr>
      <vt:lpstr>Mengapa Memerlukan Multi-Terminologi?</vt:lpstr>
      <vt:lpstr>Realitas Teks Klinis Bahasa Indonesia</vt:lpstr>
      <vt:lpstr>Mengapa Clinical Mapping Sulit?</vt:lpstr>
      <vt:lpstr>Evolusi Pendekatan Pemetaan</vt:lpstr>
      <vt:lpstr>Titik Awal: CDE-Mapper</vt:lpstr>
      <vt:lpstr>Tiga Research Gap Utama</vt:lpstr>
      <vt:lpstr>Rumusan Masalah</vt:lpstr>
      <vt:lpstr>Tujuan Penelitian</vt:lpstr>
      <vt:lpstr>Kebaruan yang Diusulkan</vt:lpstr>
      <vt:lpstr>Kontribusi Penelitian</vt:lpstr>
      <vt:lpstr>Batasan dan Ruang Lingkup</vt:lpstr>
      <vt:lpstr>Paradigma Penelitian</vt:lpstr>
      <vt:lpstr>Lima Tahapan Penelitian dalam Proposal</vt:lpstr>
      <vt:lpstr>Arsitektur Usulan: Delapan Transformasi</vt:lpstr>
      <vt:lpstr>Pipeline Implementasi yang Dapat Diaudit</vt:lpstr>
      <vt:lpstr>Contoh Alur End-to-End</vt:lpstr>
      <vt:lpstr>Sumber dan Peran Data</vt:lpstr>
      <vt:lpstr>Dua Gold Standard yang Berbeda</vt:lpstr>
      <vt:lpstr>Tahap 0: Audit Baseline</vt:lpstr>
      <vt:lpstr>Hasil Awal Tahap 0 — Pilot Retrieval (10 query)</vt:lpstr>
      <vt:lpstr>Tahap 1: Normalisasi Konservatif</vt:lpstr>
      <vt:lpstr>Kamus Singkatan Berlapis</vt:lpstr>
      <vt:lpstr>Progres dan Audit Tahap 1</vt:lpstr>
      <vt:lpstr>Mengapa Tahap 2 Lebih dari NER Biasa?</vt:lpstr>
      <vt:lpstr>Strategi Checkpoint Tahap 2</vt:lpstr>
      <vt:lpstr>Checkpoint 1: Kontrak Input</vt:lpstr>
      <vt:lpstr>Checkpoint 2: Taksonomi Entitas</vt:lpstr>
      <vt:lpstr>Checkpoint 2: Atribut Entitas</vt:lpstr>
      <vt:lpstr>Hasil Checkpoint 2</vt:lpstr>
      <vt:lpstr>Checkpoint 3: Desain Gold Set Entitas</vt:lpstr>
      <vt:lpstr>Workflow Anotasi dan Status Checkpoint 3</vt:lpstr>
      <vt:lpstr>Rencana Tahap 3–8</vt:lpstr>
      <vt:lpstr>Baseline dan Ablation Study</vt:lpstr>
      <vt:lpstr>Kerangka Evaluasi</vt:lpstr>
      <vt:lpstr>Risiko, Etik, dan Mitigasi</vt:lpstr>
      <vt:lpstr>Kesimpulan dan Rencana Terdekat</vt:lpstr>
      <vt:lpstr>Terima Kasih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Didik Kurniawan</dc:creator>
  <cp:lastModifiedBy>Didik Kurniawan</cp:lastModifiedBy>
  <cp:revision>1</cp:revision>
  <dcterms:created xsi:type="dcterms:W3CDTF">2026-07-25T09:40:44Z</dcterms:created>
  <dcterms:modified xsi:type="dcterms:W3CDTF">2026-07-25T09:45:49Z</dcterms:modified>
</cp:coreProperties>
</file>